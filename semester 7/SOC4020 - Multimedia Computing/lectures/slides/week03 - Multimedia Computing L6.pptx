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69"/>
  </p:notesMasterIdLst>
  <p:sldIdLst>
    <p:sldId id="256" r:id="rId2"/>
    <p:sldId id="374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528" r:id="rId17"/>
    <p:sldId id="346" r:id="rId18"/>
    <p:sldId id="347" r:id="rId19"/>
    <p:sldId id="348" r:id="rId20"/>
    <p:sldId id="349" r:id="rId21"/>
    <p:sldId id="350" r:id="rId22"/>
    <p:sldId id="453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458" r:id="rId38"/>
    <p:sldId id="460" r:id="rId39"/>
    <p:sldId id="461" r:id="rId40"/>
    <p:sldId id="462" r:id="rId41"/>
    <p:sldId id="463" r:id="rId42"/>
    <p:sldId id="464" r:id="rId43"/>
    <p:sldId id="465" r:id="rId44"/>
    <p:sldId id="466" r:id="rId45"/>
    <p:sldId id="467" r:id="rId46"/>
    <p:sldId id="468" r:id="rId47"/>
    <p:sldId id="527" r:id="rId48"/>
    <p:sldId id="469" r:id="rId49"/>
    <p:sldId id="470" r:id="rId50"/>
    <p:sldId id="471" r:id="rId51"/>
    <p:sldId id="472" r:id="rId52"/>
    <p:sldId id="473" r:id="rId53"/>
    <p:sldId id="474" r:id="rId54"/>
    <p:sldId id="475" r:id="rId55"/>
    <p:sldId id="476" r:id="rId56"/>
    <p:sldId id="477" r:id="rId57"/>
    <p:sldId id="478" r:id="rId58"/>
    <p:sldId id="479" r:id="rId59"/>
    <p:sldId id="480" r:id="rId60"/>
    <p:sldId id="481" r:id="rId61"/>
    <p:sldId id="482" r:id="rId62"/>
    <p:sldId id="483" r:id="rId63"/>
    <p:sldId id="484" r:id="rId64"/>
    <p:sldId id="485" r:id="rId65"/>
    <p:sldId id="258" r:id="rId66"/>
    <p:sldId id="276" r:id="rId67"/>
    <p:sldId id="277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99" autoAdjust="0"/>
    <p:restoredTop sz="83134" autoAdjust="0"/>
  </p:normalViewPr>
  <p:slideViewPr>
    <p:cSldViewPr snapToGrid="0">
      <p:cViewPr varScale="1">
        <p:scale>
          <a:sx n="67" d="100"/>
          <a:sy n="67" d="100"/>
        </p:scale>
        <p:origin x="10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77012-B2BC-4AD8-BD62-A130A7B5554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19E99-DA91-48FD-B620-57FE9728A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3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19E99-DA91-48FD-B620-57FE9728A6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63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this range of wavelengths is called visible light. Typically, the human eye can detect wavelengths from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380 to 700 nanometers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19E99-DA91-48FD-B620-57FE9728A6E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4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Used to demonstrate the effects produced on image quantities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. It happens by changing the values of N and K independently. Here, N is the total number of pixels in an image and K refers to the total number of bits in each pixel of that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19E99-DA91-48FD-B620-57FE9728A6E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26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Resize or distortion of image is known as interpolation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19E99-DA91-48FD-B620-57FE9728A6E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26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19E99-DA91-48FD-B620-57FE9728A6E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8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BD2CD-5368-43DB-9451-734A67620D4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37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CEA9-342F-49DA-8846-1F2209C1EED6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33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9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3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5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5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1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2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6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6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1552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62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5347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12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14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59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6000" y="152400"/>
            <a:ext cx="10363200" cy="6096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203200" y="914400"/>
            <a:ext cx="5791200" cy="5791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791200" cy="5791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8EA0F-323C-468C-B988-DDECA4AC03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1394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6000" y="152400"/>
            <a:ext cx="10363200" cy="6096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03200" y="914400"/>
            <a:ext cx="5791200" cy="5791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600" y="914400"/>
            <a:ext cx="5791200" cy="2819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197600" y="3886200"/>
            <a:ext cx="5791200" cy="2819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EF32CD-3B22-44EA-BD31-C66BEFCA74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33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995A3-E8DC-4E31-A2CF-2D980271CA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188DDE7-5592-4CB5-AAB6-ABD702276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2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az.ahmed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2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oleObject" Target="../embeddings/oleObject7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oleObject" Target="../embeddings/oleObject9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oleObject" Target="../embeddings/oleObject11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oleObject" Target="../embeddings/oleObject12.bin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9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Multimedia Computing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algn="ctr"/>
            <a:r>
              <a:rPr lang="en-US" dirty="0"/>
              <a:t>By </a:t>
            </a:r>
          </a:p>
          <a:p>
            <a:pPr algn="ctr"/>
            <a:r>
              <a:rPr lang="en-US" sz="5600" dirty="0"/>
              <a:t>Minhaz Uddin Ahmed, PhD</a:t>
            </a:r>
          </a:p>
          <a:p>
            <a:pPr algn="ctr"/>
            <a:r>
              <a:rPr lang="en-US" sz="5600" dirty="0"/>
              <a:t>Department of Computer Engineering</a:t>
            </a:r>
          </a:p>
          <a:p>
            <a:pPr algn="ctr"/>
            <a:r>
              <a:rPr lang="en-US" sz="5600" dirty="0" err="1"/>
              <a:t>Inha</a:t>
            </a:r>
            <a:r>
              <a:rPr lang="en-US" sz="5600" dirty="0"/>
              <a:t> University in Tashkent.</a:t>
            </a:r>
          </a:p>
          <a:p>
            <a:pPr algn="ctr"/>
            <a:r>
              <a:rPr lang="en-US" sz="5600" dirty="0"/>
              <a:t>Email: </a:t>
            </a:r>
            <a:r>
              <a:rPr lang="en-US" sz="5600" dirty="0">
                <a:hlinkClick r:id="rId2"/>
              </a:rPr>
              <a:t>minhaz.ahmed@gmail.com</a:t>
            </a:r>
            <a:endParaRPr lang="en-US" sz="5600" dirty="0"/>
          </a:p>
          <a:p>
            <a:pPr algn="ctr"/>
            <a:endParaRPr lang="en-US" sz="5600" dirty="0"/>
          </a:p>
        </p:txBody>
      </p:sp>
    </p:spTree>
    <p:extLst>
      <p:ext uri="{BB962C8B-B14F-4D97-AF65-F5344CB8AC3E}">
        <p14:creationId xmlns:p14="http://schemas.microsoft.com/office/powerpoint/2010/main" val="4717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D172-93BC-F970-1C9B-E7590C4D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BCF2C-BBB2-63AF-7803-C8B5CD85C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3399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Basic concept in digital image processing.</a:t>
            </a:r>
          </a:p>
          <a:p>
            <a:r>
              <a:rPr lang="en-US" sz="2400" dirty="0"/>
              <a:t>Elements of Human Visual Perception </a:t>
            </a:r>
          </a:p>
          <a:p>
            <a:r>
              <a:rPr lang="en-US" sz="2400" dirty="0"/>
              <a:t>Object perception</a:t>
            </a:r>
          </a:p>
          <a:p>
            <a:r>
              <a:rPr lang="en-US" sz="2400" dirty="0"/>
              <a:t>Light and EM Spectrum</a:t>
            </a:r>
          </a:p>
          <a:p>
            <a:r>
              <a:rPr lang="en-US" sz="2400" dirty="0"/>
              <a:t>Basics of image acquisition </a:t>
            </a:r>
          </a:p>
          <a:p>
            <a:r>
              <a:rPr lang="en-US" sz="2400" dirty="0"/>
              <a:t>A (2D) Image</a:t>
            </a:r>
          </a:p>
          <a:p>
            <a:r>
              <a:rPr lang="en-US" sz="2400" dirty="0"/>
              <a:t>Store an Image </a:t>
            </a:r>
          </a:p>
          <a:p>
            <a:r>
              <a:rPr lang="en-US" sz="2400" dirty="0"/>
              <a:t>Set Operations Based on Coordinates</a:t>
            </a:r>
          </a:p>
          <a:p>
            <a:r>
              <a:rPr lang="en-US" sz="2400" dirty="0"/>
              <a:t>Image resampling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63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Concepts in Digital Image 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8F8F8-0CE0-F583-4D25-15C0DDC24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Introducing some basic concepts in digital image processing 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Human vision system </a:t>
            </a:r>
          </a:p>
          <a:p>
            <a:pPr marL="0" indent="0">
              <a:buNone/>
            </a:pPr>
            <a:r>
              <a:rPr lang="en-US" sz="2400" dirty="0"/>
              <a:t>• Basics of image acquisition</a:t>
            </a:r>
          </a:p>
        </p:txBody>
      </p:sp>
    </p:spTree>
    <p:extLst>
      <p:ext uri="{BB962C8B-B14F-4D97-AF65-F5344CB8AC3E}">
        <p14:creationId xmlns:p14="http://schemas.microsoft.com/office/powerpoint/2010/main" val="416930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Human Visual Perception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4C6A03-8843-36A1-3AA4-84D66AC72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087" y="1659731"/>
            <a:ext cx="7815124" cy="3881437"/>
          </a:xfrm>
        </p:spPr>
      </p:pic>
    </p:spTree>
    <p:extLst>
      <p:ext uri="{BB962C8B-B14F-4D97-AF65-F5344CB8AC3E}">
        <p14:creationId xmlns:p14="http://schemas.microsoft.com/office/powerpoint/2010/main" val="2243429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Brightness Adaptation: Subjective Brightness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22006F-FF8F-C159-D018-E7148BC48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720" y="1557273"/>
            <a:ext cx="8285282" cy="488123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995ED7-03B4-E277-AB1B-C73AC97E3B4F}"/>
              </a:ext>
            </a:extLst>
          </p:cNvPr>
          <p:cNvSpPr txBox="1"/>
          <p:nvPr/>
        </p:nvSpPr>
        <p:spPr>
          <a:xfrm>
            <a:off x="8587819" y="3429000"/>
            <a:ext cx="28882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Scotopic vision uses only rods to see</a:t>
            </a:r>
            <a:r>
              <a:rPr lang="en-US" dirty="0"/>
              <a:t>, meaning that objects are visible, but appear in black and white, whereas photopic vision uses cones and provides color.</a:t>
            </a:r>
          </a:p>
        </p:txBody>
      </p:sp>
    </p:spTree>
    <p:extLst>
      <p:ext uri="{BB962C8B-B14F-4D97-AF65-F5344CB8AC3E}">
        <p14:creationId xmlns:p14="http://schemas.microsoft.com/office/powerpoint/2010/main" val="164456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Brightness Discrimination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DE0E5B-4626-A5C2-9818-9ABAE4147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334" y="1703388"/>
            <a:ext cx="7610802" cy="388143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F0FF98-7725-FD22-8969-25E38505C25A}"/>
              </a:ext>
            </a:extLst>
          </p:cNvPr>
          <p:cNvSpPr txBox="1"/>
          <p:nvPr/>
        </p:nvSpPr>
        <p:spPr>
          <a:xfrm>
            <a:off x="8629650" y="1720840"/>
            <a:ext cx="35623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To characterize the intensity discrimination properties of eye ∆I starts at zero and is increased slowly • The observer is asked to indicate when the circle on the constant background becomes visible (just noticeable difference). </a:t>
            </a:r>
          </a:p>
          <a:p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•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The ratio ∆I/I</a:t>
            </a:r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 is called the Weber ratio.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102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Brightness Discrimination at Different Intensity Levels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843D2C-D7B6-71C1-D46D-44C279B97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263" y="1999223"/>
            <a:ext cx="7512423" cy="3881437"/>
          </a:xfrm>
        </p:spPr>
      </p:pic>
    </p:spTree>
    <p:extLst>
      <p:ext uri="{BB962C8B-B14F-4D97-AF65-F5344CB8AC3E}">
        <p14:creationId xmlns:p14="http://schemas.microsoft.com/office/powerpoint/2010/main" val="1023640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Perceived Intensity is Not a Simple Function of the Actual Intensity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DB417E-1791-BB7D-5515-A143179EB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7175748" cy="4443506"/>
          </a:xfrm>
        </p:spPr>
      </p:pic>
    </p:spTree>
    <p:extLst>
      <p:ext uri="{BB962C8B-B14F-4D97-AF65-F5344CB8AC3E}">
        <p14:creationId xmlns:p14="http://schemas.microsoft.com/office/powerpoint/2010/main" val="366853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008595" cy="1320800"/>
          </a:xfrm>
        </p:spPr>
        <p:txBody>
          <a:bodyPr>
            <a:normAutofit/>
          </a:bodyPr>
          <a:lstStyle/>
          <a:p>
            <a:r>
              <a:rPr lang="en-US" sz="2800" dirty="0"/>
              <a:t>Perceived Intensity is Not a Simple Function of the Actual Intensity – Simultaneous Contrast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A4A863-9540-AED0-DD72-2D690CB8A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982" b="1536"/>
          <a:stretch/>
        </p:blipFill>
        <p:spPr>
          <a:xfrm>
            <a:off x="747282" y="1740976"/>
            <a:ext cx="7715400" cy="3852999"/>
          </a:xfrm>
        </p:spPr>
      </p:pic>
    </p:spTree>
    <p:extLst>
      <p:ext uri="{BB962C8B-B14F-4D97-AF65-F5344CB8AC3E}">
        <p14:creationId xmlns:p14="http://schemas.microsoft.com/office/powerpoint/2010/main" val="1862203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perception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9E9553-282C-387A-C27F-EA4D74452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654" y="1633165"/>
            <a:ext cx="7671745" cy="4615235"/>
          </a:xfrm>
        </p:spPr>
      </p:pic>
    </p:spTree>
    <p:extLst>
      <p:ext uri="{BB962C8B-B14F-4D97-AF65-F5344CB8AC3E}">
        <p14:creationId xmlns:p14="http://schemas.microsoft.com/office/powerpoint/2010/main" val="1432846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Do With All Of This Visual Information??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E60D1B-13CB-5727-3A73-8B9C0E1AE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850" y="2187482"/>
            <a:ext cx="8214164" cy="4060918"/>
          </a:xfrm>
        </p:spPr>
      </p:pic>
    </p:spTree>
    <p:extLst>
      <p:ext uri="{BB962C8B-B14F-4D97-AF65-F5344CB8AC3E}">
        <p14:creationId xmlns:p14="http://schemas.microsoft.com/office/powerpoint/2010/main" val="2926182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image acquisition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8F8F8-0CE0-F583-4D25-15C0DDC24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Geometry – size, location, …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Appearance – color, intensity</a:t>
            </a:r>
          </a:p>
        </p:txBody>
      </p:sp>
    </p:spTree>
    <p:extLst>
      <p:ext uri="{BB962C8B-B14F-4D97-AF65-F5344CB8AC3E}">
        <p14:creationId xmlns:p14="http://schemas.microsoft.com/office/powerpoint/2010/main" val="4000897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Formation in the Eye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A321B-4969-55EB-5803-553FC82C6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11" y="1815416"/>
            <a:ext cx="8230313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5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Lens Parameters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3DB664-A234-EBCF-7EDF-00B5D2833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1600" y="1649599"/>
            <a:ext cx="7222674" cy="3881437"/>
          </a:xfrm>
        </p:spPr>
      </p:pic>
    </p:spTree>
    <p:extLst>
      <p:ext uri="{BB962C8B-B14F-4D97-AF65-F5344CB8AC3E}">
        <p14:creationId xmlns:p14="http://schemas.microsoft.com/office/powerpoint/2010/main" val="2140969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of Field &amp; Out of Focus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CC2EE6-11D2-B51C-6722-CC8D763D0C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828893"/>
            <a:ext cx="6881616" cy="450018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E0D6E3-68DE-6D41-52ED-EF52F25BEE92}"/>
              </a:ext>
            </a:extLst>
          </p:cNvPr>
          <p:cNvSpPr txBox="1"/>
          <p:nvPr/>
        </p:nvSpPr>
        <p:spPr>
          <a:xfrm>
            <a:off x="7833674" y="3555430"/>
            <a:ext cx="43583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Lens focal length tells us the angle of view—how much of the scene will be captured—and the magnification—how large individual elements will be. </a:t>
            </a:r>
            <a:r>
              <a:rPr lang="en-US" dirty="0">
                <a:solidFill>
                  <a:srgbClr val="FF0000"/>
                </a:solidFill>
              </a:rPr>
              <a:t>The longer the focal length, the narrower the angle of view and the higher the magnification</a:t>
            </a:r>
          </a:p>
        </p:txBody>
      </p:sp>
    </p:spTree>
    <p:extLst>
      <p:ext uri="{BB962C8B-B14F-4D97-AF65-F5344CB8AC3E}">
        <p14:creationId xmlns:p14="http://schemas.microsoft.com/office/powerpoint/2010/main" val="3687511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10F8-9CB7-2574-56F3-6B74F9C24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84" y="678180"/>
            <a:ext cx="8596668" cy="1320800"/>
          </a:xfrm>
        </p:spPr>
        <p:txBody>
          <a:bodyPr/>
          <a:lstStyle/>
          <a:p>
            <a:r>
              <a:rPr lang="en-US" dirty="0"/>
              <a:t> how lens choice affects angle of view.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E76FB6-4B41-2A4F-6D36-F2A89A235C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502" y="1998980"/>
            <a:ext cx="9647188" cy="313309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F159EC-A102-731D-648D-C3CC2BBA8D9F}"/>
              </a:ext>
            </a:extLst>
          </p:cNvPr>
          <p:cNvSpPr txBox="1"/>
          <p:nvPr/>
        </p:nvSpPr>
        <p:spPr>
          <a:xfrm>
            <a:off x="277284" y="5357545"/>
            <a:ext cx="9555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photos were taken by a 35 mm camera at a constant distance from the subject.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00484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 and EM Spectrum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1FB187-CA2D-6C05-0A27-BF94EA472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" r="700" b="9558"/>
          <a:stretch/>
        </p:blipFill>
        <p:spPr>
          <a:xfrm>
            <a:off x="1019214" y="1652884"/>
            <a:ext cx="6511139" cy="415624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7660F-121C-09F5-B48F-6EA84271A24B}"/>
              </a:ext>
            </a:extLst>
          </p:cNvPr>
          <p:cNvSpPr txBox="1"/>
          <p:nvPr/>
        </p:nvSpPr>
        <p:spPr>
          <a:xfrm>
            <a:off x="677334" y="5925234"/>
            <a:ext cx="90829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sun, like any other hot object, releases its energy in discrete "rays" that have some properties of particles and some properties of waves call it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electromagnetic radiation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182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Among Wavelength, Frequency and Energy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46971F-4822-E335-00ED-832992D8A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192566"/>
            <a:ext cx="8474174" cy="3566469"/>
          </a:xfrm>
        </p:spPr>
      </p:pic>
    </p:spTree>
    <p:extLst>
      <p:ext uri="{BB962C8B-B14F-4D97-AF65-F5344CB8AC3E}">
        <p14:creationId xmlns:p14="http://schemas.microsoft.com/office/powerpoint/2010/main" val="2307651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 and EM Spectrum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3BE72-4B5D-412A-0CB0-0130A4076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89" y="1796871"/>
            <a:ext cx="8798360" cy="3860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2C90AF-2B67-0D23-E275-8EFB4F04A593}"/>
              </a:ext>
            </a:extLst>
          </p:cNvPr>
          <p:cNvSpPr txBox="1"/>
          <p:nvPr/>
        </p:nvSpPr>
        <p:spPr>
          <a:xfrm>
            <a:off x="4345757" y="5657671"/>
            <a:ext cx="77299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Airy pattern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are descriptions of the best-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focused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spot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light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that a perfect 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lens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with a circular 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aperture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can make, limited by the 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diffraction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of light.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Airy disk is of importance in 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</a:rPr>
              <a:t>physics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</a:rPr>
              <a:t>optics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</a:rPr>
              <a:t>astronomy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875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Sensing and Acquisition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285B0A-B192-54A4-26E6-7FAE5FE24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812" y="1819929"/>
            <a:ext cx="7920847" cy="4553977"/>
          </a:xfrm>
        </p:spPr>
      </p:pic>
    </p:spTree>
    <p:extLst>
      <p:ext uri="{BB962C8B-B14F-4D97-AF65-F5344CB8AC3E}">
        <p14:creationId xmlns:p14="http://schemas.microsoft.com/office/powerpoint/2010/main" val="2718854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(2D) Image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CDA0C8-AD52-23BF-5B1C-AB0F12DCB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1739246"/>
            <a:ext cx="8780431" cy="4437435"/>
          </a:xfrm>
        </p:spPr>
      </p:pic>
    </p:spTree>
    <p:extLst>
      <p:ext uri="{BB962C8B-B14F-4D97-AF65-F5344CB8AC3E}">
        <p14:creationId xmlns:p14="http://schemas.microsoft.com/office/powerpoint/2010/main" val="3046155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BED4BD02-BBE6-4460-80F1-D5593D7D272F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2286000" y="1524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457200">
              <a:spcBef>
                <a:spcPct val="0"/>
              </a:spcBef>
              <a:defRPr/>
            </a:pPr>
            <a:r>
              <a:rPr lang="en-US" altLang="ko-KR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Spatial domain methods</a:t>
            </a: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1676400" y="1265238"/>
            <a:ext cx="8839200" cy="544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2800" dirty="0">
                <a:latin typeface="Times New Roman" panose="02020603050405020304" pitchFamily="18" charset="0"/>
              </a:rPr>
              <a:t>The model for image processing</a:t>
            </a:r>
          </a:p>
          <a:p>
            <a:pPr eaLnBrk="1" hangingPunct="1"/>
            <a:r>
              <a:rPr lang="en-US" altLang="ko-KR" sz="2800" dirty="0">
                <a:latin typeface="Times New Roman" panose="02020603050405020304" pitchFamily="18" charset="0"/>
              </a:rPr>
              <a:t>Let T be an operator in f defined over some neighborhood of (</a:t>
            </a:r>
            <a:r>
              <a:rPr lang="en-US" altLang="ko-KR" sz="2800" dirty="0" err="1">
                <a:latin typeface="Times New Roman" panose="02020603050405020304" pitchFamily="18" charset="0"/>
              </a:rPr>
              <a:t>x,y</a:t>
            </a:r>
            <a:r>
              <a:rPr lang="en-US" altLang="ko-KR" sz="2800" dirty="0">
                <a:latin typeface="Times New Roman" panose="02020603050405020304" pitchFamily="18" charset="0"/>
              </a:rPr>
              <a:t>) or a set of input image</a:t>
            </a:r>
          </a:p>
          <a:p>
            <a:pPr eaLnBrk="1" hangingPunct="1"/>
            <a:r>
              <a:rPr lang="en-US" altLang="ko-KR" sz="2800" i="1" dirty="0">
                <a:latin typeface="Times New Roman" panose="02020603050405020304" pitchFamily="18" charset="0"/>
              </a:rPr>
              <a:t>g</a:t>
            </a:r>
            <a:r>
              <a:rPr lang="en-US" altLang="ko-KR" sz="2800" dirty="0">
                <a:latin typeface="Times New Roman" panose="02020603050405020304" pitchFamily="18" charset="0"/>
              </a:rPr>
              <a:t>(</a:t>
            </a:r>
            <a:r>
              <a:rPr lang="en-US" altLang="ko-KR" sz="2800" dirty="0" err="1">
                <a:latin typeface="Times New Roman" panose="02020603050405020304" pitchFamily="18" charset="0"/>
              </a:rPr>
              <a:t>x,y</a:t>
            </a:r>
            <a:r>
              <a:rPr lang="en-US" altLang="ko-KR" sz="2800" dirty="0">
                <a:latin typeface="Times New Roman" panose="02020603050405020304" pitchFamily="18" charset="0"/>
              </a:rPr>
              <a:t>) = T[</a:t>
            </a:r>
            <a:r>
              <a:rPr lang="en-US" altLang="ko-KR" sz="2800" i="1" dirty="0">
                <a:latin typeface="Times New Roman" panose="02020603050405020304" pitchFamily="18" charset="0"/>
              </a:rPr>
              <a:t>f</a:t>
            </a:r>
            <a:r>
              <a:rPr lang="en-US" altLang="ko-KR" sz="2800" dirty="0">
                <a:latin typeface="Times New Roman" panose="02020603050405020304" pitchFamily="18" charset="0"/>
              </a:rPr>
              <a:t>(</a:t>
            </a:r>
            <a:r>
              <a:rPr lang="en-US" altLang="ko-KR" sz="2800" dirty="0" err="1">
                <a:latin typeface="Times New Roman" panose="02020603050405020304" pitchFamily="18" charset="0"/>
              </a:rPr>
              <a:t>x,y</a:t>
            </a:r>
            <a:r>
              <a:rPr lang="en-US" altLang="ko-KR" sz="2800" dirty="0">
                <a:latin typeface="Times New Roman" panose="02020603050405020304" pitchFamily="18" charset="0"/>
              </a:rPr>
              <a:t>)]</a:t>
            </a:r>
          </a:p>
          <a:p>
            <a:pPr lvl="1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ko-KR" i="1" dirty="0">
                <a:latin typeface="Times New Roman" panose="02020603050405020304" pitchFamily="18" charset="0"/>
              </a:rPr>
              <a:t>g</a:t>
            </a:r>
            <a:r>
              <a:rPr lang="en-US" altLang="ko-KR" dirty="0">
                <a:latin typeface="Times New Roman" panose="02020603050405020304" pitchFamily="18" charset="0"/>
              </a:rPr>
              <a:t>(</a:t>
            </a:r>
            <a:r>
              <a:rPr lang="en-US" altLang="ko-KR" dirty="0" err="1">
                <a:latin typeface="Times New Roman" panose="02020603050405020304" pitchFamily="18" charset="0"/>
              </a:rPr>
              <a:t>x,y</a:t>
            </a:r>
            <a:r>
              <a:rPr lang="en-US" altLang="ko-KR" dirty="0">
                <a:latin typeface="Times New Roman" panose="02020603050405020304" pitchFamily="18" charset="0"/>
              </a:rPr>
              <a:t>): processed image</a:t>
            </a:r>
          </a:p>
          <a:p>
            <a:pPr lvl="1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ko-KR" i="1" dirty="0">
                <a:latin typeface="Times New Roman" panose="02020603050405020304" pitchFamily="18" charset="0"/>
              </a:rPr>
              <a:t>f</a:t>
            </a:r>
            <a:r>
              <a:rPr lang="en-US" altLang="ko-KR" dirty="0">
                <a:latin typeface="Times New Roman" panose="02020603050405020304" pitchFamily="18" charset="0"/>
              </a:rPr>
              <a:t>(</a:t>
            </a:r>
            <a:r>
              <a:rPr lang="en-US" altLang="ko-KR" dirty="0" err="1">
                <a:latin typeface="Times New Roman" panose="02020603050405020304" pitchFamily="18" charset="0"/>
              </a:rPr>
              <a:t>x,y</a:t>
            </a:r>
            <a:r>
              <a:rPr lang="en-US" altLang="ko-KR" dirty="0">
                <a:latin typeface="Times New Roman" panose="02020603050405020304" pitchFamily="18" charset="0"/>
              </a:rPr>
              <a:t>): input image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2800" dirty="0"/>
          </a:p>
        </p:txBody>
      </p:sp>
      <p:pic>
        <p:nvPicPr>
          <p:cNvPr id="8197" name="Picture 4" descr="gonzalez f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4" y="2924175"/>
            <a:ext cx="3679825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1918447" y="5445125"/>
            <a:ext cx="439345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200">
                <a:latin typeface="Times New Roman" panose="02020603050405020304" pitchFamily="18" charset="0"/>
              </a:rPr>
              <a:t>A3 </a:t>
            </a:r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ko-KR" sz="1200">
                <a:latin typeface="Times New Roman" panose="02020603050405020304" pitchFamily="18" charset="0"/>
              </a:rPr>
              <a:t> 3 neighborhood about a point (x,y) in an image  [Gonzalez]</a:t>
            </a:r>
          </a:p>
        </p:txBody>
      </p:sp>
    </p:spTree>
    <p:extLst>
      <p:ext uri="{BB962C8B-B14F-4D97-AF65-F5344CB8AC3E}">
        <p14:creationId xmlns:p14="http://schemas.microsoft.com/office/powerpoint/2010/main" val="9178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Simple Image Formation Model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69B58-13EF-7254-FC2D-F842E2428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483" y="1864753"/>
            <a:ext cx="7773458" cy="4150565"/>
          </a:xfrm>
        </p:spPr>
      </p:pic>
    </p:spTree>
    <p:extLst>
      <p:ext uri="{BB962C8B-B14F-4D97-AF65-F5344CB8AC3E}">
        <p14:creationId xmlns:p14="http://schemas.microsoft.com/office/powerpoint/2010/main" val="1593383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Sampling and Quantization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AD3611-F972-67D9-52B6-7F05497FB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052" y="1508760"/>
            <a:ext cx="8743950" cy="5349240"/>
          </a:xfrm>
        </p:spPr>
      </p:pic>
    </p:spTree>
    <p:extLst>
      <p:ext uri="{BB962C8B-B14F-4D97-AF65-F5344CB8AC3E}">
        <p14:creationId xmlns:p14="http://schemas.microsoft.com/office/powerpoint/2010/main" val="1777520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Image Sampling and Quantization in a Sensor Array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BA7CD5-E15E-2F64-E9C8-CF2A37EB1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7870" y="2053012"/>
            <a:ext cx="6706746" cy="3881437"/>
          </a:xfrm>
        </p:spPr>
      </p:pic>
    </p:spTree>
    <p:extLst>
      <p:ext uri="{BB962C8B-B14F-4D97-AF65-F5344CB8AC3E}">
        <p14:creationId xmlns:p14="http://schemas.microsoft.com/office/powerpoint/2010/main" val="3954427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Range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557614-72C9-F9D2-7E89-5B2FA517A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15246"/>
            <a:ext cx="8056976" cy="4407648"/>
          </a:xfrm>
        </p:spPr>
      </p:pic>
    </p:spTree>
    <p:extLst>
      <p:ext uri="{BB962C8B-B14F-4D97-AF65-F5344CB8AC3E}">
        <p14:creationId xmlns:p14="http://schemas.microsoft.com/office/powerpoint/2010/main" val="2725352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Digital Images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B7CC61-64D6-3DFA-4A25-9792CB8E5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515130"/>
            <a:ext cx="7667989" cy="4804988"/>
          </a:xfrm>
        </p:spPr>
      </p:pic>
    </p:spTree>
    <p:extLst>
      <p:ext uri="{BB962C8B-B14F-4D97-AF65-F5344CB8AC3E}">
        <p14:creationId xmlns:p14="http://schemas.microsoft.com/office/powerpoint/2010/main" val="1582365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an Image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0AD173-042F-0596-67E4-503D03EBD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249" y="1725749"/>
            <a:ext cx="8705340" cy="3805474"/>
          </a:xfrm>
        </p:spPr>
      </p:pic>
    </p:spTree>
    <p:extLst>
      <p:ext uri="{BB962C8B-B14F-4D97-AF65-F5344CB8AC3E}">
        <p14:creationId xmlns:p14="http://schemas.microsoft.com/office/powerpoint/2010/main" val="2855806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Resolution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9235A2-05F0-3706-2B8C-E4B0AE176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6493" y="1721318"/>
            <a:ext cx="7973498" cy="4679482"/>
          </a:xfrm>
        </p:spPr>
      </p:pic>
    </p:spTree>
    <p:extLst>
      <p:ext uri="{BB962C8B-B14F-4D97-AF65-F5344CB8AC3E}">
        <p14:creationId xmlns:p14="http://schemas.microsoft.com/office/powerpoint/2010/main" val="3444907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Intensity Resolution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E2819E-3A58-4A6C-8CB7-888C99A80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811" y="1488280"/>
            <a:ext cx="8085129" cy="4837105"/>
          </a:xfrm>
        </p:spPr>
      </p:pic>
    </p:spTree>
    <p:extLst>
      <p:ext uri="{BB962C8B-B14F-4D97-AF65-F5344CB8AC3E}">
        <p14:creationId xmlns:p14="http://schemas.microsoft.com/office/powerpoint/2010/main" val="2680809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Isopreference</a:t>
            </a:r>
            <a:r>
              <a:rPr lang="en-US" dirty="0"/>
              <a:t> Curves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3FB6B3-3DF7-79B5-0ADB-EFBB4D695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1604" y="1373981"/>
            <a:ext cx="8923866" cy="5141119"/>
          </a:xfrm>
        </p:spPr>
      </p:pic>
    </p:spTree>
    <p:extLst>
      <p:ext uri="{BB962C8B-B14F-4D97-AF65-F5344CB8AC3E}">
        <p14:creationId xmlns:p14="http://schemas.microsoft.com/office/powerpoint/2010/main" val="3195967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Set and Logical Operations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D00B49-DA2A-A1EF-4013-7233AF389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595812"/>
            <a:ext cx="7713948" cy="4473294"/>
          </a:xfrm>
        </p:spPr>
      </p:pic>
    </p:spTree>
    <p:extLst>
      <p:ext uri="{BB962C8B-B14F-4D97-AF65-F5344CB8AC3E}">
        <p14:creationId xmlns:p14="http://schemas.microsoft.com/office/powerpoint/2010/main" val="3190610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 Based on Coordinates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8F8F8-0CE0-F583-4D25-15C0DDC24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0283"/>
            <a:ext cx="8596668" cy="3880773"/>
          </a:xfrm>
        </p:spPr>
        <p:txBody>
          <a:bodyPr/>
          <a:lstStyle/>
          <a:p>
            <a:r>
              <a:rPr lang="en-US" dirty="0"/>
              <a:t>A region in an image is represented by a set of coordinates within the region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8A663-21C9-18C2-7387-3FDE029BF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32508"/>
            <a:ext cx="7628281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75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Basic Relationships between Pixels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E49D77-FEC2-484B-38A3-0548D1C56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194" y="1622705"/>
            <a:ext cx="6599062" cy="3881437"/>
          </a:xfrm>
        </p:spPr>
      </p:pic>
    </p:spTree>
    <p:extLst>
      <p:ext uri="{BB962C8B-B14F-4D97-AF65-F5344CB8AC3E}">
        <p14:creationId xmlns:p14="http://schemas.microsoft.com/office/powerpoint/2010/main" val="18860211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4E51AC-DFBE-14E2-572E-9A776CD80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531" y="1631670"/>
            <a:ext cx="7932715" cy="4491224"/>
          </a:xfrm>
        </p:spPr>
      </p:pic>
    </p:spTree>
    <p:extLst>
      <p:ext uri="{BB962C8B-B14F-4D97-AF65-F5344CB8AC3E}">
        <p14:creationId xmlns:p14="http://schemas.microsoft.com/office/powerpoint/2010/main" val="2983075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9A02-742C-FF49-A151-27CB5697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Resampling &amp; Interpolation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9B3F19-3BED-B320-3486-64EA66DCA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9929" y="1541930"/>
            <a:ext cx="8211671" cy="4706470"/>
          </a:xfrm>
        </p:spPr>
      </p:pic>
    </p:spTree>
    <p:extLst>
      <p:ext uri="{BB962C8B-B14F-4D97-AF65-F5344CB8AC3E}">
        <p14:creationId xmlns:p14="http://schemas.microsoft.com/office/powerpoint/2010/main" val="401288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3200" dirty="0"/>
              <a:t>Contrast Stretching</a:t>
            </a:r>
            <a:endParaRPr lang="ko-KR" altLang="en-US" sz="3200" dirty="0"/>
          </a:p>
        </p:txBody>
      </p:sp>
      <p:sp>
        <p:nvSpPr>
          <p:cNvPr id="1331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BF4A1F2A-FAFE-4586-AEBE-4EDE15F31D72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pic>
        <p:nvPicPr>
          <p:cNvPr id="133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498" y="4497015"/>
            <a:ext cx="7166332" cy="1544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40" y="1445091"/>
            <a:ext cx="3714750" cy="2809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627" y="1369639"/>
            <a:ext cx="3790950" cy="287655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807664" y="2465293"/>
            <a:ext cx="815788" cy="8964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955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Contrast Stretching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677334" y="1371601"/>
            <a:ext cx="8596668" cy="46697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dirty="0"/>
              <a:t>Contrast stretching</a:t>
            </a:r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endParaRPr lang="en-US" altLang="ko-KR" sz="1600" dirty="0"/>
          </a:p>
          <a:p>
            <a:pPr eaLnBrk="1" hangingPunct="1"/>
            <a:endParaRPr lang="en-US" altLang="ko-KR" dirty="0"/>
          </a:p>
        </p:txBody>
      </p:sp>
      <p:sp>
        <p:nvSpPr>
          <p:cNvPr id="1536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7BB6A9A3-C327-4E4D-8F7D-3B0E79B4C73F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1" y="1930400"/>
            <a:ext cx="5634677" cy="164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630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8534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charset="0"/>
                <a:cs typeface="Arial" charset="0"/>
              </a:rPr>
              <a:t>Contrast Stretching</a:t>
            </a:r>
          </a:p>
        </p:txBody>
      </p:sp>
      <p:sp>
        <p:nvSpPr>
          <p:cNvPr id="1638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49DC2400-DFB6-42AF-B8DA-CE86AE2358B3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grpSp>
        <p:nvGrpSpPr>
          <p:cNvPr id="16388" name="Group 3"/>
          <p:cNvGrpSpPr>
            <a:grpSpLocks/>
          </p:cNvGrpSpPr>
          <p:nvPr/>
        </p:nvGrpSpPr>
        <p:grpSpPr bwMode="auto">
          <a:xfrm>
            <a:off x="717176" y="914400"/>
            <a:ext cx="8758518" cy="5530850"/>
            <a:chOff x="578" y="596"/>
            <a:chExt cx="5086" cy="3484"/>
          </a:xfrm>
        </p:grpSpPr>
        <p:pic>
          <p:nvPicPr>
            <p:cNvPr id="16389" name="Picture 4" descr="Image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1" y="600"/>
              <a:ext cx="2464" cy="1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0" name="Picture 5" descr="Image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2" y="2386"/>
              <a:ext cx="2472" cy="1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391" name="Group 6"/>
            <p:cNvGrpSpPr>
              <a:grpSpLocks/>
            </p:cNvGrpSpPr>
            <p:nvPr/>
          </p:nvGrpSpPr>
          <p:grpSpPr bwMode="auto">
            <a:xfrm>
              <a:off x="578" y="596"/>
              <a:ext cx="2494" cy="3484"/>
              <a:chOff x="144" y="576"/>
              <a:chExt cx="2494" cy="3484"/>
            </a:xfrm>
          </p:grpSpPr>
          <p:pic>
            <p:nvPicPr>
              <p:cNvPr id="16394" name="Picture 7" descr="Image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4" y="576"/>
                <a:ext cx="2464" cy="1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395" name="Picture 8" descr="Image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4" y="2379"/>
                <a:ext cx="2464" cy="1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396" name="Picture 9" descr="Image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" y="2379"/>
                <a:ext cx="2464" cy="1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397" name="Text Box 10"/>
              <p:cNvSpPr txBox="1">
                <a:spLocks noChangeArrowheads="1"/>
              </p:cNvSpPr>
              <p:nvPr/>
            </p:nvSpPr>
            <p:spPr bwMode="auto">
              <a:xfrm>
                <a:off x="699" y="1999"/>
                <a:ext cx="99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800" b="1">
                    <a:solidFill>
                      <a:srgbClr val="006600"/>
                    </a:solidFill>
                    <a:latin typeface="Times New Roman" panose="02020603050405020304" pitchFamily="18" charset="0"/>
                    <a:ea typeface="궁서체" panose="02030609000101010101" pitchFamily="49" charset="-127"/>
                  </a:rPr>
                  <a:t>Original Image</a:t>
                </a:r>
              </a:p>
            </p:txBody>
          </p:sp>
          <p:sp>
            <p:nvSpPr>
              <p:cNvPr id="16398" name="Text Box 11"/>
              <p:cNvSpPr txBox="1">
                <a:spLocks noChangeArrowheads="1"/>
              </p:cNvSpPr>
              <p:nvPr/>
            </p:nvSpPr>
            <p:spPr bwMode="auto">
              <a:xfrm>
                <a:off x="730" y="3829"/>
                <a:ext cx="99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800" b="1">
                    <a:solidFill>
                      <a:srgbClr val="006600"/>
                    </a:solidFill>
                    <a:latin typeface="Times New Roman" panose="02020603050405020304" pitchFamily="18" charset="0"/>
                    <a:ea typeface="궁서체" panose="02030609000101010101" pitchFamily="49" charset="-127"/>
                  </a:rPr>
                  <a:t>Original Image</a:t>
                </a:r>
              </a:p>
            </p:txBody>
          </p:sp>
        </p:grpSp>
        <p:sp>
          <p:nvSpPr>
            <p:cNvPr id="16392" name="Text Box 12"/>
            <p:cNvSpPr txBox="1">
              <a:spLocks noChangeArrowheads="1"/>
            </p:cNvSpPr>
            <p:nvPr/>
          </p:nvSpPr>
          <p:spPr bwMode="auto">
            <a:xfrm>
              <a:off x="3570" y="2026"/>
              <a:ext cx="15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800" b="1">
                  <a:solidFill>
                    <a:srgbClr val="339933"/>
                  </a:solidFill>
                  <a:latin typeface="Times New Roman" panose="02020603050405020304" pitchFamily="18" charset="0"/>
                  <a:ea typeface="궁서체" panose="02030609000101010101" pitchFamily="49" charset="-127"/>
                </a:rPr>
                <a:t>Basic Contrast Stretching</a:t>
              </a:r>
            </a:p>
          </p:txBody>
        </p:sp>
        <p:sp>
          <p:nvSpPr>
            <p:cNvPr id="16393" name="Text Box 13"/>
            <p:cNvSpPr txBox="1">
              <a:spLocks noChangeArrowheads="1"/>
            </p:cNvSpPr>
            <p:nvPr/>
          </p:nvSpPr>
          <p:spPr bwMode="auto">
            <a:xfrm>
              <a:off x="3945" y="3836"/>
              <a:ext cx="93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800" b="1">
                  <a:solidFill>
                    <a:srgbClr val="339933"/>
                  </a:solidFill>
                  <a:latin typeface="Times New Roman" panose="02020603050405020304" pitchFamily="18" charset="0"/>
                  <a:ea typeface="궁서체" panose="02030609000101010101" pitchFamily="49" charset="-127"/>
                </a:rPr>
                <a:t>End-in Search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1763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7AEB0EF1-3173-41C6-8BC7-83965869DBF0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grpSp>
        <p:nvGrpSpPr>
          <p:cNvPr id="17411" name="Group 2"/>
          <p:cNvGrpSpPr>
            <a:grpSpLocks/>
          </p:cNvGrpSpPr>
          <p:nvPr/>
        </p:nvGrpSpPr>
        <p:grpSpPr bwMode="auto">
          <a:xfrm>
            <a:off x="1311293" y="1141631"/>
            <a:ext cx="6470072" cy="5264856"/>
            <a:chOff x="983" y="354"/>
            <a:chExt cx="3733" cy="3731"/>
          </a:xfrm>
        </p:grpSpPr>
        <p:sp>
          <p:nvSpPr>
            <p:cNvPr id="17412" name="Text Box 3"/>
            <p:cNvSpPr txBox="1">
              <a:spLocks noChangeArrowheads="1"/>
            </p:cNvSpPr>
            <p:nvPr/>
          </p:nvSpPr>
          <p:spPr bwMode="auto">
            <a:xfrm>
              <a:off x="1056" y="3738"/>
              <a:ext cx="114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900"/>
                <a:t>Original Image</a:t>
              </a:r>
            </a:p>
          </p:txBody>
        </p:sp>
        <p:sp>
          <p:nvSpPr>
            <p:cNvPr id="17413" name="Text Box 4"/>
            <p:cNvSpPr txBox="1">
              <a:spLocks noChangeArrowheads="1"/>
            </p:cNvSpPr>
            <p:nvPr/>
          </p:nvSpPr>
          <p:spPr bwMode="auto">
            <a:xfrm>
              <a:off x="3563" y="3744"/>
              <a:ext cx="115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900"/>
                <a:t>Convert Image</a:t>
              </a:r>
            </a:p>
          </p:txBody>
        </p:sp>
        <p:sp>
          <p:nvSpPr>
            <p:cNvPr id="17414" name="Text Box 5"/>
            <p:cNvSpPr txBox="1">
              <a:spLocks noChangeArrowheads="1"/>
            </p:cNvSpPr>
            <p:nvPr/>
          </p:nvSpPr>
          <p:spPr bwMode="auto">
            <a:xfrm>
              <a:off x="2428" y="3658"/>
              <a:ext cx="830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900" b="1">
                  <a:solidFill>
                    <a:srgbClr val="339933"/>
                  </a:solidFill>
                </a:rPr>
                <a:t>Contrast 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900" b="1">
                  <a:solidFill>
                    <a:srgbClr val="339933"/>
                  </a:solidFill>
                </a:rPr>
                <a:t>Stretching</a:t>
              </a:r>
            </a:p>
          </p:txBody>
        </p:sp>
        <p:graphicFrame>
          <p:nvGraphicFramePr>
            <p:cNvPr id="17415" name="Object 6"/>
            <p:cNvGraphicFramePr>
              <a:graphicFrameLocks noChangeAspect="1"/>
            </p:cNvGraphicFramePr>
            <p:nvPr/>
          </p:nvGraphicFramePr>
          <p:xfrm>
            <a:off x="983" y="354"/>
            <a:ext cx="3612" cy="3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비트맵 이미지" r:id="rId2" imgW="5125165" imgH="5552381" progId="Paint.Picture">
                    <p:embed/>
                  </p:oleObj>
                </mc:Choice>
                <mc:Fallback>
                  <p:oleObj name="비트맵 이미지" r:id="rId2" imgW="5125165" imgH="5552381" progId="Paint.Picture">
                    <p:embed/>
                    <p:pic>
                      <p:nvPicPr>
                        <p:cNvPr id="17415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3" y="354"/>
                          <a:ext cx="3612" cy="3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6" name="AutoShape 7"/>
            <p:cNvSpPr>
              <a:spLocks noChangeArrowheads="1"/>
            </p:cNvSpPr>
            <p:nvPr/>
          </p:nvSpPr>
          <p:spPr bwMode="auto">
            <a:xfrm>
              <a:off x="2208" y="3840"/>
              <a:ext cx="12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67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FF00"/>
            </a:solidFill>
            <a:ln w="63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2625731" y="535421"/>
            <a:ext cx="2377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0070C0"/>
                </a:solidFill>
                <a:latin typeface="Arial" charset="0"/>
                <a:cs typeface="Arial" charset="0"/>
              </a:rPr>
              <a:t>Contrast Stretching</a:t>
            </a:r>
            <a:endParaRPr lang="en-US" sz="20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4281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227490E-0A60-4C50-9F02-54FF2EF318DD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1246094" y="4114800"/>
            <a:ext cx="9018494" cy="2552700"/>
            <a:chOff x="0" y="2592"/>
            <a:chExt cx="5616" cy="1608"/>
          </a:xfrm>
        </p:grpSpPr>
        <p:graphicFrame>
          <p:nvGraphicFramePr>
            <p:cNvPr id="18437" name="Object 3"/>
            <p:cNvGraphicFramePr>
              <a:graphicFrameLocks noChangeAspect="1"/>
            </p:cNvGraphicFramePr>
            <p:nvPr/>
          </p:nvGraphicFramePr>
          <p:xfrm>
            <a:off x="0" y="2592"/>
            <a:ext cx="1872" cy="1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비트맵 이미지" r:id="rId2" imgW="3161905" imgH="1695687" progId="Paint.Picture">
                    <p:embed/>
                  </p:oleObj>
                </mc:Choice>
                <mc:Fallback>
                  <p:oleObj name="비트맵 이미지" r:id="rId2" imgW="3161905" imgH="1695687" progId="Paint.Picture">
                    <p:embed/>
                    <p:pic>
                      <p:nvPicPr>
                        <p:cNvPr id="1843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592"/>
                          <a:ext cx="1872" cy="1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8" name="Object 4"/>
            <p:cNvGraphicFramePr>
              <a:graphicFrameLocks noChangeAspect="1"/>
            </p:cNvGraphicFramePr>
            <p:nvPr/>
          </p:nvGraphicFramePr>
          <p:xfrm>
            <a:off x="1920" y="2592"/>
            <a:ext cx="1824" cy="1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비트맵 이미지" r:id="rId4" imgW="3172268" imgH="1695687" progId="Paint.Picture">
                    <p:embed/>
                  </p:oleObj>
                </mc:Choice>
                <mc:Fallback>
                  <p:oleObj name="비트맵 이미지" r:id="rId4" imgW="3172268" imgH="1695687" progId="Paint.Picture">
                    <p:embed/>
                    <p:pic>
                      <p:nvPicPr>
                        <p:cNvPr id="1843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592"/>
                          <a:ext cx="1824" cy="1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9" name="Object 5"/>
            <p:cNvGraphicFramePr>
              <a:graphicFrameLocks noChangeAspect="1"/>
            </p:cNvGraphicFramePr>
            <p:nvPr/>
          </p:nvGraphicFramePr>
          <p:xfrm>
            <a:off x="3792" y="2592"/>
            <a:ext cx="1824" cy="1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비트맵 이미지" r:id="rId6" imgW="3153215" imgH="1704762" progId="Paint.Picture">
                    <p:embed/>
                  </p:oleObj>
                </mc:Choice>
                <mc:Fallback>
                  <p:oleObj name="비트맵 이미지" r:id="rId6" imgW="3153215" imgH="1704762" progId="Paint.Picture">
                    <p:embed/>
                    <p:pic>
                      <p:nvPicPr>
                        <p:cNvPr id="1843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592"/>
                          <a:ext cx="1824" cy="1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0" name="Text Box 6"/>
            <p:cNvSpPr txBox="1">
              <a:spLocks noChangeArrowheads="1"/>
            </p:cNvSpPr>
            <p:nvPr/>
          </p:nvSpPr>
          <p:spPr bwMode="auto">
            <a:xfrm>
              <a:off x="767" y="3902"/>
              <a:ext cx="48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500" b="1">
                  <a:solidFill>
                    <a:srgbClr val="FF3300"/>
                  </a:solidFill>
                </a:rPr>
                <a:t>Red</a:t>
              </a:r>
            </a:p>
          </p:txBody>
        </p:sp>
        <p:sp>
          <p:nvSpPr>
            <p:cNvPr id="18441" name="Text Box 7"/>
            <p:cNvSpPr txBox="1">
              <a:spLocks noChangeArrowheads="1"/>
            </p:cNvSpPr>
            <p:nvPr/>
          </p:nvSpPr>
          <p:spPr bwMode="auto">
            <a:xfrm>
              <a:off x="2618" y="3902"/>
              <a:ext cx="68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500" b="1">
                  <a:solidFill>
                    <a:srgbClr val="339933"/>
                  </a:solidFill>
                </a:rPr>
                <a:t>Green</a:t>
              </a:r>
            </a:p>
          </p:txBody>
        </p:sp>
        <p:sp>
          <p:nvSpPr>
            <p:cNvPr id="18442" name="Text Box 8"/>
            <p:cNvSpPr txBox="1">
              <a:spLocks noChangeArrowheads="1"/>
            </p:cNvSpPr>
            <p:nvPr/>
          </p:nvSpPr>
          <p:spPr bwMode="auto">
            <a:xfrm>
              <a:off x="4320" y="3902"/>
              <a:ext cx="52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500" b="1">
                  <a:solidFill>
                    <a:schemeClr val="accent2"/>
                  </a:solidFill>
                </a:rPr>
                <a:t>Blue</a:t>
              </a:r>
            </a:p>
          </p:txBody>
        </p:sp>
      </p:grpSp>
      <p:graphicFrame>
        <p:nvGraphicFramePr>
          <p:cNvPr id="18436" name="Object 9"/>
          <p:cNvGraphicFramePr>
            <a:graphicFrameLocks noChangeAspect="1"/>
          </p:cNvGraphicFramePr>
          <p:nvPr/>
        </p:nvGraphicFramePr>
        <p:xfrm>
          <a:off x="2063811" y="887506"/>
          <a:ext cx="6772834" cy="3069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8" imgW="2943636" imgH="2838846" progId="Paint.Picture">
                  <p:embed/>
                </p:oleObj>
              </mc:Choice>
              <mc:Fallback>
                <p:oleObj name="비트맵 이미지" r:id="rId8" imgW="2943636" imgH="2838846" progId="Paint.Picture">
                  <p:embed/>
                  <p:pic>
                    <p:nvPicPr>
                      <p:cNvPr id="1843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811" y="887506"/>
                        <a:ext cx="6772834" cy="3069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4263181" y="360087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solidFill>
                  <a:srgbClr val="0070C0"/>
                </a:solidFill>
                <a:latin typeface="Arial" charset="0"/>
                <a:cs typeface="Arial" charset="0"/>
              </a:rPr>
              <a:t>Contrast Stretching</a:t>
            </a:r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70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altLang="ko-KR" dirty="0">
                <a:solidFill>
                  <a:srgbClr val="000000"/>
                </a:solidFill>
                <a:latin typeface="Times New Roman"/>
                <a:ea typeface="바탕" pitchFamily="18" charset="-127"/>
              </a:rPr>
              <a:t> </a:t>
            </a:r>
            <a:r>
              <a:rPr lang="en-US" altLang="ko-KR" dirty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Threshold</a:t>
            </a:r>
            <a:r>
              <a:rPr lang="en-US" altLang="ko-KR" dirty="0">
                <a:solidFill>
                  <a:srgbClr val="000000"/>
                </a:solidFill>
                <a:latin typeface="Times New Roman"/>
                <a:ea typeface="바탕" pitchFamily="18" charset="-127"/>
              </a:rPr>
              <a:t> </a:t>
            </a:r>
            <a:r>
              <a:rPr lang="en-US" altLang="ko-KR" dirty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 </a:t>
            </a:r>
          </a:p>
        </p:txBody>
      </p:sp>
      <p:sp>
        <p:nvSpPr>
          <p:cNvPr id="1945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F8D6EAEB-FA95-42B8-9FD3-91B5E603655F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graphicFrame>
        <p:nvGraphicFramePr>
          <p:cNvPr id="19461" name="Object 4"/>
          <p:cNvGraphicFramePr>
            <a:graphicFrameLocks noChangeAspect="1"/>
          </p:cNvGraphicFramePr>
          <p:nvPr/>
        </p:nvGraphicFramePr>
        <p:xfrm>
          <a:off x="1981201" y="2895600"/>
          <a:ext cx="23717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2" imgW="2371429" imgH="1523810" progId="Paint.Picture">
                  <p:embed/>
                </p:oleObj>
              </mc:Choice>
              <mc:Fallback>
                <p:oleObj name="비트맵 이미지" r:id="rId2" imgW="2371429" imgH="1523810" progId="Paint.Picture">
                  <p:embed/>
                  <p:pic>
                    <p:nvPicPr>
                      <p:cNvPr id="1946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2895600"/>
                        <a:ext cx="2371725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5"/>
          <p:cNvGraphicFramePr>
            <a:graphicFrameLocks noChangeAspect="1"/>
          </p:cNvGraphicFramePr>
          <p:nvPr/>
        </p:nvGraphicFramePr>
        <p:xfrm>
          <a:off x="4352926" y="2519362"/>
          <a:ext cx="5105400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4" imgW="3696216" imgH="1647619" progId="Paint.Picture">
                  <p:embed/>
                </p:oleObj>
              </mc:Choice>
              <mc:Fallback>
                <p:oleObj name="비트맵 이미지" r:id="rId4" imgW="3696216" imgH="1647619" progId="Paint.Picture">
                  <p:embed/>
                  <p:pic>
                    <p:nvPicPr>
                      <p:cNvPr id="194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926" y="2519362"/>
                        <a:ext cx="5105400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8277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idx="1"/>
          </p:nvPr>
        </p:nvSpPr>
        <p:spPr>
          <a:xfrm>
            <a:off x="1828800" y="3429000"/>
            <a:ext cx="8839200" cy="457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sz="2800"/>
              <a:t>Threshold</a:t>
            </a:r>
            <a:r>
              <a:rPr lang="ko-KR" altLang="en-US" sz="2800"/>
              <a:t> </a:t>
            </a:r>
            <a:r>
              <a:rPr lang="en-US" altLang="ko-KR" sz="2800"/>
              <a:t>100</a:t>
            </a:r>
            <a:endParaRPr lang="ko-KR" altLang="en-US" sz="2800"/>
          </a:p>
        </p:txBody>
      </p:sp>
      <p:sp>
        <p:nvSpPr>
          <p:cNvPr id="2048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8D8485DD-AD4D-430C-98F5-7955CDBFD5EE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graphicFrame>
        <p:nvGraphicFramePr>
          <p:cNvPr id="20484" name="Object 3"/>
          <p:cNvGraphicFramePr>
            <a:graphicFrameLocks noChangeAspect="1"/>
          </p:cNvGraphicFramePr>
          <p:nvPr/>
        </p:nvGraphicFramePr>
        <p:xfrm>
          <a:off x="2403302" y="4029999"/>
          <a:ext cx="5257800" cy="23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2" imgW="4657143" imgH="2104762" progId="Paint.Picture">
                  <p:embed/>
                </p:oleObj>
              </mc:Choice>
              <mc:Fallback>
                <p:oleObj name="비트맵 이미지" r:id="rId2" imgW="4657143" imgH="2104762" progId="Paint.Picture">
                  <p:embed/>
                  <p:pic>
                    <p:nvPicPr>
                      <p:cNvPr id="2048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302" y="4029999"/>
                        <a:ext cx="5257800" cy="237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1671918" y="399126"/>
            <a:ext cx="883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2800"/>
              <a:t>Threshold</a:t>
            </a:r>
            <a:r>
              <a:rPr lang="ko-KR" altLang="en-US" sz="2800"/>
              <a:t> </a:t>
            </a:r>
            <a:r>
              <a:rPr lang="en-US" altLang="ko-KR" sz="2800"/>
              <a:t>128</a:t>
            </a:r>
            <a:r>
              <a:rPr lang="ko-KR" altLang="en-US" sz="2800"/>
              <a:t> </a:t>
            </a:r>
          </a:p>
        </p:txBody>
      </p:sp>
      <p:graphicFrame>
        <p:nvGraphicFramePr>
          <p:cNvPr id="20486" name="Object 5"/>
          <p:cNvGraphicFramePr>
            <a:graphicFrameLocks noChangeAspect="1"/>
          </p:cNvGraphicFramePr>
          <p:nvPr/>
        </p:nvGraphicFramePr>
        <p:xfrm>
          <a:off x="2492086" y="1000125"/>
          <a:ext cx="4762500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4" imgW="4761905" imgH="2276793" progId="Paint.Picture">
                  <p:embed/>
                </p:oleObj>
              </mc:Choice>
              <mc:Fallback>
                <p:oleObj name="비트맵 이미지" r:id="rId4" imgW="4761905" imgH="2276793" progId="Paint.Picture">
                  <p:embed/>
                  <p:pic>
                    <p:nvPicPr>
                      <p:cNvPr id="2048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086" y="1000125"/>
                        <a:ext cx="4762500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93199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Intensity transformations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677334" y="1515036"/>
            <a:ext cx="8596668" cy="4526328"/>
          </a:xfrm>
        </p:spPr>
        <p:txBody>
          <a:bodyPr/>
          <a:lstStyle/>
          <a:p>
            <a:pPr eaLnBrk="1" hangingPunct="1"/>
            <a:r>
              <a:rPr lang="en-US" altLang="ko-KR" dirty="0"/>
              <a:t>Digital negative</a:t>
            </a:r>
          </a:p>
          <a:p>
            <a:pPr lvl="1" eaLnBrk="1" hangingPunct="1"/>
            <a:r>
              <a:rPr lang="en-US" altLang="ko-KR" dirty="0"/>
              <a:t>Applications</a:t>
            </a:r>
          </a:p>
          <a:p>
            <a:pPr lvl="2" eaLnBrk="1" hangingPunct="1"/>
            <a:r>
              <a:rPr lang="en-US" altLang="ko-KR" dirty="0"/>
              <a:t>Display of medical images</a:t>
            </a:r>
          </a:p>
          <a:p>
            <a:pPr lvl="2" eaLnBrk="1" hangingPunct="1"/>
            <a:r>
              <a:rPr lang="en-US" altLang="ko-KR" dirty="0"/>
              <a:t>Produce negative prints of images</a:t>
            </a:r>
          </a:p>
          <a:p>
            <a:pPr eaLnBrk="1" hangingPunct="1"/>
            <a:r>
              <a:rPr lang="en-US" altLang="ko-KR" dirty="0"/>
              <a:t>Intensity level slicing</a:t>
            </a:r>
          </a:p>
          <a:p>
            <a:pPr lvl="1" eaLnBrk="1" hangingPunct="1"/>
            <a:r>
              <a:rPr lang="en-US" altLang="ko-KR" dirty="0"/>
              <a:t>Applications : </a:t>
            </a:r>
          </a:p>
          <a:p>
            <a:pPr lvl="2" eaLnBrk="1" hangingPunct="1"/>
            <a:r>
              <a:rPr lang="en-US" altLang="ko-KR" dirty="0"/>
              <a:t>Segmentation of certain gray level regions</a:t>
            </a:r>
          </a:p>
        </p:txBody>
      </p:sp>
      <p:sp>
        <p:nvSpPr>
          <p:cNvPr id="2150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3DC23B11-AA44-4440-8A57-727E572D5A5B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5943600" y="1707358"/>
          <a:ext cx="3236259" cy="1926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2" imgW="1314286" imgH="828791" progId="Paint.Picture">
                  <p:embed/>
                </p:oleObj>
              </mc:Choice>
              <mc:Fallback>
                <p:oleObj name="비트맵 이미지" r:id="rId2" imgW="1314286" imgH="828791" progId="Paint.Picture">
                  <p:embed/>
                  <p:pic>
                    <p:nvPicPr>
                      <p:cNvPr id="2150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707358"/>
                        <a:ext cx="3236259" cy="1926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5"/>
          <p:cNvGraphicFramePr>
            <a:graphicFrameLocks noChangeAspect="1"/>
          </p:cNvGraphicFramePr>
          <p:nvPr/>
        </p:nvGraphicFramePr>
        <p:xfrm>
          <a:off x="553826" y="4275409"/>
          <a:ext cx="7696200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4" imgW="3772427" imgH="1066667" progId="Paint.Picture">
                  <p:embed/>
                </p:oleObj>
              </mc:Choice>
              <mc:Fallback>
                <p:oleObj name="비트맵 이미지" r:id="rId4" imgW="3772427" imgH="1066667" progId="Paint.Picture">
                  <p:embed/>
                  <p:pic>
                    <p:nvPicPr>
                      <p:cNvPr id="215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26" y="4275409"/>
                        <a:ext cx="7696200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04509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3200" dirty="0"/>
              <a:t>Intensity transformations 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1488141"/>
            <a:ext cx="9165913" cy="427531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sz="2400" dirty="0"/>
              <a:t>Intensity transformation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>
                <a:solidFill>
                  <a:srgbClr val="00B0F0"/>
                </a:solidFill>
              </a:rPr>
              <a:t>Convert an old pixel into a new pixel based on some predefined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>
                <a:solidFill>
                  <a:srgbClr val="00B0F0"/>
                </a:solidFill>
              </a:rPr>
              <a:t>Implemented with simple look-up tables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400" dirty="0"/>
              <a:t>Simple transformation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>
                <a:solidFill>
                  <a:srgbClr val="00B0F0"/>
                </a:solidFill>
              </a:rPr>
              <a:t>Null transform :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2000" dirty="0">
                <a:solidFill>
                  <a:srgbClr val="00B0F0"/>
                </a:solidFill>
              </a:rPr>
              <a:t>new pixel = old pixel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>
                <a:solidFill>
                  <a:srgbClr val="00B0F0"/>
                </a:solidFill>
              </a:rPr>
              <a:t>Image negative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2000" dirty="0">
                <a:solidFill>
                  <a:srgbClr val="00B0F0"/>
                </a:solidFill>
              </a:rPr>
              <a:t>y = -x+255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/>
              <a:t>Gamma correction function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2000" dirty="0"/>
              <a:t>Brightness of an image can be adjusted with a gamma correction transformation</a:t>
            </a:r>
          </a:p>
        </p:txBody>
      </p:sp>
      <p:sp>
        <p:nvSpPr>
          <p:cNvPr id="2253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2C7D4FB-A2E1-4BBB-BF5E-06C3FDCC10EE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0464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ko-KR"/>
              <a:t>Intensity transformations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16000" y="836614"/>
            <a:ext cx="4564063" cy="579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400" dirty="0" err="1"/>
              <a:t>Posterizing</a:t>
            </a:r>
            <a:endParaRPr lang="en-US" altLang="ko-KR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ko-KR" sz="2000"/>
              <a:t>Reduces </a:t>
            </a:r>
            <a:r>
              <a:rPr lang="en-US" altLang="ko-KR" sz="2000" dirty="0"/>
              <a:t>the number of gray levels in an images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 err="1"/>
              <a:t>Thresholding</a:t>
            </a:r>
            <a:r>
              <a:rPr lang="en-US" altLang="ko-KR" sz="2000" dirty="0"/>
              <a:t> results when number of gray levels is reduced to 2.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/>
              <a:t>A bounced threshold reduces the </a:t>
            </a:r>
            <a:r>
              <a:rPr lang="en-US" altLang="ko-KR" sz="2000" dirty="0" err="1"/>
              <a:t>thresholding</a:t>
            </a:r>
            <a:r>
              <a:rPr lang="en-US" altLang="ko-KR" sz="2000" dirty="0"/>
              <a:t> to a limited range and treats the other input pixels as null transformation</a:t>
            </a:r>
          </a:p>
        </p:txBody>
      </p:sp>
      <p:pic>
        <p:nvPicPr>
          <p:cNvPr id="23557" name="Picture 4" descr="fig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87674" y="762000"/>
            <a:ext cx="4657597" cy="5233652"/>
          </a:xfrm>
          <a:noFill/>
        </p:spPr>
      </p:pic>
      <p:sp>
        <p:nvSpPr>
          <p:cNvPr id="23554" name="슬라이드 번호 개체 틀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48410D91-E025-4C42-B2F5-8A81FBC1DA31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1434353" y="5962314"/>
            <a:ext cx="96998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dirty="0">
                <a:latin typeface="Times New Roman" panose="02020603050405020304" pitchFamily="18" charset="0"/>
              </a:rPr>
              <a:t>(a) 8-Level </a:t>
            </a:r>
            <a:r>
              <a:rPr lang="en-US" altLang="ko-KR" sz="1400" dirty="0" err="1">
                <a:latin typeface="Times New Roman" panose="02020603050405020304" pitchFamily="18" charset="0"/>
              </a:rPr>
              <a:t>posterize</a:t>
            </a:r>
            <a:r>
              <a:rPr lang="en-US" altLang="ko-KR" sz="1400" dirty="0">
                <a:latin typeface="Times New Roman" panose="02020603050405020304" pitchFamily="18" charset="0"/>
              </a:rPr>
              <a:t> transformation; (b) </a:t>
            </a:r>
            <a:r>
              <a:rPr lang="en-US" altLang="ko-KR" sz="1400" dirty="0" err="1">
                <a:latin typeface="Times New Roman" panose="02020603050405020304" pitchFamily="18" charset="0"/>
              </a:rPr>
              <a:t>posterized</a:t>
            </a:r>
            <a:r>
              <a:rPr lang="en-US" altLang="ko-KR" sz="1400" dirty="0">
                <a:latin typeface="Times New Roman" panose="02020603050405020304" pitchFamily="18" charset="0"/>
              </a:rPr>
              <a:t> image; (c) threshold transformation; (d) threshold image; (e) bounded threshold; (f) bounded threshold image.</a:t>
            </a:r>
          </a:p>
        </p:txBody>
      </p:sp>
    </p:spTree>
    <p:extLst>
      <p:ext uri="{BB962C8B-B14F-4D97-AF65-F5344CB8AC3E}">
        <p14:creationId xmlns:p14="http://schemas.microsoft.com/office/powerpoint/2010/main" val="31074237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Intensity transformations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35224" y="1217559"/>
            <a:ext cx="763555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73239"/>
                </a:solidFill>
                <a:latin typeface="urw-din"/>
              </a:rPr>
              <a:t>Gamma correction is important for displaying images on a screen correctly</a:t>
            </a:r>
            <a:r>
              <a:rPr lang="en-US" dirty="0">
                <a:solidFill>
                  <a:srgbClr val="00B0F0"/>
                </a:solidFill>
                <a:latin typeface="urw-din"/>
              </a:rPr>
              <a:t>, to prevent bleaching or darkening of images when viewed from different types of monitors with different display settings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>. This is done because our eyes perceive images in a gamma-shaped curve, whereas cameras capture images in a linear fashion.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175" y="2694887"/>
            <a:ext cx="5534025" cy="38392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694887"/>
            <a:ext cx="4481901" cy="372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854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Intensity transformations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Gamma correction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/>
          </a:p>
        </p:txBody>
      </p:sp>
      <p:sp>
        <p:nvSpPr>
          <p:cNvPr id="2457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4869C215-4BF6-49CF-A4DC-1ABCB4080744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grpSp>
        <p:nvGrpSpPr>
          <p:cNvPr id="24581" name="Group 5"/>
          <p:cNvGrpSpPr>
            <a:grpSpLocks/>
          </p:cNvGrpSpPr>
          <p:nvPr/>
        </p:nvGrpSpPr>
        <p:grpSpPr bwMode="auto">
          <a:xfrm>
            <a:off x="990600" y="3309276"/>
            <a:ext cx="8001000" cy="2962275"/>
            <a:chOff x="432" y="2208"/>
            <a:chExt cx="5040" cy="1866"/>
          </a:xfrm>
        </p:grpSpPr>
        <p:pic>
          <p:nvPicPr>
            <p:cNvPr id="24583" name="Picture 6" descr="len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2208"/>
              <a:ext cx="1536" cy="15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4" name="Picture 7" descr="lena04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2208"/>
              <a:ext cx="1536" cy="15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85" name="Picture 8" descr="lena2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6" y="2208"/>
              <a:ext cx="1536" cy="15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6" name="Text Box 9"/>
            <p:cNvSpPr txBox="1">
              <a:spLocks noChangeArrowheads="1"/>
            </p:cNvSpPr>
            <p:nvPr/>
          </p:nvSpPr>
          <p:spPr bwMode="auto">
            <a:xfrm>
              <a:off x="754" y="3747"/>
              <a:ext cx="862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800">
                  <a:latin typeface="Times New Roman" panose="02020603050405020304" pitchFamily="18" charset="0"/>
                  <a:ea typeface="궁서체" panose="02030609000101010101" pitchFamily="49" charset="-127"/>
                </a:rPr>
                <a:t>Original</a:t>
              </a:r>
            </a:p>
          </p:txBody>
        </p:sp>
        <p:sp>
          <p:nvSpPr>
            <p:cNvPr id="24587" name="Text Box 10"/>
            <p:cNvSpPr txBox="1">
              <a:spLocks noChangeArrowheads="1"/>
            </p:cNvSpPr>
            <p:nvPr/>
          </p:nvSpPr>
          <p:spPr bwMode="auto">
            <a:xfrm>
              <a:off x="2390" y="3747"/>
              <a:ext cx="1292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800">
                  <a:latin typeface="Times New Roman" panose="02020603050405020304" pitchFamily="18" charset="0"/>
                  <a:ea typeface="궁서체" panose="02030609000101010101" pitchFamily="49" charset="-127"/>
                </a:rPr>
                <a:t>gamma=0.45</a:t>
              </a:r>
            </a:p>
          </p:txBody>
        </p:sp>
        <p:sp>
          <p:nvSpPr>
            <p:cNvPr id="24588" name="Text Box 11"/>
            <p:cNvSpPr txBox="1">
              <a:spLocks noChangeArrowheads="1"/>
            </p:cNvSpPr>
            <p:nvPr/>
          </p:nvSpPr>
          <p:spPr bwMode="auto">
            <a:xfrm>
              <a:off x="4070" y="3747"/>
              <a:ext cx="1292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800">
                  <a:latin typeface="Times New Roman" panose="02020603050405020304" pitchFamily="18" charset="0"/>
                  <a:ea typeface="궁서체" panose="02030609000101010101" pitchFamily="49" charset="-127"/>
                </a:rPr>
                <a:t>gamma=2.20</a:t>
              </a:r>
            </a:p>
          </p:txBody>
        </p:sp>
      </p:grpSp>
      <p:graphicFrame>
        <p:nvGraphicFramePr>
          <p:cNvPr id="24582" name="Object 12"/>
          <p:cNvGraphicFramePr>
            <a:graphicFrameLocks noChangeAspect="1"/>
          </p:cNvGraphicFramePr>
          <p:nvPr/>
        </p:nvGraphicFramePr>
        <p:xfrm>
          <a:off x="6324600" y="1355726"/>
          <a:ext cx="2667000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5" imgW="1886213" imgH="1305107" progId="Paint.Picture">
                  <p:embed/>
                </p:oleObj>
              </mc:Choice>
              <mc:Fallback>
                <p:oleObj name="비트맵 이미지" r:id="rId5" imgW="1886213" imgH="1305107" progId="Paint.Picture">
                  <p:embed/>
                  <p:pic>
                    <p:nvPicPr>
                      <p:cNvPr id="2458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355726"/>
                        <a:ext cx="2667000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71867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8534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charset="0"/>
                <a:cs typeface="Arial" charset="0"/>
              </a:rPr>
              <a:t>Intensity Transformation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914400"/>
            <a:ext cx="9144000" cy="5029200"/>
          </a:xfrm>
        </p:spPr>
        <p:txBody>
          <a:bodyPr/>
          <a:lstStyle/>
          <a:p>
            <a:pPr eaLnBrk="1" hangingPunct="1"/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Intensity Transformation</a:t>
            </a:r>
          </a:p>
          <a:p>
            <a:pPr lvl="1" eaLnBrk="1" hangingPunct="1"/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Intensity transformation is a point process that converts an old pixel into a new pixel base on some predefined function. This transformation is implemented with the LUT with ease. </a:t>
            </a:r>
          </a:p>
          <a:p>
            <a:pPr lvl="1" eaLnBrk="1" hangingPunct="1"/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Gamma Correction</a:t>
            </a:r>
            <a:r>
              <a:rPr lang="en-US" altLang="ko-KR" sz="2400"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buFontTx/>
              <a:buNone/>
            </a:pPr>
            <a:r>
              <a:rPr lang="en-US" altLang="ko-KR" sz="2400">
                <a:cs typeface="Times New Roman" panose="02020603050405020304" pitchFamily="18" charset="0"/>
              </a:rPr>
              <a:t> </a:t>
            </a:r>
          </a:p>
          <a:p>
            <a:pPr lvl="1" eaLnBrk="1" hangingPunct="1"/>
            <a:endParaRPr lang="en-US" altLang="ko-K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2F9F34C9-C91D-462C-A2A3-14DF6C2CD6EE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4224338" y="3132139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pic>
        <p:nvPicPr>
          <p:cNvPr id="25606" name="Picture 5" descr="gamm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601686"/>
            <a:ext cx="16462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07" name="Group 6"/>
          <p:cNvGrpSpPr>
            <a:grpSpLocks/>
          </p:cNvGrpSpPr>
          <p:nvPr/>
        </p:nvGrpSpPr>
        <p:grpSpPr bwMode="auto">
          <a:xfrm>
            <a:off x="1219200" y="3250920"/>
            <a:ext cx="9144000" cy="3581400"/>
            <a:chOff x="120" y="1950"/>
            <a:chExt cx="5553" cy="2310"/>
          </a:xfrm>
        </p:grpSpPr>
        <p:pic>
          <p:nvPicPr>
            <p:cNvPr id="25608" name="Picture 7" descr="Image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" y="1950"/>
              <a:ext cx="1824" cy="2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09" name="Picture 8" descr="Image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0" y="1956"/>
              <a:ext cx="1836" cy="2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10" name="Picture 9" descr="Image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3" y="1956"/>
              <a:ext cx="1830" cy="2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313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76200"/>
            <a:ext cx="8534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charset="0"/>
                <a:cs typeface="Arial" charset="0"/>
              </a:rPr>
              <a:t>Intensity Transformation</a:t>
            </a:r>
            <a:endParaRPr lang="en-US" altLang="ko-KR">
              <a:latin typeface="Arial" charset="0"/>
            </a:endParaRPr>
          </a:p>
        </p:txBody>
      </p:sp>
      <p:sp>
        <p:nvSpPr>
          <p:cNvPr id="2662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5985915" y="6104117"/>
            <a:ext cx="911939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3E400A2A-11AD-4472-A570-6B27CE14B796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pic>
        <p:nvPicPr>
          <p:cNvPr id="26628" name="Picture 3" descr="Imag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682" y="928689"/>
            <a:ext cx="6320118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4" descr="Image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926" y="3139330"/>
            <a:ext cx="29051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5" descr="Image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338" y="3110755"/>
            <a:ext cx="29051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6" descr="Image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87" y="3134569"/>
            <a:ext cx="2895600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8395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8534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charset="0"/>
                <a:cs typeface="Arial" charset="0"/>
              </a:rPr>
              <a:t>Intensity Transformation</a:t>
            </a:r>
            <a:endParaRPr lang="en-US" altLang="ko-KR">
              <a:latin typeface="Arial" charset="0"/>
            </a:endParaRPr>
          </a:p>
        </p:txBody>
      </p:sp>
      <p:pic>
        <p:nvPicPr>
          <p:cNvPr id="27652" name="Picture 3" descr="Image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36427" y="836613"/>
            <a:ext cx="5657850" cy="2305050"/>
          </a:xfrm>
          <a:noFill/>
        </p:spPr>
      </p:pic>
      <p:sp>
        <p:nvSpPr>
          <p:cNvPr id="27650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5896284" y="6139977"/>
            <a:ext cx="911939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9271C68D-13B7-4F84-9FC5-3D3B812CDC56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pic>
        <p:nvPicPr>
          <p:cNvPr id="27653" name="Picture 4" descr="Image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6" y="3165665"/>
            <a:ext cx="2895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5" descr="Image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876" y="3151379"/>
            <a:ext cx="2895600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6" descr="Image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576" y="3165665"/>
            <a:ext cx="2895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48473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8534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charset="0"/>
                <a:cs typeface="Arial" charset="0"/>
              </a:rPr>
              <a:t>Intensity Transformation</a:t>
            </a:r>
            <a:endParaRPr lang="en-US" altLang="ko-KR">
              <a:latin typeface="Arial" charset="0"/>
            </a:endParaRPr>
          </a:p>
        </p:txBody>
      </p:sp>
      <p:sp>
        <p:nvSpPr>
          <p:cNvPr id="2867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5905235" y="6086187"/>
            <a:ext cx="911939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E4E92BFA-2613-4C6A-A839-ECAE92F316E7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pic>
        <p:nvPicPr>
          <p:cNvPr id="28676" name="Picture 3" descr="Image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741" y="1098737"/>
            <a:ext cx="49339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4" descr="Image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77" y="3092825"/>
            <a:ext cx="2895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5" descr="Image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352" y="3111875"/>
            <a:ext cx="2895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6" descr="Image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816" y="3111875"/>
            <a:ext cx="29051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44597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Intensity transformations</a:t>
            </a:r>
          </a:p>
        </p:txBody>
      </p:sp>
      <p:pic>
        <p:nvPicPr>
          <p:cNvPr id="29700" name="Picture 3" descr="fig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1472" y="1518306"/>
            <a:ext cx="3900487" cy="3208337"/>
          </a:xfrm>
          <a:noFill/>
        </p:spPr>
      </p:pic>
      <p:pic>
        <p:nvPicPr>
          <p:cNvPr id="29701" name="Picture 5" descr="fig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53946" y="1465918"/>
            <a:ext cx="3897312" cy="3313113"/>
          </a:xfrm>
          <a:noFill/>
        </p:spPr>
      </p:pic>
      <p:sp>
        <p:nvSpPr>
          <p:cNvPr id="29698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DEB96C69-948A-4AC0-9AC0-FF20A1187AB3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750233" y="5093355"/>
            <a:ext cx="36417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b="1">
                <a:latin typeface="Times New Roman" panose="02020603050405020304" pitchFamily="18" charset="0"/>
              </a:rPr>
              <a:t>Fig. </a:t>
            </a:r>
            <a:r>
              <a:rPr lang="en-US" altLang="ko-KR" sz="1400">
                <a:latin typeface="Times New Roman" panose="02020603050405020304" pitchFamily="18" charset="0"/>
              </a:rPr>
              <a:t>(a) Null transformation; (b) image;</a:t>
            </a:r>
            <a:br>
              <a:rPr lang="en-US" altLang="ko-KR" sz="1400">
                <a:latin typeface="Times New Roman" panose="02020603050405020304" pitchFamily="18" charset="0"/>
              </a:rPr>
            </a:br>
            <a:r>
              <a:rPr lang="en-US" altLang="ko-KR" sz="1400">
                <a:latin typeface="Times New Roman" panose="02020603050405020304" pitchFamily="18" charset="0"/>
              </a:rPr>
              <a:t> (c) negative transformation; (d) negative image.</a:t>
            </a:r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5053946" y="5040864"/>
            <a:ext cx="492825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b="1">
                <a:latin typeface="Times New Roman" panose="02020603050405020304" pitchFamily="18" charset="0"/>
              </a:rPr>
              <a:t>Fig. </a:t>
            </a:r>
            <a:r>
              <a:rPr lang="en-US" altLang="ko-KR" sz="1400">
                <a:latin typeface="Times New Roman" panose="02020603050405020304" pitchFamily="18" charset="0"/>
              </a:rPr>
              <a:t>(a) Gamma collection transformation with gamma=0.45; (b) gamma collected image; (c) gamma collection transformation with gamma=2.2; (d) gamma collected image.</a:t>
            </a:r>
          </a:p>
        </p:txBody>
      </p:sp>
    </p:spTree>
    <p:extLst>
      <p:ext uri="{BB962C8B-B14F-4D97-AF65-F5344CB8AC3E}">
        <p14:creationId xmlns:p14="http://schemas.microsoft.com/office/powerpoint/2010/main" val="826240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Intensity transformations</a:t>
            </a:r>
          </a:p>
        </p:txBody>
      </p:sp>
      <p:pic>
        <p:nvPicPr>
          <p:cNvPr id="30724" name="Picture 4" descr="fig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1294" y="1722017"/>
            <a:ext cx="4237801" cy="3574943"/>
          </a:xfrm>
          <a:noFill/>
        </p:spPr>
      </p:pic>
      <p:sp>
        <p:nvSpPr>
          <p:cNvPr id="3072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433B7A48-2024-4D2A-A089-E0C8BE87E120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pic>
        <p:nvPicPr>
          <p:cNvPr id="30725" name="Picture 5" descr="fig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165" y="1237129"/>
            <a:ext cx="4553913" cy="458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6273563" y="5798978"/>
            <a:ext cx="410368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b="1">
                <a:latin typeface="Times New Roman" panose="02020603050405020304" pitchFamily="18" charset="0"/>
              </a:rPr>
              <a:t>Fig. </a:t>
            </a:r>
            <a:r>
              <a:rPr lang="en-US" altLang="ko-KR" sz="1400">
                <a:latin typeface="Times New Roman" panose="02020603050405020304" pitchFamily="18" charset="0"/>
              </a:rPr>
              <a:t>(a) 8-Level posterize transformation; (b) posterized image; (c) threshold transformation; (d) threshold image; (e) bounded threshold; (f) bounded threshold image.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941294" y="5537368"/>
            <a:ext cx="410368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b="1">
                <a:latin typeface="Times New Roman" panose="02020603050405020304" pitchFamily="18" charset="0"/>
              </a:rPr>
              <a:t>Fig. </a:t>
            </a:r>
            <a:r>
              <a:rPr lang="en-US" altLang="ko-KR" sz="1400">
                <a:latin typeface="Times New Roman" panose="02020603050405020304" pitchFamily="18" charset="0"/>
              </a:rPr>
              <a:t>(a) Contrast stretch transformation; (b) contrast stretched image; (c) Contrast compression transformation; (d) contrast compressed image.</a:t>
            </a:r>
          </a:p>
        </p:txBody>
      </p:sp>
    </p:spTree>
    <p:extLst>
      <p:ext uri="{BB962C8B-B14F-4D97-AF65-F5344CB8AC3E}">
        <p14:creationId xmlns:p14="http://schemas.microsoft.com/office/powerpoint/2010/main" val="6290876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ko-KR"/>
              <a:t>Intensity transformations</a:t>
            </a:r>
          </a:p>
        </p:txBody>
      </p:sp>
      <p:pic>
        <p:nvPicPr>
          <p:cNvPr id="31748" name="Picture 3" descr="fig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6297" y="1390650"/>
            <a:ext cx="4421467" cy="1806733"/>
          </a:xfrm>
          <a:noFill/>
        </p:spPr>
      </p:pic>
      <p:pic>
        <p:nvPicPr>
          <p:cNvPr id="31749" name="Picture 4" descr="fig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6099" y="3317225"/>
            <a:ext cx="3900487" cy="2649538"/>
          </a:xfrm>
          <a:noFill/>
        </p:spPr>
      </p:pic>
      <p:pic>
        <p:nvPicPr>
          <p:cNvPr id="31750" name="Picture 6" descr="fig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27608" y="3826033"/>
            <a:ext cx="4699254" cy="1967574"/>
          </a:xfrm>
          <a:noFill/>
        </p:spPr>
      </p:pic>
      <p:sp>
        <p:nvSpPr>
          <p:cNvPr id="31746" name="슬라이드 번호 개체 틀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17770635-FD78-4833-B375-04F302D60EAC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6061448" y="2096341"/>
            <a:ext cx="38355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b="1">
                <a:latin typeface="Times New Roman" panose="02020603050405020304" pitchFamily="18" charset="0"/>
              </a:rPr>
              <a:t>Fig. 2.19</a:t>
            </a:r>
            <a:r>
              <a:rPr lang="en-US" altLang="ko-KR" sz="1400">
                <a:latin typeface="Times New Roman" panose="02020603050405020304" pitchFamily="18" charset="0"/>
              </a:rPr>
              <a:t> (a) 2-bit bit-clipping transformation;</a:t>
            </a:r>
            <a:br>
              <a:rPr lang="en-US" altLang="ko-KR" sz="1400">
                <a:latin typeface="Times New Roman" panose="02020603050405020304" pitchFamily="18" charset="0"/>
              </a:rPr>
            </a:br>
            <a:r>
              <a:rPr lang="en-US" altLang="ko-KR" sz="1400">
                <a:latin typeface="Times New Roman" panose="02020603050405020304" pitchFamily="18" charset="0"/>
              </a:rPr>
              <a:t> (b) resulting image.</a:t>
            </a: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1136651" y="5966763"/>
            <a:ext cx="32400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b="1">
                <a:latin typeface="Times New Roman" panose="02020603050405020304" pitchFamily="18" charset="0"/>
              </a:rPr>
              <a:t>Fig. </a:t>
            </a:r>
            <a:r>
              <a:rPr lang="en-US" altLang="ko-KR" sz="1400">
                <a:latin typeface="Times New Roman" panose="02020603050405020304" pitchFamily="18" charset="0"/>
              </a:rPr>
              <a:t>Bit clipped image contrast stretched.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5527608" y="5850348"/>
            <a:ext cx="55633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b="1">
                <a:latin typeface="Times New Roman" panose="02020603050405020304" pitchFamily="18" charset="0"/>
              </a:rPr>
              <a:t>Fig. </a:t>
            </a:r>
            <a:r>
              <a:rPr lang="en-US" altLang="ko-KR" sz="1400">
                <a:latin typeface="Times New Roman" panose="02020603050405020304" pitchFamily="18" charset="0"/>
              </a:rPr>
              <a:t>(a) Iso-intensity contouring transformation; (b) contoured image.</a:t>
            </a:r>
          </a:p>
        </p:txBody>
      </p:sp>
    </p:spTree>
    <p:extLst>
      <p:ext uri="{BB962C8B-B14F-4D97-AF65-F5344CB8AC3E}">
        <p14:creationId xmlns:p14="http://schemas.microsoft.com/office/powerpoint/2010/main" val="11491425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Intensity tranformations</a:t>
            </a:r>
          </a:p>
        </p:txBody>
      </p:sp>
      <p:pic>
        <p:nvPicPr>
          <p:cNvPr id="32772" name="Picture 3" descr="fig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5082" y="1693488"/>
            <a:ext cx="5289457" cy="2242017"/>
          </a:xfrm>
          <a:noFill/>
        </p:spPr>
      </p:pic>
      <p:pic>
        <p:nvPicPr>
          <p:cNvPr id="32773" name="Picture 5" descr="fig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7836" y="4145806"/>
            <a:ext cx="5340072" cy="2335675"/>
          </a:xfrm>
          <a:noFill/>
        </p:spPr>
      </p:pic>
      <p:sp>
        <p:nvSpPr>
          <p:cNvPr id="32770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B3EDB358-D0A4-46BC-AF64-5B0E8960F7D5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6397907" y="2575859"/>
            <a:ext cx="3525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b="1">
                <a:latin typeface="Times New Roman" panose="02020603050405020304" pitchFamily="18" charset="0"/>
              </a:rPr>
              <a:t>Fig. </a:t>
            </a:r>
            <a:r>
              <a:rPr lang="en-US" altLang="ko-KR" sz="1400">
                <a:latin typeface="Times New Roman" panose="02020603050405020304" pitchFamily="18" charset="0"/>
              </a:rPr>
              <a:t>(a) Range-highlighting transformation; </a:t>
            </a:r>
            <a:br>
              <a:rPr lang="en-US" altLang="ko-KR" sz="1400">
                <a:latin typeface="Times New Roman" panose="02020603050405020304" pitchFamily="18" charset="0"/>
              </a:rPr>
            </a:br>
            <a:r>
              <a:rPr lang="en-US" altLang="ko-KR" sz="1400">
                <a:latin typeface="Times New Roman" panose="02020603050405020304" pitchFamily="18" charset="0"/>
              </a:rPr>
              <a:t>(b) resulting image.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6476535" y="5062352"/>
            <a:ext cx="37253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b="1">
                <a:latin typeface="Times New Roman" panose="02020603050405020304" pitchFamily="18" charset="0"/>
              </a:rPr>
              <a:t>Fig. </a:t>
            </a:r>
            <a:r>
              <a:rPr lang="en-US" altLang="ko-KR" sz="1400">
                <a:latin typeface="Times New Roman" panose="02020603050405020304" pitchFamily="18" charset="0"/>
              </a:rPr>
              <a:t>(a) Solarize transformation using a </a:t>
            </a:r>
            <a:br>
              <a:rPr lang="en-US" altLang="ko-KR" sz="1400">
                <a:latin typeface="Times New Roman" panose="02020603050405020304" pitchFamily="18" charset="0"/>
              </a:rPr>
            </a:br>
            <a:r>
              <a:rPr lang="en-US" altLang="ko-KR" sz="1400">
                <a:latin typeface="Times New Roman" panose="02020603050405020304" pitchFamily="18" charset="0"/>
              </a:rPr>
              <a:t>threshold of 150; (b) solarize image.</a:t>
            </a:r>
          </a:p>
        </p:txBody>
      </p:sp>
    </p:spTree>
    <p:extLst>
      <p:ext uri="{BB962C8B-B14F-4D97-AF65-F5344CB8AC3E}">
        <p14:creationId xmlns:p14="http://schemas.microsoft.com/office/powerpoint/2010/main" val="17840367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3200"/>
              <a:t>Intensity tranformations</a:t>
            </a:r>
          </a:p>
        </p:txBody>
      </p:sp>
      <p:pic>
        <p:nvPicPr>
          <p:cNvPr id="33796" name="Picture 4" descr="fig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2131" y="1725883"/>
            <a:ext cx="6246306" cy="4383741"/>
          </a:xfrm>
          <a:noFill/>
        </p:spPr>
      </p:pic>
      <p:sp>
        <p:nvSpPr>
          <p:cNvPr id="3379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53D4F3C1-260B-44B6-BF21-6D106D1B98C3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2519589" y="6177887"/>
            <a:ext cx="55451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400" b="1" dirty="0">
                <a:latin typeface="Times New Roman" panose="02020603050405020304" pitchFamily="18" charset="0"/>
              </a:rPr>
              <a:t>Fig. </a:t>
            </a:r>
            <a:r>
              <a:rPr lang="en-US" altLang="ko-KR" sz="1400" dirty="0">
                <a:latin typeface="Times New Roman" panose="02020603050405020304" pitchFamily="18" charset="0"/>
              </a:rPr>
              <a:t>(a) First parabola transformation; (b) transformed image; (c) second parabola transformation; (d) second transformed image.</a:t>
            </a:r>
          </a:p>
        </p:txBody>
      </p:sp>
    </p:spTree>
    <p:extLst>
      <p:ext uri="{BB962C8B-B14F-4D97-AF65-F5344CB8AC3E}">
        <p14:creationId xmlns:p14="http://schemas.microsoft.com/office/powerpoint/2010/main" val="26533398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3200"/>
              <a:t>Histogram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xfrm>
            <a:off x="901451" y="1490534"/>
            <a:ext cx="8596668" cy="3880773"/>
          </a:xfrm>
        </p:spPr>
        <p:txBody>
          <a:bodyPr/>
          <a:lstStyle/>
          <a:p>
            <a:pPr eaLnBrk="1" hangingPunct="1"/>
            <a:r>
              <a:rPr lang="en-US" altLang="ko-KR">
                <a:latin typeface="Times New Roman" panose="02020603050405020304" pitchFamily="18" charset="0"/>
                <a:cs typeface="Arial" panose="020B0604020202020204" pitchFamily="34" charset="0"/>
              </a:rPr>
              <a:t>Histogram</a:t>
            </a:r>
          </a:p>
          <a:p>
            <a:pPr lvl="1" eaLnBrk="1" hangingPunct="1"/>
            <a:r>
              <a:rPr lang="en-US" altLang="ko-KR">
                <a:latin typeface="Times New Roman" panose="02020603050405020304" pitchFamily="18" charset="0"/>
                <a:cs typeface="Arial" panose="020B0604020202020204" pitchFamily="34" charset="0"/>
              </a:rPr>
              <a:t>A simple bar graph that stands for pixel intensities. </a:t>
            </a:r>
          </a:p>
          <a:p>
            <a:pPr lvl="2" eaLnBrk="1" hangingPunct="1"/>
            <a:r>
              <a:rPr lang="en-US" altLang="ko-KR" sz="1600">
                <a:latin typeface="Times New Roman" panose="02020603050405020304" pitchFamily="18" charset="0"/>
                <a:cs typeface="Arial" panose="020B0604020202020204" pitchFamily="34" charset="0"/>
              </a:rPr>
              <a:t>The pixel intensities are plotted along the x-axis and the number of occurrences for each intensity are plotted along the y-axis.</a:t>
            </a:r>
          </a:p>
          <a:p>
            <a:pPr lvl="2" eaLnBrk="1" hangingPunct="1"/>
            <a:r>
              <a:rPr lang="en-US" altLang="ko-KR" sz="1600">
                <a:latin typeface="Times New Roman" panose="02020603050405020304" pitchFamily="18" charset="0"/>
              </a:rPr>
              <a:t>Provide information about contrast and overall intensity distribution of an image </a:t>
            </a:r>
          </a:p>
          <a:p>
            <a:pPr lvl="2" eaLnBrk="1" hangingPunct="1">
              <a:buFontTx/>
              <a:buNone/>
            </a:pPr>
            <a:endParaRPr lang="en-US" altLang="ko-KR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ko-KR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481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5A991A45-8A55-4EC7-BA11-D2FDD4E7E104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pic>
        <p:nvPicPr>
          <p:cNvPr id="34821" name="Picture 8" descr="imag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812" y="3430920"/>
            <a:ext cx="2779059" cy="2342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13" descr="histo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964" y="3387080"/>
            <a:ext cx="2521627" cy="2583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79293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Histogram </a:t>
            </a:r>
            <a:endParaRPr lang="ko-KR" altLang="en-US" dirty="0"/>
          </a:p>
        </p:txBody>
      </p:sp>
      <p:sp>
        <p:nvSpPr>
          <p:cNvPr id="3584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86880A97-DDF8-4798-B25D-82974B8C8D8A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grpSp>
        <p:nvGrpSpPr>
          <p:cNvPr id="35846" name="Group 19"/>
          <p:cNvGrpSpPr>
            <a:grpSpLocks/>
          </p:cNvGrpSpPr>
          <p:nvPr/>
        </p:nvGrpSpPr>
        <p:grpSpPr bwMode="auto">
          <a:xfrm>
            <a:off x="899170" y="1424894"/>
            <a:ext cx="6014814" cy="5433105"/>
            <a:chOff x="3552" y="816"/>
            <a:chExt cx="1843" cy="2806"/>
          </a:xfrm>
        </p:grpSpPr>
        <p:pic>
          <p:nvPicPr>
            <p:cNvPr id="35847" name="Picture 8" descr="brigh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2" y="816"/>
              <a:ext cx="1843" cy="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48" name="Picture 13" descr="dar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2" y="2736"/>
              <a:ext cx="1843" cy="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49" name="Picture 18" descr="norma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2" y="1776"/>
              <a:ext cx="1843" cy="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672486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7EF61F6B-3E0E-4C4E-8D43-9928632D7E11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grpSp>
        <p:nvGrpSpPr>
          <p:cNvPr id="36867" name="Group 14"/>
          <p:cNvGrpSpPr>
            <a:grpSpLocks/>
          </p:cNvGrpSpPr>
          <p:nvPr/>
        </p:nvGrpSpPr>
        <p:grpSpPr bwMode="auto">
          <a:xfrm>
            <a:off x="717550" y="5988049"/>
            <a:ext cx="8716963" cy="473075"/>
            <a:chOff x="-508" y="3772"/>
            <a:chExt cx="5491" cy="298"/>
          </a:xfrm>
        </p:grpSpPr>
        <p:sp>
          <p:nvSpPr>
            <p:cNvPr id="36869" name="Text Box 7"/>
            <p:cNvSpPr txBox="1">
              <a:spLocks noChangeArrowheads="1"/>
            </p:cNvSpPr>
            <p:nvPr/>
          </p:nvSpPr>
          <p:spPr bwMode="auto">
            <a:xfrm>
              <a:off x="1556" y="3772"/>
              <a:ext cx="1469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500">
                  <a:solidFill>
                    <a:srgbClr val="CC00FF"/>
                  </a:solidFill>
                </a:rPr>
                <a:t>Original Image</a:t>
              </a:r>
            </a:p>
          </p:txBody>
        </p:sp>
        <p:sp>
          <p:nvSpPr>
            <p:cNvPr id="36870" name="Text Box 8"/>
            <p:cNvSpPr txBox="1">
              <a:spLocks noChangeArrowheads="1"/>
            </p:cNvSpPr>
            <p:nvPr/>
          </p:nvSpPr>
          <p:spPr bwMode="auto">
            <a:xfrm>
              <a:off x="-508" y="3772"/>
              <a:ext cx="195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500" dirty="0">
                  <a:solidFill>
                    <a:srgbClr val="9900CC"/>
                  </a:solidFill>
                </a:rPr>
                <a:t>Original Image + 40</a:t>
              </a:r>
            </a:p>
          </p:txBody>
        </p:sp>
        <p:sp>
          <p:nvSpPr>
            <p:cNvPr id="36871" name="Text Box 9"/>
            <p:cNvSpPr txBox="1">
              <a:spLocks noChangeArrowheads="1"/>
            </p:cNvSpPr>
            <p:nvPr/>
          </p:nvSpPr>
          <p:spPr bwMode="auto">
            <a:xfrm>
              <a:off x="3025" y="3772"/>
              <a:ext cx="1958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500" dirty="0">
                  <a:solidFill>
                    <a:srgbClr val="FF66FF"/>
                  </a:solidFill>
                </a:rPr>
                <a:t>Original Image - 40</a:t>
              </a:r>
            </a:p>
          </p:txBody>
        </p:sp>
      </p:grpSp>
      <p:graphicFrame>
        <p:nvGraphicFramePr>
          <p:cNvPr id="36868" name="Object 12"/>
          <p:cNvGraphicFramePr>
            <a:graphicFrameLocks noChangeAspect="1"/>
          </p:cNvGraphicFramePr>
          <p:nvPr/>
        </p:nvGraphicFramePr>
        <p:xfrm>
          <a:off x="943371" y="981961"/>
          <a:ext cx="8433595" cy="4979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2" imgW="7647619" imgH="5514286" progId="Paint.Picture">
                  <p:embed/>
                </p:oleObj>
              </mc:Choice>
              <mc:Fallback>
                <p:oleObj name="비트맵 이미지" r:id="rId2" imgW="7647619" imgH="5514286" progId="Paint.Picture">
                  <p:embed/>
                  <p:pic>
                    <p:nvPicPr>
                      <p:cNvPr id="368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371" y="981961"/>
                        <a:ext cx="8433595" cy="49794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1322266" y="328798"/>
            <a:ext cx="17795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/>
              <a:t>Histogram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570045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89C82906-572F-4CAC-A95F-D13985ED5AE0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4463903" y="6052502"/>
            <a:ext cx="233203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500">
                <a:solidFill>
                  <a:schemeClr val="accent1"/>
                </a:solidFill>
              </a:rPr>
              <a:t>Original Image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060396" y="6041362"/>
            <a:ext cx="31750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500" dirty="0">
                <a:solidFill>
                  <a:schemeClr val="hlink"/>
                </a:solidFill>
              </a:rPr>
              <a:t>Original Image * 1.2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6936192" y="6040325"/>
            <a:ext cx="314801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500" dirty="0">
                <a:solidFill>
                  <a:schemeClr val="accent2"/>
                </a:solidFill>
              </a:rPr>
              <a:t>Original Image / 1.2</a:t>
            </a:r>
          </a:p>
        </p:txBody>
      </p:sp>
      <p:graphicFrame>
        <p:nvGraphicFramePr>
          <p:cNvPr id="37894" name="Object 11"/>
          <p:cNvGraphicFramePr>
            <a:graphicFrameLocks noChangeAspect="1"/>
          </p:cNvGraphicFramePr>
          <p:nvPr/>
        </p:nvGraphicFramePr>
        <p:xfrm>
          <a:off x="809383" y="863881"/>
          <a:ext cx="9087652" cy="5177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7819048" imgH="5582429" progId="Paint.Picture">
                  <p:embed/>
                </p:oleObj>
              </mc:Choice>
              <mc:Fallback>
                <p:oleObj name="비트맵 이미지" r:id="rId3" imgW="7819048" imgH="5582429" progId="Paint.Picture">
                  <p:embed/>
                  <p:pic>
                    <p:nvPicPr>
                      <p:cNvPr id="3789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383" y="863881"/>
                        <a:ext cx="9087652" cy="5177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614054" y="384593"/>
            <a:ext cx="1228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Histogram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012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Histogram</a:t>
            </a:r>
          </a:p>
        </p:txBody>
      </p:sp>
      <p:pic>
        <p:nvPicPr>
          <p:cNvPr id="38916" name="Picture 3" descr="Image3-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29226" y="1076496"/>
            <a:ext cx="6171973" cy="2918853"/>
          </a:xfrm>
          <a:noFill/>
        </p:spPr>
      </p:pic>
      <p:sp>
        <p:nvSpPr>
          <p:cNvPr id="3891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B18C854E-E25A-4CE5-8C8A-8671548FF4D1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pic>
        <p:nvPicPr>
          <p:cNvPr id="38917" name="Picture 4" descr="Image3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037" y="4069976"/>
            <a:ext cx="6051162" cy="2716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8927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Histogram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idx="1"/>
          </p:nvPr>
        </p:nvSpPr>
        <p:spPr>
          <a:xfrm>
            <a:off x="767820" y="1561874"/>
            <a:ext cx="8596668" cy="3880773"/>
          </a:xfrm>
        </p:spPr>
        <p:txBody>
          <a:bodyPr/>
          <a:lstStyle/>
          <a:p>
            <a:pPr eaLnBrk="1" hangingPunct="1"/>
            <a:r>
              <a:rPr lang="en-US" altLang="ko-KR" dirty="0"/>
              <a:t>Histogram in Gray-level and Color Image</a:t>
            </a:r>
          </a:p>
        </p:txBody>
      </p:sp>
      <p:sp>
        <p:nvSpPr>
          <p:cNvPr id="3993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38C44153-A3CB-4835-8460-B72666A23F1A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63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pic>
        <p:nvPicPr>
          <p:cNvPr id="39941" name="Picture 4" descr="Image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49" y="2106706"/>
            <a:ext cx="3423397" cy="3624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5" descr="Imag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2106706"/>
            <a:ext cx="5786501" cy="370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2133600" y="5791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</a:rPr>
              <a:t>RGB </a:t>
            </a: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39944" name="Text Box 7"/>
          <p:cNvSpPr txBox="1">
            <a:spLocks noChangeArrowheads="1"/>
          </p:cNvSpPr>
          <p:nvPr/>
        </p:nvSpPr>
        <p:spPr bwMode="auto">
          <a:xfrm>
            <a:off x="8234083" y="574586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</a:rPr>
              <a:t>Gray </a:t>
            </a:r>
            <a:endParaRPr lang="ko-KR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1077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Histogram Equalization</a:t>
            </a:r>
          </a:p>
        </p:txBody>
      </p:sp>
      <p:sp>
        <p:nvSpPr>
          <p:cNvPr id="40964" name="Rectangle 1027"/>
          <p:cNvSpPr>
            <a:spLocks noGrp="1" noChangeArrowheads="1"/>
          </p:cNvSpPr>
          <p:nvPr>
            <p:ph idx="1"/>
          </p:nvPr>
        </p:nvSpPr>
        <p:spPr>
          <a:xfrm>
            <a:off x="600690" y="1757084"/>
            <a:ext cx="9260485" cy="4391856"/>
          </a:xfrm>
        </p:spPr>
        <p:txBody>
          <a:bodyPr/>
          <a:lstStyle/>
          <a:p>
            <a:pPr marL="419100" indent="-419100"/>
            <a:r>
              <a:rPr lang="en-US" altLang="ko-KR" dirty="0">
                <a:latin typeface="Times New Roman" panose="02020603050405020304" pitchFamily="18" charset="0"/>
              </a:rPr>
              <a:t>Histogram Equalization</a:t>
            </a:r>
          </a:p>
          <a:p>
            <a:pPr marL="800100" lvl="1" indent="-342900"/>
            <a:r>
              <a:rPr lang="en-US" altLang="ko-KR" dirty="0">
                <a:latin typeface="Times New Roman" panose="02020603050405020304" pitchFamily="18" charset="0"/>
              </a:rPr>
              <a:t>(Goal) </a:t>
            </a:r>
            <a:r>
              <a:rPr lang="en-US" altLang="ko-KR" dirty="0"/>
              <a:t>to obtain a uniform histogram for the output image</a:t>
            </a:r>
            <a:endParaRPr lang="en-US" altLang="ko-KR" dirty="0">
              <a:latin typeface="Times New Roman" panose="02020603050405020304" pitchFamily="18" charset="0"/>
            </a:endParaRPr>
          </a:p>
          <a:p>
            <a:pPr marL="1219200" lvl="2" indent="-304800"/>
            <a:r>
              <a:rPr lang="en-US" altLang="ko-KR" sz="1600" dirty="0">
                <a:latin typeface="Times New Roman" panose="02020603050405020304" pitchFamily="18" charset="0"/>
              </a:rPr>
              <a:t>Mapping of gray level r into gray level s </a:t>
            </a:r>
            <a:r>
              <a:rPr lang="en-US" altLang="ko-KR" sz="1600" dirty="0" err="1">
                <a:latin typeface="Times New Roman" panose="02020603050405020304" pitchFamily="18" charset="0"/>
              </a:rPr>
              <a:t>s.t.</a:t>
            </a:r>
            <a:r>
              <a:rPr lang="en-US" altLang="ko-KR" sz="1600" dirty="0">
                <a:latin typeface="Times New Roman" panose="02020603050405020304" pitchFamily="18" charset="0"/>
              </a:rPr>
              <a:t> the distribution of gray level s is uniform.</a:t>
            </a:r>
          </a:p>
          <a:p>
            <a:pPr marL="1219200" lvl="2" indent="-304800"/>
            <a:r>
              <a:rPr lang="en-US" altLang="ko-KR" sz="1600" dirty="0">
                <a:latin typeface="Times New Roman" panose="02020603050405020304" pitchFamily="18" charset="0"/>
              </a:rPr>
              <a:t>Spreading: the peaks and valleys will be shifted (due to approximation in digitized space)</a:t>
            </a:r>
          </a:p>
          <a:p>
            <a:pPr marL="419100" indent="-419100"/>
            <a:r>
              <a:rPr lang="en-US" altLang="ko-KR" dirty="0">
                <a:latin typeface="Times New Roman" panose="02020603050405020304" pitchFamily="18" charset="0"/>
              </a:rPr>
              <a:t>Histogram Equalization Steps </a:t>
            </a:r>
          </a:p>
          <a:p>
            <a:pPr marL="800100" lvl="1" indent="-342900">
              <a:buFont typeface="Wingdings" panose="05000000000000000000" pitchFamily="2" charset="2"/>
              <a:buAutoNum type="arabicPeriod"/>
            </a:pPr>
            <a:r>
              <a:rPr lang="en-US" altLang="ko-KR" dirty="0">
                <a:latin typeface="Times New Roman" panose="02020603050405020304" pitchFamily="18" charset="0"/>
              </a:rPr>
              <a:t>Compute histogram. </a:t>
            </a:r>
          </a:p>
          <a:p>
            <a:pPr marL="800100" lvl="1" indent="-342900">
              <a:buFont typeface="Wingdings" panose="05000000000000000000" pitchFamily="2" charset="2"/>
              <a:buAutoNum type="arabicPeriod"/>
            </a:pPr>
            <a:r>
              <a:rPr lang="en-US" altLang="ko-KR" dirty="0">
                <a:latin typeface="Times New Roman" panose="02020603050405020304" pitchFamily="18" charset="0"/>
              </a:rPr>
              <a:t>Calculate normalized sum of histogram </a:t>
            </a:r>
          </a:p>
          <a:p>
            <a:pPr marL="800100" lvl="1" indent="-342900">
              <a:buFont typeface="Wingdings" panose="05000000000000000000" pitchFamily="2" charset="2"/>
              <a:buAutoNum type="arabicPeriod"/>
            </a:pPr>
            <a:r>
              <a:rPr lang="en-US" altLang="ko-KR" dirty="0">
                <a:latin typeface="Times New Roman" panose="02020603050405020304" pitchFamily="18" charset="0"/>
              </a:rPr>
              <a:t>Transform input image to output image </a:t>
            </a:r>
          </a:p>
          <a:p>
            <a:pPr marL="800100" lvl="1" indent="-342900">
              <a:buFont typeface="Wingdings" panose="05000000000000000000" pitchFamily="2" charset="2"/>
              <a:buAutoNum type="arabicPeriod"/>
            </a:pPr>
            <a:endParaRPr lang="en-US" altLang="ko-KR" dirty="0">
              <a:latin typeface="Times New Roman" panose="02020603050405020304" pitchFamily="18" charset="0"/>
            </a:endParaRPr>
          </a:p>
          <a:p>
            <a:pPr marL="419100" indent="-419100"/>
            <a:endParaRPr lang="en-US" altLang="ko-KR" dirty="0">
              <a:latin typeface="Times New Roman" panose="02020603050405020304" pitchFamily="18" charset="0"/>
            </a:endParaRPr>
          </a:p>
        </p:txBody>
      </p:sp>
      <p:sp>
        <p:nvSpPr>
          <p:cNvPr id="4096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AD9E9D5-DA41-4EDE-85A3-C79FA512A3F9}" type="slidenum">
              <a:rPr kumimoji="0" lang="en-US" altLang="ko-KR" sz="1400">
                <a:solidFill>
                  <a:schemeClr val="accent1"/>
                </a:solidFill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ko-KR" sz="1400">
              <a:solidFill>
                <a:schemeClr val="accent1"/>
              </a:solidFill>
            </a:endParaRPr>
          </a:p>
        </p:txBody>
      </p:sp>
      <p:sp>
        <p:nvSpPr>
          <p:cNvPr id="40965" name="Rectangle 1028"/>
          <p:cNvSpPr>
            <a:spLocks noChangeArrowheads="1"/>
          </p:cNvSpPr>
          <p:nvPr/>
        </p:nvSpPr>
        <p:spPr bwMode="auto">
          <a:xfrm>
            <a:off x="1524000" y="1082676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2400">
              <a:latin typeface="Times New Roman" panose="02020603050405020304" pitchFamily="18" charset="0"/>
            </a:endParaRPr>
          </a:p>
          <a:p>
            <a:pPr lvl="1" latinLnBrk="0">
              <a:spcBef>
                <a:spcPct val="0"/>
              </a:spcBef>
              <a:buFontTx/>
              <a:buNone/>
            </a:pPr>
            <a:endParaRPr lang="en-US" altLang="ko-KR" sz="2400">
              <a:latin typeface="Times New Roman" panose="02020603050405020304" pitchFamily="18" charset="0"/>
            </a:endParaRPr>
          </a:p>
        </p:txBody>
      </p:sp>
      <p:sp>
        <p:nvSpPr>
          <p:cNvPr id="40966" name="Rectangle 1029"/>
          <p:cNvSpPr>
            <a:spLocks noChangeArrowheads="1"/>
          </p:cNvSpPr>
          <p:nvPr/>
        </p:nvSpPr>
        <p:spPr bwMode="auto">
          <a:xfrm>
            <a:off x="1524000" y="43434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ko-KR" sz="1000">
              <a:latin typeface="Times New Roman" panose="02020603050405020304" pitchFamily="18" charset="0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2400">
              <a:latin typeface="Times New Roman" panose="02020603050405020304" pitchFamily="18" charset="0"/>
            </a:endParaRPr>
          </a:p>
        </p:txBody>
      </p:sp>
      <p:sp>
        <p:nvSpPr>
          <p:cNvPr id="40967" name="Rectangle 1030"/>
          <p:cNvSpPr>
            <a:spLocks noChangeArrowheads="1"/>
          </p:cNvSpPr>
          <p:nvPr/>
        </p:nvSpPr>
        <p:spPr bwMode="auto">
          <a:xfrm>
            <a:off x="1524000" y="4953001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2400">
              <a:latin typeface="Times New Roman" panose="02020603050405020304" pitchFamily="18" charset="0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2400">
              <a:latin typeface="Times New Roman" panose="02020603050405020304" pitchFamily="18" charset="0"/>
            </a:endParaRPr>
          </a:p>
        </p:txBody>
      </p:sp>
      <p:grpSp>
        <p:nvGrpSpPr>
          <p:cNvPr id="40968" name="Group 1031"/>
          <p:cNvGrpSpPr>
            <a:grpSpLocks/>
          </p:cNvGrpSpPr>
          <p:nvPr/>
        </p:nvGrpSpPr>
        <p:grpSpPr bwMode="auto">
          <a:xfrm>
            <a:off x="5235575" y="2292350"/>
            <a:ext cx="1720850" cy="2273300"/>
            <a:chOff x="-58" y="-29"/>
            <a:chExt cx="1084" cy="1432"/>
          </a:xfrm>
        </p:grpSpPr>
        <p:sp>
          <p:nvSpPr>
            <p:cNvPr id="40973" name="Rectangle 1032"/>
            <p:cNvSpPr>
              <a:spLocks noChangeArrowheads="1"/>
            </p:cNvSpPr>
            <p:nvPr/>
          </p:nvSpPr>
          <p:spPr bwMode="auto">
            <a:xfrm>
              <a:off x="-58" y="-29"/>
              <a:ext cx="11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600">
                <a:latin typeface="Times New Roman" panose="02020603050405020304" pitchFamily="18" charset="0"/>
              </a:endParaRPr>
            </a:p>
            <a:p>
              <a:pPr lvl="1" latinLnBrk="0">
                <a:spcBef>
                  <a:spcPct val="0"/>
                </a:spcBef>
                <a:buFontTx/>
                <a:buNone/>
              </a:pPr>
              <a:endParaRPr lang="en-US" altLang="ko-KR" sz="2400">
                <a:latin typeface="Times New Roman" panose="02020603050405020304" pitchFamily="18" charset="0"/>
              </a:endParaRPr>
            </a:p>
          </p:txBody>
        </p:sp>
        <p:sp>
          <p:nvSpPr>
            <p:cNvPr id="40974" name="Rectangle 1033"/>
            <p:cNvSpPr>
              <a:spLocks noChangeArrowheads="1"/>
            </p:cNvSpPr>
            <p:nvPr/>
          </p:nvSpPr>
          <p:spPr bwMode="auto">
            <a:xfrm>
              <a:off x="0" y="346"/>
              <a:ext cx="1026" cy="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600">
                  <a:latin typeface="Times New Roman" panose="02020603050405020304" pitchFamily="18" charset="0"/>
                </a:rPr>
                <a:t>  </a:t>
              </a:r>
              <a:r>
                <a:rPr lang="en-US" altLang="ko-KR" sz="7100">
                  <a:latin typeface="Times New Roman" panose="02020603050405020304" pitchFamily="18" charset="0"/>
                </a:rPr>
                <a:t> </a:t>
              </a:r>
              <a:r>
                <a:rPr lang="en-US" altLang="ko-KR" sz="600">
                  <a:latin typeface="Times New Roman" panose="02020603050405020304" pitchFamily="18" charset="0"/>
                </a:rPr>
                <a:t>                                                              </a:t>
              </a:r>
            </a:p>
          </p:txBody>
        </p:sp>
        <p:sp>
          <p:nvSpPr>
            <p:cNvPr id="40975" name="Rectangle 1034"/>
            <p:cNvSpPr>
              <a:spLocks noChangeArrowheads="1"/>
            </p:cNvSpPr>
            <p:nvPr/>
          </p:nvSpPr>
          <p:spPr bwMode="auto">
            <a:xfrm>
              <a:off x="-58" y="1057"/>
              <a:ext cx="11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600">
                <a:latin typeface="Times New Roman" panose="02020603050405020304" pitchFamily="18" charset="0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969" name="Group 1035"/>
          <p:cNvGrpSpPr>
            <a:grpSpLocks/>
          </p:cNvGrpSpPr>
          <p:nvPr/>
        </p:nvGrpSpPr>
        <p:grpSpPr bwMode="auto">
          <a:xfrm>
            <a:off x="4714875" y="1851025"/>
            <a:ext cx="2762250" cy="3155950"/>
            <a:chOff x="-58" y="-29"/>
            <a:chExt cx="1740" cy="1988"/>
          </a:xfrm>
        </p:grpSpPr>
        <p:sp>
          <p:nvSpPr>
            <p:cNvPr id="40970" name="Rectangle 1036"/>
            <p:cNvSpPr>
              <a:spLocks noChangeArrowheads="1"/>
            </p:cNvSpPr>
            <p:nvPr/>
          </p:nvSpPr>
          <p:spPr bwMode="auto">
            <a:xfrm>
              <a:off x="-58" y="-29"/>
              <a:ext cx="11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600">
                <a:latin typeface="Times New Roman" panose="02020603050405020304" pitchFamily="18" charset="0"/>
              </a:endParaRPr>
            </a:p>
            <a:p>
              <a:pPr lvl="1" latinLnBrk="0">
                <a:spcBef>
                  <a:spcPct val="0"/>
                </a:spcBef>
                <a:buFontTx/>
                <a:buNone/>
              </a:pPr>
              <a:endParaRPr lang="en-US" altLang="ko-KR" sz="2400">
                <a:latin typeface="Times New Roman" panose="02020603050405020304" pitchFamily="18" charset="0"/>
              </a:endParaRPr>
            </a:p>
          </p:txBody>
        </p:sp>
        <p:sp>
          <p:nvSpPr>
            <p:cNvPr id="40971" name="Rectangle 1037"/>
            <p:cNvSpPr>
              <a:spLocks noChangeArrowheads="1"/>
            </p:cNvSpPr>
            <p:nvPr/>
          </p:nvSpPr>
          <p:spPr bwMode="auto">
            <a:xfrm>
              <a:off x="0" y="346"/>
              <a:ext cx="1682" cy="1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600" dirty="0">
                  <a:latin typeface="Times New Roman" panose="02020603050405020304" pitchFamily="18" charset="0"/>
                </a:rPr>
                <a:t>  </a:t>
              </a:r>
              <a:r>
                <a:rPr lang="en-US" altLang="ko-KR" sz="12900" dirty="0">
                  <a:latin typeface="Times New Roman" panose="02020603050405020304" pitchFamily="18" charset="0"/>
                </a:rPr>
                <a:t> </a:t>
              </a:r>
              <a:r>
                <a:rPr lang="en-US" altLang="ko-KR" sz="600" dirty="0">
                  <a:latin typeface="Times New Roman" panose="02020603050405020304" pitchFamily="18" charset="0"/>
                </a:rPr>
                <a:t>                                                                                                           </a:t>
              </a:r>
            </a:p>
          </p:txBody>
        </p:sp>
        <p:sp>
          <p:nvSpPr>
            <p:cNvPr id="40972" name="Rectangle 1038"/>
            <p:cNvSpPr>
              <a:spLocks noChangeArrowheads="1"/>
            </p:cNvSpPr>
            <p:nvPr/>
          </p:nvSpPr>
          <p:spPr bwMode="auto">
            <a:xfrm>
              <a:off x="-58" y="1613"/>
              <a:ext cx="11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600">
                <a:latin typeface="Times New Roman" panose="02020603050405020304" pitchFamily="18" charset="0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2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528" y="3953011"/>
            <a:ext cx="4901098" cy="212697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37212" y="6077789"/>
            <a:ext cx="5673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202122"/>
                </a:solidFill>
                <a:latin typeface="Arial" panose="020B0604020202020204" pitchFamily="34" charset="0"/>
              </a:rPr>
              <a:t>Histograms of an image before and after equalization.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948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75271" y="5377039"/>
            <a:ext cx="2281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processing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20" y="2716101"/>
            <a:ext cx="1864700" cy="246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6190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495800" y="1600200"/>
            <a:ext cx="3395662" cy="3772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881645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71800" y="2057400"/>
            <a:ext cx="6553200" cy="382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821388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6470</TotalTime>
  <Words>1415</Words>
  <Application>Microsoft Office PowerPoint</Application>
  <PresentationFormat>Widescreen</PresentationFormat>
  <Paragraphs>227</Paragraphs>
  <Slides>67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바탕</vt:lpstr>
      <vt:lpstr>Arial</vt:lpstr>
      <vt:lpstr>Calibri</vt:lpstr>
      <vt:lpstr>Google Sans</vt:lpstr>
      <vt:lpstr>Times New Roman</vt:lpstr>
      <vt:lpstr>Trebuchet MS</vt:lpstr>
      <vt:lpstr>urw-din</vt:lpstr>
      <vt:lpstr>Wingdings</vt:lpstr>
      <vt:lpstr>Wingdings 3</vt:lpstr>
      <vt:lpstr>Facet</vt:lpstr>
      <vt:lpstr>비트맵 이미지</vt:lpstr>
      <vt:lpstr>Multimedia Computing</vt:lpstr>
      <vt:lpstr>Content</vt:lpstr>
      <vt:lpstr>Basic Concepts in Digital Image Processing </vt:lpstr>
      <vt:lpstr>Elements of Human Visual Perception </vt:lpstr>
      <vt:lpstr>Brightness Adaptation: Subjective Brightness </vt:lpstr>
      <vt:lpstr>Brightness Discrimination</vt:lpstr>
      <vt:lpstr>Brightness Discrimination at Different Intensity Levels</vt:lpstr>
      <vt:lpstr>Perceived Intensity is Not a Simple Function of the Actual Intensity</vt:lpstr>
      <vt:lpstr>Perceived Intensity is Not a Simple Function of the Actual Intensity – Simultaneous Contrast </vt:lpstr>
      <vt:lpstr>Object perception</vt:lpstr>
      <vt:lpstr>What Do We Do With All Of This Visual Information??</vt:lpstr>
      <vt:lpstr>Basics of image acquisition  </vt:lpstr>
      <vt:lpstr>Image Formation in the Eye</vt:lpstr>
      <vt:lpstr>Lens Parameters</vt:lpstr>
      <vt:lpstr>Depth of Field &amp; Out of Focus </vt:lpstr>
      <vt:lpstr> how lens choice affects angle of view. </vt:lpstr>
      <vt:lpstr>Light and EM Spectrum</vt:lpstr>
      <vt:lpstr>Relation Among Wavelength, Frequency and Energy</vt:lpstr>
      <vt:lpstr>Light and EM Spectrum</vt:lpstr>
      <vt:lpstr>Image Sensing and Acquisition</vt:lpstr>
      <vt:lpstr>A (2D) Image</vt:lpstr>
      <vt:lpstr>PowerPoint Presentation</vt:lpstr>
      <vt:lpstr>A Simple Image Formation Model </vt:lpstr>
      <vt:lpstr>Image Sampling and Quantization</vt:lpstr>
      <vt:lpstr>Image Sampling and Quantization in a Sensor Array</vt:lpstr>
      <vt:lpstr>Dynamic Range</vt:lpstr>
      <vt:lpstr>Representing Digital Images</vt:lpstr>
      <vt:lpstr>Store an Image </vt:lpstr>
      <vt:lpstr>Spatial Resolution</vt:lpstr>
      <vt:lpstr>Intensity Resolution</vt:lpstr>
      <vt:lpstr>Isopreference Curves </vt:lpstr>
      <vt:lpstr>Basic Set and Logical Operations </vt:lpstr>
      <vt:lpstr>Set Operations Based on Coordinates</vt:lpstr>
      <vt:lpstr>Some Basic Relationships between Pixels</vt:lpstr>
      <vt:lpstr>Adjacency</vt:lpstr>
      <vt:lpstr>Image Resampling &amp; Interpolation</vt:lpstr>
      <vt:lpstr>Contrast Stretching</vt:lpstr>
      <vt:lpstr>Contrast Stretching</vt:lpstr>
      <vt:lpstr>Contrast Stretching</vt:lpstr>
      <vt:lpstr>PowerPoint Presentation</vt:lpstr>
      <vt:lpstr>PowerPoint Presentation</vt:lpstr>
      <vt:lpstr> Threshold   </vt:lpstr>
      <vt:lpstr>PowerPoint Presentation</vt:lpstr>
      <vt:lpstr>Intensity transformations</vt:lpstr>
      <vt:lpstr>Intensity transformations </vt:lpstr>
      <vt:lpstr>Intensity transformations</vt:lpstr>
      <vt:lpstr>Intensity transformations</vt:lpstr>
      <vt:lpstr>Intensity transformations</vt:lpstr>
      <vt:lpstr>Intensity Transformation</vt:lpstr>
      <vt:lpstr>Intensity Transformation</vt:lpstr>
      <vt:lpstr>Intensity Transformation</vt:lpstr>
      <vt:lpstr>Intensity Transformation</vt:lpstr>
      <vt:lpstr>Intensity transformations</vt:lpstr>
      <vt:lpstr>Intensity transformations</vt:lpstr>
      <vt:lpstr>Intensity transformations</vt:lpstr>
      <vt:lpstr>Intensity tranformations</vt:lpstr>
      <vt:lpstr>Intensity tranformations</vt:lpstr>
      <vt:lpstr>Histogram</vt:lpstr>
      <vt:lpstr>Histogram </vt:lpstr>
      <vt:lpstr>PowerPoint Presentation</vt:lpstr>
      <vt:lpstr>PowerPoint Presentation</vt:lpstr>
      <vt:lpstr>Histogram</vt:lpstr>
      <vt:lpstr>Histogram</vt:lpstr>
      <vt:lpstr>Histogram Equalization</vt:lpstr>
      <vt:lpstr>Reference</vt:lpstr>
      <vt:lpstr>Question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Computing</dc:title>
  <dc:creator>Ahmed Minhaz Uddin</dc:creator>
  <cp:lastModifiedBy>Minhaz Uddin Ahmed</cp:lastModifiedBy>
  <cp:revision>80</cp:revision>
  <dcterms:created xsi:type="dcterms:W3CDTF">2020-01-20T15:08:40Z</dcterms:created>
  <dcterms:modified xsi:type="dcterms:W3CDTF">2025-09-24T03:34:34Z</dcterms:modified>
</cp:coreProperties>
</file>