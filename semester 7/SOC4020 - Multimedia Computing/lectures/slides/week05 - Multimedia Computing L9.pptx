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64"/>
  </p:notesMasterIdLst>
  <p:sldIdLst>
    <p:sldId id="256" r:id="rId2"/>
    <p:sldId id="341" r:id="rId3"/>
    <p:sldId id="528" r:id="rId4"/>
    <p:sldId id="529" r:id="rId5"/>
    <p:sldId id="531" r:id="rId6"/>
    <p:sldId id="530" r:id="rId7"/>
    <p:sldId id="452" r:id="rId8"/>
    <p:sldId id="453" r:id="rId9"/>
    <p:sldId id="526" r:id="rId10"/>
    <p:sldId id="532" r:id="rId11"/>
    <p:sldId id="454" r:id="rId12"/>
    <p:sldId id="455" r:id="rId13"/>
    <p:sldId id="456" r:id="rId14"/>
    <p:sldId id="479" r:id="rId15"/>
    <p:sldId id="480" r:id="rId16"/>
    <p:sldId id="481" r:id="rId17"/>
    <p:sldId id="482" r:id="rId18"/>
    <p:sldId id="483" r:id="rId19"/>
    <p:sldId id="484" r:id="rId20"/>
    <p:sldId id="485" r:id="rId21"/>
    <p:sldId id="486" r:id="rId22"/>
    <p:sldId id="487" r:id="rId23"/>
    <p:sldId id="488" r:id="rId24"/>
    <p:sldId id="489" r:id="rId25"/>
    <p:sldId id="491" r:id="rId26"/>
    <p:sldId id="492" r:id="rId27"/>
    <p:sldId id="493" r:id="rId28"/>
    <p:sldId id="494" r:id="rId29"/>
    <p:sldId id="495" r:id="rId30"/>
    <p:sldId id="496" r:id="rId31"/>
    <p:sldId id="497" r:id="rId32"/>
    <p:sldId id="498" r:id="rId33"/>
    <p:sldId id="499" r:id="rId34"/>
    <p:sldId id="500" r:id="rId35"/>
    <p:sldId id="501" r:id="rId36"/>
    <p:sldId id="503" r:id="rId37"/>
    <p:sldId id="504" r:id="rId38"/>
    <p:sldId id="505" r:id="rId39"/>
    <p:sldId id="506" r:id="rId40"/>
    <p:sldId id="507" r:id="rId41"/>
    <p:sldId id="533" r:id="rId42"/>
    <p:sldId id="508" r:id="rId43"/>
    <p:sldId id="509" r:id="rId44"/>
    <p:sldId id="510" r:id="rId45"/>
    <p:sldId id="511" r:id="rId46"/>
    <p:sldId id="512" r:id="rId47"/>
    <p:sldId id="513" r:id="rId48"/>
    <p:sldId id="514" r:id="rId49"/>
    <p:sldId id="515" r:id="rId50"/>
    <p:sldId id="516" r:id="rId51"/>
    <p:sldId id="517" r:id="rId52"/>
    <p:sldId id="518" r:id="rId53"/>
    <p:sldId id="519" r:id="rId54"/>
    <p:sldId id="520" r:id="rId55"/>
    <p:sldId id="521" r:id="rId56"/>
    <p:sldId id="522" r:id="rId57"/>
    <p:sldId id="523" r:id="rId58"/>
    <p:sldId id="524" r:id="rId59"/>
    <p:sldId id="525" r:id="rId60"/>
    <p:sldId id="451" r:id="rId61"/>
    <p:sldId id="299" r:id="rId62"/>
    <p:sldId id="300"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394" autoAdjust="0"/>
  </p:normalViewPr>
  <p:slideViewPr>
    <p:cSldViewPr snapToGrid="0">
      <p:cViewPr varScale="1">
        <p:scale>
          <a:sx n="77" d="100"/>
          <a:sy n="77" d="100"/>
        </p:scale>
        <p:origin x="88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E53E55-EC9A-434C-8BE2-CD78882C9BC0}" type="datetimeFigureOut">
              <a:rPr lang="en-US" smtClean="0"/>
              <a:t>10/7/2024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BD2CD-5368-43DB-9451-734A67620D4E}" type="slidenum">
              <a:rPr lang="en-US" smtClean="0"/>
              <a:t>‹#›</a:t>
            </a:fld>
            <a:endParaRPr lang="en-US"/>
          </a:p>
        </p:txBody>
      </p:sp>
    </p:spTree>
    <p:extLst>
      <p:ext uri="{BB962C8B-B14F-4D97-AF65-F5344CB8AC3E}">
        <p14:creationId xmlns:p14="http://schemas.microsoft.com/office/powerpoint/2010/main" val="78034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17</a:t>
            </a:fld>
            <a:endParaRPr lang="en-US"/>
          </a:p>
        </p:txBody>
      </p:sp>
    </p:spTree>
    <p:extLst>
      <p:ext uri="{BB962C8B-B14F-4D97-AF65-F5344CB8AC3E}">
        <p14:creationId xmlns:p14="http://schemas.microsoft.com/office/powerpoint/2010/main" val="2130937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61</a:t>
            </a:fld>
            <a:endParaRPr lang="en-US"/>
          </a:p>
        </p:txBody>
      </p:sp>
    </p:spTree>
    <p:extLst>
      <p:ext uri="{BB962C8B-B14F-4D97-AF65-F5344CB8AC3E}">
        <p14:creationId xmlns:p14="http://schemas.microsoft.com/office/powerpoint/2010/main" val="3901647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581026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653932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231027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16D2BA-BFE1-4F18-980D-42A06CD3627B}"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80826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16D2BA-BFE1-4F18-980D-42A06CD3627B}" type="datetimeFigureOut">
              <a:rPr lang="en-US" smtClean="0"/>
              <a:t>10/7/2024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949156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6D2BA-BFE1-4F18-980D-42A06CD3627B}" type="datetimeFigureOut">
              <a:rPr lang="en-US" smtClean="0"/>
              <a:t>10/7/2024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153588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6D2BA-BFE1-4F18-980D-42A06CD3627B}" type="datetimeFigureOut">
              <a:rPr lang="en-US" smtClean="0"/>
              <a:t>10/7/2024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049842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16D2BA-BFE1-4F18-980D-42A06CD3627B}" type="datetimeFigureOut">
              <a:rPr lang="en-US" smtClean="0"/>
              <a:t>10/7/2024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18914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
        <p:nvSpPr>
          <p:cNvPr id="5" name="Date Placeholder 4"/>
          <p:cNvSpPr>
            <a:spLocks noGrp="1"/>
          </p:cNvSpPr>
          <p:nvPr>
            <p:ph type="dt" sz="half" idx="10"/>
          </p:nvPr>
        </p:nvSpPr>
        <p:spPr/>
        <p:txBody>
          <a:bodyPr/>
          <a:lstStyle/>
          <a:p>
            <a:fld id="{0116D2BA-BFE1-4F18-980D-42A06CD3627B}" type="datetimeFigureOut">
              <a:rPr lang="en-US" smtClean="0"/>
              <a:t>10/7/2024</a:t>
            </a:fld>
            <a:endParaRPr lang="en-US"/>
          </a:p>
        </p:txBody>
      </p:sp>
    </p:spTree>
    <p:extLst>
      <p:ext uri="{BB962C8B-B14F-4D97-AF65-F5344CB8AC3E}">
        <p14:creationId xmlns:p14="http://schemas.microsoft.com/office/powerpoint/2010/main" val="2524953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106306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73632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359449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40278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642795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545694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244621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제목, 텍스트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1016000" y="152400"/>
            <a:ext cx="10363200" cy="609600"/>
          </a:xfrm>
        </p:spPr>
        <p:txBody>
          <a:bodyPr/>
          <a:lstStyle/>
          <a:p>
            <a:r>
              <a:rPr lang="ko-KR" altLang="en-US"/>
              <a:t>마스터 제목 스타일 편집</a:t>
            </a:r>
          </a:p>
        </p:txBody>
      </p:sp>
      <p:sp>
        <p:nvSpPr>
          <p:cNvPr id="3" name="텍스트 개체 틀 2"/>
          <p:cNvSpPr>
            <a:spLocks noGrp="1"/>
          </p:cNvSpPr>
          <p:nvPr>
            <p:ph type="body" sz="half" idx="1"/>
          </p:nvPr>
        </p:nvSpPr>
        <p:spPr>
          <a:xfrm>
            <a:off x="203200" y="914400"/>
            <a:ext cx="5791200" cy="57912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97600" y="914400"/>
            <a:ext cx="5791200" cy="57912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29"/>
          <p:cNvSpPr>
            <a:spLocks noGrp="1" noChangeArrowheads="1"/>
          </p:cNvSpPr>
          <p:nvPr>
            <p:ph type="sldNum" sz="quarter" idx="10"/>
          </p:nvPr>
        </p:nvSpPr>
        <p:spPr>
          <a:ln/>
        </p:spPr>
        <p:txBody>
          <a:bodyPr/>
          <a:lstStyle>
            <a:lvl1pPr>
              <a:defRPr/>
            </a:lvl1pPr>
          </a:lstStyle>
          <a:p>
            <a:pPr>
              <a:defRPr/>
            </a:pPr>
            <a:fld id="{6708EA0F-323C-468C-B988-DDECA4AC038D}" type="slidenum">
              <a:rPr lang="en-US" altLang="ko-KR"/>
              <a:pPr>
                <a:defRPr/>
              </a:pPr>
              <a:t>‹#›</a:t>
            </a:fld>
            <a:endParaRPr lang="en-US" altLang="ko-KR"/>
          </a:p>
        </p:txBody>
      </p:sp>
    </p:spTree>
    <p:extLst>
      <p:ext uri="{BB962C8B-B14F-4D97-AF65-F5344CB8AC3E}">
        <p14:creationId xmlns:p14="http://schemas.microsoft.com/office/powerpoint/2010/main" val="10418740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TwoObj">
  <p:cSld name="제목, 텍스트 및 내용 2개">
    <p:spTree>
      <p:nvGrpSpPr>
        <p:cNvPr id="1" name=""/>
        <p:cNvGrpSpPr/>
        <p:nvPr/>
      </p:nvGrpSpPr>
      <p:grpSpPr>
        <a:xfrm>
          <a:off x="0" y="0"/>
          <a:ext cx="0" cy="0"/>
          <a:chOff x="0" y="0"/>
          <a:chExt cx="0" cy="0"/>
        </a:xfrm>
      </p:grpSpPr>
      <p:sp>
        <p:nvSpPr>
          <p:cNvPr id="2" name="제목 1"/>
          <p:cNvSpPr>
            <a:spLocks noGrp="1"/>
          </p:cNvSpPr>
          <p:nvPr>
            <p:ph type="title"/>
          </p:nvPr>
        </p:nvSpPr>
        <p:spPr>
          <a:xfrm>
            <a:off x="1016000" y="152400"/>
            <a:ext cx="10363200" cy="609600"/>
          </a:xfrm>
        </p:spPr>
        <p:txBody>
          <a:bodyPr/>
          <a:lstStyle/>
          <a:p>
            <a:r>
              <a:rPr lang="ko-KR" altLang="en-US"/>
              <a:t>마스터 제목 스타일 편집</a:t>
            </a:r>
          </a:p>
        </p:txBody>
      </p:sp>
      <p:sp>
        <p:nvSpPr>
          <p:cNvPr id="3" name="텍스트 개체 틀 2"/>
          <p:cNvSpPr>
            <a:spLocks noGrp="1"/>
          </p:cNvSpPr>
          <p:nvPr>
            <p:ph type="body" sz="half" idx="1"/>
          </p:nvPr>
        </p:nvSpPr>
        <p:spPr>
          <a:xfrm>
            <a:off x="203200" y="914400"/>
            <a:ext cx="5791200" cy="57912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quarter" idx="2"/>
          </p:nvPr>
        </p:nvSpPr>
        <p:spPr>
          <a:xfrm>
            <a:off x="6197600" y="914400"/>
            <a:ext cx="5791200" cy="28194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내용 개체 틀 4"/>
          <p:cNvSpPr>
            <a:spLocks noGrp="1"/>
          </p:cNvSpPr>
          <p:nvPr>
            <p:ph sz="quarter" idx="3"/>
          </p:nvPr>
        </p:nvSpPr>
        <p:spPr>
          <a:xfrm>
            <a:off x="6197600" y="3886200"/>
            <a:ext cx="5791200" cy="28194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Rectangle 29"/>
          <p:cNvSpPr>
            <a:spLocks noGrp="1" noChangeArrowheads="1"/>
          </p:cNvSpPr>
          <p:nvPr>
            <p:ph type="sldNum" sz="quarter" idx="10"/>
          </p:nvPr>
        </p:nvSpPr>
        <p:spPr>
          <a:ln/>
        </p:spPr>
        <p:txBody>
          <a:bodyPr/>
          <a:lstStyle>
            <a:lvl1pPr>
              <a:defRPr/>
            </a:lvl1pPr>
          </a:lstStyle>
          <a:p>
            <a:pPr>
              <a:defRPr/>
            </a:pPr>
            <a:fld id="{C805307B-6EBB-4767-9C70-B6B800495034}" type="slidenum">
              <a:rPr lang="en-US" altLang="ko-KR"/>
              <a:pPr>
                <a:defRPr/>
              </a:pPr>
              <a:t>‹#›</a:t>
            </a:fld>
            <a:endParaRPr lang="en-US" altLang="ko-KR"/>
          </a:p>
        </p:txBody>
      </p:sp>
    </p:spTree>
    <p:extLst>
      <p:ext uri="{BB962C8B-B14F-4D97-AF65-F5344CB8AC3E}">
        <p14:creationId xmlns:p14="http://schemas.microsoft.com/office/powerpoint/2010/main" val="2556935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116D2BA-BFE1-4F18-980D-42A06CD3627B}" type="datetimeFigureOut">
              <a:rPr lang="en-US" smtClean="0"/>
              <a:t>10/7/2024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836B74-D967-44D7-A95F-6356689A3BC9}" type="slidenum">
              <a:rPr lang="en-US" smtClean="0"/>
              <a:t>‹#›</a:t>
            </a:fld>
            <a:endParaRPr lang="en-US"/>
          </a:p>
        </p:txBody>
      </p:sp>
    </p:spTree>
    <p:extLst>
      <p:ext uri="{BB962C8B-B14F-4D97-AF65-F5344CB8AC3E}">
        <p14:creationId xmlns:p14="http://schemas.microsoft.com/office/powerpoint/2010/main" val="337956997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az.ahmed@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oleObject" Target="../embeddings/oleObject1.bin"/><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25.wmf"/></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1.bin"/><Relationship Id="rId1" Type="http://schemas.openxmlformats.org/officeDocument/2006/relationships/slideLayout" Target="../slideLayouts/slideLayout17.xml"/><Relationship Id="rId5" Type="http://schemas.openxmlformats.org/officeDocument/2006/relationships/image" Target="../media/image29.wmf"/><Relationship Id="rId4" Type="http://schemas.openxmlformats.org/officeDocument/2006/relationships/oleObject" Target="../embeddings/oleObject12.bin"/></Relationships>
</file>

<file path=ppt/slides/_rels/slide24.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31.wmf"/><Relationship Id="rId4" Type="http://schemas.openxmlformats.org/officeDocument/2006/relationships/oleObject" Target="../embeddings/oleObject14.bin"/></Relationships>
</file>

<file path=ppt/slides/_rels/slide2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3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image" Target="../media/image55.jpeg"/><Relationship Id="rId7" Type="http://schemas.openxmlformats.org/officeDocument/2006/relationships/image" Target="../media/image59.jpe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jpeg"/><Relationship Id="rId9" Type="http://schemas.openxmlformats.org/officeDocument/2006/relationships/image" Target="../media/image61.jpeg"/></Relationships>
</file>

<file path=ppt/slides/_rels/slide38.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55.jpeg"/><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jpeg"/></Relationships>
</file>

<file path=ppt/slides/_rels/slide3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68.wmf"/><Relationship Id="rId7" Type="http://schemas.openxmlformats.org/officeDocument/2006/relationships/image" Target="../media/image70.wmf"/><Relationship Id="rId2" Type="http://schemas.openxmlformats.org/officeDocument/2006/relationships/oleObject" Target="../embeddings/oleObject19.bin"/><Relationship Id="rId1" Type="http://schemas.openxmlformats.org/officeDocument/2006/relationships/slideLayout" Target="../slideLayouts/slideLayout18.xml"/><Relationship Id="rId6" Type="http://schemas.openxmlformats.org/officeDocument/2006/relationships/oleObject" Target="../embeddings/oleObject21.bin"/><Relationship Id="rId5" Type="http://schemas.openxmlformats.org/officeDocument/2006/relationships/image" Target="../media/image69.wmf"/><Relationship Id="rId4" Type="http://schemas.openxmlformats.org/officeDocument/2006/relationships/oleObject" Target="../embeddings/oleObject20.bin"/><Relationship Id="rId9" Type="http://schemas.openxmlformats.org/officeDocument/2006/relationships/image" Target="../media/image71.wmf"/></Relationships>
</file>

<file path=ppt/slides/_rels/slide43.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oleObject" Target="../embeddings/oleObject25.bin"/><Relationship Id="rId1" Type="http://schemas.openxmlformats.org/officeDocument/2006/relationships/slideLayout" Target="../slideLayouts/slideLayout18.xml"/><Relationship Id="rId5" Type="http://schemas.openxmlformats.org/officeDocument/2006/relationships/image" Target="../media/image77.png"/><Relationship Id="rId4" Type="http://schemas.openxmlformats.org/officeDocument/2006/relationships/oleObject" Target="../embeddings/oleObject26.bin"/></Relationships>
</file>

<file path=ppt/slides/_rels/slide4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81.png"/><Relationship Id="rId7" Type="http://schemas.openxmlformats.org/officeDocument/2006/relationships/image" Target="../media/image83.png"/><Relationship Id="rId2"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9.bin"/><Relationship Id="rId11" Type="http://schemas.openxmlformats.org/officeDocument/2006/relationships/image" Target="../media/image85.png"/><Relationship Id="rId5" Type="http://schemas.openxmlformats.org/officeDocument/2006/relationships/image" Target="../media/image82.png"/><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84.png"/></Relationships>
</file>

<file path=ppt/slides/_rels/slide5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0.png"/><Relationship Id="rId2" Type="http://schemas.openxmlformats.org/officeDocument/2006/relationships/oleObject" Target="../embeddings/oleObject32.bin"/><Relationship Id="rId1" Type="http://schemas.openxmlformats.org/officeDocument/2006/relationships/slideLayout" Target="../slideLayouts/slideLayout2.xml"/><Relationship Id="rId6" Type="http://schemas.openxmlformats.org/officeDocument/2006/relationships/oleObject" Target="../embeddings/oleObject34.bin"/><Relationship Id="rId5" Type="http://schemas.openxmlformats.org/officeDocument/2006/relationships/image" Target="../media/image89.png"/><Relationship Id="rId4" Type="http://schemas.openxmlformats.org/officeDocument/2006/relationships/oleObject" Target="../embeddings/oleObject33.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5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oleObject" Target="../embeddings/oleObject35.bin"/><Relationship Id="rId4" Type="http://schemas.openxmlformats.org/officeDocument/2006/relationships/image" Target="../media/image103.png"/></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6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Autofit/>
          </a:bodyPr>
          <a:lstStyle/>
          <a:p>
            <a:pPr algn="ctr"/>
            <a:r>
              <a:rPr lang="en-US" dirty="0"/>
              <a:t>By </a:t>
            </a:r>
          </a:p>
          <a:p>
            <a:pPr algn="ctr">
              <a:spcBef>
                <a:spcPts val="0"/>
              </a:spcBef>
            </a:pPr>
            <a:r>
              <a:rPr lang="en-US" dirty="0"/>
              <a:t>Minhaz Uddin Ahmed, PhD</a:t>
            </a:r>
          </a:p>
          <a:p>
            <a:pPr algn="ctr">
              <a:spcBef>
                <a:spcPts val="0"/>
              </a:spcBef>
            </a:pPr>
            <a:r>
              <a:rPr lang="en-US" dirty="0"/>
              <a:t>Department of Computer Engineering</a:t>
            </a:r>
          </a:p>
          <a:p>
            <a:pPr algn="ctr">
              <a:spcBef>
                <a:spcPts val="0"/>
              </a:spcBef>
            </a:pPr>
            <a:r>
              <a:rPr lang="en-US" dirty="0" err="1"/>
              <a:t>Inha</a:t>
            </a:r>
            <a:r>
              <a:rPr lang="en-US" dirty="0"/>
              <a:t> University Tashkent.</a:t>
            </a:r>
          </a:p>
          <a:p>
            <a:pPr algn="ctr">
              <a:spcBef>
                <a:spcPts val="0"/>
              </a:spcBef>
            </a:pPr>
            <a:r>
              <a:rPr lang="en-US" dirty="0"/>
              <a:t>Email: </a:t>
            </a:r>
            <a:r>
              <a:rPr lang="en-US" dirty="0">
                <a:hlinkClick r:id="rId2"/>
              </a:rPr>
              <a:t>minhaz.ahmed@gmail.com</a:t>
            </a:r>
            <a:endParaRPr lang="en-US" dirty="0"/>
          </a:p>
          <a:p>
            <a:pPr algn="ctr"/>
            <a:endParaRPr lang="en-US" dirty="0"/>
          </a:p>
        </p:txBody>
      </p:sp>
    </p:spTree>
    <p:extLst>
      <p:ext uri="{BB962C8B-B14F-4D97-AF65-F5344CB8AC3E}">
        <p14:creationId xmlns:p14="http://schemas.microsoft.com/office/powerpoint/2010/main" val="376073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a:xfrm>
            <a:off x="607760" y="1564242"/>
            <a:ext cx="8596668" cy="3880773"/>
          </a:xfrm>
        </p:spPr>
        <p:txBody>
          <a:bodyPr>
            <a:normAutofit/>
          </a:bodyPr>
          <a:lstStyle/>
          <a:p>
            <a:pPr>
              <a:lnSpc>
                <a:spcPct val="90000"/>
              </a:lnSpc>
              <a:buFont typeface="Wingdings" panose="05000000000000000000" pitchFamily="2" charset="2"/>
              <a:buChar char="Ø"/>
            </a:pPr>
            <a:r>
              <a:rPr lang="en-US" altLang="ko-KR"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rPr>
              <a:t>Image types</a:t>
            </a:r>
          </a:p>
          <a:p>
            <a:pPr>
              <a:lnSpc>
                <a:spcPct val="90000"/>
              </a:lnSpc>
              <a:buFont typeface="Wingdings" panose="05000000000000000000" pitchFamily="2" charset="2"/>
              <a:buChar char="Ø"/>
            </a:pPr>
            <a:r>
              <a:rPr lang="en-US" altLang="ko-KR"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rPr>
              <a:t>LOOK-UP Tables</a:t>
            </a:r>
          </a:p>
          <a:p>
            <a:pPr>
              <a:lnSpc>
                <a:spcPct val="90000"/>
              </a:lnSpc>
              <a:buFont typeface="Wingdings" panose="05000000000000000000" pitchFamily="2" charset="2"/>
              <a:buChar char="Ø"/>
            </a:pPr>
            <a:r>
              <a:rPr lang="en-US" altLang="ko-KR"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rPr>
              <a:t>Contrast Stretching</a:t>
            </a:r>
            <a:endParaRPr lang="ko-KR" altLang="en-US" sz="1600"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endParaRPr>
          </a:p>
          <a:p>
            <a:pPr>
              <a:lnSpc>
                <a:spcPct val="90000"/>
              </a:lnSpc>
              <a:buFont typeface="Wingdings" panose="05000000000000000000" pitchFamily="2" charset="2"/>
              <a:buChar char="Ø"/>
            </a:pPr>
            <a:r>
              <a:rPr lang="en-US" altLang="ko-KR"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rPr>
              <a:t>Intensity Transformation</a:t>
            </a:r>
          </a:p>
          <a:p>
            <a:pPr>
              <a:lnSpc>
                <a:spcPct val="90000"/>
              </a:lnSpc>
              <a:buFont typeface="Wingdings" panose="05000000000000000000" pitchFamily="2" charset="2"/>
              <a:buChar char="Ø"/>
            </a:pPr>
            <a:r>
              <a:rPr lang="en-US" altLang="ko-KR"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rPr>
              <a:t>Histogram Equalization</a:t>
            </a:r>
          </a:p>
          <a:p>
            <a:pPr>
              <a:lnSpc>
                <a:spcPct val="90000"/>
              </a:lnSpc>
              <a:buFont typeface="Wingdings" panose="05000000000000000000" pitchFamily="2" charset="2"/>
              <a:buChar char="Ø"/>
            </a:pPr>
            <a:r>
              <a:rPr lang="en-US" altLang="ko-KR" dirty="0">
                <a:solidFill>
                  <a:schemeClr val="tx2"/>
                </a:solidFill>
              </a:rPr>
              <a:t>Histogram Specification</a:t>
            </a:r>
            <a:endParaRPr lang="en-US" altLang="ko-KR" dirty="0">
              <a:solidFill>
                <a:schemeClr val="tx2"/>
              </a:solidFill>
              <a:latin typeface="Arial" panose="020B0604020202020204" pitchFamily="34" charset="0"/>
              <a:cs typeface="Arial" panose="020B0604020202020204" pitchFamily="34" charset="0"/>
            </a:endParaRPr>
          </a:p>
          <a:p>
            <a:pPr>
              <a:lnSpc>
                <a:spcPct val="90000"/>
              </a:lnSpc>
              <a:buFont typeface="Wingdings" panose="05000000000000000000" pitchFamily="2" charset="2"/>
              <a:buChar char="Ø"/>
            </a:pPr>
            <a:r>
              <a:rPr lang="en-US" altLang="ko-KR"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rPr>
              <a:t>Arithmetic Operations</a:t>
            </a:r>
          </a:p>
          <a:p>
            <a:pPr>
              <a:lnSpc>
                <a:spcPct val="90000"/>
              </a:lnSpc>
              <a:buFont typeface="Wingdings" panose="05000000000000000000" pitchFamily="2" charset="2"/>
              <a:buChar char="Ø"/>
            </a:pPr>
            <a:r>
              <a:rPr lang="en-US" altLang="ko-KR"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rPr>
              <a:t>Logic Operations</a:t>
            </a:r>
            <a:endParaRPr lang="ko-KR" altLang="en-US" dirty="0">
              <a:solidFill>
                <a:schemeClr val="tx2"/>
              </a:solidFill>
              <a:latin typeface="Arial" panose="020B0604020202020204" pitchFamily="34" charset="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5289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E1454-E27A-46C6-1C9C-47D820B6EAE9}"/>
              </a:ext>
            </a:extLst>
          </p:cNvPr>
          <p:cNvSpPr>
            <a:spLocks noGrp="1"/>
          </p:cNvSpPr>
          <p:nvPr>
            <p:ph type="title"/>
          </p:nvPr>
        </p:nvSpPr>
        <p:spPr/>
        <p:txBody>
          <a:bodyPr/>
          <a:lstStyle/>
          <a:p>
            <a:r>
              <a:rPr lang="en-US" dirty="0"/>
              <a:t>Types of image</a:t>
            </a:r>
          </a:p>
        </p:txBody>
      </p:sp>
      <p:sp>
        <p:nvSpPr>
          <p:cNvPr id="3" name="Content Placeholder 2">
            <a:extLst>
              <a:ext uri="{FF2B5EF4-FFF2-40B4-BE49-F238E27FC236}">
                <a16:creationId xmlns:a16="http://schemas.microsoft.com/office/drawing/2014/main" id="{44833787-1B8B-050F-F18A-CE5719022498}"/>
              </a:ext>
            </a:extLst>
          </p:cNvPr>
          <p:cNvSpPr>
            <a:spLocks noGrp="1"/>
          </p:cNvSpPr>
          <p:nvPr>
            <p:ph idx="1"/>
          </p:nvPr>
        </p:nvSpPr>
        <p:spPr/>
        <p:txBody>
          <a:bodyPr/>
          <a:lstStyle/>
          <a:p>
            <a:r>
              <a:rPr lang="en-US" dirty="0"/>
              <a:t>Binary image </a:t>
            </a:r>
          </a:p>
          <a:p>
            <a:r>
              <a:rPr lang="en-US" dirty="0"/>
              <a:t>Gray scale image</a:t>
            </a:r>
          </a:p>
          <a:p>
            <a:r>
              <a:rPr lang="en-US" dirty="0"/>
              <a:t>Color image</a:t>
            </a:r>
          </a:p>
        </p:txBody>
      </p:sp>
    </p:spTree>
    <p:extLst>
      <p:ext uri="{BB962C8B-B14F-4D97-AF65-F5344CB8AC3E}">
        <p14:creationId xmlns:p14="http://schemas.microsoft.com/office/powerpoint/2010/main" val="3569741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D333-AF3C-9557-DD50-C7CFA40C8671}"/>
              </a:ext>
            </a:extLst>
          </p:cNvPr>
          <p:cNvSpPr>
            <a:spLocks noGrp="1"/>
          </p:cNvSpPr>
          <p:nvPr>
            <p:ph type="title"/>
          </p:nvPr>
        </p:nvSpPr>
        <p:spPr/>
        <p:txBody>
          <a:bodyPr/>
          <a:lstStyle/>
          <a:p>
            <a:r>
              <a:rPr lang="en-US" dirty="0"/>
              <a:t>Types of image</a:t>
            </a:r>
          </a:p>
        </p:txBody>
      </p:sp>
      <p:pic>
        <p:nvPicPr>
          <p:cNvPr id="5" name="Content Placeholder 4">
            <a:extLst>
              <a:ext uri="{FF2B5EF4-FFF2-40B4-BE49-F238E27FC236}">
                <a16:creationId xmlns:a16="http://schemas.microsoft.com/office/drawing/2014/main" id="{61EE5527-BB28-F62A-9092-5CE6731F8EC9}"/>
              </a:ext>
            </a:extLst>
          </p:cNvPr>
          <p:cNvPicPr>
            <a:picLocks noGrp="1" noChangeAspect="1"/>
          </p:cNvPicPr>
          <p:nvPr>
            <p:ph idx="1"/>
          </p:nvPr>
        </p:nvPicPr>
        <p:blipFill rotWithShape="1">
          <a:blip r:embed="rId2"/>
          <a:srcRect r="232" b="2414"/>
          <a:stretch/>
        </p:blipFill>
        <p:spPr>
          <a:xfrm>
            <a:off x="479371" y="1395166"/>
            <a:ext cx="8529200" cy="5156461"/>
          </a:xfrm>
        </p:spPr>
      </p:pic>
    </p:spTree>
    <p:extLst>
      <p:ext uri="{BB962C8B-B14F-4D97-AF65-F5344CB8AC3E}">
        <p14:creationId xmlns:p14="http://schemas.microsoft.com/office/powerpoint/2010/main" val="18703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3F80-CC10-EFA7-5A58-11A43A89901F}"/>
              </a:ext>
            </a:extLst>
          </p:cNvPr>
          <p:cNvSpPr>
            <a:spLocks noGrp="1"/>
          </p:cNvSpPr>
          <p:nvPr>
            <p:ph type="title"/>
          </p:nvPr>
        </p:nvSpPr>
        <p:spPr/>
        <p:txBody>
          <a:bodyPr/>
          <a:lstStyle/>
          <a:p>
            <a:r>
              <a:rPr lang="en-US" dirty="0"/>
              <a:t>RGB image</a:t>
            </a:r>
          </a:p>
        </p:txBody>
      </p:sp>
      <p:pic>
        <p:nvPicPr>
          <p:cNvPr id="5" name="Content Placeholder 4">
            <a:extLst>
              <a:ext uri="{FF2B5EF4-FFF2-40B4-BE49-F238E27FC236}">
                <a16:creationId xmlns:a16="http://schemas.microsoft.com/office/drawing/2014/main" id="{7E2A4F98-912E-1457-F472-9E61B080A8B8}"/>
              </a:ext>
            </a:extLst>
          </p:cNvPr>
          <p:cNvPicPr>
            <a:picLocks noGrp="1" noChangeAspect="1"/>
          </p:cNvPicPr>
          <p:nvPr>
            <p:ph idx="1"/>
          </p:nvPr>
        </p:nvPicPr>
        <p:blipFill rotWithShape="1">
          <a:blip r:embed="rId2"/>
          <a:srcRect l="-1032" t="16552" r="3198" b="15971"/>
          <a:stretch/>
        </p:blipFill>
        <p:spPr>
          <a:xfrm>
            <a:off x="1008668" y="3271102"/>
            <a:ext cx="6249971" cy="2619080"/>
          </a:xfrm>
        </p:spPr>
      </p:pic>
      <p:sp>
        <p:nvSpPr>
          <p:cNvPr id="6" name="TextBox 5">
            <a:extLst>
              <a:ext uri="{FF2B5EF4-FFF2-40B4-BE49-F238E27FC236}">
                <a16:creationId xmlns:a16="http://schemas.microsoft.com/office/drawing/2014/main" id="{3671A8AE-AC28-EECB-7AD2-8E4659A18B09}"/>
              </a:ext>
            </a:extLst>
          </p:cNvPr>
          <p:cNvSpPr txBox="1"/>
          <p:nvPr/>
        </p:nvSpPr>
        <p:spPr>
          <a:xfrm>
            <a:off x="886120" y="1706252"/>
            <a:ext cx="7550870" cy="1200329"/>
          </a:xfrm>
          <a:prstGeom prst="rect">
            <a:avLst/>
          </a:prstGeom>
          <a:noFill/>
        </p:spPr>
        <p:txBody>
          <a:bodyPr wrap="square" rtlCol="0">
            <a:spAutoFit/>
          </a:bodyPr>
          <a:lstStyle/>
          <a:p>
            <a:r>
              <a:rPr lang="en-US" dirty="0"/>
              <a:t>An RGB image is essentially three images layered on top of one another; Red , green, blue each pixel in them being 8 bits(intensity value ranges 0-255). To store a single pixel of an RGB need to store 8 bits for all three colors total 24bit per pixel</a:t>
            </a:r>
          </a:p>
        </p:txBody>
      </p:sp>
    </p:spTree>
    <p:extLst>
      <p:ext uri="{BB962C8B-B14F-4D97-AF65-F5344CB8AC3E}">
        <p14:creationId xmlns:p14="http://schemas.microsoft.com/office/powerpoint/2010/main" val="1338527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1929-2505-C6BF-ED49-D45ACDB06272}"/>
              </a:ext>
            </a:extLst>
          </p:cNvPr>
          <p:cNvSpPr>
            <a:spLocks noGrp="1"/>
          </p:cNvSpPr>
          <p:nvPr>
            <p:ph type="title"/>
          </p:nvPr>
        </p:nvSpPr>
        <p:spPr/>
        <p:txBody>
          <a:bodyPr/>
          <a:lstStyle/>
          <a:p>
            <a:r>
              <a:rPr lang="en-US" dirty="0"/>
              <a:t>Image Data type</a:t>
            </a:r>
          </a:p>
        </p:txBody>
      </p:sp>
      <p:pic>
        <p:nvPicPr>
          <p:cNvPr id="5" name="Content Placeholder 4">
            <a:extLst>
              <a:ext uri="{FF2B5EF4-FFF2-40B4-BE49-F238E27FC236}">
                <a16:creationId xmlns:a16="http://schemas.microsoft.com/office/drawing/2014/main" id="{0C853BED-D700-8DD2-FDDE-9538771775FF}"/>
              </a:ext>
            </a:extLst>
          </p:cNvPr>
          <p:cNvPicPr>
            <a:picLocks noGrp="1" noChangeAspect="1"/>
          </p:cNvPicPr>
          <p:nvPr>
            <p:ph idx="1"/>
          </p:nvPr>
        </p:nvPicPr>
        <p:blipFill>
          <a:blip r:embed="rId2"/>
          <a:stretch>
            <a:fillRect/>
          </a:stretch>
        </p:blipFill>
        <p:spPr>
          <a:xfrm>
            <a:off x="677334" y="2019872"/>
            <a:ext cx="6995555" cy="2175602"/>
          </a:xfrm>
        </p:spPr>
      </p:pic>
    </p:spTree>
    <p:extLst>
      <p:ext uri="{BB962C8B-B14F-4D97-AF65-F5344CB8AC3E}">
        <p14:creationId xmlns:p14="http://schemas.microsoft.com/office/powerpoint/2010/main" val="530231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defRPr/>
            </a:pPr>
            <a:r>
              <a:rPr lang="en-US" altLang="ko-KR" dirty="0"/>
              <a:t>Point processes</a:t>
            </a:r>
          </a:p>
        </p:txBody>
      </p:sp>
      <p:sp>
        <p:nvSpPr>
          <p:cNvPr id="7172" name="Rectangle 3"/>
          <p:cNvSpPr>
            <a:spLocks noGrp="1" noChangeArrowheads="1"/>
          </p:cNvSpPr>
          <p:nvPr>
            <p:ph idx="1"/>
          </p:nvPr>
        </p:nvSpPr>
        <p:spPr>
          <a:xfrm>
            <a:off x="833717" y="1785191"/>
            <a:ext cx="8839200" cy="5440362"/>
          </a:xfrm>
        </p:spPr>
        <p:txBody>
          <a:bodyPr/>
          <a:lstStyle/>
          <a:p>
            <a:pPr eaLnBrk="1" hangingPunct="1"/>
            <a:r>
              <a:rPr lang="en-US" altLang="ko-KR" sz="2000">
                <a:latin typeface="Times New Roman" panose="02020603050405020304" pitchFamily="18" charset="0"/>
              </a:rPr>
              <a:t>Point processes : </a:t>
            </a:r>
          </a:p>
          <a:p>
            <a:pPr lvl="1" eaLnBrk="1" hangingPunct="1"/>
            <a:r>
              <a:rPr lang="en-US" altLang="ko-KR" sz="1800">
                <a:latin typeface="Times New Roman" panose="02020603050405020304" pitchFamily="18" charset="0"/>
              </a:rPr>
              <a:t>The simplest of  the basic image processing operations </a:t>
            </a:r>
          </a:p>
          <a:p>
            <a:pPr lvl="1" eaLnBrk="1" hangingPunct="1"/>
            <a:r>
              <a:rPr lang="en-US" altLang="ko-KR" sz="1800">
                <a:latin typeface="Times New Roman" panose="02020603050405020304" pitchFamily="18" charset="0"/>
              </a:rPr>
              <a:t>Based solely in the pixel’s value</a:t>
            </a:r>
          </a:p>
          <a:p>
            <a:pPr lvl="2" eaLnBrk="1" hangingPunct="1"/>
            <a:r>
              <a:rPr lang="en-US" altLang="ko-KR" sz="1600">
                <a:latin typeface="Times New Roman" panose="02020603050405020304" pitchFamily="18" charset="0"/>
              </a:rPr>
              <a:t>Easily implemented as look-up tables</a:t>
            </a:r>
          </a:p>
          <a:p>
            <a:pPr eaLnBrk="1" hangingPunct="1"/>
            <a:r>
              <a:rPr lang="en-US" altLang="ko-KR" sz="2000">
                <a:latin typeface="Times New Roman" panose="02020603050405020304" pitchFamily="18" charset="0"/>
              </a:rPr>
              <a:t>The model of spatial domain methods</a:t>
            </a:r>
          </a:p>
          <a:p>
            <a:pPr lvl="1" eaLnBrk="1" hangingPunct="1"/>
            <a:r>
              <a:rPr lang="en-US" altLang="ko-KR" sz="1800">
                <a:latin typeface="Times New Roman" panose="02020603050405020304" pitchFamily="18" charset="0"/>
              </a:rPr>
              <a:t>Spatial domain point processing: operate directly in the aggregate of pixels.</a:t>
            </a:r>
          </a:p>
        </p:txBody>
      </p:sp>
      <p:sp>
        <p:nvSpPr>
          <p:cNvPr id="7170"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6EB03C9B-4E5E-45F1-B103-905ECACC22C8}" type="slidenum">
              <a:rPr kumimoji="0" lang="en-US" altLang="ko-KR" sz="1400">
                <a:solidFill>
                  <a:schemeClr val="accent1"/>
                </a:solidFill>
              </a:rPr>
              <a:pPr>
                <a:spcBef>
                  <a:spcPct val="50000"/>
                </a:spcBef>
                <a:buClrTx/>
                <a:buSzTx/>
                <a:buFontTx/>
                <a:buNone/>
              </a:pPr>
              <a:t>7</a:t>
            </a:fld>
            <a:endParaRPr kumimoji="0" lang="en-US" altLang="ko-KR" sz="1400">
              <a:solidFill>
                <a:schemeClr val="accent1"/>
              </a:solidFill>
            </a:endParaRPr>
          </a:p>
        </p:txBody>
      </p:sp>
    </p:spTree>
    <p:extLst>
      <p:ext uri="{BB962C8B-B14F-4D97-AF65-F5344CB8AC3E}">
        <p14:creationId xmlns:p14="http://schemas.microsoft.com/office/powerpoint/2010/main" val="1748643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슬라이드 번호 개체 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BED4BD02-BBE6-4460-80F1-D5593D7D272F}" type="slidenum">
              <a:rPr kumimoji="0" lang="en-US" altLang="ko-KR" sz="1400">
                <a:solidFill>
                  <a:schemeClr val="accent1"/>
                </a:solidFill>
              </a:rPr>
              <a:pPr>
                <a:spcBef>
                  <a:spcPct val="50000"/>
                </a:spcBef>
                <a:buClrTx/>
                <a:buSzTx/>
                <a:buFontTx/>
                <a:buNone/>
              </a:pPr>
              <a:t>8</a:t>
            </a:fld>
            <a:endParaRPr kumimoji="0" lang="en-US" altLang="ko-KR" sz="1400">
              <a:solidFill>
                <a:schemeClr val="accent1"/>
              </a:solidFill>
            </a:endParaRPr>
          </a:p>
        </p:txBody>
      </p:sp>
      <p:sp>
        <p:nvSpPr>
          <p:cNvPr id="113666" name="Rectangle 2"/>
          <p:cNvSpPr>
            <a:spLocks noChangeArrowheads="1"/>
          </p:cNvSpPr>
          <p:nvPr/>
        </p:nvSpPr>
        <p:spPr bwMode="auto">
          <a:xfrm>
            <a:off x="523876" y="344487"/>
            <a:ext cx="7772400" cy="609600"/>
          </a:xfrm>
          <a:prstGeom prst="rect">
            <a:avLst/>
          </a:prstGeom>
          <a:noFill/>
          <a:ln w="9525">
            <a:noFill/>
            <a:miter lim="800000"/>
            <a:headEnd/>
            <a:tailEnd/>
          </a:ln>
        </p:spPr>
        <p:txBody>
          <a:bodyPr anchor="ctr"/>
          <a:lstStyle/>
          <a:p>
            <a:pPr defTabSz="457200">
              <a:spcBef>
                <a:spcPct val="0"/>
              </a:spcBef>
              <a:defRPr/>
            </a:pPr>
            <a:r>
              <a:rPr lang="en-US" altLang="ko-KR" sz="3600" dirty="0">
                <a:solidFill>
                  <a:schemeClr val="accent1"/>
                </a:solidFill>
                <a:latin typeface="+mj-lt"/>
                <a:ea typeface="+mj-ea"/>
                <a:cs typeface="+mj-cs"/>
              </a:rPr>
              <a:t>Spatial domain methods</a:t>
            </a:r>
          </a:p>
        </p:txBody>
      </p:sp>
      <p:sp>
        <p:nvSpPr>
          <p:cNvPr id="8196" name="Rectangle 3"/>
          <p:cNvSpPr>
            <a:spLocks noChangeArrowheads="1"/>
          </p:cNvSpPr>
          <p:nvPr/>
        </p:nvSpPr>
        <p:spPr bwMode="auto">
          <a:xfrm>
            <a:off x="856268" y="1236957"/>
            <a:ext cx="8839200" cy="544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r>
              <a:rPr lang="en-US" altLang="ko-KR" sz="2800" dirty="0">
                <a:latin typeface="Times New Roman" panose="02020603050405020304" pitchFamily="18" charset="0"/>
              </a:rPr>
              <a:t>The model for image processing</a:t>
            </a:r>
          </a:p>
          <a:p>
            <a:pPr eaLnBrk="1" hangingPunct="1"/>
            <a:r>
              <a:rPr lang="en-US" altLang="ko-KR" sz="2800" dirty="0">
                <a:latin typeface="Times New Roman" panose="02020603050405020304" pitchFamily="18" charset="0"/>
              </a:rPr>
              <a:t>Let T be an operator in f defined over some neighborhood of (</a:t>
            </a:r>
            <a:r>
              <a:rPr lang="en-US" altLang="ko-KR" sz="2800" dirty="0" err="1">
                <a:latin typeface="Times New Roman" panose="02020603050405020304" pitchFamily="18" charset="0"/>
              </a:rPr>
              <a:t>x,y</a:t>
            </a:r>
            <a:r>
              <a:rPr lang="en-US" altLang="ko-KR" sz="2800" dirty="0">
                <a:latin typeface="Times New Roman" panose="02020603050405020304" pitchFamily="18" charset="0"/>
              </a:rPr>
              <a:t>) or a set of input image</a:t>
            </a:r>
          </a:p>
          <a:p>
            <a:pPr eaLnBrk="1" hangingPunct="1"/>
            <a:r>
              <a:rPr lang="en-US" altLang="ko-KR" sz="2800" i="1" dirty="0">
                <a:latin typeface="Times New Roman" panose="02020603050405020304" pitchFamily="18" charset="0"/>
              </a:rPr>
              <a:t>g</a:t>
            </a:r>
            <a:r>
              <a:rPr lang="en-US" altLang="ko-KR" sz="2800" dirty="0">
                <a:latin typeface="Times New Roman" panose="02020603050405020304" pitchFamily="18" charset="0"/>
              </a:rPr>
              <a:t>(</a:t>
            </a:r>
            <a:r>
              <a:rPr lang="en-US" altLang="ko-KR" sz="2800" dirty="0" err="1">
                <a:latin typeface="Times New Roman" panose="02020603050405020304" pitchFamily="18" charset="0"/>
              </a:rPr>
              <a:t>x,y</a:t>
            </a:r>
            <a:r>
              <a:rPr lang="en-US" altLang="ko-KR" sz="2800" dirty="0">
                <a:latin typeface="Times New Roman" panose="02020603050405020304" pitchFamily="18" charset="0"/>
              </a:rPr>
              <a:t>) = T[</a:t>
            </a:r>
            <a:r>
              <a:rPr lang="en-US" altLang="ko-KR" sz="2800" i="1" dirty="0">
                <a:latin typeface="Times New Roman" panose="02020603050405020304" pitchFamily="18" charset="0"/>
              </a:rPr>
              <a:t>f</a:t>
            </a:r>
            <a:r>
              <a:rPr lang="en-US" altLang="ko-KR" sz="2800" dirty="0">
                <a:latin typeface="Times New Roman" panose="02020603050405020304" pitchFamily="18" charset="0"/>
              </a:rPr>
              <a:t>(</a:t>
            </a:r>
            <a:r>
              <a:rPr lang="en-US" altLang="ko-KR" sz="2800" dirty="0" err="1">
                <a:latin typeface="Times New Roman" panose="02020603050405020304" pitchFamily="18" charset="0"/>
              </a:rPr>
              <a:t>x,y</a:t>
            </a:r>
            <a:r>
              <a:rPr lang="en-US" altLang="ko-KR" sz="2800" dirty="0">
                <a:latin typeface="Times New Roman" panose="02020603050405020304" pitchFamily="18" charset="0"/>
              </a:rPr>
              <a:t>)]</a:t>
            </a:r>
          </a:p>
          <a:p>
            <a:pPr lvl="1" eaLnBrk="1" hangingPunct="1">
              <a:buClr>
                <a:schemeClr val="accent1"/>
              </a:buClr>
              <a:buSzPct val="80000"/>
              <a:buFont typeface="Wingdings" panose="05000000000000000000" pitchFamily="2" charset="2"/>
              <a:buChar char="n"/>
            </a:pPr>
            <a:r>
              <a:rPr lang="en-US" altLang="ko-KR" i="1" dirty="0">
                <a:latin typeface="Times New Roman" panose="02020603050405020304" pitchFamily="18" charset="0"/>
              </a:rPr>
              <a:t>g</a:t>
            </a:r>
            <a:r>
              <a:rPr lang="en-US" altLang="ko-KR" dirty="0">
                <a:latin typeface="Times New Roman" panose="02020603050405020304" pitchFamily="18" charset="0"/>
              </a:rPr>
              <a:t>(</a:t>
            </a:r>
            <a:r>
              <a:rPr lang="en-US" altLang="ko-KR" dirty="0" err="1">
                <a:latin typeface="Times New Roman" panose="02020603050405020304" pitchFamily="18" charset="0"/>
              </a:rPr>
              <a:t>x,y</a:t>
            </a:r>
            <a:r>
              <a:rPr lang="en-US" altLang="ko-KR" dirty="0">
                <a:latin typeface="Times New Roman" panose="02020603050405020304" pitchFamily="18" charset="0"/>
              </a:rPr>
              <a:t>): processed image</a:t>
            </a:r>
          </a:p>
          <a:p>
            <a:pPr lvl="1" eaLnBrk="1" hangingPunct="1">
              <a:buClr>
                <a:schemeClr val="accent1"/>
              </a:buClr>
              <a:buSzPct val="80000"/>
              <a:buFont typeface="Wingdings" panose="05000000000000000000" pitchFamily="2" charset="2"/>
              <a:buChar char="n"/>
            </a:pPr>
            <a:r>
              <a:rPr lang="en-US" altLang="ko-KR" i="1" dirty="0">
                <a:latin typeface="Times New Roman" panose="02020603050405020304" pitchFamily="18" charset="0"/>
              </a:rPr>
              <a:t>f</a:t>
            </a:r>
            <a:r>
              <a:rPr lang="en-US" altLang="ko-KR" dirty="0">
                <a:latin typeface="Times New Roman" panose="02020603050405020304" pitchFamily="18" charset="0"/>
              </a:rPr>
              <a:t>(</a:t>
            </a:r>
            <a:r>
              <a:rPr lang="en-US" altLang="ko-KR" dirty="0" err="1">
                <a:latin typeface="Times New Roman" panose="02020603050405020304" pitchFamily="18" charset="0"/>
              </a:rPr>
              <a:t>x,y</a:t>
            </a:r>
            <a:r>
              <a:rPr lang="en-US" altLang="ko-KR" dirty="0">
                <a:latin typeface="Times New Roman" panose="02020603050405020304" pitchFamily="18" charset="0"/>
              </a:rPr>
              <a:t>): input image</a:t>
            </a:r>
          </a:p>
          <a:p>
            <a:pPr eaLnBrk="1" hangingPunct="1">
              <a:buFont typeface="Wingdings" panose="05000000000000000000" pitchFamily="2" charset="2"/>
              <a:buNone/>
            </a:pPr>
            <a:endParaRPr lang="en-US" altLang="ko-KR" sz="2800" dirty="0"/>
          </a:p>
        </p:txBody>
      </p:sp>
      <p:pic>
        <p:nvPicPr>
          <p:cNvPr id="8197" name="Picture 4" descr="gonzalez fi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1189" y="2496086"/>
            <a:ext cx="36798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Text Box 5"/>
          <p:cNvSpPr txBox="1">
            <a:spLocks noChangeArrowheads="1"/>
          </p:cNvSpPr>
          <p:nvPr/>
        </p:nvSpPr>
        <p:spPr bwMode="auto">
          <a:xfrm>
            <a:off x="882415" y="6085424"/>
            <a:ext cx="43934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200" dirty="0">
                <a:latin typeface="Times New Roman" panose="02020603050405020304" pitchFamily="18" charset="0"/>
              </a:rPr>
              <a:t>A3 </a:t>
            </a:r>
            <a:r>
              <a:rPr lang="en-US" altLang="ko-KR" sz="1200" dirty="0">
                <a:latin typeface="Times New Roman" panose="02020603050405020304" pitchFamily="18" charset="0"/>
                <a:cs typeface="Times New Roman" panose="02020603050405020304" pitchFamily="18" charset="0"/>
              </a:rPr>
              <a:t>×</a:t>
            </a:r>
            <a:r>
              <a:rPr lang="en-US" altLang="ko-KR" sz="1200" dirty="0">
                <a:latin typeface="Times New Roman" panose="02020603050405020304" pitchFamily="18" charset="0"/>
              </a:rPr>
              <a:t> 3 neighborhood about a point (</a:t>
            </a:r>
            <a:r>
              <a:rPr lang="en-US" altLang="ko-KR" sz="1200" dirty="0" err="1">
                <a:latin typeface="Times New Roman" panose="02020603050405020304" pitchFamily="18" charset="0"/>
              </a:rPr>
              <a:t>x,y</a:t>
            </a:r>
            <a:r>
              <a:rPr lang="en-US" altLang="ko-KR" sz="1200" dirty="0">
                <a:latin typeface="Times New Roman" panose="02020603050405020304" pitchFamily="18" charset="0"/>
              </a:rPr>
              <a:t>) in an image  [Gonzalez]</a:t>
            </a:r>
          </a:p>
        </p:txBody>
      </p:sp>
    </p:spTree>
    <p:extLst>
      <p:ext uri="{BB962C8B-B14F-4D97-AF65-F5344CB8AC3E}">
        <p14:creationId xmlns:p14="http://schemas.microsoft.com/office/powerpoint/2010/main" val="9178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0257" y="1542853"/>
            <a:ext cx="8462683" cy="923330"/>
          </a:xfrm>
          <a:prstGeom prst="rect">
            <a:avLst/>
          </a:prstGeom>
        </p:spPr>
        <p:txBody>
          <a:bodyPr wrap="square">
            <a:spAutoFit/>
          </a:bodyPr>
          <a:lstStyle/>
          <a:p>
            <a:r>
              <a:rPr lang="en-US" dirty="0">
                <a:solidFill>
                  <a:srgbClr val="0070C0"/>
                </a:solidFill>
                <a:latin typeface="Times New Roman" panose="02020603050405020304" pitchFamily="18" charset="0"/>
              </a:rPr>
              <a:t>An LUT is simply a table of cross-references linking </a:t>
            </a:r>
            <a:r>
              <a:rPr lang="en-US" i="1" dirty="0">
                <a:solidFill>
                  <a:srgbClr val="0070C0"/>
                </a:solidFill>
                <a:latin typeface="Times New Roman" panose="02020603050405020304" pitchFamily="18" charset="0"/>
              </a:rPr>
              <a:t>index numbers</a:t>
            </a:r>
            <a:r>
              <a:rPr lang="en-US" dirty="0">
                <a:solidFill>
                  <a:srgbClr val="0070C0"/>
                </a:solidFill>
                <a:latin typeface="Times New Roman" panose="02020603050405020304" pitchFamily="18" charset="0"/>
              </a:rPr>
              <a:t> to </a:t>
            </a:r>
            <a:r>
              <a:rPr lang="en-US" i="1" dirty="0">
                <a:solidFill>
                  <a:srgbClr val="0070C0"/>
                </a:solidFill>
                <a:latin typeface="Times New Roman" panose="02020603050405020304" pitchFamily="18" charset="0"/>
              </a:rPr>
              <a:t>output values</a:t>
            </a:r>
            <a:r>
              <a:rPr lang="en-US" dirty="0">
                <a:solidFill>
                  <a:srgbClr val="000000"/>
                </a:solidFill>
                <a:latin typeface="Times New Roman" panose="02020603050405020304" pitchFamily="18" charset="0"/>
              </a:rPr>
              <a:t>. The most common use is to determine the colors and intensity values with which a particular image will be displayed, and in this context the LUT is often called simply a </a:t>
            </a:r>
            <a:r>
              <a:rPr lang="en-US" i="1" dirty="0">
                <a:solidFill>
                  <a:srgbClr val="000000"/>
                </a:solidFill>
                <a:latin typeface="Times New Roman" panose="02020603050405020304" pitchFamily="18" charset="0"/>
              </a:rPr>
              <a:t>colormap</a:t>
            </a:r>
            <a:r>
              <a:rPr lang="en-US" dirty="0">
                <a:solidFill>
                  <a:srgbClr val="000000"/>
                </a:solidFill>
                <a:latin typeface="Times New Roman" panose="02020603050405020304" pitchFamily="18" charset="0"/>
              </a:rPr>
              <a:t>.</a:t>
            </a:r>
            <a:endParaRPr lang="en-US" dirty="0"/>
          </a:p>
        </p:txBody>
      </p:sp>
      <p:sp>
        <p:nvSpPr>
          <p:cNvPr id="3" name="Rectangle 2"/>
          <p:cNvSpPr/>
          <p:nvPr/>
        </p:nvSpPr>
        <p:spPr>
          <a:xfrm>
            <a:off x="1466879" y="617675"/>
            <a:ext cx="2411750" cy="369332"/>
          </a:xfrm>
          <a:prstGeom prst="rect">
            <a:avLst/>
          </a:prstGeom>
        </p:spPr>
        <p:txBody>
          <a:bodyPr wrap="none">
            <a:spAutoFit/>
          </a:bodyPr>
          <a:lstStyle/>
          <a:p>
            <a:r>
              <a:rPr lang="en-US" altLang="ko-KR" b="1" dirty="0">
                <a:latin typeface="Arial" charset="0"/>
                <a:cs typeface="Arial" charset="0"/>
              </a:rPr>
              <a:t>Look-up Table (LUT)</a:t>
            </a:r>
            <a:endParaRPr lang="en-US" b="1" dirty="0"/>
          </a:p>
        </p:txBody>
      </p:sp>
      <p:sp>
        <p:nvSpPr>
          <p:cNvPr id="4" name="Rectangle 3"/>
          <p:cNvSpPr/>
          <p:nvPr/>
        </p:nvSpPr>
        <p:spPr>
          <a:xfrm>
            <a:off x="950257" y="3022029"/>
            <a:ext cx="8633012" cy="1477328"/>
          </a:xfrm>
          <a:prstGeom prst="rect">
            <a:avLst/>
          </a:prstGeom>
        </p:spPr>
        <p:txBody>
          <a:bodyPr wrap="square">
            <a:spAutoFit/>
          </a:bodyPr>
          <a:lstStyle/>
          <a:p>
            <a:r>
              <a:rPr lang="en-US">
                <a:solidFill>
                  <a:srgbClr val="000000"/>
                </a:solidFill>
                <a:latin typeface="Times New Roman" panose="02020603050405020304" pitchFamily="18" charset="0"/>
              </a:rPr>
              <a:t>The idea behind the colormap is that instead of storing a definite color for each pixel in an image, for instance in </a:t>
            </a:r>
            <a:r>
              <a:rPr lang="en-US">
                <a:latin typeface="Times New Roman" panose="02020603050405020304" pitchFamily="18" charset="0"/>
              </a:rPr>
              <a:t>24-bit RGB format</a:t>
            </a:r>
            <a:r>
              <a:rPr lang="en-US">
                <a:solidFill>
                  <a:srgbClr val="00B0F0"/>
                </a:solidFill>
                <a:latin typeface="Times New Roman" panose="02020603050405020304" pitchFamily="18" charset="0"/>
              </a:rPr>
              <a:t>, each pixel's value is instead treated as an index number into the colormap. </a:t>
            </a:r>
            <a:r>
              <a:rPr lang="en-US">
                <a:solidFill>
                  <a:srgbClr val="000000"/>
                </a:solidFill>
                <a:latin typeface="Times New Roman" panose="02020603050405020304" pitchFamily="18" charset="0"/>
              </a:rPr>
              <a:t>When the image is to be displayed or otherwise processed, the colormap is used to look up the actual colors corresponding to each index number. Typically, the output values stored in the LUT would be </a:t>
            </a:r>
            <a:r>
              <a:rPr lang="en-US">
                <a:latin typeface="Times New Roman" panose="02020603050405020304" pitchFamily="18" charset="0"/>
              </a:rPr>
              <a:t>RGB color values</a:t>
            </a:r>
            <a:r>
              <a:rPr lang="en-US">
                <a:solidFill>
                  <a:srgbClr val="000000"/>
                </a:solidFill>
                <a:latin typeface="Times New Roman" panose="02020603050405020304" pitchFamily="18" charset="0"/>
              </a:rPr>
              <a:t>.</a:t>
            </a:r>
            <a:endParaRPr lang="en-US"/>
          </a:p>
        </p:txBody>
      </p:sp>
      <p:sp>
        <p:nvSpPr>
          <p:cNvPr id="5" name="Rectangle 4"/>
          <p:cNvSpPr/>
          <p:nvPr/>
        </p:nvSpPr>
        <p:spPr>
          <a:xfrm>
            <a:off x="950256" y="4882660"/>
            <a:ext cx="8731625" cy="1477328"/>
          </a:xfrm>
          <a:prstGeom prst="rect">
            <a:avLst/>
          </a:prstGeom>
        </p:spPr>
        <p:txBody>
          <a:bodyPr wrap="square">
            <a:spAutoFit/>
          </a:bodyPr>
          <a:lstStyle/>
          <a:p>
            <a:r>
              <a:rPr lang="en-US" dirty="0">
                <a:solidFill>
                  <a:srgbClr val="000000"/>
                </a:solidFill>
                <a:latin typeface="Times New Roman" panose="02020603050405020304" pitchFamily="18" charset="0"/>
              </a:rPr>
              <a:t>There are two main advantages to doing things this way. </a:t>
            </a:r>
            <a:r>
              <a:rPr lang="en-US" dirty="0">
                <a:solidFill>
                  <a:srgbClr val="00B0F0"/>
                </a:solidFill>
                <a:latin typeface="Times New Roman" panose="02020603050405020304" pitchFamily="18" charset="0"/>
              </a:rPr>
              <a:t>Firstly, the index number can be made to use fewer bits than the output value in order to save storage space.</a:t>
            </a:r>
            <a:r>
              <a:rPr lang="en-US" dirty="0">
                <a:solidFill>
                  <a:srgbClr val="000000"/>
                </a:solidFill>
                <a:latin typeface="Times New Roman" panose="02020603050405020304" pitchFamily="18" charset="0"/>
              </a:rPr>
              <a:t> For instance an 8-bit index number can be used to look up a 24-bit RGB color value in the LUT. Since only the 8-bit index number needs to be stored for each pixel, </a:t>
            </a:r>
            <a:r>
              <a:rPr lang="en-US" dirty="0">
                <a:solidFill>
                  <a:srgbClr val="00B0F0"/>
                </a:solidFill>
                <a:latin typeface="Times New Roman" panose="02020603050405020304" pitchFamily="18" charset="0"/>
              </a:rPr>
              <a:t>8-bit color images take up less space than a full 24-bit image of the same size.</a:t>
            </a:r>
            <a:endParaRPr lang="en-US" dirty="0">
              <a:solidFill>
                <a:srgbClr val="00B0F0"/>
              </a:solidFill>
            </a:endParaRPr>
          </a:p>
        </p:txBody>
      </p:sp>
    </p:spTree>
    <p:extLst>
      <p:ext uri="{BB962C8B-B14F-4D97-AF65-F5344CB8AC3E}">
        <p14:creationId xmlns:p14="http://schemas.microsoft.com/office/powerpoint/2010/main" val="1619908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3CFFE1-015B-1FCA-115C-318335242847}"/>
              </a:ext>
            </a:extLst>
          </p:cNvPr>
          <p:cNvPicPr>
            <a:picLocks noChangeAspect="1"/>
          </p:cNvPicPr>
          <p:nvPr/>
        </p:nvPicPr>
        <p:blipFill>
          <a:blip r:embed="rId2"/>
          <a:stretch>
            <a:fillRect/>
          </a:stretch>
        </p:blipFill>
        <p:spPr>
          <a:xfrm>
            <a:off x="741894" y="987007"/>
            <a:ext cx="8072002" cy="5870993"/>
          </a:xfrm>
          <a:prstGeom prst="rect">
            <a:avLst/>
          </a:prstGeom>
        </p:spPr>
      </p:pic>
      <p:sp>
        <p:nvSpPr>
          <p:cNvPr id="4" name="Rectangle 3">
            <a:extLst>
              <a:ext uri="{FF2B5EF4-FFF2-40B4-BE49-F238E27FC236}">
                <a16:creationId xmlns:a16="http://schemas.microsoft.com/office/drawing/2014/main" id="{80E6754B-A635-9079-0E9F-3F3317F8DB9C}"/>
              </a:ext>
            </a:extLst>
          </p:cNvPr>
          <p:cNvSpPr/>
          <p:nvPr/>
        </p:nvSpPr>
        <p:spPr>
          <a:xfrm>
            <a:off x="1466879" y="617675"/>
            <a:ext cx="2411750" cy="369332"/>
          </a:xfrm>
          <a:prstGeom prst="rect">
            <a:avLst/>
          </a:prstGeom>
        </p:spPr>
        <p:txBody>
          <a:bodyPr wrap="none">
            <a:spAutoFit/>
          </a:bodyPr>
          <a:lstStyle/>
          <a:p>
            <a:r>
              <a:rPr lang="en-US" altLang="ko-KR" b="1" dirty="0">
                <a:latin typeface="Arial" charset="0"/>
                <a:cs typeface="Arial" charset="0"/>
              </a:rPr>
              <a:t>Look-up Table (LUT)</a:t>
            </a:r>
            <a:endParaRPr lang="en-US" b="1" dirty="0"/>
          </a:p>
        </p:txBody>
      </p:sp>
    </p:spTree>
    <p:extLst>
      <p:ext uri="{BB962C8B-B14F-4D97-AF65-F5344CB8AC3E}">
        <p14:creationId xmlns:p14="http://schemas.microsoft.com/office/powerpoint/2010/main" val="544190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016000" y="152400"/>
            <a:ext cx="7850094" cy="609600"/>
          </a:xfrm>
        </p:spPr>
        <p:txBody>
          <a:bodyPr>
            <a:normAutofit fontScale="90000"/>
          </a:bodyPr>
          <a:lstStyle/>
          <a:p>
            <a:pPr eaLnBrk="1" hangingPunct="1">
              <a:defRPr/>
            </a:pPr>
            <a:r>
              <a:rPr lang="en-US" altLang="ko-KR">
                <a:latin typeface="Arial" charset="0"/>
                <a:cs typeface="Arial" charset="0"/>
              </a:rPr>
              <a:t>Look-up Table (LUT)</a:t>
            </a:r>
          </a:p>
        </p:txBody>
      </p:sp>
      <p:sp>
        <p:nvSpPr>
          <p:cNvPr id="9220" name="Rectangle 3"/>
          <p:cNvSpPr>
            <a:spLocks noGrp="1" noChangeArrowheads="1"/>
          </p:cNvSpPr>
          <p:nvPr>
            <p:ph type="body" sz="half" idx="1"/>
          </p:nvPr>
        </p:nvSpPr>
        <p:spPr>
          <a:xfrm>
            <a:off x="1676401" y="914400"/>
            <a:ext cx="8812213" cy="5791200"/>
          </a:xfrm>
        </p:spPr>
        <p:txBody>
          <a:bodyPr/>
          <a:lstStyle/>
          <a:p>
            <a:pPr eaLnBrk="1" hangingPunct="1"/>
            <a:r>
              <a:rPr lang="en-US" altLang="ko-KR" sz="2800">
                <a:latin typeface="Times New Roman" panose="02020603050405020304" pitchFamily="18" charset="0"/>
              </a:rPr>
              <a:t>LOOK-UP Tables</a:t>
            </a:r>
          </a:p>
          <a:p>
            <a:pPr lvl="1" eaLnBrk="1" hangingPunct="1"/>
            <a:r>
              <a:rPr lang="en-US" altLang="ko-KR" sz="2400">
                <a:latin typeface="Times New Roman" panose="02020603050405020304" pitchFamily="18" charset="0"/>
              </a:rPr>
              <a:t>use the current pixel value as the array index </a:t>
            </a:r>
            <a:r>
              <a:rPr lang="en-US" altLang="ko-KR" sz="2400">
                <a:latin typeface="Times New Roman" panose="02020603050405020304" pitchFamily="18" charset="0"/>
                <a:sym typeface="Wingdings" panose="05000000000000000000" pitchFamily="2" charset="2"/>
              </a:rPr>
              <a:t> simple arrays</a:t>
            </a:r>
          </a:p>
          <a:p>
            <a:pPr lvl="1" eaLnBrk="1" hangingPunct="1"/>
            <a:r>
              <a:rPr lang="en-US" altLang="ko-KR" sz="2400">
                <a:latin typeface="Times New Roman" panose="02020603050405020304" pitchFamily="18" charset="0"/>
              </a:rPr>
              <a:t>new value is the array element pointed by this index</a:t>
            </a:r>
          </a:p>
        </p:txBody>
      </p:sp>
      <p:graphicFrame>
        <p:nvGraphicFramePr>
          <p:cNvPr id="9221" name="Object 14"/>
          <p:cNvGraphicFramePr>
            <a:graphicFrameLocks noGrp="1" noChangeAspect="1"/>
          </p:cNvGraphicFramePr>
          <p:nvPr>
            <p:ph sz="half" idx="2"/>
          </p:nvPr>
        </p:nvGraphicFramePr>
        <p:xfrm>
          <a:off x="3143250" y="2781300"/>
          <a:ext cx="5473700" cy="2655888"/>
        </p:xfrm>
        <a:graphic>
          <a:graphicData uri="http://schemas.openxmlformats.org/presentationml/2006/ole">
            <mc:AlternateContent xmlns:mc="http://schemas.openxmlformats.org/markup-compatibility/2006">
              <mc:Choice xmlns:v="urn:schemas-microsoft-com:vml" Requires="v">
                <p:oleObj name="비트맵 이미지" r:id="rId2" imgW="4847619" imgH="2352381" progId="Paint.Picture">
                  <p:embed/>
                </p:oleObj>
              </mc:Choice>
              <mc:Fallback>
                <p:oleObj name="비트맵 이미지" r:id="rId2" imgW="4847619" imgH="2352381"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2781300"/>
                        <a:ext cx="5473700"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2" name="Text Box 16"/>
          <p:cNvSpPr txBox="1">
            <a:spLocks noChangeArrowheads="1"/>
          </p:cNvSpPr>
          <p:nvPr/>
        </p:nvSpPr>
        <p:spPr bwMode="auto">
          <a:xfrm>
            <a:off x="4876801" y="5638800"/>
            <a:ext cx="2879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200">
                <a:latin typeface="Times New Roman" panose="02020603050405020304" pitchFamily="18" charset="0"/>
              </a:rPr>
              <a:t>Operation of a 3-bit look-up table.</a:t>
            </a:r>
          </a:p>
        </p:txBody>
      </p:sp>
    </p:spTree>
    <p:extLst>
      <p:ext uri="{BB962C8B-B14F-4D97-AF65-F5344CB8AC3E}">
        <p14:creationId xmlns:p14="http://schemas.microsoft.com/office/powerpoint/2010/main" val="1101518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77334" y="627525"/>
            <a:ext cx="8596668" cy="1320800"/>
          </a:xfrm>
        </p:spPr>
        <p:txBody>
          <a:bodyPr/>
          <a:lstStyle/>
          <a:p>
            <a:pPr eaLnBrk="1" hangingPunct="1">
              <a:defRPr/>
            </a:pPr>
            <a:r>
              <a:rPr lang="en-US" altLang="ko-KR" dirty="0">
                <a:latin typeface="Arial" charset="0"/>
                <a:cs typeface="Arial" charset="0"/>
              </a:rPr>
              <a:t>Look-up Table (LUT)</a:t>
            </a:r>
          </a:p>
        </p:txBody>
      </p:sp>
      <p:sp>
        <p:nvSpPr>
          <p:cNvPr id="10244" name="Rectangle 3"/>
          <p:cNvSpPr>
            <a:spLocks noGrp="1" noChangeArrowheads="1"/>
          </p:cNvSpPr>
          <p:nvPr>
            <p:ph idx="1"/>
          </p:nvPr>
        </p:nvSpPr>
        <p:spPr/>
        <p:txBody>
          <a:bodyPr/>
          <a:lstStyle/>
          <a:p>
            <a:pPr eaLnBrk="1" hangingPunct="1"/>
            <a:r>
              <a:rPr lang="en-US" altLang="ko-KR" b="1">
                <a:latin typeface="Times New Roman" panose="02020603050405020304" pitchFamily="18" charset="0"/>
              </a:rPr>
              <a:t>LOOK-UP Tables</a:t>
            </a:r>
          </a:p>
        </p:txBody>
      </p:sp>
      <p:grpSp>
        <p:nvGrpSpPr>
          <p:cNvPr id="10245" name="Group 14"/>
          <p:cNvGrpSpPr>
            <a:grpSpLocks/>
          </p:cNvGrpSpPr>
          <p:nvPr/>
        </p:nvGrpSpPr>
        <p:grpSpPr bwMode="auto">
          <a:xfrm>
            <a:off x="1898072" y="2726661"/>
            <a:ext cx="7239000" cy="3497263"/>
            <a:chOff x="624" y="1488"/>
            <a:chExt cx="4560" cy="2203"/>
          </a:xfrm>
        </p:grpSpPr>
        <p:graphicFrame>
          <p:nvGraphicFramePr>
            <p:cNvPr id="10246" name="Object 9"/>
            <p:cNvGraphicFramePr>
              <a:graphicFrameLocks noChangeAspect="1"/>
            </p:cNvGraphicFramePr>
            <p:nvPr/>
          </p:nvGraphicFramePr>
          <p:xfrm>
            <a:off x="624" y="1488"/>
            <a:ext cx="2016" cy="1598"/>
          </p:xfrm>
          <a:graphic>
            <a:graphicData uri="http://schemas.openxmlformats.org/presentationml/2006/ole">
              <mc:AlternateContent xmlns:mc="http://schemas.openxmlformats.org/markup-compatibility/2006">
                <mc:Choice xmlns:v="urn:schemas-microsoft-com:vml" Requires="v">
                  <p:oleObj name="비트맵 이미지" r:id="rId2" imgW="1561905" imgH="1238423" progId="Paint.Picture">
                    <p:embed/>
                  </p:oleObj>
                </mc:Choice>
                <mc:Fallback>
                  <p:oleObj name="비트맵 이미지" r:id="rId2" imgW="1561905" imgH="1238423"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1488"/>
                          <a:ext cx="2016" cy="1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7" name="Object 10"/>
            <p:cNvGraphicFramePr>
              <a:graphicFrameLocks noChangeAspect="1"/>
            </p:cNvGraphicFramePr>
            <p:nvPr/>
          </p:nvGraphicFramePr>
          <p:xfrm>
            <a:off x="3156" y="1488"/>
            <a:ext cx="2028" cy="1628"/>
          </p:xfrm>
          <a:graphic>
            <a:graphicData uri="http://schemas.openxmlformats.org/presentationml/2006/ole">
              <mc:AlternateContent xmlns:mc="http://schemas.openxmlformats.org/markup-compatibility/2006">
                <mc:Choice xmlns:v="urn:schemas-microsoft-com:vml" Requires="v">
                  <p:oleObj name="비트맵 이미지" r:id="rId4" imgW="1542857" imgH="1238423" progId="Paint.Picture">
                    <p:embed/>
                  </p:oleObj>
                </mc:Choice>
                <mc:Fallback>
                  <p:oleObj name="비트맵 이미지" r:id="rId4" imgW="1542857" imgH="1238423"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6" y="1488"/>
                          <a:ext cx="2028" cy="1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8" name="AutoShape 11"/>
            <p:cNvSpPr>
              <a:spLocks noChangeArrowheads="1"/>
            </p:cNvSpPr>
            <p:nvPr/>
          </p:nvSpPr>
          <p:spPr bwMode="auto">
            <a:xfrm>
              <a:off x="2688" y="2112"/>
              <a:ext cx="384" cy="33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0249" name="Text Box 12"/>
            <p:cNvSpPr txBox="1">
              <a:spLocks noChangeArrowheads="1"/>
            </p:cNvSpPr>
            <p:nvPr/>
          </p:nvSpPr>
          <p:spPr bwMode="auto">
            <a:xfrm>
              <a:off x="960" y="3168"/>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Arial Narrow" panose="020B0606020202030204" pitchFamily="34" charset="0"/>
                </a:rPr>
                <a:t>Original image</a:t>
              </a:r>
            </a:p>
          </p:txBody>
        </p:sp>
        <p:sp>
          <p:nvSpPr>
            <p:cNvPr id="10250" name="Text Box 13"/>
            <p:cNvSpPr txBox="1">
              <a:spLocks noChangeArrowheads="1"/>
            </p:cNvSpPr>
            <p:nvPr/>
          </p:nvSpPr>
          <p:spPr bwMode="auto">
            <a:xfrm>
              <a:off x="3312" y="3168"/>
              <a:ext cx="172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Arial Narrow" panose="020B0606020202030204" pitchFamily="34" charset="0"/>
                </a:rPr>
                <a:t>Output image after      LUT </a:t>
              </a:r>
            </a:p>
          </p:txBody>
        </p:sp>
      </p:grpSp>
    </p:spTree>
    <p:extLst>
      <p:ext uri="{BB962C8B-B14F-4D97-AF65-F5344CB8AC3E}">
        <p14:creationId xmlns:p14="http://schemas.microsoft.com/office/powerpoint/2010/main" val="108887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normAutofit fontScale="90000"/>
          </a:bodyPr>
          <a:lstStyle/>
          <a:p>
            <a:pPr eaLnBrk="1" hangingPunct="1">
              <a:defRPr/>
            </a:pPr>
            <a:r>
              <a:rPr lang="en-US" altLang="ko-KR"/>
              <a:t>The model of point processing</a:t>
            </a:r>
          </a:p>
        </p:txBody>
      </p:sp>
      <p:sp>
        <p:nvSpPr>
          <p:cNvPr id="11268" name="Rectangle 3"/>
          <p:cNvSpPr>
            <a:spLocks noGrp="1" noChangeArrowheads="1"/>
          </p:cNvSpPr>
          <p:nvPr>
            <p:ph type="body" sz="half" idx="1"/>
          </p:nvPr>
        </p:nvSpPr>
        <p:spPr>
          <a:xfrm>
            <a:off x="1676400" y="914400"/>
            <a:ext cx="8667750" cy="5791200"/>
          </a:xfrm>
        </p:spPr>
        <p:txBody>
          <a:bodyPr/>
          <a:lstStyle/>
          <a:p>
            <a:pPr eaLnBrk="1" hangingPunct="1"/>
            <a:r>
              <a:rPr lang="en-US" altLang="ko-KR" sz="2800" dirty="0">
                <a:latin typeface="Times New Roman" panose="02020603050405020304" pitchFamily="18" charset="0"/>
              </a:rPr>
              <a:t>Point processing: the simplest form of  T</a:t>
            </a:r>
          </a:p>
          <a:p>
            <a:pPr lvl="1" eaLnBrk="1" hangingPunct="1"/>
            <a:r>
              <a:rPr lang="en-US" altLang="ko-KR" sz="2400" dirty="0">
                <a:latin typeface="Times New Roman" panose="02020603050405020304" pitchFamily="18" charset="0"/>
              </a:rPr>
              <a:t>1 x 1 neighbor</a:t>
            </a:r>
          </a:p>
          <a:p>
            <a:pPr lvl="1" eaLnBrk="1" hangingPunct="1"/>
            <a:r>
              <a:rPr lang="en-US" altLang="ko-KR" sz="2400" i="1" dirty="0">
                <a:latin typeface="Times New Roman" panose="02020603050405020304" pitchFamily="18" charset="0"/>
              </a:rPr>
              <a:t>g</a:t>
            </a:r>
            <a:r>
              <a:rPr lang="en-US" altLang="ko-KR" sz="2400" dirty="0">
                <a:latin typeface="Times New Roman" panose="02020603050405020304" pitchFamily="18" charset="0"/>
              </a:rPr>
              <a:t> depends on only on the value of </a:t>
            </a:r>
            <a:r>
              <a:rPr lang="en-US" altLang="ko-KR" sz="2400" i="1" dirty="0">
                <a:latin typeface="Times New Roman" panose="02020603050405020304" pitchFamily="18" charset="0"/>
              </a:rPr>
              <a:t>f</a:t>
            </a:r>
            <a:r>
              <a:rPr lang="en-US" altLang="ko-KR" sz="2400" dirty="0">
                <a:latin typeface="Times New Roman" panose="02020603050405020304" pitchFamily="18" charset="0"/>
              </a:rPr>
              <a:t> at (</a:t>
            </a:r>
            <a:r>
              <a:rPr lang="en-US" altLang="ko-KR" sz="2400" dirty="0" err="1">
                <a:latin typeface="Times New Roman" panose="02020603050405020304" pitchFamily="18" charset="0"/>
              </a:rPr>
              <a:t>x,y</a:t>
            </a:r>
            <a:r>
              <a:rPr lang="en-US" altLang="ko-KR" sz="2400" dirty="0">
                <a:latin typeface="Times New Roman" panose="02020603050405020304" pitchFamily="18" charset="0"/>
              </a:rPr>
              <a:t>)</a:t>
            </a:r>
          </a:p>
          <a:p>
            <a:pPr lvl="1" eaLnBrk="1" hangingPunct="1"/>
            <a:r>
              <a:rPr lang="en-US" altLang="ko-KR" sz="2400" dirty="0">
                <a:latin typeface="Times New Roman" panose="02020603050405020304" pitchFamily="18" charset="0"/>
              </a:rPr>
              <a:t>Gray-level transformation(or mapping)</a:t>
            </a:r>
          </a:p>
          <a:p>
            <a:pPr lvl="2" eaLnBrk="1" hangingPunct="1"/>
            <a:r>
              <a:rPr lang="en-US" altLang="ko-KR" sz="2000" dirty="0">
                <a:latin typeface="Times New Roman" panose="02020603050405020304" pitchFamily="18" charset="0"/>
              </a:rPr>
              <a:t>s = T(r) </a:t>
            </a:r>
          </a:p>
          <a:p>
            <a:pPr lvl="2" eaLnBrk="1" hangingPunct="1"/>
            <a:r>
              <a:rPr lang="en-US" altLang="ko-KR" sz="2000" dirty="0">
                <a:latin typeface="Times New Roman" panose="02020603050405020304" pitchFamily="18" charset="0"/>
              </a:rPr>
              <a:t>s(processed image): the gray level of the </a:t>
            </a:r>
            <a:r>
              <a:rPr lang="en-US" altLang="ko-KR" sz="2000" i="1" dirty="0">
                <a:latin typeface="Times New Roman" panose="02020603050405020304" pitchFamily="18" charset="0"/>
              </a:rPr>
              <a:t>g</a:t>
            </a:r>
            <a:r>
              <a:rPr lang="en-US" altLang="ko-KR" sz="2000" dirty="0">
                <a:latin typeface="Times New Roman" panose="02020603050405020304" pitchFamily="18" charset="0"/>
              </a:rPr>
              <a:t>(</a:t>
            </a:r>
            <a:r>
              <a:rPr lang="en-US" altLang="ko-KR" sz="2000" dirty="0" err="1">
                <a:latin typeface="Times New Roman" panose="02020603050405020304" pitchFamily="18" charset="0"/>
              </a:rPr>
              <a:t>x,y</a:t>
            </a:r>
            <a:r>
              <a:rPr lang="en-US" altLang="ko-KR" sz="2000" dirty="0">
                <a:latin typeface="Times New Roman" panose="02020603050405020304" pitchFamily="18" charset="0"/>
              </a:rPr>
              <a:t>)</a:t>
            </a:r>
          </a:p>
          <a:p>
            <a:pPr lvl="2" eaLnBrk="1" hangingPunct="1"/>
            <a:r>
              <a:rPr lang="en-US" altLang="ko-KR" sz="2000" dirty="0">
                <a:latin typeface="Times New Roman" panose="02020603050405020304" pitchFamily="18" charset="0"/>
              </a:rPr>
              <a:t>r(input image): the gray level of the </a:t>
            </a:r>
            <a:r>
              <a:rPr lang="en-US" altLang="ko-KR" sz="2000" i="1" dirty="0">
                <a:latin typeface="Times New Roman" panose="02020603050405020304" pitchFamily="18" charset="0"/>
              </a:rPr>
              <a:t>f</a:t>
            </a:r>
            <a:r>
              <a:rPr lang="en-US" altLang="ko-KR" sz="2000" dirty="0">
                <a:latin typeface="Times New Roman" panose="02020603050405020304" pitchFamily="18" charset="0"/>
              </a:rPr>
              <a:t>(</a:t>
            </a:r>
            <a:r>
              <a:rPr lang="en-US" altLang="ko-KR" sz="2000" dirty="0" err="1">
                <a:latin typeface="Times New Roman" panose="02020603050405020304" pitchFamily="18" charset="0"/>
              </a:rPr>
              <a:t>x,y</a:t>
            </a:r>
            <a:r>
              <a:rPr lang="en-US" altLang="ko-KR" sz="2000" dirty="0">
                <a:latin typeface="Times New Roman" panose="02020603050405020304" pitchFamily="18" charset="0"/>
              </a:rPr>
              <a:t>)</a:t>
            </a:r>
          </a:p>
          <a:p>
            <a:pPr lvl="2" eaLnBrk="1" hangingPunct="1">
              <a:buFontTx/>
              <a:buNone/>
            </a:pPr>
            <a:endParaRPr lang="en-US" altLang="ko-KR" sz="2000" dirty="0">
              <a:latin typeface="Times New Roman" panose="02020603050405020304" pitchFamily="18" charset="0"/>
            </a:endParaRPr>
          </a:p>
        </p:txBody>
      </p:sp>
      <p:pic>
        <p:nvPicPr>
          <p:cNvPr id="11269" name="Picture 9" descr="gonzalez fig"/>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806263" y="4267200"/>
            <a:ext cx="5105400" cy="2438400"/>
          </a:xfrm>
          <a:noFill/>
        </p:spPr>
      </p:pic>
      <p:sp>
        <p:nvSpPr>
          <p:cNvPr id="11270" name="Text Box 11"/>
          <p:cNvSpPr txBox="1">
            <a:spLocks noChangeArrowheads="1"/>
          </p:cNvSpPr>
          <p:nvPr/>
        </p:nvSpPr>
        <p:spPr bwMode="auto">
          <a:xfrm>
            <a:off x="6087035" y="5070901"/>
            <a:ext cx="383689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600" b="1">
                <a:latin typeface="Times New Roman" panose="02020603050405020304" pitchFamily="18" charset="0"/>
              </a:rPr>
              <a:t>Fig. </a:t>
            </a:r>
            <a:r>
              <a:rPr lang="en-US" altLang="ko-KR" sz="1600">
                <a:latin typeface="Times New Roman" panose="02020603050405020304" pitchFamily="18" charset="0"/>
              </a:rPr>
              <a:t>Gray-level transformation for contrast enhancement [Gonzalez]: (a) the effect is contrast stretching, and (b) binarization.</a:t>
            </a:r>
          </a:p>
        </p:txBody>
      </p:sp>
    </p:spTree>
    <p:extLst>
      <p:ext uri="{BB962C8B-B14F-4D97-AF65-F5344CB8AC3E}">
        <p14:creationId xmlns:p14="http://schemas.microsoft.com/office/powerpoint/2010/main" val="3074246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a:bodyPr>
          <a:lstStyle/>
          <a:p>
            <a:pPr eaLnBrk="1" hangingPunct="1">
              <a:defRPr/>
            </a:pPr>
            <a:r>
              <a:rPr lang="en-US" altLang="ko-KR" sz="3200"/>
              <a:t>Histogram</a:t>
            </a:r>
          </a:p>
        </p:txBody>
      </p:sp>
      <p:sp>
        <p:nvSpPr>
          <p:cNvPr id="34820" name="Rectangle 3"/>
          <p:cNvSpPr>
            <a:spLocks noGrp="1" noChangeArrowheads="1"/>
          </p:cNvSpPr>
          <p:nvPr>
            <p:ph idx="1"/>
          </p:nvPr>
        </p:nvSpPr>
        <p:spPr>
          <a:xfrm>
            <a:off x="901451" y="1490534"/>
            <a:ext cx="8596668" cy="3880773"/>
          </a:xfrm>
        </p:spPr>
        <p:txBody>
          <a:bodyPr/>
          <a:lstStyle/>
          <a:p>
            <a:pPr eaLnBrk="1" hangingPunct="1"/>
            <a:r>
              <a:rPr lang="en-US" altLang="ko-KR">
                <a:latin typeface="Times New Roman" panose="02020603050405020304" pitchFamily="18" charset="0"/>
                <a:cs typeface="Arial" panose="020B0604020202020204" pitchFamily="34" charset="0"/>
              </a:rPr>
              <a:t>Histogram</a:t>
            </a:r>
          </a:p>
          <a:p>
            <a:pPr lvl="1" eaLnBrk="1" hangingPunct="1"/>
            <a:r>
              <a:rPr lang="en-US" altLang="ko-KR">
                <a:latin typeface="Times New Roman" panose="02020603050405020304" pitchFamily="18" charset="0"/>
                <a:cs typeface="Arial" panose="020B0604020202020204" pitchFamily="34" charset="0"/>
              </a:rPr>
              <a:t>A simple bar graph that stands for pixel intensities. </a:t>
            </a:r>
          </a:p>
          <a:p>
            <a:pPr lvl="2" eaLnBrk="1" hangingPunct="1"/>
            <a:r>
              <a:rPr lang="en-US" altLang="ko-KR" sz="1600">
                <a:latin typeface="Times New Roman" panose="02020603050405020304" pitchFamily="18" charset="0"/>
                <a:cs typeface="Arial" panose="020B0604020202020204" pitchFamily="34" charset="0"/>
              </a:rPr>
              <a:t>The pixel intensities are plotted along the x-axis and the number of occurrences for each intensity are plotted along the y-axis.</a:t>
            </a:r>
          </a:p>
          <a:p>
            <a:pPr lvl="2" eaLnBrk="1" hangingPunct="1"/>
            <a:r>
              <a:rPr lang="en-US" altLang="ko-KR" sz="1600">
                <a:latin typeface="Times New Roman" panose="02020603050405020304" pitchFamily="18" charset="0"/>
              </a:rPr>
              <a:t>Provide information about contrast and overall intensity distribution of an image </a:t>
            </a:r>
          </a:p>
          <a:p>
            <a:pPr lvl="2" eaLnBrk="1" hangingPunct="1">
              <a:buFontTx/>
              <a:buNone/>
            </a:pPr>
            <a:endParaRPr lang="en-US" altLang="ko-KR">
              <a:latin typeface="Times New Roman" panose="02020603050405020304" pitchFamily="18" charset="0"/>
            </a:endParaRPr>
          </a:p>
          <a:p>
            <a:pPr lvl="1" eaLnBrk="1" hangingPunct="1"/>
            <a:endParaRPr lang="en-US" altLang="ko-KR">
              <a:latin typeface="Times New Roman" panose="02020603050405020304" pitchFamily="18" charset="0"/>
              <a:cs typeface="Arial" panose="020B0604020202020204" pitchFamily="34" charset="0"/>
            </a:endParaRPr>
          </a:p>
        </p:txBody>
      </p:sp>
      <p:sp>
        <p:nvSpPr>
          <p:cNvPr id="34818"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5A991A45-8A55-4EC7-BA11-D2FDD4E7E104}" type="slidenum">
              <a:rPr kumimoji="0" lang="en-US" altLang="ko-KR" sz="1400">
                <a:solidFill>
                  <a:schemeClr val="accent1"/>
                </a:solidFill>
              </a:rPr>
              <a:pPr>
                <a:spcBef>
                  <a:spcPct val="50000"/>
                </a:spcBef>
                <a:buClrTx/>
                <a:buSzTx/>
                <a:buFontTx/>
                <a:buNone/>
              </a:pPr>
              <a:t>14</a:t>
            </a:fld>
            <a:endParaRPr kumimoji="0" lang="en-US" altLang="ko-KR" sz="1400">
              <a:solidFill>
                <a:schemeClr val="accent1"/>
              </a:solidFill>
            </a:endParaRPr>
          </a:p>
        </p:txBody>
      </p:sp>
      <p:pic>
        <p:nvPicPr>
          <p:cNvPr id="34821" name="Picture 8"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812" y="3430920"/>
            <a:ext cx="2779059" cy="2342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13" descr="histo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7964" y="3387080"/>
            <a:ext cx="2521627" cy="2583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7929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defRPr/>
            </a:pPr>
            <a:r>
              <a:rPr lang="en-US" altLang="ko-KR" dirty="0"/>
              <a:t>Histogram </a:t>
            </a:r>
            <a:endParaRPr lang="ko-KR" altLang="en-US" dirty="0"/>
          </a:p>
        </p:txBody>
      </p:sp>
      <p:sp>
        <p:nvSpPr>
          <p:cNvPr id="35842"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86880A97-DDF8-4798-B25D-82974B8C8D8A}" type="slidenum">
              <a:rPr kumimoji="0" lang="en-US" altLang="ko-KR" sz="1400">
                <a:solidFill>
                  <a:schemeClr val="accent1"/>
                </a:solidFill>
              </a:rPr>
              <a:pPr>
                <a:spcBef>
                  <a:spcPct val="50000"/>
                </a:spcBef>
                <a:buClrTx/>
                <a:buSzTx/>
                <a:buFontTx/>
                <a:buNone/>
              </a:pPr>
              <a:t>15</a:t>
            </a:fld>
            <a:endParaRPr kumimoji="0" lang="en-US" altLang="ko-KR" sz="1400">
              <a:solidFill>
                <a:schemeClr val="accent1"/>
              </a:solidFill>
            </a:endParaRPr>
          </a:p>
        </p:txBody>
      </p:sp>
      <p:grpSp>
        <p:nvGrpSpPr>
          <p:cNvPr id="35846" name="Group 19"/>
          <p:cNvGrpSpPr>
            <a:grpSpLocks/>
          </p:cNvGrpSpPr>
          <p:nvPr/>
        </p:nvGrpSpPr>
        <p:grpSpPr bwMode="auto">
          <a:xfrm>
            <a:off x="899170" y="1424894"/>
            <a:ext cx="6014814" cy="5433105"/>
            <a:chOff x="3552" y="816"/>
            <a:chExt cx="1843" cy="2806"/>
          </a:xfrm>
        </p:grpSpPr>
        <p:pic>
          <p:nvPicPr>
            <p:cNvPr id="35847" name="Picture 8" descr="brigh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2" y="816"/>
              <a:ext cx="1843"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13" descr="da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736"/>
              <a:ext cx="1843"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9" name="Picture 18" descr="norm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1776"/>
              <a:ext cx="1843" cy="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167248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7EF61F6B-3E0E-4C4E-8D43-9928632D7E11}" type="slidenum">
              <a:rPr kumimoji="0" lang="en-US" altLang="ko-KR" sz="1400">
                <a:solidFill>
                  <a:schemeClr val="accent1"/>
                </a:solidFill>
              </a:rPr>
              <a:pPr>
                <a:spcBef>
                  <a:spcPct val="50000"/>
                </a:spcBef>
                <a:buClrTx/>
                <a:buSzTx/>
                <a:buFontTx/>
                <a:buNone/>
              </a:pPr>
              <a:t>16</a:t>
            </a:fld>
            <a:endParaRPr kumimoji="0" lang="en-US" altLang="ko-KR" sz="1400">
              <a:solidFill>
                <a:schemeClr val="accent1"/>
              </a:solidFill>
            </a:endParaRPr>
          </a:p>
        </p:txBody>
      </p:sp>
      <p:grpSp>
        <p:nvGrpSpPr>
          <p:cNvPr id="36867" name="Group 14"/>
          <p:cNvGrpSpPr>
            <a:grpSpLocks/>
          </p:cNvGrpSpPr>
          <p:nvPr/>
        </p:nvGrpSpPr>
        <p:grpSpPr bwMode="auto">
          <a:xfrm>
            <a:off x="717550" y="5988049"/>
            <a:ext cx="8716963" cy="473075"/>
            <a:chOff x="-508" y="3772"/>
            <a:chExt cx="5491" cy="298"/>
          </a:xfrm>
        </p:grpSpPr>
        <p:sp>
          <p:nvSpPr>
            <p:cNvPr id="36869" name="Text Box 7"/>
            <p:cNvSpPr txBox="1">
              <a:spLocks noChangeArrowheads="1"/>
            </p:cNvSpPr>
            <p:nvPr/>
          </p:nvSpPr>
          <p:spPr bwMode="auto">
            <a:xfrm>
              <a:off x="1556" y="3772"/>
              <a:ext cx="146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500">
                  <a:solidFill>
                    <a:srgbClr val="CC00FF"/>
                  </a:solidFill>
                </a:rPr>
                <a:t>Original Image</a:t>
              </a:r>
            </a:p>
          </p:txBody>
        </p:sp>
        <p:sp>
          <p:nvSpPr>
            <p:cNvPr id="36870" name="Text Box 8"/>
            <p:cNvSpPr txBox="1">
              <a:spLocks noChangeArrowheads="1"/>
            </p:cNvSpPr>
            <p:nvPr/>
          </p:nvSpPr>
          <p:spPr bwMode="auto">
            <a:xfrm>
              <a:off x="-508" y="3772"/>
              <a:ext cx="195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500" dirty="0">
                  <a:solidFill>
                    <a:srgbClr val="9900CC"/>
                  </a:solidFill>
                </a:rPr>
                <a:t>Original Image + 40</a:t>
              </a:r>
            </a:p>
          </p:txBody>
        </p:sp>
        <p:sp>
          <p:nvSpPr>
            <p:cNvPr id="36871" name="Text Box 9"/>
            <p:cNvSpPr txBox="1">
              <a:spLocks noChangeArrowheads="1"/>
            </p:cNvSpPr>
            <p:nvPr/>
          </p:nvSpPr>
          <p:spPr bwMode="auto">
            <a:xfrm>
              <a:off x="3025" y="3772"/>
              <a:ext cx="195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500" dirty="0">
                  <a:solidFill>
                    <a:srgbClr val="FF66FF"/>
                  </a:solidFill>
                </a:rPr>
                <a:t>Original Image - 40</a:t>
              </a:r>
            </a:p>
          </p:txBody>
        </p:sp>
      </p:grpSp>
      <p:graphicFrame>
        <p:nvGraphicFramePr>
          <p:cNvPr id="36868" name="Object 12"/>
          <p:cNvGraphicFramePr>
            <a:graphicFrameLocks noChangeAspect="1"/>
          </p:cNvGraphicFramePr>
          <p:nvPr>
            <p:extLst>
              <p:ext uri="{D42A27DB-BD31-4B8C-83A1-F6EECF244321}">
                <p14:modId xmlns:p14="http://schemas.microsoft.com/office/powerpoint/2010/main" val="3459938833"/>
              </p:ext>
            </p:extLst>
          </p:nvPr>
        </p:nvGraphicFramePr>
        <p:xfrm>
          <a:off x="943371" y="981961"/>
          <a:ext cx="8433595" cy="4979432"/>
        </p:xfrm>
        <a:graphic>
          <a:graphicData uri="http://schemas.openxmlformats.org/presentationml/2006/ole">
            <mc:AlternateContent xmlns:mc="http://schemas.openxmlformats.org/markup-compatibility/2006">
              <mc:Choice xmlns:v="urn:schemas-microsoft-com:vml" Requires="v">
                <p:oleObj name="비트맵 이미지" r:id="rId2" imgW="7647619" imgH="5514286" progId="Paint.Picture">
                  <p:embed/>
                </p:oleObj>
              </mc:Choice>
              <mc:Fallback>
                <p:oleObj name="비트맵 이미지" r:id="rId2" imgW="7647619" imgH="5514286"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371" y="981961"/>
                        <a:ext cx="8433595" cy="4979432"/>
                      </a:xfrm>
                      <a:prstGeom prst="rect">
                        <a:avLst/>
                      </a:prstGeom>
                      <a:noFill/>
                      <a:ln>
                        <a:noFill/>
                      </a:ln>
                      <a:effectLst/>
                    </p:spPr>
                  </p:pic>
                </p:oleObj>
              </mc:Fallback>
            </mc:AlternateContent>
          </a:graphicData>
        </a:graphic>
      </p:graphicFrame>
      <p:sp>
        <p:nvSpPr>
          <p:cNvPr id="2" name="Rectangle 1"/>
          <p:cNvSpPr/>
          <p:nvPr/>
        </p:nvSpPr>
        <p:spPr>
          <a:xfrm>
            <a:off x="1322266" y="328798"/>
            <a:ext cx="1779522" cy="461665"/>
          </a:xfrm>
          <a:prstGeom prst="rect">
            <a:avLst/>
          </a:prstGeom>
        </p:spPr>
        <p:txBody>
          <a:bodyPr wrap="square">
            <a:spAutoFit/>
          </a:bodyPr>
          <a:lstStyle/>
          <a:p>
            <a:r>
              <a:rPr lang="en-US" altLang="ko-KR" sz="2400"/>
              <a:t>Histogram</a:t>
            </a:r>
            <a:endParaRPr lang="en-US" sz="2400"/>
          </a:p>
        </p:txBody>
      </p:sp>
    </p:spTree>
    <p:extLst>
      <p:ext uri="{BB962C8B-B14F-4D97-AF65-F5344CB8AC3E}">
        <p14:creationId xmlns:p14="http://schemas.microsoft.com/office/powerpoint/2010/main" val="2557004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89C82906-572F-4CAC-A95F-D13985ED5AE0}" type="slidenum">
              <a:rPr kumimoji="0" lang="en-US" altLang="ko-KR" sz="1400">
                <a:solidFill>
                  <a:schemeClr val="accent1"/>
                </a:solidFill>
              </a:rPr>
              <a:pPr>
                <a:spcBef>
                  <a:spcPct val="50000"/>
                </a:spcBef>
                <a:buClrTx/>
                <a:buSzTx/>
                <a:buFontTx/>
                <a:buNone/>
              </a:pPr>
              <a:t>17</a:t>
            </a:fld>
            <a:endParaRPr kumimoji="0" lang="en-US" altLang="ko-KR" sz="1400">
              <a:solidFill>
                <a:schemeClr val="accent1"/>
              </a:solidFill>
            </a:endParaRPr>
          </a:p>
        </p:txBody>
      </p:sp>
      <p:sp>
        <p:nvSpPr>
          <p:cNvPr id="37891" name="Text Box 3"/>
          <p:cNvSpPr txBox="1">
            <a:spLocks noChangeArrowheads="1"/>
          </p:cNvSpPr>
          <p:nvPr/>
        </p:nvSpPr>
        <p:spPr bwMode="auto">
          <a:xfrm>
            <a:off x="4463903" y="6052502"/>
            <a:ext cx="233203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500">
                <a:solidFill>
                  <a:schemeClr val="accent1"/>
                </a:solidFill>
              </a:rPr>
              <a:t>Original Image</a:t>
            </a:r>
          </a:p>
        </p:txBody>
      </p:sp>
      <p:sp>
        <p:nvSpPr>
          <p:cNvPr id="37892" name="Text Box 4"/>
          <p:cNvSpPr txBox="1">
            <a:spLocks noChangeArrowheads="1"/>
          </p:cNvSpPr>
          <p:nvPr/>
        </p:nvSpPr>
        <p:spPr bwMode="auto">
          <a:xfrm>
            <a:off x="1060396" y="6041362"/>
            <a:ext cx="3175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500" dirty="0">
                <a:solidFill>
                  <a:schemeClr val="hlink"/>
                </a:solidFill>
              </a:rPr>
              <a:t>Original Image * 1.2</a:t>
            </a:r>
          </a:p>
        </p:txBody>
      </p:sp>
      <p:sp>
        <p:nvSpPr>
          <p:cNvPr id="37893" name="Text Box 5"/>
          <p:cNvSpPr txBox="1">
            <a:spLocks noChangeArrowheads="1"/>
          </p:cNvSpPr>
          <p:nvPr/>
        </p:nvSpPr>
        <p:spPr bwMode="auto">
          <a:xfrm>
            <a:off x="6936192" y="6040325"/>
            <a:ext cx="314801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500" dirty="0">
                <a:solidFill>
                  <a:schemeClr val="accent2"/>
                </a:solidFill>
              </a:rPr>
              <a:t>Original Image / 1.2</a:t>
            </a:r>
          </a:p>
        </p:txBody>
      </p:sp>
      <p:graphicFrame>
        <p:nvGraphicFramePr>
          <p:cNvPr id="37894" name="Object 11"/>
          <p:cNvGraphicFramePr>
            <a:graphicFrameLocks noChangeAspect="1"/>
          </p:cNvGraphicFramePr>
          <p:nvPr>
            <p:extLst>
              <p:ext uri="{D42A27DB-BD31-4B8C-83A1-F6EECF244321}">
                <p14:modId xmlns:p14="http://schemas.microsoft.com/office/powerpoint/2010/main" val="1923345455"/>
              </p:ext>
            </p:extLst>
          </p:nvPr>
        </p:nvGraphicFramePr>
        <p:xfrm>
          <a:off x="809383" y="863881"/>
          <a:ext cx="9087652" cy="5177481"/>
        </p:xfrm>
        <a:graphic>
          <a:graphicData uri="http://schemas.openxmlformats.org/presentationml/2006/ole">
            <mc:AlternateContent xmlns:mc="http://schemas.openxmlformats.org/markup-compatibility/2006">
              <mc:Choice xmlns:v="urn:schemas-microsoft-com:vml" Requires="v">
                <p:oleObj name="비트맵 이미지" r:id="rId3" imgW="7819048" imgH="5582429" progId="Paint.Picture">
                  <p:embed/>
                </p:oleObj>
              </mc:Choice>
              <mc:Fallback>
                <p:oleObj name="비트맵 이미지" r:id="rId3" imgW="7819048" imgH="5582429"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383" y="863881"/>
                        <a:ext cx="9087652" cy="5177481"/>
                      </a:xfrm>
                      <a:prstGeom prst="rect">
                        <a:avLst/>
                      </a:prstGeom>
                      <a:noFill/>
                      <a:ln>
                        <a:noFill/>
                      </a:ln>
                      <a:effectLst/>
                    </p:spPr>
                  </p:pic>
                </p:oleObj>
              </mc:Fallback>
            </mc:AlternateContent>
          </a:graphicData>
        </a:graphic>
      </p:graphicFrame>
      <p:sp>
        <p:nvSpPr>
          <p:cNvPr id="2" name="Rectangle 1"/>
          <p:cNvSpPr/>
          <p:nvPr/>
        </p:nvSpPr>
        <p:spPr>
          <a:xfrm>
            <a:off x="614054" y="384593"/>
            <a:ext cx="1228221" cy="369332"/>
          </a:xfrm>
          <a:prstGeom prst="rect">
            <a:avLst/>
          </a:prstGeom>
        </p:spPr>
        <p:txBody>
          <a:bodyPr wrap="none">
            <a:spAutoFit/>
          </a:bodyPr>
          <a:lstStyle/>
          <a:p>
            <a:r>
              <a:rPr lang="en-US" altLang="ko-KR"/>
              <a:t>Histogram</a:t>
            </a:r>
            <a:endParaRPr lang="en-US"/>
          </a:p>
        </p:txBody>
      </p:sp>
    </p:spTree>
    <p:extLst>
      <p:ext uri="{BB962C8B-B14F-4D97-AF65-F5344CB8AC3E}">
        <p14:creationId xmlns:p14="http://schemas.microsoft.com/office/powerpoint/2010/main" val="1947801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defRPr/>
            </a:pPr>
            <a:r>
              <a:rPr lang="en-US" altLang="ko-KR"/>
              <a:t>Histogram</a:t>
            </a:r>
          </a:p>
        </p:txBody>
      </p:sp>
      <p:pic>
        <p:nvPicPr>
          <p:cNvPr id="38916" name="Picture 3" descr="Image3-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29226" y="1076496"/>
            <a:ext cx="6171973" cy="2918853"/>
          </a:xfrm>
          <a:noFill/>
        </p:spPr>
      </p:pic>
      <p:sp>
        <p:nvSpPr>
          <p:cNvPr id="38914"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B18C854E-E25A-4CE5-8C8A-8671548FF4D1}" type="slidenum">
              <a:rPr kumimoji="0" lang="en-US" altLang="ko-KR" sz="1400">
                <a:solidFill>
                  <a:schemeClr val="accent1"/>
                </a:solidFill>
              </a:rPr>
              <a:pPr>
                <a:spcBef>
                  <a:spcPct val="50000"/>
                </a:spcBef>
                <a:buClrTx/>
                <a:buSzTx/>
                <a:buFontTx/>
                <a:buNone/>
              </a:pPr>
              <a:t>18</a:t>
            </a:fld>
            <a:endParaRPr kumimoji="0" lang="en-US" altLang="ko-KR" sz="1400">
              <a:solidFill>
                <a:schemeClr val="accent1"/>
              </a:solidFill>
            </a:endParaRPr>
          </a:p>
        </p:txBody>
      </p:sp>
      <p:pic>
        <p:nvPicPr>
          <p:cNvPr id="38917" name="Picture 4" descr="Image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0037" y="4069976"/>
            <a:ext cx="6051162" cy="271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892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defRPr/>
            </a:pPr>
            <a:r>
              <a:rPr lang="en-US" altLang="ko-KR"/>
              <a:t>Histogram</a:t>
            </a:r>
          </a:p>
        </p:txBody>
      </p:sp>
      <p:sp>
        <p:nvSpPr>
          <p:cNvPr id="39940" name="Rectangle 3"/>
          <p:cNvSpPr>
            <a:spLocks noGrp="1" noChangeArrowheads="1"/>
          </p:cNvSpPr>
          <p:nvPr>
            <p:ph idx="1"/>
          </p:nvPr>
        </p:nvSpPr>
        <p:spPr>
          <a:xfrm>
            <a:off x="767820" y="1561874"/>
            <a:ext cx="8596668" cy="3880773"/>
          </a:xfrm>
        </p:spPr>
        <p:txBody>
          <a:bodyPr/>
          <a:lstStyle/>
          <a:p>
            <a:pPr eaLnBrk="1" hangingPunct="1"/>
            <a:r>
              <a:rPr lang="en-US" altLang="ko-KR" dirty="0"/>
              <a:t>Histogram in Gray-level and Color Image</a:t>
            </a:r>
          </a:p>
        </p:txBody>
      </p:sp>
      <p:sp>
        <p:nvSpPr>
          <p:cNvPr id="39938"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38C44153-A3CB-4835-8460-B72666A23F1A}" type="slidenum">
              <a:rPr kumimoji="0" lang="en-US" altLang="ko-KR" sz="1400">
                <a:solidFill>
                  <a:schemeClr val="accent1"/>
                </a:solidFill>
              </a:rPr>
              <a:pPr>
                <a:spcBef>
                  <a:spcPct val="50000"/>
                </a:spcBef>
                <a:buClrTx/>
                <a:buSzTx/>
                <a:buFontTx/>
                <a:buNone/>
              </a:pPr>
              <a:t>19</a:t>
            </a:fld>
            <a:endParaRPr kumimoji="0" lang="en-US" altLang="ko-KR" sz="1400">
              <a:solidFill>
                <a:schemeClr val="accent1"/>
              </a:solidFill>
            </a:endParaRPr>
          </a:p>
        </p:txBody>
      </p:sp>
      <p:pic>
        <p:nvPicPr>
          <p:cNvPr id="39941" name="Picture 4" descr="Image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249" y="2106706"/>
            <a:ext cx="3423397" cy="3624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5"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334" y="2106706"/>
            <a:ext cx="5786501" cy="370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Text Box 6"/>
          <p:cNvSpPr txBox="1">
            <a:spLocks noChangeArrowheads="1"/>
          </p:cNvSpPr>
          <p:nvPr/>
        </p:nvSpPr>
        <p:spPr bwMode="auto">
          <a:xfrm>
            <a:off x="2133600" y="57912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Times New Roman" panose="02020603050405020304" pitchFamily="18" charset="0"/>
              </a:rPr>
              <a:t>RGB </a:t>
            </a:r>
            <a:endParaRPr lang="ko-KR" altLang="en-US" sz="2400">
              <a:latin typeface="Times New Roman" panose="02020603050405020304" pitchFamily="18" charset="0"/>
            </a:endParaRPr>
          </a:p>
        </p:txBody>
      </p:sp>
      <p:sp>
        <p:nvSpPr>
          <p:cNvPr id="39944" name="Text Box 7"/>
          <p:cNvSpPr txBox="1">
            <a:spLocks noChangeArrowheads="1"/>
          </p:cNvSpPr>
          <p:nvPr/>
        </p:nvSpPr>
        <p:spPr bwMode="auto">
          <a:xfrm>
            <a:off x="8234083" y="574586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Times New Roman" panose="02020603050405020304" pitchFamily="18" charset="0"/>
              </a:rPr>
              <a:t>Gray </a:t>
            </a:r>
            <a:endParaRPr lang="ko-KR" altLang="en-US" sz="2400">
              <a:latin typeface="Times New Roman" panose="02020603050405020304" pitchFamily="18" charset="0"/>
            </a:endParaRPr>
          </a:p>
        </p:txBody>
      </p:sp>
    </p:spTree>
    <p:extLst>
      <p:ext uri="{BB962C8B-B14F-4D97-AF65-F5344CB8AC3E}">
        <p14:creationId xmlns:p14="http://schemas.microsoft.com/office/powerpoint/2010/main" val="833107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p:cNvSpPr>
            <a:spLocks noGrp="1" noChangeArrowheads="1"/>
          </p:cNvSpPr>
          <p:nvPr>
            <p:ph type="title"/>
          </p:nvPr>
        </p:nvSpPr>
        <p:spPr/>
        <p:txBody>
          <a:bodyPr/>
          <a:lstStyle/>
          <a:p>
            <a:pPr eaLnBrk="1" hangingPunct="1">
              <a:defRPr/>
            </a:pPr>
            <a:r>
              <a:rPr lang="en-US" altLang="ko-KR"/>
              <a:t>Histogram Equalization</a:t>
            </a:r>
          </a:p>
        </p:txBody>
      </p:sp>
      <p:sp>
        <p:nvSpPr>
          <p:cNvPr id="40964" name="Rectangle 1027"/>
          <p:cNvSpPr>
            <a:spLocks noGrp="1" noChangeArrowheads="1"/>
          </p:cNvSpPr>
          <p:nvPr>
            <p:ph idx="1"/>
          </p:nvPr>
        </p:nvSpPr>
        <p:spPr>
          <a:xfrm>
            <a:off x="600690" y="1757084"/>
            <a:ext cx="9260485" cy="4391856"/>
          </a:xfrm>
        </p:spPr>
        <p:txBody>
          <a:bodyPr/>
          <a:lstStyle/>
          <a:p>
            <a:pPr marL="419100" indent="-419100"/>
            <a:r>
              <a:rPr lang="en-US" altLang="ko-KR" dirty="0">
                <a:latin typeface="Times New Roman" panose="02020603050405020304" pitchFamily="18" charset="0"/>
              </a:rPr>
              <a:t>Histogram Equalization</a:t>
            </a:r>
          </a:p>
          <a:p>
            <a:pPr marL="800100" lvl="1" indent="-342900"/>
            <a:r>
              <a:rPr lang="en-US" altLang="ko-KR" dirty="0">
                <a:latin typeface="Times New Roman" panose="02020603050405020304" pitchFamily="18" charset="0"/>
              </a:rPr>
              <a:t>(Goal) </a:t>
            </a:r>
            <a:r>
              <a:rPr lang="en-US" altLang="ko-KR" dirty="0"/>
              <a:t>to obtain a uniform histogram for the output image</a:t>
            </a:r>
            <a:endParaRPr lang="en-US" altLang="ko-KR" dirty="0">
              <a:latin typeface="Times New Roman" panose="02020603050405020304" pitchFamily="18" charset="0"/>
            </a:endParaRPr>
          </a:p>
          <a:p>
            <a:pPr marL="1219200" lvl="2" indent="-304800"/>
            <a:r>
              <a:rPr lang="en-US" altLang="ko-KR" sz="1600" dirty="0">
                <a:latin typeface="Times New Roman" panose="02020603050405020304" pitchFamily="18" charset="0"/>
              </a:rPr>
              <a:t>Mapping of gray level r into gray level s </a:t>
            </a:r>
            <a:r>
              <a:rPr lang="en-US" altLang="ko-KR" sz="1600" dirty="0" err="1">
                <a:latin typeface="Times New Roman" panose="02020603050405020304" pitchFamily="18" charset="0"/>
              </a:rPr>
              <a:t>s.t.</a:t>
            </a:r>
            <a:r>
              <a:rPr lang="en-US" altLang="ko-KR" sz="1600" dirty="0">
                <a:latin typeface="Times New Roman" panose="02020603050405020304" pitchFamily="18" charset="0"/>
              </a:rPr>
              <a:t> the distribution of gray level s is uniform.</a:t>
            </a:r>
          </a:p>
          <a:p>
            <a:pPr marL="1219200" lvl="2" indent="-304800"/>
            <a:r>
              <a:rPr lang="en-US" altLang="ko-KR" sz="1600" dirty="0">
                <a:latin typeface="Times New Roman" panose="02020603050405020304" pitchFamily="18" charset="0"/>
              </a:rPr>
              <a:t>Spreading: the peaks and valleys will be shifted (due to approximation in digitized space)</a:t>
            </a:r>
          </a:p>
          <a:p>
            <a:pPr marL="419100" indent="-419100"/>
            <a:r>
              <a:rPr lang="en-US" altLang="ko-KR" dirty="0">
                <a:latin typeface="Times New Roman" panose="02020603050405020304" pitchFamily="18" charset="0"/>
              </a:rPr>
              <a:t>Histogram Equalization Steps </a:t>
            </a:r>
          </a:p>
          <a:p>
            <a:pPr marL="800100" lvl="1" indent="-342900">
              <a:buFont typeface="Wingdings" panose="05000000000000000000" pitchFamily="2" charset="2"/>
              <a:buAutoNum type="arabicPeriod"/>
            </a:pPr>
            <a:r>
              <a:rPr lang="en-US" altLang="ko-KR" dirty="0">
                <a:latin typeface="Times New Roman" panose="02020603050405020304" pitchFamily="18" charset="0"/>
              </a:rPr>
              <a:t>Compute histogram. </a:t>
            </a:r>
          </a:p>
          <a:p>
            <a:pPr marL="800100" lvl="1" indent="-342900">
              <a:buFont typeface="Wingdings" panose="05000000000000000000" pitchFamily="2" charset="2"/>
              <a:buAutoNum type="arabicPeriod"/>
            </a:pPr>
            <a:r>
              <a:rPr lang="en-US" altLang="ko-KR" dirty="0">
                <a:latin typeface="Times New Roman" panose="02020603050405020304" pitchFamily="18" charset="0"/>
              </a:rPr>
              <a:t>Calculate normalized sum of histogram </a:t>
            </a:r>
          </a:p>
          <a:p>
            <a:pPr marL="800100" lvl="1" indent="-342900">
              <a:buFont typeface="Wingdings" panose="05000000000000000000" pitchFamily="2" charset="2"/>
              <a:buAutoNum type="arabicPeriod"/>
            </a:pPr>
            <a:r>
              <a:rPr lang="en-US" altLang="ko-KR" dirty="0">
                <a:latin typeface="Times New Roman" panose="02020603050405020304" pitchFamily="18" charset="0"/>
              </a:rPr>
              <a:t>Transform input image to output image </a:t>
            </a:r>
          </a:p>
          <a:p>
            <a:pPr marL="800100" lvl="1" indent="-342900">
              <a:buFont typeface="Wingdings" panose="05000000000000000000" pitchFamily="2" charset="2"/>
              <a:buAutoNum type="arabicPeriod"/>
            </a:pPr>
            <a:endParaRPr lang="en-US" altLang="ko-KR" dirty="0">
              <a:latin typeface="Times New Roman" panose="02020603050405020304" pitchFamily="18" charset="0"/>
            </a:endParaRPr>
          </a:p>
          <a:p>
            <a:pPr marL="419100" indent="-419100"/>
            <a:endParaRPr lang="en-US" altLang="ko-KR" dirty="0">
              <a:latin typeface="Times New Roman" panose="02020603050405020304" pitchFamily="18" charset="0"/>
            </a:endParaRPr>
          </a:p>
        </p:txBody>
      </p:sp>
      <p:sp>
        <p:nvSpPr>
          <p:cNvPr id="40962"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0AD9E9D5-DA41-4EDE-85A3-C79FA512A3F9}" type="slidenum">
              <a:rPr kumimoji="0" lang="en-US" altLang="ko-KR" sz="1400">
                <a:solidFill>
                  <a:schemeClr val="accent1"/>
                </a:solidFill>
              </a:rPr>
              <a:pPr>
                <a:spcBef>
                  <a:spcPct val="50000"/>
                </a:spcBef>
                <a:buClrTx/>
                <a:buSzTx/>
                <a:buFontTx/>
                <a:buNone/>
              </a:pPr>
              <a:t>20</a:t>
            </a:fld>
            <a:endParaRPr kumimoji="0" lang="en-US" altLang="ko-KR" sz="1400">
              <a:solidFill>
                <a:schemeClr val="accent1"/>
              </a:solidFill>
            </a:endParaRPr>
          </a:p>
        </p:txBody>
      </p:sp>
      <p:sp>
        <p:nvSpPr>
          <p:cNvPr id="40965" name="Rectangle 1028"/>
          <p:cNvSpPr>
            <a:spLocks noChangeArrowheads="1"/>
          </p:cNvSpPr>
          <p:nvPr/>
        </p:nvSpPr>
        <p:spPr bwMode="auto">
          <a:xfrm>
            <a:off x="1524000" y="1082676"/>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2400">
              <a:latin typeface="Times New Roman" panose="02020603050405020304" pitchFamily="18" charset="0"/>
            </a:endParaRPr>
          </a:p>
          <a:p>
            <a:pPr lvl="1" latinLnBrk="0">
              <a:spcBef>
                <a:spcPct val="0"/>
              </a:spcBef>
              <a:buFontTx/>
              <a:buNone/>
            </a:pPr>
            <a:endParaRPr lang="en-US" altLang="ko-KR" sz="2400">
              <a:latin typeface="Times New Roman" panose="02020603050405020304" pitchFamily="18" charset="0"/>
            </a:endParaRPr>
          </a:p>
        </p:txBody>
      </p:sp>
      <p:sp>
        <p:nvSpPr>
          <p:cNvPr id="40966" name="Rectangle 1029"/>
          <p:cNvSpPr>
            <a:spLocks noChangeArrowheads="1"/>
          </p:cNvSpPr>
          <p:nvPr/>
        </p:nvSpPr>
        <p:spPr bwMode="auto">
          <a:xfrm>
            <a:off x="1524000" y="434340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Char char="•"/>
            </a:pPr>
            <a:endParaRPr lang="en-US" altLang="ko-KR" sz="1000">
              <a:latin typeface="Times New Roman" panose="02020603050405020304" pitchFamily="18" charset="0"/>
            </a:endParaRPr>
          </a:p>
          <a:p>
            <a:pPr latinLnBrk="0">
              <a:spcBef>
                <a:spcPct val="0"/>
              </a:spcBef>
              <a:buClrTx/>
              <a:buSzTx/>
              <a:buFontTx/>
              <a:buNone/>
            </a:pPr>
            <a:endParaRPr lang="en-US" altLang="ko-KR" sz="2400">
              <a:latin typeface="Times New Roman" panose="02020603050405020304" pitchFamily="18" charset="0"/>
            </a:endParaRPr>
          </a:p>
        </p:txBody>
      </p:sp>
      <p:sp>
        <p:nvSpPr>
          <p:cNvPr id="40967" name="Rectangle 1030"/>
          <p:cNvSpPr>
            <a:spLocks noChangeArrowheads="1"/>
          </p:cNvSpPr>
          <p:nvPr/>
        </p:nvSpPr>
        <p:spPr bwMode="auto">
          <a:xfrm>
            <a:off x="1524000" y="4953001"/>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2400">
              <a:latin typeface="Times New Roman" panose="02020603050405020304" pitchFamily="18" charset="0"/>
            </a:endParaRPr>
          </a:p>
          <a:p>
            <a:pPr latinLnBrk="0">
              <a:spcBef>
                <a:spcPct val="0"/>
              </a:spcBef>
              <a:buClrTx/>
              <a:buSzTx/>
              <a:buFontTx/>
              <a:buNone/>
            </a:pPr>
            <a:endParaRPr lang="en-US" altLang="ko-KR" sz="2400">
              <a:latin typeface="Times New Roman" panose="02020603050405020304" pitchFamily="18" charset="0"/>
            </a:endParaRPr>
          </a:p>
        </p:txBody>
      </p:sp>
      <p:grpSp>
        <p:nvGrpSpPr>
          <p:cNvPr id="40968" name="Group 1031"/>
          <p:cNvGrpSpPr>
            <a:grpSpLocks/>
          </p:cNvGrpSpPr>
          <p:nvPr/>
        </p:nvGrpSpPr>
        <p:grpSpPr bwMode="auto">
          <a:xfrm>
            <a:off x="5235575" y="2292350"/>
            <a:ext cx="1720850" cy="2273300"/>
            <a:chOff x="-58" y="-29"/>
            <a:chExt cx="1084" cy="1432"/>
          </a:xfrm>
        </p:grpSpPr>
        <p:sp>
          <p:nvSpPr>
            <p:cNvPr id="40973" name="Rectangle 1032"/>
            <p:cNvSpPr>
              <a:spLocks noChangeArrowheads="1"/>
            </p:cNvSpPr>
            <p:nvPr/>
          </p:nvSpPr>
          <p:spPr bwMode="auto">
            <a:xfrm>
              <a:off x="-58" y="-29"/>
              <a:ext cx="11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600">
                <a:latin typeface="Times New Roman" panose="02020603050405020304" pitchFamily="18" charset="0"/>
              </a:endParaRPr>
            </a:p>
            <a:p>
              <a:pPr lvl="1" latinLnBrk="0">
                <a:spcBef>
                  <a:spcPct val="0"/>
                </a:spcBef>
                <a:buFontTx/>
                <a:buNone/>
              </a:pPr>
              <a:endParaRPr lang="en-US" altLang="ko-KR" sz="2400">
                <a:latin typeface="Times New Roman" panose="02020603050405020304" pitchFamily="18" charset="0"/>
              </a:endParaRPr>
            </a:p>
          </p:txBody>
        </p:sp>
        <p:sp>
          <p:nvSpPr>
            <p:cNvPr id="40974" name="Rectangle 1033"/>
            <p:cNvSpPr>
              <a:spLocks noChangeArrowheads="1"/>
            </p:cNvSpPr>
            <p:nvPr/>
          </p:nvSpPr>
          <p:spPr bwMode="auto">
            <a:xfrm>
              <a:off x="0" y="346"/>
              <a:ext cx="1026"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600">
                  <a:latin typeface="Times New Roman" panose="02020603050405020304" pitchFamily="18" charset="0"/>
                </a:rPr>
                <a:t>  </a:t>
              </a:r>
              <a:r>
                <a:rPr lang="en-US" altLang="ko-KR" sz="7100">
                  <a:latin typeface="Times New Roman" panose="02020603050405020304" pitchFamily="18" charset="0"/>
                </a:rPr>
                <a:t> </a:t>
              </a:r>
              <a:r>
                <a:rPr lang="en-US" altLang="ko-KR" sz="600">
                  <a:latin typeface="Times New Roman" panose="02020603050405020304" pitchFamily="18" charset="0"/>
                </a:rPr>
                <a:t>                                                              </a:t>
              </a:r>
            </a:p>
          </p:txBody>
        </p:sp>
        <p:sp>
          <p:nvSpPr>
            <p:cNvPr id="40975" name="Rectangle 1034"/>
            <p:cNvSpPr>
              <a:spLocks noChangeArrowheads="1"/>
            </p:cNvSpPr>
            <p:nvPr/>
          </p:nvSpPr>
          <p:spPr bwMode="auto">
            <a:xfrm>
              <a:off x="-58" y="1057"/>
              <a:ext cx="11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600">
                <a:latin typeface="Times New Roman" panose="02020603050405020304" pitchFamily="18" charset="0"/>
              </a:endParaRPr>
            </a:p>
            <a:p>
              <a:pPr latinLnBrk="0">
                <a:spcBef>
                  <a:spcPct val="0"/>
                </a:spcBef>
                <a:buClrTx/>
                <a:buSzTx/>
                <a:buFontTx/>
                <a:buNone/>
              </a:pPr>
              <a:endParaRPr lang="en-US" altLang="ko-KR" sz="2400">
                <a:latin typeface="Times New Roman" panose="02020603050405020304" pitchFamily="18" charset="0"/>
              </a:endParaRPr>
            </a:p>
          </p:txBody>
        </p:sp>
      </p:grpSp>
      <p:grpSp>
        <p:nvGrpSpPr>
          <p:cNvPr id="40969" name="Group 1035"/>
          <p:cNvGrpSpPr>
            <a:grpSpLocks/>
          </p:cNvGrpSpPr>
          <p:nvPr/>
        </p:nvGrpSpPr>
        <p:grpSpPr bwMode="auto">
          <a:xfrm>
            <a:off x="4714875" y="1851025"/>
            <a:ext cx="2762250" cy="3155950"/>
            <a:chOff x="-58" y="-29"/>
            <a:chExt cx="1740" cy="1988"/>
          </a:xfrm>
        </p:grpSpPr>
        <p:sp>
          <p:nvSpPr>
            <p:cNvPr id="40970" name="Rectangle 1036"/>
            <p:cNvSpPr>
              <a:spLocks noChangeArrowheads="1"/>
            </p:cNvSpPr>
            <p:nvPr/>
          </p:nvSpPr>
          <p:spPr bwMode="auto">
            <a:xfrm>
              <a:off x="-58" y="-29"/>
              <a:ext cx="11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600">
                <a:latin typeface="Times New Roman" panose="02020603050405020304" pitchFamily="18" charset="0"/>
              </a:endParaRPr>
            </a:p>
            <a:p>
              <a:pPr lvl="1" latinLnBrk="0">
                <a:spcBef>
                  <a:spcPct val="0"/>
                </a:spcBef>
                <a:buFontTx/>
                <a:buNone/>
              </a:pPr>
              <a:endParaRPr lang="en-US" altLang="ko-KR" sz="2400">
                <a:latin typeface="Times New Roman" panose="02020603050405020304" pitchFamily="18" charset="0"/>
              </a:endParaRPr>
            </a:p>
          </p:txBody>
        </p:sp>
        <p:sp>
          <p:nvSpPr>
            <p:cNvPr id="40971" name="Rectangle 1037"/>
            <p:cNvSpPr>
              <a:spLocks noChangeArrowheads="1"/>
            </p:cNvSpPr>
            <p:nvPr/>
          </p:nvSpPr>
          <p:spPr bwMode="auto">
            <a:xfrm>
              <a:off x="0" y="346"/>
              <a:ext cx="1682"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600" dirty="0">
                  <a:latin typeface="Times New Roman" panose="02020603050405020304" pitchFamily="18" charset="0"/>
                </a:rPr>
                <a:t>  </a:t>
              </a:r>
              <a:r>
                <a:rPr lang="en-US" altLang="ko-KR" sz="12900" dirty="0">
                  <a:latin typeface="Times New Roman" panose="02020603050405020304" pitchFamily="18" charset="0"/>
                </a:rPr>
                <a:t> </a:t>
              </a:r>
              <a:r>
                <a:rPr lang="en-US" altLang="ko-KR" sz="600" dirty="0">
                  <a:latin typeface="Times New Roman" panose="02020603050405020304" pitchFamily="18" charset="0"/>
                </a:rPr>
                <a:t>                                                                                                           </a:t>
              </a:r>
            </a:p>
          </p:txBody>
        </p:sp>
        <p:sp>
          <p:nvSpPr>
            <p:cNvPr id="40972" name="Rectangle 1038"/>
            <p:cNvSpPr>
              <a:spLocks noChangeArrowheads="1"/>
            </p:cNvSpPr>
            <p:nvPr/>
          </p:nvSpPr>
          <p:spPr bwMode="auto">
            <a:xfrm>
              <a:off x="-58" y="1613"/>
              <a:ext cx="11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600">
                <a:latin typeface="Times New Roman" panose="02020603050405020304" pitchFamily="18" charset="0"/>
              </a:endParaRPr>
            </a:p>
            <a:p>
              <a:pPr latinLnBrk="0">
                <a:spcBef>
                  <a:spcPct val="0"/>
                </a:spcBef>
                <a:buClrTx/>
                <a:buSzTx/>
                <a:buFontTx/>
                <a:buNone/>
              </a:pPr>
              <a:endParaRPr lang="en-US" altLang="ko-KR" sz="2400">
                <a:latin typeface="Times New Roman" panose="02020603050405020304" pitchFamily="18" charset="0"/>
              </a:endParaRPr>
            </a:p>
          </p:txBody>
        </p:sp>
      </p:grpSp>
      <p:pic>
        <p:nvPicPr>
          <p:cNvPr id="2" name="Picture 1"/>
          <p:cNvPicPr>
            <a:picLocks noChangeAspect="1"/>
          </p:cNvPicPr>
          <p:nvPr/>
        </p:nvPicPr>
        <p:blipFill>
          <a:blip r:embed="rId2"/>
          <a:stretch>
            <a:fillRect/>
          </a:stretch>
        </p:blipFill>
        <p:spPr>
          <a:xfrm>
            <a:off x="6195528" y="3953011"/>
            <a:ext cx="4901098" cy="2126973"/>
          </a:xfrm>
          <a:prstGeom prst="rect">
            <a:avLst/>
          </a:prstGeom>
        </p:spPr>
      </p:pic>
      <p:sp>
        <p:nvSpPr>
          <p:cNvPr id="3" name="Rectangle 2"/>
          <p:cNvSpPr/>
          <p:nvPr/>
        </p:nvSpPr>
        <p:spPr>
          <a:xfrm>
            <a:off x="5937212" y="6077789"/>
            <a:ext cx="5673348" cy="369332"/>
          </a:xfrm>
          <a:prstGeom prst="rect">
            <a:avLst/>
          </a:prstGeom>
        </p:spPr>
        <p:txBody>
          <a:bodyPr wrap="none">
            <a:spAutoFit/>
          </a:bodyPr>
          <a:lstStyle/>
          <a:p>
            <a:r>
              <a:rPr lang="en-US">
                <a:solidFill>
                  <a:srgbClr val="202122"/>
                </a:solidFill>
                <a:latin typeface="Arial" panose="020B0604020202020204" pitchFamily="34" charset="0"/>
              </a:rPr>
              <a:t>Histograms of an image before and after equalization.</a:t>
            </a:r>
            <a:endParaRPr lang="en-US"/>
          </a:p>
        </p:txBody>
      </p:sp>
    </p:spTree>
    <p:extLst>
      <p:ext uri="{BB962C8B-B14F-4D97-AF65-F5344CB8AC3E}">
        <p14:creationId xmlns:p14="http://schemas.microsoft.com/office/powerpoint/2010/main" val="1965194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lang="en-US" altLang="ko-KR"/>
              <a:t>Histogram Equalization</a:t>
            </a:r>
          </a:p>
        </p:txBody>
      </p:sp>
      <p:sp>
        <p:nvSpPr>
          <p:cNvPr id="41988" name="Rectangle 3"/>
          <p:cNvSpPr>
            <a:spLocks noGrp="1" noChangeArrowheads="1"/>
          </p:cNvSpPr>
          <p:nvPr>
            <p:ph idx="1"/>
          </p:nvPr>
        </p:nvSpPr>
        <p:spPr>
          <a:xfrm>
            <a:off x="677334" y="1534887"/>
            <a:ext cx="8596668" cy="4506476"/>
          </a:xfrm>
        </p:spPr>
        <p:txBody>
          <a:bodyPr/>
          <a:lstStyle/>
          <a:p>
            <a:pPr eaLnBrk="1" hangingPunct="1"/>
            <a:r>
              <a:rPr lang="en-US" altLang="ko-KR" dirty="0">
                <a:latin typeface="Times New Roman" panose="02020603050405020304" pitchFamily="18" charset="0"/>
              </a:rPr>
              <a:t>(</a:t>
            </a:r>
            <a:r>
              <a:rPr lang="en-US" altLang="ko-KR" dirty="0" err="1">
                <a:latin typeface="Times New Roman" panose="02020603050405020304" pitchFamily="18" charset="0"/>
              </a:rPr>
              <a:t>def</a:t>
            </a:r>
            <a:r>
              <a:rPr lang="en-US" altLang="ko-KR" dirty="0">
                <a:latin typeface="Times New Roman" panose="02020603050405020304" pitchFamily="18" charset="0"/>
              </a:rPr>
              <a:t>)</a:t>
            </a:r>
          </a:p>
          <a:p>
            <a:pPr lvl="1" eaLnBrk="1" hangingPunct="1"/>
            <a:r>
              <a:rPr lang="en-US" altLang="ko-KR" sz="1800" dirty="0">
                <a:latin typeface="Times New Roman" panose="02020603050405020304" pitchFamily="18" charset="0"/>
              </a:rPr>
              <a:t>r: represent the gray level, </a:t>
            </a:r>
          </a:p>
          <a:p>
            <a:pPr lvl="2" eaLnBrk="1" hangingPunct="1"/>
            <a:r>
              <a:rPr lang="en-US" altLang="ko-KR" sz="1600" dirty="0">
                <a:latin typeface="Times New Roman" panose="02020603050405020304" pitchFamily="18" charset="0"/>
              </a:rPr>
              <a:t>Pixel values are continuous quantities</a:t>
            </a:r>
          </a:p>
          <a:p>
            <a:pPr lvl="2" eaLnBrk="1" hangingPunct="1"/>
            <a:r>
              <a:rPr lang="en-US" altLang="ko-KR" sz="1600" dirty="0">
                <a:latin typeface="Times New Roman" panose="02020603050405020304" pitchFamily="18" charset="0"/>
              </a:rPr>
              <a:t>Discrete formulation: allow pixel values to be interval [0, L-1]</a:t>
            </a:r>
          </a:p>
          <a:p>
            <a:pPr lvl="1" eaLnBrk="1" hangingPunct="1"/>
            <a:r>
              <a:rPr lang="en-US" altLang="ko-KR" sz="1800" dirty="0">
                <a:latin typeface="Times New Roman" panose="02020603050405020304" pitchFamily="18" charset="0"/>
              </a:rPr>
              <a:t>Transform s = T(r) =</a:t>
            </a:r>
          </a:p>
          <a:p>
            <a:pPr lvl="2" eaLnBrk="1" hangingPunct="1"/>
            <a:r>
              <a:rPr lang="en-US" altLang="ko-KR" sz="1600" dirty="0">
                <a:latin typeface="Times New Roman" panose="02020603050405020304" pitchFamily="18" charset="0"/>
              </a:rPr>
              <a:t>Produce a level s for every pixel value r in the original image</a:t>
            </a:r>
          </a:p>
          <a:p>
            <a:pPr lvl="2" eaLnBrk="1" hangingPunct="1"/>
            <a:r>
              <a:rPr lang="en-US" altLang="ko-KR" sz="1600" dirty="0">
                <a:latin typeface="Times New Roman" panose="02020603050405020304" pitchFamily="18" charset="0"/>
              </a:rPr>
              <a:t>The transform must satisfies the following conditions</a:t>
            </a:r>
          </a:p>
          <a:p>
            <a:pPr lvl="3" eaLnBrk="1" hangingPunct="1">
              <a:buFontTx/>
              <a:buNone/>
            </a:pPr>
            <a:r>
              <a:rPr lang="en-US" altLang="ko-KR" sz="1400" dirty="0">
                <a:latin typeface="Times New Roman" panose="02020603050405020304" pitchFamily="18" charset="0"/>
              </a:rPr>
              <a:t>Condition(a): T(r) is single-values and monotonically increasing in   r     [0,1]</a:t>
            </a:r>
          </a:p>
          <a:p>
            <a:pPr lvl="3" eaLnBrk="1" hangingPunct="1">
              <a:buFontTx/>
              <a:buNone/>
            </a:pPr>
            <a:r>
              <a:rPr lang="en-US" altLang="ko-KR" sz="1400" dirty="0">
                <a:latin typeface="Times New Roman" panose="02020603050405020304" pitchFamily="18" charset="0"/>
              </a:rPr>
              <a:t> Condition(b):</a:t>
            </a:r>
          </a:p>
          <a:p>
            <a:pPr lvl="2" eaLnBrk="1" hangingPunct="1">
              <a:buFontTx/>
              <a:buNone/>
            </a:pPr>
            <a:endParaRPr lang="en-US" altLang="ko-KR" dirty="0">
              <a:latin typeface="Times New Roman" panose="02020603050405020304" pitchFamily="18" charset="0"/>
            </a:endParaRPr>
          </a:p>
          <a:p>
            <a:pPr lvl="1" eaLnBrk="1" hangingPunct="1"/>
            <a:r>
              <a:rPr lang="en-US" altLang="ko-KR" dirty="0">
                <a:latin typeface="Times New Roman" panose="02020603050405020304" pitchFamily="18" charset="0"/>
              </a:rPr>
              <a:t>Inverse transform r = T</a:t>
            </a:r>
            <a:r>
              <a:rPr lang="en-US" altLang="ko-KR" baseline="30000" dirty="0">
                <a:latin typeface="Times New Roman" panose="02020603050405020304" pitchFamily="18" charset="0"/>
              </a:rPr>
              <a:t>–1</a:t>
            </a:r>
            <a:r>
              <a:rPr lang="en-US" altLang="ko-KR" dirty="0">
                <a:latin typeface="Times New Roman" panose="02020603050405020304" pitchFamily="18" charset="0"/>
              </a:rPr>
              <a:t>(s), s    [0,1]</a:t>
            </a:r>
          </a:p>
        </p:txBody>
      </p:sp>
      <p:graphicFrame>
        <p:nvGraphicFramePr>
          <p:cNvPr id="41989" name="Object 5"/>
          <p:cNvGraphicFramePr>
            <a:graphicFrameLocks noChangeAspect="1"/>
          </p:cNvGraphicFramePr>
          <p:nvPr>
            <p:extLst>
              <p:ext uri="{D42A27DB-BD31-4B8C-83A1-F6EECF244321}">
                <p14:modId xmlns:p14="http://schemas.microsoft.com/office/powerpoint/2010/main" val="1626746209"/>
              </p:ext>
            </p:extLst>
          </p:nvPr>
        </p:nvGraphicFramePr>
        <p:xfrm>
          <a:off x="3524250" y="2935724"/>
          <a:ext cx="2400300" cy="609600"/>
        </p:xfrm>
        <a:graphic>
          <a:graphicData uri="http://schemas.openxmlformats.org/presentationml/2006/ole">
            <mc:AlternateContent xmlns:mc="http://schemas.openxmlformats.org/markup-compatibility/2006">
              <mc:Choice xmlns:v="urn:schemas-microsoft-com:vml" Requires="v">
                <p:oleObj name="Equation" r:id="rId2" imgW="1244600" imgH="330200" progId="Equation.3">
                  <p:embed/>
                </p:oleObj>
              </mc:Choice>
              <mc:Fallback>
                <p:oleObj name="Equation" r:id="rId2" imgW="1244600" imgH="33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2935724"/>
                        <a:ext cx="24003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0" name="Object 6"/>
          <p:cNvGraphicFramePr>
            <a:graphicFrameLocks noChangeAspect="1"/>
          </p:cNvGraphicFramePr>
          <p:nvPr>
            <p:extLst>
              <p:ext uri="{D42A27DB-BD31-4B8C-83A1-F6EECF244321}">
                <p14:modId xmlns:p14="http://schemas.microsoft.com/office/powerpoint/2010/main" val="2228931673"/>
              </p:ext>
            </p:extLst>
          </p:nvPr>
        </p:nvGraphicFramePr>
        <p:xfrm>
          <a:off x="6413039" y="4072269"/>
          <a:ext cx="177800" cy="177800"/>
        </p:xfrm>
        <a:graphic>
          <a:graphicData uri="http://schemas.openxmlformats.org/presentationml/2006/ole">
            <mc:AlternateContent xmlns:mc="http://schemas.openxmlformats.org/markup-compatibility/2006">
              <mc:Choice xmlns:v="urn:schemas-microsoft-com:vml" Requires="v">
                <p:oleObj name="Equation" r:id="rId4" imgW="177492" imgH="177492" progId="Equation.3">
                  <p:embed/>
                </p:oleObj>
              </mc:Choice>
              <mc:Fallback>
                <p:oleObj name="Equation" r:id="rId4" imgW="177492" imgH="17749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3039" y="4072269"/>
                        <a:ext cx="1778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1" name="Object 7"/>
          <p:cNvGraphicFramePr>
            <a:graphicFrameLocks noChangeAspect="1"/>
          </p:cNvGraphicFramePr>
          <p:nvPr>
            <p:extLst>
              <p:ext uri="{D42A27DB-BD31-4B8C-83A1-F6EECF244321}">
                <p14:modId xmlns:p14="http://schemas.microsoft.com/office/powerpoint/2010/main" val="1197655284"/>
              </p:ext>
            </p:extLst>
          </p:nvPr>
        </p:nvGraphicFramePr>
        <p:xfrm>
          <a:off x="3543300" y="4602843"/>
          <a:ext cx="3429000" cy="381000"/>
        </p:xfrm>
        <a:graphic>
          <a:graphicData uri="http://schemas.openxmlformats.org/presentationml/2006/ole">
            <mc:AlternateContent xmlns:mc="http://schemas.openxmlformats.org/markup-compatibility/2006">
              <mc:Choice xmlns:v="urn:schemas-microsoft-com:vml" Requires="v">
                <p:oleObj name="Equation" r:id="rId6" imgW="1371600" imgH="203200" progId="Equation.3">
                  <p:embed/>
                </p:oleObj>
              </mc:Choice>
              <mc:Fallback>
                <p:oleObj name="Equation" r:id="rId6" imgW="1371600" imgH="203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43300" y="4602843"/>
                        <a:ext cx="3429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2" name="Object 8"/>
          <p:cNvGraphicFramePr>
            <a:graphicFrameLocks noChangeAspect="1"/>
          </p:cNvGraphicFramePr>
          <p:nvPr>
            <p:extLst>
              <p:ext uri="{D42A27DB-BD31-4B8C-83A1-F6EECF244321}">
                <p14:modId xmlns:p14="http://schemas.microsoft.com/office/powerpoint/2010/main" val="1228794853"/>
              </p:ext>
            </p:extLst>
          </p:nvPr>
        </p:nvGraphicFramePr>
        <p:xfrm>
          <a:off x="3962400" y="5084431"/>
          <a:ext cx="228600" cy="228600"/>
        </p:xfrm>
        <a:graphic>
          <a:graphicData uri="http://schemas.openxmlformats.org/presentationml/2006/ole">
            <mc:AlternateContent xmlns:mc="http://schemas.openxmlformats.org/markup-compatibility/2006">
              <mc:Choice xmlns:v="urn:schemas-microsoft-com:vml" Requires="v">
                <p:oleObj name="Equation" r:id="rId8" imgW="126725" imgH="126725" progId="Equation.3">
                  <p:embed/>
                </p:oleObj>
              </mc:Choice>
              <mc:Fallback>
                <p:oleObj name="Equation" r:id="rId8" imgW="126725" imgH="12672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2400" y="5084431"/>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3" name="Object 9"/>
          <p:cNvGraphicFramePr>
            <a:graphicFrameLocks noChangeAspect="1"/>
          </p:cNvGraphicFramePr>
          <p:nvPr>
            <p:extLst>
              <p:ext uri="{D42A27DB-BD31-4B8C-83A1-F6EECF244321}">
                <p14:modId xmlns:p14="http://schemas.microsoft.com/office/powerpoint/2010/main" val="3286784288"/>
              </p:ext>
            </p:extLst>
          </p:nvPr>
        </p:nvGraphicFramePr>
        <p:xfrm>
          <a:off x="4191000" y="1934237"/>
          <a:ext cx="1066800" cy="381000"/>
        </p:xfrm>
        <a:graphic>
          <a:graphicData uri="http://schemas.openxmlformats.org/presentationml/2006/ole">
            <mc:AlternateContent xmlns:mc="http://schemas.openxmlformats.org/markup-compatibility/2006">
              <mc:Choice xmlns:v="urn:schemas-microsoft-com:vml" Requires="v">
                <p:oleObj name="Equation" r:id="rId10" imgW="532937" imgH="177646" progId="Equation.3">
                  <p:embed/>
                </p:oleObj>
              </mc:Choice>
              <mc:Fallback>
                <p:oleObj name="Equation" r:id="rId10" imgW="532937" imgH="177646"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91000" y="1934237"/>
                        <a:ext cx="1066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6454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normAutofit fontScale="90000"/>
          </a:bodyPr>
          <a:lstStyle/>
          <a:p>
            <a:pPr eaLnBrk="1" hangingPunct="1">
              <a:defRPr/>
            </a:pPr>
            <a:r>
              <a:rPr lang="en-US" altLang="ko-KR"/>
              <a:t>Histogram Equalization</a:t>
            </a:r>
          </a:p>
        </p:txBody>
      </p:sp>
      <p:sp>
        <p:nvSpPr>
          <p:cNvPr id="43012" name="Rectangle 3"/>
          <p:cNvSpPr>
            <a:spLocks noGrp="1" noChangeArrowheads="1"/>
          </p:cNvSpPr>
          <p:nvPr>
            <p:ph type="body" sz="half" idx="1"/>
          </p:nvPr>
        </p:nvSpPr>
        <p:spPr>
          <a:xfrm>
            <a:off x="1676401" y="914400"/>
            <a:ext cx="8812213" cy="5791200"/>
          </a:xfrm>
        </p:spPr>
        <p:txBody>
          <a:bodyPr/>
          <a:lstStyle/>
          <a:p>
            <a:pPr eaLnBrk="1" hangingPunct="1"/>
            <a:r>
              <a:rPr lang="en-US" altLang="ko-KR" sz="2800"/>
              <a:t>A gray-level transformation function</a:t>
            </a:r>
          </a:p>
        </p:txBody>
      </p:sp>
      <p:pic>
        <p:nvPicPr>
          <p:cNvPr id="43013" name="Picture 8" descr="gonzalez fi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569147" y="1580870"/>
            <a:ext cx="5274275" cy="4052046"/>
          </a:xfrm>
          <a:noFill/>
        </p:spPr>
      </p:pic>
      <p:sp>
        <p:nvSpPr>
          <p:cNvPr id="43010" name="슬라이드 번호 개체 틀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B25D574D-F571-423D-93D0-DA9390F2D398}" type="slidenum">
              <a:rPr kumimoji="0" lang="en-US" altLang="ko-KR" sz="1400">
                <a:solidFill>
                  <a:schemeClr val="accent1"/>
                </a:solidFill>
              </a:rPr>
              <a:pPr>
                <a:spcBef>
                  <a:spcPct val="50000"/>
                </a:spcBef>
                <a:buClrTx/>
                <a:buSzTx/>
                <a:buFontTx/>
                <a:buNone/>
              </a:pPr>
              <a:t>22</a:t>
            </a:fld>
            <a:endParaRPr kumimoji="0" lang="en-US" altLang="ko-KR" sz="1400">
              <a:solidFill>
                <a:schemeClr val="accent1"/>
              </a:solidFill>
            </a:endParaRPr>
          </a:p>
        </p:txBody>
      </p:sp>
      <p:sp>
        <p:nvSpPr>
          <p:cNvPr id="43014" name="Text Box 6"/>
          <p:cNvSpPr txBox="1">
            <a:spLocks noChangeArrowheads="1"/>
          </p:cNvSpPr>
          <p:nvPr/>
        </p:nvSpPr>
        <p:spPr bwMode="auto">
          <a:xfrm>
            <a:off x="6973743" y="3083673"/>
            <a:ext cx="3384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400" b="1">
                <a:latin typeface="Times New Roman" panose="02020603050405020304" pitchFamily="18" charset="0"/>
              </a:rPr>
              <a:t>Fig. </a:t>
            </a:r>
            <a:r>
              <a:rPr lang="en-US" altLang="ko-KR" sz="1400">
                <a:latin typeface="Times New Roman" panose="02020603050405020304" pitchFamily="18" charset="0"/>
              </a:rPr>
              <a:t> A gray-level transformation function. [Gonzalez]</a:t>
            </a:r>
          </a:p>
        </p:txBody>
      </p:sp>
    </p:spTree>
    <p:extLst>
      <p:ext uri="{BB962C8B-B14F-4D97-AF65-F5344CB8AC3E}">
        <p14:creationId xmlns:p14="http://schemas.microsoft.com/office/powerpoint/2010/main" val="2001859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normAutofit fontScale="90000"/>
          </a:bodyPr>
          <a:lstStyle/>
          <a:p>
            <a:pPr eaLnBrk="1" hangingPunct="1">
              <a:defRPr/>
            </a:pPr>
            <a:r>
              <a:rPr lang="en-US" altLang="ko-KR"/>
              <a:t>Histogram Equalization</a:t>
            </a:r>
          </a:p>
        </p:txBody>
      </p:sp>
      <p:sp>
        <p:nvSpPr>
          <p:cNvPr id="44036" name="Rectangle 3"/>
          <p:cNvSpPr>
            <a:spLocks noGrp="1" noChangeArrowheads="1"/>
          </p:cNvSpPr>
          <p:nvPr>
            <p:ph type="body" sz="half" idx="1"/>
          </p:nvPr>
        </p:nvSpPr>
        <p:spPr>
          <a:xfrm>
            <a:off x="1676401" y="914400"/>
            <a:ext cx="8937811" cy="5168348"/>
          </a:xfrm>
        </p:spPr>
        <p:txBody>
          <a:bodyPr/>
          <a:lstStyle/>
          <a:p>
            <a:pPr eaLnBrk="1" hangingPunct="1"/>
            <a:r>
              <a:rPr lang="en-US" altLang="ko-KR" sz="2400" dirty="0">
                <a:latin typeface="Times New Roman" panose="02020603050405020304" pitchFamily="18" charset="0"/>
              </a:rPr>
              <a:t>The gray levels may be viewed as random quantities in [0,1]</a:t>
            </a:r>
          </a:p>
          <a:p>
            <a:pPr lvl="1" eaLnBrk="1" hangingPunct="1"/>
            <a:r>
              <a:rPr lang="en-US" altLang="ko-KR" sz="2000" dirty="0">
                <a:latin typeface="Times New Roman" panose="02020603050405020304" pitchFamily="18" charset="0"/>
              </a:rPr>
              <a:t>Can be characterized by probability density functions </a:t>
            </a:r>
          </a:p>
          <a:p>
            <a:pPr lvl="2" eaLnBrk="1" hangingPunct="1"/>
            <a:r>
              <a:rPr lang="en-US" altLang="ko-KR" sz="2000" dirty="0">
                <a:latin typeface="Times New Roman" panose="02020603050405020304" pitchFamily="18" charset="0"/>
              </a:rPr>
              <a:t>Original gray levels: </a:t>
            </a:r>
            <a:r>
              <a:rPr lang="en-US" altLang="ko-KR" sz="2000" dirty="0" err="1">
                <a:latin typeface="Times New Roman" panose="02020603050405020304" pitchFamily="18" charset="0"/>
              </a:rPr>
              <a:t>p</a:t>
            </a:r>
            <a:r>
              <a:rPr lang="en-US" altLang="ko-KR" sz="2000" baseline="-25000" dirty="0" err="1">
                <a:latin typeface="Times New Roman" panose="02020603050405020304" pitchFamily="18" charset="0"/>
              </a:rPr>
              <a:t>r</a:t>
            </a:r>
            <a:r>
              <a:rPr lang="en-US" altLang="ko-KR" sz="2000" dirty="0">
                <a:latin typeface="Times New Roman" panose="02020603050405020304" pitchFamily="18" charset="0"/>
              </a:rPr>
              <a:t>(r)</a:t>
            </a:r>
          </a:p>
          <a:p>
            <a:pPr lvl="2" eaLnBrk="1" hangingPunct="1"/>
            <a:r>
              <a:rPr lang="en-US" altLang="ko-KR" sz="2000" dirty="0">
                <a:latin typeface="Times New Roman" panose="02020603050405020304" pitchFamily="18" charset="0"/>
              </a:rPr>
              <a:t>Transformed gray levels: </a:t>
            </a:r>
            <a:r>
              <a:rPr lang="en-US" altLang="ko-KR" sz="2000" dirty="0" err="1">
                <a:latin typeface="Times New Roman" panose="02020603050405020304" pitchFamily="18" charset="0"/>
              </a:rPr>
              <a:t>p</a:t>
            </a:r>
            <a:r>
              <a:rPr lang="en-US" altLang="ko-KR" sz="2000" baseline="-25000" dirty="0" err="1">
                <a:latin typeface="Times New Roman" panose="02020603050405020304" pitchFamily="18" charset="0"/>
              </a:rPr>
              <a:t>s</a:t>
            </a:r>
            <a:r>
              <a:rPr lang="en-US" altLang="ko-KR" sz="2000" dirty="0">
                <a:latin typeface="Times New Roman" panose="02020603050405020304" pitchFamily="18" charset="0"/>
              </a:rPr>
              <a:t>(s)</a:t>
            </a:r>
          </a:p>
          <a:p>
            <a:pPr eaLnBrk="1" hangingPunct="1"/>
            <a:r>
              <a:rPr lang="en-US" altLang="ko-KR" sz="2800" dirty="0">
                <a:latin typeface="Times New Roman" panose="02020603050405020304" pitchFamily="18" charset="0"/>
              </a:rPr>
              <a:t>From elementary probability theory,</a:t>
            </a:r>
          </a:p>
          <a:p>
            <a:pPr lvl="2" eaLnBrk="1" hangingPunct="1"/>
            <a:r>
              <a:rPr lang="en-US" altLang="ko-KR" sz="2000" dirty="0">
                <a:latin typeface="Times New Roman" panose="02020603050405020304" pitchFamily="18" charset="0"/>
              </a:rPr>
              <a:t>If  p</a:t>
            </a:r>
            <a:r>
              <a:rPr lang="en-US" altLang="ko-KR" sz="2000" baseline="-25000" dirty="0">
                <a:latin typeface="Times New Roman" panose="02020603050405020304" pitchFamily="18" charset="0"/>
              </a:rPr>
              <a:t>r</a:t>
            </a:r>
            <a:r>
              <a:rPr lang="en-US" altLang="ko-KR" sz="2000" dirty="0">
                <a:latin typeface="Times New Roman" panose="02020603050405020304" pitchFamily="18" charset="0"/>
              </a:rPr>
              <a:t>(r) and T(r) are known and T</a:t>
            </a:r>
            <a:r>
              <a:rPr lang="en-US" altLang="ko-KR" sz="2000" baseline="30000" dirty="0">
                <a:latin typeface="Times New Roman" panose="02020603050405020304" pitchFamily="18" charset="0"/>
              </a:rPr>
              <a:t>–1</a:t>
            </a:r>
            <a:r>
              <a:rPr lang="en-US" altLang="ko-KR" sz="2000" dirty="0">
                <a:latin typeface="Times New Roman" panose="02020603050405020304" pitchFamily="18" charset="0"/>
              </a:rPr>
              <a:t>(s) satisfies condition (a) the probability density function of the transformed gray levels is </a:t>
            </a:r>
          </a:p>
          <a:p>
            <a:pPr eaLnBrk="1" hangingPunct="1"/>
            <a:endParaRPr lang="en-US" altLang="ko-KR" sz="2400" dirty="0">
              <a:latin typeface="Times New Roman" panose="02020603050405020304" pitchFamily="18" charset="0"/>
            </a:endParaRPr>
          </a:p>
        </p:txBody>
      </p:sp>
      <p:graphicFrame>
        <p:nvGraphicFramePr>
          <p:cNvPr id="44038" name="Object 1025"/>
          <p:cNvGraphicFramePr>
            <a:graphicFrameLocks noChangeAspect="1"/>
          </p:cNvGraphicFramePr>
          <p:nvPr/>
        </p:nvGraphicFramePr>
        <p:xfrm>
          <a:off x="6051550" y="3308350"/>
          <a:ext cx="88900" cy="241300"/>
        </p:xfrm>
        <a:graphic>
          <a:graphicData uri="http://schemas.openxmlformats.org/presentationml/2006/ole">
            <mc:AlternateContent xmlns:mc="http://schemas.openxmlformats.org/markup-compatibility/2006">
              <mc:Choice xmlns:v="urn:schemas-microsoft-com:vml" Requires="v">
                <p:oleObj name="Equation" r:id="rId2" imgW="88784" imgH="240986" progId="Equation.3">
                  <p:embed/>
                </p:oleObj>
              </mc:Choice>
              <mc:Fallback>
                <p:oleObj name="Equation" r:id="rId2" imgW="88784" imgH="240986"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1550" y="3308350"/>
                        <a:ext cx="889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9" name="Rectangle 8"/>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nchor="ct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ko-KR" altLang="en-US" sz="2400">
              <a:latin typeface="Times New Roman" panose="02020603050405020304" pitchFamily="18" charset="0"/>
            </a:endParaRPr>
          </a:p>
        </p:txBody>
      </p:sp>
      <p:graphicFrame>
        <p:nvGraphicFramePr>
          <p:cNvPr id="44040" name="Object 1026"/>
          <p:cNvGraphicFramePr>
            <a:graphicFrameLocks noChangeAspect="1"/>
          </p:cNvGraphicFramePr>
          <p:nvPr>
            <p:extLst>
              <p:ext uri="{D42A27DB-BD31-4B8C-83A1-F6EECF244321}">
                <p14:modId xmlns:p14="http://schemas.microsoft.com/office/powerpoint/2010/main" val="1058265650"/>
              </p:ext>
            </p:extLst>
          </p:nvPr>
        </p:nvGraphicFramePr>
        <p:xfrm>
          <a:off x="3558988" y="4354221"/>
          <a:ext cx="3036113" cy="1546808"/>
        </p:xfrm>
        <a:graphic>
          <a:graphicData uri="http://schemas.openxmlformats.org/presentationml/2006/ole">
            <mc:AlternateContent xmlns:mc="http://schemas.openxmlformats.org/markup-compatibility/2006">
              <mc:Choice xmlns:v="urn:schemas-microsoft-com:vml" Requires="v">
                <p:oleObj name="Equation" r:id="rId4" imgW="1524000" imgH="685800" progId="Equation.3">
                  <p:embed/>
                </p:oleObj>
              </mc:Choice>
              <mc:Fallback>
                <p:oleObj name="Equation" r:id="rId4" imgW="1524000" imgH="685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8988" y="4354221"/>
                        <a:ext cx="3036113" cy="154680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59165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1026"/>
          <p:cNvSpPr>
            <a:spLocks noGrp="1" noChangeArrowheads="1"/>
          </p:cNvSpPr>
          <p:nvPr>
            <p:ph type="title"/>
          </p:nvPr>
        </p:nvSpPr>
        <p:spPr/>
        <p:txBody>
          <a:bodyPr/>
          <a:lstStyle/>
          <a:p>
            <a:pPr eaLnBrk="1" hangingPunct="1">
              <a:defRPr/>
            </a:pPr>
            <a:r>
              <a:rPr lang="en-US" altLang="ko-KR"/>
              <a:t>Histogram Equalization</a:t>
            </a:r>
          </a:p>
        </p:txBody>
      </p:sp>
      <p:sp>
        <p:nvSpPr>
          <p:cNvPr id="45060" name="Rectangle 1027"/>
          <p:cNvSpPr>
            <a:spLocks noGrp="1" noChangeArrowheads="1"/>
          </p:cNvSpPr>
          <p:nvPr>
            <p:ph idx="1"/>
          </p:nvPr>
        </p:nvSpPr>
        <p:spPr>
          <a:xfrm>
            <a:off x="677334" y="1330037"/>
            <a:ext cx="9495366" cy="4711326"/>
          </a:xfrm>
        </p:spPr>
        <p:txBody>
          <a:bodyPr>
            <a:normAutofit/>
          </a:bodyPr>
          <a:lstStyle/>
          <a:p>
            <a:pPr lvl="2" eaLnBrk="1" hangingPunct="1"/>
            <a:endParaRPr lang="en-US" altLang="ko-KR" sz="2800" dirty="0">
              <a:latin typeface="Times New Roman" panose="02020603050405020304" pitchFamily="18" charset="0"/>
            </a:endParaRPr>
          </a:p>
          <a:p>
            <a:pPr eaLnBrk="1" hangingPunct="1"/>
            <a:r>
              <a:rPr lang="en-US" altLang="ko-KR" sz="3600" dirty="0">
                <a:latin typeface="Times New Roman" panose="02020603050405020304" pitchFamily="18" charset="0"/>
              </a:rPr>
              <a:t> </a:t>
            </a:r>
            <a:r>
              <a:rPr lang="en-US" altLang="ko-KR" sz="2800" dirty="0">
                <a:latin typeface="Times New Roman" panose="02020603050405020304" pitchFamily="18" charset="0"/>
              </a:rPr>
              <a:t>Consider the T(r) with CDF(Cumulative distribution function) of r, i.e.,</a:t>
            </a:r>
          </a:p>
          <a:p>
            <a:pPr lvl="1" eaLnBrk="1" hangingPunct="1"/>
            <a:r>
              <a:rPr lang="en-US" altLang="ko-KR" sz="2400" dirty="0">
                <a:latin typeface="Times New Roman" panose="02020603050405020304" pitchFamily="18" charset="0"/>
              </a:rPr>
              <a:t>s = T(r) =</a:t>
            </a:r>
          </a:p>
          <a:p>
            <a:pPr eaLnBrk="1" hangingPunct="1"/>
            <a:r>
              <a:rPr lang="en-US" altLang="ko-KR" sz="2800" dirty="0">
                <a:latin typeface="Times New Roman" panose="02020603050405020304" pitchFamily="18" charset="0"/>
              </a:rPr>
              <a:t>Then,        = </a:t>
            </a:r>
            <a:r>
              <a:rPr lang="en-US" altLang="ko-KR" sz="2800" dirty="0" err="1">
                <a:latin typeface="Times New Roman" panose="02020603050405020304" pitchFamily="18" charset="0"/>
              </a:rPr>
              <a:t>pr</a:t>
            </a:r>
            <a:r>
              <a:rPr lang="en-US" altLang="ko-KR" sz="2800" dirty="0">
                <a:latin typeface="Times New Roman" panose="02020603050405020304" pitchFamily="18" charset="0"/>
              </a:rPr>
              <a:t>(r)</a:t>
            </a:r>
          </a:p>
          <a:p>
            <a:pPr eaLnBrk="1" hangingPunct="1"/>
            <a:r>
              <a:rPr lang="en-US" altLang="ko-KR" sz="2400" dirty="0">
                <a:latin typeface="Times New Roman" panose="02020603050405020304" pitchFamily="18" charset="0"/>
              </a:rPr>
              <a:t>Uniform density of the transformed variables </a:t>
            </a:r>
            <a:r>
              <a:rPr lang="en-US" altLang="ko-KR" sz="2800" dirty="0">
                <a:latin typeface="Times New Roman" panose="02020603050405020304" pitchFamily="18" charset="0"/>
              </a:rPr>
              <a:t>s</a:t>
            </a:r>
            <a:br>
              <a:rPr lang="en-US" altLang="ko-KR" sz="2800" dirty="0">
                <a:latin typeface="Times New Roman" panose="02020603050405020304" pitchFamily="18" charset="0"/>
              </a:rPr>
            </a:br>
            <a:endParaRPr lang="en-US" altLang="ko-KR" sz="2800" dirty="0">
              <a:latin typeface="Times New Roman" panose="02020603050405020304" pitchFamily="18" charset="0"/>
            </a:endParaRPr>
          </a:p>
          <a:p>
            <a:pPr lvl="1" eaLnBrk="1" hangingPunct="1"/>
            <a:endParaRPr lang="en-US" altLang="ko-KR" dirty="0">
              <a:latin typeface="Times New Roman" panose="02020603050405020304" pitchFamily="18" charset="0"/>
            </a:endParaRPr>
          </a:p>
          <a:p>
            <a:pPr eaLnBrk="1" hangingPunct="1"/>
            <a:endParaRPr lang="en-US" altLang="ko-KR" sz="2800" dirty="0">
              <a:latin typeface="Times New Roman" panose="02020603050405020304" pitchFamily="18" charset="0"/>
            </a:endParaRPr>
          </a:p>
        </p:txBody>
      </p:sp>
      <p:graphicFrame>
        <p:nvGraphicFramePr>
          <p:cNvPr id="45061" name="Object 1024"/>
          <p:cNvGraphicFramePr>
            <a:graphicFrameLocks noChangeAspect="1"/>
          </p:cNvGraphicFramePr>
          <p:nvPr>
            <p:extLst>
              <p:ext uri="{D42A27DB-BD31-4B8C-83A1-F6EECF244321}">
                <p14:modId xmlns:p14="http://schemas.microsoft.com/office/powerpoint/2010/main" val="2099426909"/>
              </p:ext>
            </p:extLst>
          </p:nvPr>
        </p:nvGraphicFramePr>
        <p:xfrm>
          <a:off x="3175443" y="4673864"/>
          <a:ext cx="3022761" cy="1732623"/>
        </p:xfrm>
        <a:graphic>
          <a:graphicData uri="http://schemas.openxmlformats.org/presentationml/2006/ole">
            <mc:AlternateContent xmlns:mc="http://schemas.openxmlformats.org/markup-compatibility/2006">
              <mc:Choice xmlns:v="urn:schemas-microsoft-com:vml" Requires="v">
                <p:oleObj name="Equation" r:id="rId2" imgW="1714500" imgH="977900" progId="Equation.3">
                  <p:embed/>
                </p:oleObj>
              </mc:Choice>
              <mc:Fallback>
                <p:oleObj name="Equation" r:id="rId2" imgW="1714500" imgH="9779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443" y="4673864"/>
                        <a:ext cx="3022761" cy="1732623"/>
                      </a:xfrm>
                      <a:prstGeom prst="rect">
                        <a:avLst/>
                      </a:prstGeom>
                      <a:noFill/>
                      <a:ln>
                        <a:noFill/>
                      </a:ln>
                    </p:spPr>
                  </p:pic>
                </p:oleObj>
              </mc:Fallback>
            </mc:AlternateContent>
          </a:graphicData>
        </a:graphic>
      </p:graphicFrame>
      <p:graphicFrame>
        <p:nvGraphicFramePr>
          <p:cNvPr id="45062" name="Object 1025"/>
          <p:cNvGraphicFramePr>
            <a:graphicFrameLocks noChangeAspect="1"/>
          </p:cNvGraphicFramePr>
          <p:nvPr>
            <p:extLst>
              <p:ext uri="{D42A27DB-BD31-4B8C-83A1-F6EECF244321}">
                <p14:modId xmlns:p14="http://schemas.microsoft.com/office/powerpoint/2010/main" val="1453383295"/>
              </p:ext>
            </p:extLst>
          </p:nvPr>
        </p:nvGraphicFramePr>
        <p:xfrm>
          <a:off x="2791691" y="2870200"/>
          <a:ext cx="2400300" cy="609600"/>
        </p:xfrm>
        <a:graphic>
          <a:graphicData uri="http://schemas.openxmlformats.org/presentationml/2006/ole">
            <mc:AlternateContent xmlns:mc="http://schemas.openxmlformats.org/markup-compatibility/2006">
              <mc:Choice xmlns:v="urn:schemas-microsoft-com:vml" Requires="v">
                <p:oleObj name="Equation" r:id="rId4" imgW="1244600" imgH="330200" progId="Equation.3">
                  <p:embed/>
                </p:oleObj>
              </mc:Choice>
              <mc:Fallback>
                <p:oleObj name="Equation" r:id="rId4" imgW="1244600" imgH="330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1691" y="2870200"/>
                        <a:ext cx="24003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3" name="Object 1026"/>
          <p:cNvGraphicFramePr>
            <a:graphicFrameLocks noChangeAspect="1"/>
          </p:cNvGraphicFramePr>
          <p:nvPr>
            <p:extLst>
              <p:ext uri="{D42A27DB-BD31-4B8C-83A1-F6EECF244321}">
                <p14:modId xmlns:p14="http://schemas.microsoft.com/office/powerpoint/2010/main" val="4042052036"/>
              </p:ext>
            </p:extLst>
          </p:nvPr>
        </p:nvGraphicFramePr>
        <p:xfrm>
          <a:off x="2164657" y="3479800"/>
          <a:ext cx="381000" cy="685800"/>
        </p:xfrm>
        <a:graphic>
          <a:graphicData uri="http://schemas.openxmlformats.org/presentationml/2006/ole">
            <mc:AlternateContent xmlns:mc="http://schemas.openxmlformats.org/markup-compatibility/2006">
              <mc:Choice xmlns:v="urn:schemas-microsoft-com:vml" Requires="v">
                <p:oleObj name="Equation" r:id="rId6" imgW="215713" imgH="393359" progId="Equation.3">
                  <p:embed/>
                </p:oleObj>
              </mc:Choice>
              <mc:Fallback>
                <p:oleObj name="Equation" r:id="rId6" imgW="215713" imgH="39335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64657" y="3479800"/>
                        <a:ext cx="3810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9467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Rectangle 5"/>
          <p:cNvSpPr>
            <a:spLocks noGrp="1" noChangeArrowheads="1"/>
          </p:cNvSpPr>
          <p:nvPr>
            <p:ph type="title"/>
          </p:nvPr>
        </p:nvSpPr>
        <p:spPr/>
        <p:txBody>
          <a:bodyPr>
            <a:normAutofit fontScale="90000"/>
          </a:bodyPr>
          <a:lstStyle/>
          <a:p>
            <a:pPr eaLnBrk="1" hangingPunct="1">
              <a:defRPr/>
            </a:pPr>
            <a:r>
              <a:rPr lang="en-US" altLang="ko-KR"/>
              <a:t>Histogram Equalization</a:t>
            </a:r>
          </a:p>
        </p:txBody>
      </p:sp>
      <p:sp>
        <p:nvSpPr>
          <p:cNvPr id="47108" name="Rectangle 3"/>
          <p:cNvSpPr>
            <a:spLocks noGrp="1" noChangeArrowheads="1"/>
          </p:cNvSpPr>
          <p:nvPr>
            <p:ph type="body" sz="half" idx="1"/>
          </p:nvPr>
        </p:nvSpPr>
        <p:spPr>
          <a:xfrm>
            <a:off x="1016000" y="914400"/>
            <a:ext cx="7467600" cy="5791200"/>
          </a:xfrm>
        </p:spPr>
        <p:txBody>
          <a:bodyPr/>
          <a:lstStyle/>
          <a:p>
            <a:pPr eaLnBrk="1" hangingPunct="1"/>
            <a:r>
              <a:rPr lang="en-US" altLang="ko-KR" sz="2800"/>
              <a:t>Uniform density transformation method</a:t>
            </a:r>
          </a:p>
        </p:txBody>
      </p:sp>
      <p:pic>
        <p:nvPicPr>
          <p:cNvPr id="47109" name="Picture 4" descr="gonzalez fig"/>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1703295" y="1805642"/>
            <a:ext cx="5527675" cy="4224338"/>
          </a:xfrm>
          <a:noFill/>
        </p:spPr>
      </p:pic>
      <p:sp>
        <p:nvSpPr>
          <p:cNvPr id="47106" name="슬라이드 번호 개체 틀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43E94254-059F-4AAF-9B59-8793CF3A049C}" type="slidenum">
              <a:rPr kumimoji="0" lang="en-US" altLang="ko-KR" sz="1400">
                <a:solidFill>
                  <a:schemeClr val="accent1"/>
                </a:solidFill>
              </a:rPr>
              <a:pPr>
                <a:spcBef>
                  <a:spcPct val="50000"/>
                </a:spcBef>
                <a:buClrTx/>
                <a:buSzTx/>
                <a:buFontTx/>
                <a:buNone/>
              </a:pPr>
              <a:t>25</a:t>
            </a:fld>
            <a:endParaRPr kumimoji="0" lang="en-US" altLang="ko-KR" sz="1400">
              <a:solidFill>
                <a:schemeClr val="accent1"/>
              </a:solidFill>
            </a:endParaRPr>
          </a:p>
        </p:txBody>
      </p:sp>
      <p:sp>
        <p:nvSpPr>
          <p:cNvPr id="47110" name="Text Box 7"/>
          <p:cNvSpPr txBox="1">
            <a:spLocks noChangeArrowheads="1"/>
          </p:cNvSpPr>
          <p:nvPr/>
        </p:nvSpPr>
        <p:spPr bwMode="auto">
          <a:xfrm>
            <a:off x="1634338" y="6029980"/>
            <a:ext cx="64722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400" b="1">
                <a:latin typeface="Times New Roman" panose="02020603050405020304" pitchFamily="18" charset="0"/>
              </a:rPr>
              <a:t>Fig. </a:t>
            </a:r>
            <a:r>
              <a:rPr lang="en-US" altLang="ko-KR" sz="1400">
                <a:latin typeface="Times New Roman" panose="02020603050405020304" pitchFamily="18" charset="0"/>
              </a:rPr>
              <a:t>Illustration of the uniform density transformation method: (a)original probability density function; (b)transformation function; (c)resulting uniform density [Gonzalez]</a:t>
            </a:r>
          </a:p>
        </p:txBody>
      </p:sp>
    </p:spTree>
    <p:extLst>
      <p:ext uri="{BB962C8B-B14F-4D97-AF65-F5344CB8AC3E}">
        <p14:creationId xmlns:p14="http://schemas.microsoft.com/office/powerpoint/2010/main" val="3730752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eaLnBrk="1" hangingPunct="1">
              <a:defRPr/>
            </a:pPr>
            <a:r>
              <a:rPr lang="en-US" altLang="ko-KR"/>
              <a:t>Histogram Equalization</a:t>
            </a:r>
          </a:p>
        </p:txBody>
      </p:sp>
      <p:sp>
        <p:nvSpPr>
          <p:cNvPr id="48132" name="Rectangle 3"/>
          <p:cNvSpPr>
            <a:spLocks noGrp="1" noChangeArrowheads="1"/>
          </p:cNvSpPr>
          <p:nvPr>
            <p:ph idx="1"/>
          </p:nvPr>
        </p:nvSpPr>
        <p:spPr>
          <a:xfrm>
            <a:off x="548364" y="1564232"/>
            <a:ext cx="9484975" cy="3880773"/>
          </a:xfrm>
        </p:spPr>
        <p:txBody>
          <a:bodyPr>
            <a:normAutofit lnSpcReduction="10000"/>
          </a:bodyPr>
          <a:lstStyle/>
          <a:p>
            <a:pPr eaLnBrk="1" hangingPunct="1"/>
            <a:r>
              <a:rPr lang="en-US" altLang="ko-KR" sz="2000" dirty="0"/>
              <a:t>The effects of H.E.</a:t>
            </a:r>
          </a:p>
          <a:p>
            <a:pPr lvl="2" eaLnBrk="1" hangingPunct="1"/>
            <a:r>
              <a:rPr lang="en-US" altLang="ko-KR" sz="2000" dirty="0"/>
              <a:t>H.E. </a:t>
            </a:r>
            <a:r>
              <a:rPr lang="en-US" altLang="ko-KR" sz="2000" dirty="0">
                <a:solidFill>
                  <a:srgbClr val="00B050"/>
                </a:solidFill>
              </a:rPr>
              <a:t>stretches contrast (expand the range of gray levels) for gray levels near histogram maxima</a:t>
            </a:r>
          </a:p>
          <a:p>
            <a:pPr lvl="2" eaLnBrk="1" hangingPunct="1"/>
            <a:r>
              <a:rPr lang="en-US" altLang="ko-KR" sz="2000" dirty="0"/>
              <a:t>Compresses contrast in areas with gray levels near histogram minima.</a:t>
            </a:r>
          </a:p>
          <a:p>
            <a:pPr lvl="2" eaLnBrk="1" hangingPunct="1"/>
            <a:r>
              <a:rPr lang="en-US" altLang="ko-KR" sz="2000" dirty="0"/>
              <a:t>Contrast is expanded for the most of the image pixels =&gt; </a:t>
            </a:r>
            <a:r>
              <a:rPr lang="en-US" altLang="ko-KR" sz="2000" dirty="0">
                <a:solidFill>
                  <a:srgbClr val="00B050"/>
                </a:solidFill>
              </a:rPr>
              <a:t>H.E. usually improves the detectability of many image features.</a:t>
            </a:r>
          </a:p>
          <a:p>
            <a:pPr lvl="2" eaLnBrk="1" hangingPunct="1"/>
            <a:r>
              <a:rPr lang="en-US" altLang="ko-KR" sz="2000" dirty="0"/>
              <a:t>The resulting histogram is not flat </a:t>
            </a:r>
          </a:p>
          <a:p>
            <a:pPr lvl="3" eaLnBrk="1" hangingPunct="1"/>
            <a:r>
              <a:rPr lang="en-US" altLang="ko-KR" sz="2000" dirty="0"/>
              <a:t>nothing in the discrete approximation of the continuous result previously derived says that it should be flat.</a:t>
            </a:r>
          </a:p>
          <a:p>
            <a:pPr lvl="2" eaLnBrk="1" hangingPunct="1"/>
            <a:r>
              <a:rPr lang="en-US" altLang="ko-KR" sz="2000" dirty="0">
                <a:solidFill>
                  <a:srgbClr val="00B050"/>
                </a:solidFill>
              </a:rPr>
              <a:t>Similar effect of enhancement could be achieved by manual contrast stretching approach </a:t>
            </a:r>
          </a:p>
        </p:txBody>
      </p:sp>
    </p:spTree>
    <p:extLst>
      <p:ext uri="{BB962C8B-B14F-4D97-AF65-F5344CB8AC3E}">
        <p14:creationId xmlns:p14="http://schemas.microsoft.com/office/powerpoint/2010/main" val="1549081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1026"/>
          <p:cNvSpPr>
            <a:spLocks noGrp="1" noChangeArrowheads="1"/>
          </p:cNvSpPr>
          <p:nvPr>
            <p:ph type="title"/>
          </p:nvPr>
        </p:nvSpPr>
        <p:spPr/>
        <p:txBody>
          <a:bodyPr/>
          <a:lstStyle/>
          <a:p>
            <a:pPr eaLnBrk="1" hangingPunct="1">
              <a:defRPr/>
            </a:pPr>
            <a:r>
              <a:rPr lang="en-US" altLang="ko-KR"/>
              <a:t>Histogram Equalization</a:t>
            </a:r>
          </a:p>
        </p:txBody>
      </p:sp>
      <p:sp>
        <p:nvSpPr>
          <p:cNvPr id="49156" name="Rectangle 1027"/>
          <p:cNvSpPr>
            <a:spLocks noGrp="1" noChangeArrowheads="1"/>
          </p:cNvSpPr>
          <p:nvPr>
            <p:ph idx="1"/>
          </p:nvPr>
        </p:nvSpPr>
        <p:spPr>
          <a:xfrm>
            <a:off x="561148" y="1626409"/>
            <a:ext cx="8596668" cy="4780078"/>
          </a:xfrm>
        </p:spPr>
        <p:txBody>
          <a:bodyPr>
            <a:normAutofit/>
          </a:bodyPr>
          <a:lstStyle/>
          <a:p>
            <a:pPr eaLnBrk="1" hangingPunct="1"/>
            <a:r>
              <a:rPr lang="en-US" altLang="ko-KR" sz="2000" dirty="0"/>
              <a:t>The mapping of H.E.</a:t>
            </a:r>
          </a:p>
          <a:p>
            <a:pPr lvl="2" eaLnBrk="1" hangingPunct="1"/>
            <a:r>
              <a:rPr lang="en-US" altLang="ko-KR" sz="1600" dirty="0"/>
              <a:t>To map a small interval of gray level</a:t>
            </a:r>
            <a:r>
              <a:rPr lang="en-US" altLang="ko-KR" sz="1600" i="1" dirty="0"/>
              <a:t> </a:t>
            </a:r>
            <a:r>
              <a:rPr lang="en-US" altLang="ko-KR" sz="1600" i="1" dirty="0" err="1"/>
              <a:t>dr</a:t>
            </a:r>
            <a:r>
              <a:rPr lang="en-US" altLang="ko-KR" sz="1600" dirty="0"/>
              <a:t> onto an interval</a:t>
            </a:r>
            <a:r>
              <a:rPr lang="en-US" altLang="ko-KR" sz="1600" i="1" dirty="0"/>
              <a:t> ds</a:t>
            </a:r>
            <a:r>
              <a:rPr lang="en-US" altLang="ko-KR" sz="1600" dirty="0"/>
              <a:t>, =&gt; g(s)</a:t>
            </a:r>
            <a:r>
              <a:rPr lang="en-US" altLang="ko-KR" sz="1600" i="1" dirty="0"/>
              <a:t>ds</a:t>
            </a:r>
            <a:r>
              <a:rPr lang="en-US" altLang="ko-KR" sz="1600" dirty="0"/>
              <a:t> = h(r)</a:t>
            </a:r>
            <a:r>
              <a:rPr lang="en-US" altLang="ko-KR" sz="1600" i="1" dirty="0"/>
              <a:t> </a:t>
            </a:r>
            <a:r>
              <a:rPr lang="en-US" altLang="ko-KR" sz="1600" i="1" dirty="0" err="1"/>
              <a:t>dr</a:t>
            </a:r>
            <a:endParaRPr lang="en-US" altLang="ko-KR" sz="1600" i="1" dirty="0"/>
          </a:p>
          <a:p>
            <a:pPr lvl="3" eaLnBrk="1" hangingPunct="1"/>
            <a:r>
              <a:rPr lang="en-US" altLang="ko-KR" sz="1600" dirty="0"/>
              <a:t>h(r): histogram of input image, g(s) : new histogram</a:t>
            </a:r>
          </a:p>
          <a:p>
            <a:pPr lvl="2" eaLnBrk="1" hangingPunct="1"/>
            <a:r>
              <a:rPr lang="en-US" altLang="ko-KR" sz="1600" dirty="0"/>
              <a:t>g(s) is to be uniform for H.E., i.e., G(s) = N</a:t>
            </a:r>
            <a:r>
              <a:rPr lang="en-US" altLang="ko-KR" sz="1600" baseline="30000" dirty="0"/>
              <a:t>2</a:t>
            </a:r>
            <a:r>
              <a:rPr lang="en-US" altLang="ko-KR" sz="1600" dirty="0"/>
              <a:t> / M</a:t>
            </a:r>
          </a:p>
          <a:p>
            <a:pPr lvl="3" eaLnBrk="1" hangingPunct="1"/>
            <a:r>
              <a:rPr lang="en-US" altLang="ko-KR" sz="1600" dirty="0"/>
              <a:t>N</a:t>
            </a:r>
            <a:r>
              <a:rPr lang="en-US" altLang="ko-KR" sz="1600" baseline="30000" dirty="0"/>
              <a:t>2</a:t>
            </a:r>
            <a:r>
              <a:rPr lang="en-US" altLang="ko-KR" sz="1600" dirty="0"/>
              <a:t> : the number of pixels in the image</a:t>
            </a:r>
          </a:p>
          <a:p>
            <a:pPr lvl="3" eaLnBrk="1" hangingPunct="1"/>
            <a:r>
              <a:rPr lang="en-US" altLang="ko-KR" sz="1600" dirty="0"/>
              <a:t>M : the number of gray levels</a:t>
            </a:r>
          </a:p>
          <a:p>
            <a:pPr lvl="2" eaLnBrk="1" hangingPunct="1"/>
            <a:r>
              <a:rPr lang="en-US" altLang="ko-KR" sz="1600" dirty="0"/>
              <a:t>Then, we have the equation for the normalized cumulative histogram as follows.</a:t>
            </a:r>
          </a:p>
          <a:p>
            <a:pPr lvl="2" eaLnBrk="1" hangingPunct="1"/>
            <a:endParaRPr lang="en-US" altLang="ko-KR" sz="1600" dirty="0"/>
          </a:p>
          <a:p>
            <a:pPr lvl="3" eaLnBrk="1" hangingPunct="1"/>
            <a:r>
              <a:rPr lang="en-US" altLang="ko-KR" sz="1600" dirty="0"/>
              <a:t>T(r) =</a:t>
            </a:r>
          </a:p>
          <a:p>
            <a:pPr lvl="3" eaLnBrk="1" hangingPunct="1"/>
            <a:endParaRPr lang="en-US" altLang="ko-KR" dirty="0"/>
          </a:p>
        </p:txBody>
      </p:sp>
      <p:graphicFrame>
        <p:nvGraphicFramePr>
          <p:cNvPr id="49157" name="Object 1028"/>
          <p:cNvGraphicFramePr>
            <a:graphicFrameLocks noChangeAspect="1"/>
          </p:cNvGraphicFramePr>
          <p:nvPr>
            <p:extLst>
              <p:ext uri="{D42A27DB-BD31-4B8C-83A1-F6EECF244321}">
                <p14:modId xmlns:p14="http://schemas.microsoft.com/office/powerpoint/2010/main" val="350624680"/>
              </p:ext>
            </p:extLst>
          </p:nvPr>
        </p:nvGraphicFramePr>
        <p:xfrm>
          <a:off x="3511303" y="4586741"/>
          <a:ext cx="1981200" cy="914400"/>
        </p:xfrm>
        <a:graphic>
          <a:graphicData uri="http://schemas.openxmlformats.org/presentationml/2006/ole">
            <mc:AlternateContent xmlns:mc="http://schemas.openxmlformats.org/markup-compatibility/2006">
              <mc:Choice xmlns:v="urn:schemas-microsoft-com:vml" Requires="v">
                <p:oleObj name="Equation" r:id="rId2" imgW="990600" imgH="508000" progId="Equation.3">
                  <p:embed/>
                </p:oleObj>
              </mc:Choice>
              <mc:Fallback>
                <p:oleObj name="Equation" r:id="rId2" imgW="990600" imgH="508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303" y="4586741"/>
                        <a:ext cx="1981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06288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1026"/>
          <p:cNvSpPr>
            <a:spLocks noGrp="1" noChangeArrowheads="1"/>
          </p:cNvSpPr>
          <p:nvPr>
            <p:ph type="title"/>
          </p:nvPr>
        </p:nvSpPr>
        <p:spPr/>
        <p:txBody>
          <a:bodyPr/>
          <a:lstStyle/>
          <a:p>
            <a:pPr eaLnBrk="1" hangingPunct="1">
              <a:defRPr/>
            </a:pPr>
            <a:r>
              <a:rPr lang="en-US" altLang="ko-KR"/>
              <a:t>Histogram Equalization</a:t>
            </a:r>
          </a:p>
        </p:txBody>
      </p:sp>
      <p:sp>
        <p:nvSpPr>
          <p:cNvPr id="50180" name="Rectangle 1027"/>
          <p:cNvSpPr>
            <a:spLocks noGrp="1" noChangeArrowheads="1"/>
          </p:cNvSpPr>
          <p:nvPr>
            <p:ph idx="1"/>
          </p:nvPr>
        </p:nvSpPr>
        <p:spPr>
          <a:xfrm>
            <a:off x="677334" y="1309255"/>
            <a:ext cx="8596668" cy="4732107"/>
          </a:xfrm>
        </p:spPr>
        <p:txBody>
          <a:bodyPr/>
          <a:lstStyle/>
          <a:p>
            <a:pPr eaLnBrk="1" hangingPunct="1"/>
            <a:r>
              <a:rPr lang="en-US" altLang="ko-KR" dirty="0"/>
              <a:t>Basis of H.E. [D.H. Ballard]</a:t>
            </a:r>
          </a:p>
        </p:txBody>
      </p:sp>
      <p:sp>
        <p:nvSpPr>
          <p:cNvPr id="50178"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0F97131F-3A8E-4DB7-BCFF-54E96F3F8EEB}" type="slidenum">
              <a:rPr kumimoji="0" lang="en-US" altLang="ko-KR" sz="1400">
                <a:solidFill>
                  <a:schemeClr val="accent1"/>
                </a:solidFill>
              </a:rPr>
              <a:pPr>
                <a:spcBef>
                  <a:spcPct val="50000"/>
                </a:spcBef>
                <a:buClrTx/>
                <a:buSzTx/>
                <a:buFontTx/>
                <a:buNone/>
              </a:pPr>
              <a:t>28</a:t>
            </a:fld>
            <a:endParaRPr kumimoji="0" lang="en-US" altLang="ko-KR" sz="1400">
              <a:solidFill>
                <a:schemeClr val="accent1"/>
              </a:solidFill>
            </a:endParaRPr>
          </a:p>
        </p:txBody>
      </p:sp>
      <p:pic>
        <p:nvPicPr>
          <p:cNvPr id="50181" name="Picture 1028" descr="input3-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870" y="1747837"/>
            <a:ext cx="6836541" cy="447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7824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defRPr/>
            </a:pPr>
            <a:r>
              <a:rPr lang="en-US" altLang="ko-KR"/>
              <a:t>Histogram Equalization</a:t>
            </a:r>
          </a:p>
        </p:txBody>
      </p:sp>
      <p:sp>
        <p:nvSpPr>
          <p:cNvPr id="51204" name="Text Box 3"/>
          <p:cNvSpPr>
            <a:spLocks noGrp="1" noChangeArrowheads="1"/>
          </p:cNvSpPr>
          <p:nvPr>
            <p:ph idx="1"/>
          </p:nvPr>
        </p:nvSpPr>
        <p:spPr>
          <a:noFill/>
        </p:spPr>
        <p:txBody>
          <a:bodyPr/>
          <a:lstStyle/>
          <a:p>
            <a:pPr eaLnBrk="1" hangingPunct="1">
              <a:spcBef>
                <a:spcPct val="0"/>
              </a:spcBef>
              <a:buClrTx/>
              <a:buSzTx/>
              <a:buFontTx/>
              <a:buNone/>
            </a:pPr>
            <a:r>
              <a:rPr lang="en-US" altLang="ko-KR" sz="2900"/>
              <a:t>[Method]</a:t>
            </a:r>
          </a:p>
          <a:p>
            <a:pPr eaLnBrk="1" hangingPunct="1">
              <a:spcBef>
                <a:spcPct val="0"/>
              </a:spcBef>
              <a:buClrTx/>
              <a:buSzTx/>
              <a:buFontTx/>
              <a:buChar char="•"/>
            </a:pPr>
            <a:r>
              <a:rPr lang="en-US" altLang="ko-KR" sz="2000" b="1">
                <a:solidFill>
                  <a:schemeClr val="accent2"/>
                </a:solidFill>
              </a:rPr>
              <a:t>Step 1: Compute histogram</a:t>
            </a:r>
            <a:br>
              <a:rPr lang="en-US" altLang="ko-KR" sz="2000"/>
            </a:br>
            <a:br>
              <a:rPr lang="en-US" altLang="ko-KR" sz="2000"/>
            </a:br>
            <a:br>
              <a:rPr lang="en-US" altLang="ko-KR" sz="2000">
                <a:solidFill>
                  <a:srgbClr val="008000"/>
                </a:solidFill>
              </a:rPr>
            </a:br>
            <a:endParaRPr lang="en-US" altLang="ko-KR" sz="2000"/>
          </a:p>
        </p:txBody>
      </p:sp>
      <p:sp>
        <p:nvSpPr>
          <p:cNvPr id="51202"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FA9589AE-106A-4E3C-AFCC-E887980B08BA}" type="slidenum">
              <a:rPr kumimoji="0" lang="en-US" altLang="ko-KR" sz="1400">
                <a:solidFill>
                  <a:schemeClr val="accent1"/>
                </a:solidFill>
              </a:rPr>
              <a:pPr>
                <a:spcBef>
                  <a:spcPct val="50000"/>
                </a:spcBef>
                <a:buClrTx/>
                <a:buSzTx/>
                <a:buFontTx/>
                <a:buNone/>
              </a:pPr>
              <a:t>29</a:t>
            </a:fld>
            <a:endParaRPr kumimoji="0" lang="en-US" altLang="ko-KR" sz="1400">
              <a:solidFill>
                <a:schemeClr val="accent1"/>
              </a:solidFill>
            </a:endParaRPr>
          </a:p>
        </p:txBody>
      </p:sp>
      <p:grpSp>
        <p:nvGrpSpPr>
          <p:cNvPr id="51205" name="Group 6"/>
          <p:cNvGrpSpPr>
            <a:grpSpLocks/>
          </p:cNvGrpSpPr>
          <p:nvPr/>
        </p:nvGrpSpPr>
        <p:grpSpPr bwMode="auto">
          <a:xfrm>
            <a:off x="3575051" y="2924175"/>
            <a:ext cx="3794125" cy="2057400"/>
            <a:chOff x="2890" y="2832"/>
            <a:chExt cx="2390" cy="1296"/>
          </a:xfrm>
        </p:grpSpPr>
        <p:pic>
          <p:nvPicPr>
            <p:cNvPr id="51206" name="Picture 4"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0" y="3152"/>
              <a:ext cx="936" cy="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5" descr="histo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 y="2832"/>
              <a:ext cx="1296"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05666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defRPr/>
            </a:pPr>
            <a:r>
              <a:rPr lang="en-US" altLang="ko-KR"/>
              <a:t>Histogram Equalization</a:t>
            </a:r>
          </a:p>
        </p:txBody>
      </p:sp>
      <p:sp>
        <p:nvSpPr>
          <p:cNvPr id="52228" name="Text Box 3"/>
          <p:cNvSpPr>
            <a:spLocks noGrp="1" noChangeArrowheads="1"/>
          </p:cNvSpPr>
          <p:nvPr>
            <p:ph idx="1"/>
          </p:nvPr>
        </p:nvSpPr>
        <p:spPr>
          <a:noFill/>
        </p:spPr>
        <p:txBody>
          <a:bodyPr/>
          <a:lstStyle/>
          <a:p>
            <a:pPr eaLnBrk="1" hangingPunct="1">
              <a:spcBef>
                <a:spcPct val="0"/>
              </a:spcBef>
              <a:buClrTx/>
              <a:buSzTx/>
              <a:buFontTx/>
              <a:buChar char="•"/>
            </a:pPr>
            <a:r>
              <a:rPr lang="en-US" altLang="ko-KR" sz="2000" b="1">
                <a:solidFill>
                  <a:schemeClr val="accent2"/>
                </a:solidFill>
              </a:rPr>
              <a:t>Step 2</a:t>
            </a:r>
            <a:r>
              <a:rPr lang="ko-KR" altLang="en-US" sz="2000" b="1">
                <a:solidFill>
                  <a:schemeClr val="accent2"/>
                </a:solidFill>
              </a:rPr>
              <a:t> </a:t>
            </a:r>
            <a:r>
              <a:rPr lang="en-US" altLang="ko-KR" sz="2000" b="1">
                <a:solidFill>
                  <a:schemeClr val="accent2"/>
                </a:solidFill>
              </a:rPr>
              <a:t>: Calculate normalized sum of histogram</a:t>
            </a:r>
            <a:br>
              <a:rPr lang="en-US" altLang="ko-KR" sz="2000">
                <a:solidFill>
                  <a:schemeClr val="accent2"/>
                </a:solidFill>
              </a:rPr>
            </a:br>
            <a:br>
              <a:rPr lang="en-US" altLang="ko-KR" sz="2000">
                <a:solidFill>
                  <a:schemeClr val="accent1"/>
                </a:solidFill>
              </a:rPr>
            </a:br>
            <a:br>
              <a:rPr lang="en-US" altLang="ko-KR" sz="2000"/>
            </a:br>
            <a:endParaRPr lang="en-US" altLang="ko-KR" sz="2000"/>
          </a:p>
          <a:p>
            <a:pPr eaLnBrk="1" hangingPunct="1">
              <a:spcBef>
                <a:spcPct val="0"/>
              </a:spcBef>
              <a:buClrTx/>
              <a:buSzTx/>
              <a:buFontTx/>
              <a:buChar char="•"/>
            </a:pPr>
            <a:r>
              <a:rPr lang="en-US" altLang="ko-KR" sz="2000"/>
              <a:t>1 * (7/16) = 0.43</a:t>
            </a:r>
          </a:p>
          <a:p>
            <a:pPr eaLnBrk="1" hangingPunct="1">
              <a:spcBef>
                <a:spcPct val="0"/>
              </a:spcBef>
              <a:buClrTx/>
              <a:buSzTx/>
              <a:buFontTx/>
              <a:buChar char="•"/>
            </a:pPr>
            <a:r>
              <a:rPr lang="en-US" altLang="ko-KR" sz="2000"/>
              <a:t>3 * (7/16) = 1.31</a:t>
            </a:r>
          </a:p>
          <a:p>
            <a:pPr eaLnBrk="1" hangingPunct="1">
              <a:spcBef>
                <a:spcPct val="0"/>
              </a:spcBef>
              <a:buClrTx/>
              <a:buSzTx/>
              <a:buFontTx/>
              <a:buChar char="•"/>
            </a:pPr>
            <a:r>
              <a:rPr lang="en-US" altLang="ko-KR" sz="2000"/>
              <a:t>. . .</a:t>
            </a:r>
          </a:p>
          <a:p>
            <a:pPr algn="ctr" eaLnBrk="1" hangingPunct="1">
              <a:spcBef>
                <a:spcPct val="0"/>
              </a:spcBef>
              <a:buClrTx/>
              <a:buSzTx/>
              <a:buFontTx/>
              <a:buNone/>
            </a:pPr>
            <a:r>
              <a:rPr lang="en-US" altLang="ko-KR" sz="2600"/>
              <a:t> </a:t>
            </a:r>
          </a:p>
        </p:txBody>
      </p:sp>
      <p:sp>
        <p:nvSpPr>
          <p:cNvPr id="52226"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E9F1B6CE-36B1-4E9E-9FC8-86E535CF754C}" type="slidenum">
              <a:rPr kumimoji="0" lang="en-US" altLang="ko-KR" sz="1400">
                <a:solidFill>
                  <a:schemeClr val="accent1"/>
                </a:solidFill>
              </a:rPr>
              <a:pPr>
                <a:spcBef>
                  <a:spcPct val="50000"/>
                </a:spcBef>
                <a:buClrTx/>
                <a:buSzTx/>
                <a:buFontTx/>
                <a:buNone/>
              </a:pPr>
              <a:t>30</a:t>
            </a:fld>
            <a:endParaRPr kumimoji="0" lang="en-US" altLang="ko-KR" sz="1400">
              <a:solidFill>
                <a:schemeClr val="accent1"/>
              </a:solidFill>
            </a:endParaRPr>
          </a:p>
        </p:txBody>
      </p:sp>
      <p:sp>
        <p:nvSpPr>
          <p:cNvPr id="52229" name="Rectangle 4"/>
          <p:cNvSpPr>
            <a:spLocks noChangeArrowheads="1"/>
          </p:cNvSpPr>
          <p:nvPr/>
        </p:nvSpPr>
        <p:spPr bwMode="auto">
          <a:xfrm>
            <a:off x="1524000" y="1289051"/>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2400">
              <a:latin typeface="Times New Roman" panose="02020603050405020304" pitchFamily="18" charset="0"/>
            </a:endParaRPr>
          </a:p>
          <a:p>
            <a:pPr lvl="1" latinLnBrk="0">
              <a:spcBef>
                <a:spcPct val="0"/>
              </a:spcBef>
              <a:buFontTx/>
              <a:buNone/>
            </a:pPr>
            <a:endParaRPr lang="en-US" altLang="ko-KR" sz="2400">
              <a:latin typeface="Times New Roman" panose="02020603050405020304" pitchFamily="18" charset="0"/>
            </a:endParaRPr>
          </a:p>
        </p:txBody>
      </p:sp>
      <p:sp>
        <p:nvSpPr>
          <p:cNvPr id="52230" name="Rectangle 5"/>
          <p:cNvSpPr>
            <a:spLocks noChangeArrowheads="1"/>
          </p:cNvSpPr>
          <p:nvPr/>
        </p:nvSpPr>
        <p:spPr bwMode="auto">
          <a:xfrm>
            <a:off x="1524000" y="4138613"/>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Char char="•"/>
            </a:pPr>
            <a:endParaRPr lang="en-US" altLang="ko-KR" sz="1000">
              <a:latin typeface="Times New Roman" panose="02020603050405020304" pitchFamily="18" charset="0"/>
            </a:endParaRPr>
          </a:p>
          <a:p>
            <a:pPr latinLnBrk="0">
              <a:spcBef>
                <a:spcPct val="0"/>
              </a:spcBef>
              <a:buClrTx/>
              <a:buSzTx/>
              <a:buFontTx/>
              <a:buNone/>
            </a:pPr>
            <a:endParaRPr lang="en-US" altLang="ko-KR" sz="2400">
              <a:latin typeface="Times New Roman" panose="02020603050405020304" pitchFamily="18" charset="0"/>
            </a:endParaRPr>
          </a:p>
        </p:txBody>
      </p:sp>
      <p:sp>
        <p:nvSpPr>
          <p:cNvPr id="52231" name="Rectangle 6"/>
          <p:cNvSpPr>
            <a:spLocks noChangeArrowheads="1"/>
          </p:cNvSpPr>
          <p:nvPr/>
        </p:nvSpPr>
        <p:spPr bwMode="auto">
          <a:xfrm>
            <a:off x="1524000" y="4724401"/>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2400">
              <a:latin typeface="Times New Roman" panose="02020603050405020304" pitchFamily="18" charset="0"/>
            </a:endParaRPr>
          </a:p>
          <a:p>
            <a:pPr latinLnBrk="0">
              <a:spcBef>
                <a:spcPct val="0"/>
              </a:spcBef>
              <a:buClrTx/>
              <a:buSzTx/>
              <a:buFontTx/>
              <a:buNone/>
            </a:pPr>
            <a:endParaRPr lang="en-US" altLang="ko-KR" sz="2400">
              <a:latin typeface="Times New Roman" panose="02020603050405020304" pitchFamily="18" charset="0"/>
            </a:endParaRPr>
          </a:p>
        </p:txBody>
      </p:sp>
      <p:grpSp>
        <p:nvGrpSpPr>
          <p:cNvPr id="52232" name="Group 15"/>
          <p:cNvGrpSpPr>
            <a:grpSpLocks/>
          </p:cNvGrpSpPr>
          <p:nvPr/>
        </p:nvGrpSpPr>
        <p:grpSpPr bwMode="auto">
          <a:xfrm>
            <a:off x="4093694" y="3182144"/>
            <a:ext cx="4668837" cy="2354263"/>
            <a:chOff x="1562" y="3017"/>
            <a:chExt cx="2806" cy="1303"/>
          </a:xfrm>
        </p:grpSpPr>
        <p:grpSp>
          <p:nvGrpSpPr>
            <p:cNvPr id="52233" name="Group 7"/>
            <p:cNvGrpSpPr>
              <a:grpSpLocks/>
            </p:cNvGrpSpPr>
            <p:nvPr/>
          </p:nvGrpSpPr>
          <p:grpSpPr bwMode="auto">
            <a:xfrm>
              <a:off x="3144" y="3017"/>
              <a:ext cx="1224" cy="1174"/>
              <a:chOff x="2064" y="2703"/>
              <a:chExt cx="1224" cy="1174"/>
            </a:xfrm>
          </p:grpSpPr>
          <p:pic>
            <p:nvPicPr>
              <p:cNvPr id="52235" name="Picture 8" descr="normalized_sum_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4" y="2703"/>
                <a:ext cx="1224" cy="1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6" name="Rectangle 9"/>
              <p:cNvSpPr>
                <a:spLocks noChangeArrowheads="1"/>
              </p:cNvSpPr>
              <p:nvPr/>
            </p:nvSpPr>
            <p:spPr bwMode="auto">
              <a:xfrm>
                <a:off x="2064" y="2706"/>
                <a:ext cx="1218" cy="117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ko-KR" altLang="en-US" sz="2400">
                  <a:latin typeface="Times New Roman" panose="02020603050405020304" pitchFamily="18" charset="0"/>
                </a:endParaRPr>
              </a:p>
            </p:txBody>
          </p:sp>
        </p:grpSp>
        <p:pic>
          <p:nvPicPr>
            <p:cNvPr id="52234" name="Picture 14" descr="histo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 y="3024"/>
              <a:ext cx="1296"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087411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normAutofit/>
          </a:bodyPr>
          <a:lstStyle/>
          <a:p>
            <a:pPr eaLnBrk="1" hangingPunct="1">
              <a:defRPr/>
            </a:pPr>
            <a:r>
              <a:rPr lang="en-US" altLang="ko-KR" sz="3200"/>
              <a:t>Histogram Equalization</a:t>
            </a:r>
          </a:p>
        </p:txBody>
      </p:sp>
      <p:sp>
        <p:nvSpPr>
          <p:cNvPr id="53252" name="Text Box 3"/>
          <p:cNvSpPr>
            <a:spLocks noGrp="1" noChangeArrowheads="1"/>
          </p:cNvSpPr>
          <p:nvPr>
            <p:ph idx="1"/>
          </p:nvPr>
        </p:nvSpPr>
        <p:spPr>
          <a:xfrm>
            <a:off x="472973" y="1613741"/>
            <a:ext cx="8596668" cy="3880773"/>
          </a:xfrm>
          <a:noFill/>
        </p:spPr>
        <p:txBody>
          <a:bodyPr/>
          <a:lstStyle/>
          <a:p>
            <a:pPr eaLnBrk="1" hangingPunct="1">
              <a:spcBef>
                <a:spcPct val="0"/>
              </a:spcBef>
              <a:buClrTx/>
              <a:buSzTx/>
              <a:buFontTx/>
              <a:buChar char="•"/>
            </a:pPr>
            <a:r>
              <a:rPr lang="en-US" altLang="ko-KR" sz="2000" b="1">
                <a:solidFill>
                  <a:schemeClr val="accent2"/>
                </a:solidFill>
              </a:rPr>
              <a:t>Step 3: Transform input image to output image</a:t>
            </a:r>
            <a:br>
              <a:rPr lang="en-US" altLang="ko-KR" sz="2000" b="1">
                <a:solidFill>
                  <a:schemeClr val="accent2"/>
                </a:solidFill>
              </a:rPr>
            </a:br>
            <a:br>
              <a:rPr lang="en-US" altLang="ko-KR" sz="2000"/>
            </a:br>
            <a:r>
              <a:rPr lang="en-US" altLang="ko-KR" sz="2000"/>
              <a:t>Image transform using LUT</a:t>
            </a:r>
          </a:p>
        </p:txBody>
      </p:sp>
      <p:sp>
        <p:nvSpPr>
          <p:cNvPr id="53250"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768CC889-8FB9-475E-97B4-B7803319161C}" type="slidenum">
              <a:rPr kumimoji="0" lang="en-US" altLang="ko-KR" sz="1400">
                <a:solidFill>
                  <a:schemeClr val="accent1"/>
                </a:solidFill>
              </a:rPr>
              <a:pPr>
                <a:spcBef>
                  <a:spcPct val="50000"/>
                </a:spcBef>
                <a:buClrTx/>
                <a:buSzTx/>
                <a:buFontTx/>
                <a:buNone/>
              </a:pPr>
              <a:t>31</a:t>
            </a:fld>
            <a:endParaRPr kumimoji="0" lang="en-US" altLang="ko-KR" sz="1400">
              <a:solidFill>
                <a:schemeClr val="accent1"/>
              </a:solidFill>
            </a:endParaRPr>
          </a:p>
        </p:txBody>
      </p:sp>
      <p:grpSp>
        <p:nvGrpSpPr>
          <p:cNvPr id="53253" name="Group 5"/>
          <p:cNvGrpSpPr>
            <a:grpSpLocks/>
          </p:cNvGrpSpPr>
          <p:nvPr/>
        </p:nvGrpSpPr>
        <p:grpSpPr bwMode="auto">
          <a:xfrm>
            <a:off x="5256214" y="2300289"/>
            <a:ext cx="1679575" cy="2257425"/>
            <a:chOff x="-58" y="-29"/>
            <a:chExt cx="1058" cy="1422"/>
          </a:xfrm>
        </p:grpSpPr>
        <p:sp>
          <p:nvSpPr>
            <p:cNvPr id="53261" name="Rectangle 6"/>
            <p:cNvSpPr>
              <a:spLocks noChangeArrowheads="1"/>
            </p:cNvSpPr>
            <p:nvPr/>
          </p:nvSpPr>
          <p:spPr bwMode="auto">
            <a:xfrm>
              <a:off x="-58" y="-29"/>
              <a:ext cx="11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600">
                <a:latin typeface="Times New Roman" panose="02020603050405020304" pitchFamily="18" charset="0"/>
              </a:endParaRPr>
            </a:p>
            <a:p>
              <a:pPr lvl="1" latinLnBrk="0">
                <a:spcBef>
                  <a:spcPct val="0"/>
                </a:spcBef>
                <a:buFontTx/>
                <a:buNone/>
              </a:pPr>
              <a:endParaRPr lang="en-US" altLang="ko-KR" sz="2400">
                <a:latin typeface="Times New Roman" panose="02020603050405020304" pitchFamily="18" charset="0"/>
              </a:endParaRPr>
            </a:p>
          </p:txBody>
        </p:sp>
        <p:sp>
          <p:nvSpPr>
            <p:cNvPr id="53262" name="Rectangle 7"/>
            <p:cNvSpPr>
              <a:spLocks noChangeArrowheads="1"/>
            </p:cNvSpPr>
            <p:nvPr/>
          </p:nvSpPr>
          <p:spPr bwMode="auto">
            <a:xfrm>
              <a:off x="0" y="346"/>
              <a:ext cx="1000"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600">
                  <a:latin typeface="Times New Roman" panose="02020603050405020304" pitchFamily="18" charset="0"/>
                </a:rPr>
                <a:t>  </a:t>
              </a:r>
              <a:r>
                <a:rPr lang="en-US" altLang="ko-KR" sz="7000">
                  <a:latin typeface="Times New Roman" panose="02020603050405020304" pitchFamily="18" charset="0"/>
                </a:rPr>
                <a:t> </a:t>
              </a:r>
              <a:r>
                <a:rPr lang="en-US" altLang="ko-KR" sz="600">
                  <a:latin typeface="Times New Roman" panose="02020603050405020304" pitchFamily="18" charset="0"/>
                </a:rPr>
                <a:t>                                                            </a:t>
              </a:r>
            </a:p>
          </p:txBody>
        </p:sp>
        <p:sp>
          <p:nvSpPr>
            <p:cNvPr id="53263" name="Rectangle 8"/>
            <p:cNvSpPr>
              <a:spLocks noChangeArrowheads="1"/>
            </p:cNvSpPr>
            <p:nvPr/>
          </p:nvSpPr>
          <p:spPr bwMode="auto">
            <a:xfrm>
              <a:off x="-58" y="1047"/>
              <a:ext cx="11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en-US" altLang="ko-KR" sz="600">
                <a:latin typeface="Times New Roman" panose="02020603050405020304" pitchFamily="18" charset="0"/>
              </a:endParaRPr>
            </a:p>
            <a:p>
              <a:pPr latinLnBrk="0">
                <a:spcBef>
                  <a:spcPct val="0"/>
                </a:spcBef>
                <a:buClrTx/>
                <a:buSzTx/>
                <a:buFontTx/>
                <a:buNone/>
              </a:pPr>
              <a:endParaRPr lang="en-US" altLang="ko-KR" sz="2400">
                <a:latin typeface="Times New Roman" panose="02020603050405020304" pitchFamily="18" charset="0"/>
              </a:endParaRPr>
            </a:p>
          </p:txBody>
        </p:sp>
      </p:grpSp>
      <p:grpSp>
        <p:nvGrpSpPr>
          <p:cNvPr id="53254" name="Group 10"/>
          <p:cNvGrpSpPr>
            <a:grpSpLocks/>
          </p:cNvGrpSpPr>
          <p:nvPr/>
        </p:nvGrpSpPr>
        <p:grpSpPr bwMode="auto">
          <a:xfrm>
            <a:off x="5960015" y="3051639"/>
            <a:ext cx="3946525" cy="2308225"/>
            <a:chOff x="1162" y="2081"/>
            <a:chExt cx="2486" cy="1454"/>
          </a:xfrm>
        </p:grpSpPr>
        <p:pic>
          <p:nvPicPr>
            <p:cNvPr id="53259" name="Picture 4" descr="hist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 y="2081"/>
              <a:ext cx="1296" cy="1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0" name="Picture 9"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 y="2555"/>
              <a:ext cx="1001" cy="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3255" name="Group 11"/>
          <p:cNvGrpSpPr>
            <a:grpSpLocks/>
          </p:cNvGrpSpPr>
          <p:nvPr/>
        </p:nvGrpSpPr>
        <p:grpSpPr bwMode="auto">
          <a:xfrm>
            <a:off x="977182" y="3137825"/>
            <a:ext cx="3794125" cy="2057400"/>
            <a:chOff x="2890" y="2832"/>
            <a:chExt cx="2390" cy="1296"/>
          </a:xfrm>
        </p:grpSpPr>
        <p:pic>
          <p:nvPicPr>
            <p:cNvPr id="53257" name="Picture 12" descr="imag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0" y="3152"/>
              <a:ext cx="936" cy="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8" name="Picture 13" descr="histo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4" y="2832"/>
              <a:ext cx="1296"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256" name="AutoShape 14"/>
          <p:cNvSpPr>
            <a:spLocks noChangeArrowheads="1"/>
          </p:cNvSpPr>
          <p:nvPr/>
        </p:nvSpPr>
        <p:spPr bwMode="auto">
          <a:xfrm>
            <a:off x="4740927" y="3976025"/>
            <a:ext cx="685800" cy="381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FFFF"/>
          </a:soli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427270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en-US" altLang="ko-KR"/>
              <a:t>Histogram Equalization</a:t>
            </a:r>
          </a:p>
        </p:txBody>
      </p:sp>
      <p:pic>
        <p:nvPicPr>
          <p:cNvPr id="54276" name="Picture 12" descr="fig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58388" y="1270000"/>
            <a:ext cx="6408737" cy="4519613"/>
          </a:xfrm>
          <a:noFill/>
        </p:spPr>
      </p:pic>
      <p:sp>
        <p:nvSpPr>
          <p:cNvPr id="54274"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C9D16828-74EF-431A-852A-8D6D4A14F39C}" type="slidenum">
              <a:rPr kumimoji="0" lang="en-US" altLang="ko-KR" sz="1400">
                <a:solidFill>
                  <a:schemeClr val="accent1"/>
                </a:solidFill>
              </a:rPr>
              <a:pPr>
                <a:spcBef>
                  <a:spcPct val="50000"/>
                </a:spcBef>
                <a:buClrTx/>
                <a:buSzTx/>
                <a:buFontTx/>
                <a:buNone/>
              </a:pPr>
              <a:t>32</a:t>
            </a:fld>
            <a:endParaRPr kumimoji="0" lang="en-US" altLang="ko-KR" sz="1400">
              <a:solidFill>
                <a:schemeClr val="accent1"/>
              </a:solidFill>
            </a:endParaRPr>
          </a:p>
        </p:txBody>
      </p:sp>
      <p:sp>
        <p:nvSpPr>
          <p:cNvPr id="54277" name="Text Box 13"/>
          <p:cNvSpPr txBox="1">
            <a:spLocks noChangeArrowheads="1"/>
          </p:cNvSpPr>
          <p:nvPr/>
        </p:nvSpPr>
        <p:spPr bwMode="auto">
          <a:xfrm>
            <a:off x="2062151" y="5812762"/>
            <a:ext cx="48958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400" b="1" dirty="0">
                <a:latin typeface="Times New Roman" panose="02020603050405020304" pitchFamily="18" charset="0"/>
              </a:rPr>
              <a:t>Fig. </a:t>
            </a:r>
            <a:r>
              <a:rPr lang="en-US" altLang="ko-KR" sz="1400" dirty="0">
                <a:latin typeface="Times New Roman" panose="02020603050405020304" pitchFamily="18" charset="0"/>
              </a:rPr>
              <a:t>(a) Original image; (b) histogram of original image; (c) histogram equalized image; (d) histogram of equalized image.</a:t>
            </a:r>
          </a:p>
        </p:txBody>
      </p:sp>
    </p:spTree>
    <p:extLst>
      <p:ext uri="{BB962C8B-B14F-4D97-AF65-F5344CB8AC3E}">
        <p14:creationId xmlns:p14="http://schemas.microsoft.com/office/powerpoint/2010/main" val="1771223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F22D4C9F-6AF1-4933-BFC3-677341B53801}" type="slidenum">
              <a:rPr kumimoji="0" lang="en-US" altLang="ko-KR" sz="1400">
                <a:solidFill>
                  <a:schemeClr val="accent1"/>
                </a:solidFill>
              </a:rPr>
              <a:pPr>
                <a:spcBef>
                  <a:spcPct val="50000"/>
                </a:spcBef>
                <a:buClrTx/>
                <a:buSzTx/>
                <a:buFontTx/>
                <a:buNone/>
              </a:pPr>
              <a:t>33</a:t>
            </a:fld>
            <a:endParaRPr kumimoji="0" lang="en-US" altLang="ko-KR" sz="1400">
              <a:solidFill>
                <a:schemeClr val="accent1"/>
              </a:solidFill>
            </a:endParaRPr>
          </a:p>
        </p:txBody>
      </p:sp>
      <p:grpSp>
        <p:nvGrpSpPr>
          <p:cNvPr id="55299" name="Group 18"/>
          <p:cNvGrpSpPr>
            <a:grpSpLocks/>
          </p:cNvGrpSpPr>
          <p:nvPr/>
        </p:nvGrpSpPr>
        <p:grpSpPr bwMode="auto">
          <a:xfrm>
            <a:off x="1511156" y="5788158"/>
            <a:ext cx="6851650" cy="847725"/>
            <a:chOff x="1632" y="3743"/>
            <a:chExt cx="2782" cy="534"/>
          </a:xfrm>
        </p:grpSpPr>
        <p:sp>
          <p:nvSpPr>
            <p:cNvPr id="55301" name="Text Box 8"/>
            <p:cNvSpPr txBox="1">
              <a:spLocks noChangeArrowheads="1"/>
            </p:cNvSpPr>
            <p:nvPr/>
          </p:nvSpPr>
          <p:spPr bwMode="auto">
            <a:xfrm>
              <a:off x="1632" y="3743"/>
              <a:ext cx="80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100" b="1">
                  <a:solidFill>
                    <a:schemeClr val="accent2"/>
                  </a:solidFill>
                </a:rPr>
                <a:t>Original Image</a:t>
              </a:r>
            </a:p>
          </p:txBody>
        </p:sp>
        <p:sp>
          <p:nvSpPr>
            <p:cNvPr id="55302" name="Text Box 9"/>
            <p:cNvSpPr txBox="1">
              <a:spLocks noChangeArrowheads="1"/>
            </p:cNvSpPr>
            <p:nvPr/>
          </p:nvSpPr>
          <p:spPr bwMode="auto">
            <a:xfrm>
              <a:off x="3361" y="3743"/>
              <a:ext cx="105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100" b="1">
                  <a:solidFill>
                    <a:srgbClr val="7C59A7"/>
                  </a:solidFill>
                </a:rPr>
                <a:t>Histogram Equalize</a:t>
              </a:r>
            </a:p>
            <a:p>
              <a:pPr eaLnBrk="1" hangingPunct="1">
                <a:spcBef>
                  <a:spcPct val="0"/>
                </a:spcBef>
                <a:buClrTx/>
                <a:buSzTx/>
                <a:buFontTx/>
                <a:buNone/>
              </a:pPr>
              <a:r>
                <a:rPr lang="en-US" altLang="ko-KR" sz="2100" b="1">
                  <a:solidFill>
                    <a:srgbClr val="7C59A7"/>
                  </a:solidFill>
                </a:rPr>
                <a:t> Image</a:t>
              </a:r>
            </a:p>
          </p:txBody>
        </p:sp>
        <p:sp>
          <p:nvSpPr>
            <p:cNvPr id="55303" name="Text Box 10"/>
            <p:cNvSpPr txBox="1">
              <a:spLocks noChangeArrowheads="1"/>
            </p:cNvSpPr>
            <p:nvPr/>
          </p:nvSpPr>
          <p:spPr bwMode="auto">
            <a:xfrm>
              <a:off x="2591" y="3873"/>
              <a:ext cx="67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1800" b="1">
                  <a:solidFill>
                    <a:schemeClr val="accent2"/>
                  </a:solidFill>
                </a:rPr>
                <a:t>Equalization</a:t>
              </a:r>
            </a:p>
            <a:p>
              <a:pPr eaLnBrk="1" hangingPunct="1">
                <a:spcBef>
                  <a:spcPct val="0"/>
                </a:spcBef>
                <a:buClrTx/>
                <a:buSzTx/>
                <a:buFontTx/>
                <a:buNone/>
              </a:pPr>
              <a:r>
                <a:rPr lang="en-US" altLang="ko-KR" sz="1800" b="1">
                  <a:solidFill>
                    <a:schemeClr val="accent2"/>
                  </a:solidFill>
                </a:rPr>
                <a:t>(256 Level)</a:t>
              </a:r>
            </a:p>
          </p:txBody>
        </p:sp>
        <p:sp>
          <p:nvSpPr>
            <p:cNvPr id="55304" name="Line 11"/>
            <p:cNvSpPr>
              <a:spLocks noChangeShapeType="1"/>
            </p:cNvSpPr>
            <p:nvPr/>
          </p:nvSpPr>
          <p:spPr bwMode="auto">
            <a:xfrm>
              <a:off x="2688" y="388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aphicFrame>
        <p:nvGraphicFramePr>
          <p:cNvPr id="55300" name="Object 16"/>
          <p:cNvGraphicFramePr>
            <a:graphicFrameLocks noChangeAspect="1"/>
          </p:cNvGraphicFramePr>
          <p:nvPr>
            <p:extLst>
              <p:ext uri="{D42A27DB-BD31-4B8C-83A1-F6EECF244321}">
                <p14:modId xmlns:p14="http://schemas.microsoft.com/office/powerpoint/2010/main" val="1393188673"/>
              </p:ext>
            </p:extLst>
          </p:nvPr>
        </p:nvGraphicFramePr>
        <p:xfrm>
          <a:off x="1712060" y="972180"/>
          <a:ext cx="6125333" cy="4815974"/>
        </p:xfrm>
        <a:graphic>
          <a:graphicData uri="http://schemas.openxmlformats.org/presentationml/2006/ole">
            <mc:AlternateContent xmlns:mc="http://schemas.openxmlformats.org/markup-compatibility/2006">
              <mc:Choice xmlns:v="urn:schemas-microsoft-com:vml" Requires="v">
                <p:oleObj name="비트맵 이미지" r:id="rId2" imgW="5180952" imgH="5582429" progId="Paint.Picture">
                  <p:embed/>
                </p:oleObj>
              </mc:Choice>
              <mc:Fallback>
                <p:oleObj name="비트맵 이미지" r:id="rId2" imgW="5180952" imgH="5582429"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2060" y="972180"/>
                        <a:ext cx="6125333" cy="4815974"/>
                      </a:xfrm>
                      <a:prstGeom prst="rect">
                        <a:avLst/>
                      </a:prstGeom>
                      <a:noFill/>
                      <a:ln>
                        <a:noFill/>
                      </a:ln>
                      <a:effectLst/>
                    </p:spPr>
                  </p:pic>
                </p:oleObj>
              </mc:Fallback>
            </mc:AlternateContent>
          </a:graphicData>
        </a:graphic>
      </p:graphicFrame>
      <p:sp>
        <p:nvSpPr>
          <p:cNvPr id="2" name="Rectangle 1"/>
          <p:cNvSpPr/>
          <p:nvPr/>
        </p:nvSpPr>
        <p:spPr>
          <a:xfrm>
            <a:off x="786681" y="396469"/>
            <a:ext cx="2568332" cy="369332"/>
          </a:xfrm>
          <a:prstGeom prst="rect">
            <a:avLst/>
          </a:prstGeom>
        </p:spPr>
        <p:txBody>
          <a:bodyPr wrap="none">
            <a:spAutoFit/>
          </a:bodyPr>
          <a:lstStyle/>
          <a:p>
            <a:r>
              <a:rPr lang="en-US" altLang="ko-KR"/>
              <a:t>Histogram Equalization</a:t>
            </a:r>
            <a:endParaRPr lang="en-US"/>
          </a:p>
        </p:txBody>
      </p:sp>
    </p:spTree>
    <p:extLst>
      <p:ext uri="{BB962C8B-B14F-4D97-AF65-F5344CB8AC3E}">
        <p14:creationId xmlns:p14="http://schemas.microsoft.com/office/powerpoint/2010/main" val="16189663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80984C84-2A88-453C-A0A5-94BA2C645710}" type="slidenum">
              <a:rPr kumimoji="0" lang="en-US" altLang="ko-KR" sz="1400">
                <a:solidFill>
                  <a:schemeClr val="accent1"/>
                </a:solidFill>
              </a:rPr>
              <a:pPr>
                <a:spcBef>
                  <a:spcPct val="50000"/>
                </a:spcBef>
                <a:buClrTx/>
                <a:buSzTx/>
                <a:buFontTx/>
                <a:buNone/>
              </a:pPr>
              <a:t>34</a:t>
            </a:fld>
            <a:endParaRPr kumimoji="0" lang="en-US" altLang="ko-KR" sz="1400">
              <a:solidFill>
                <a:schemeClr val="accent1"/>
              </a:solidFill>
            </a:endParaRPr>
          </a:p>
        </p:txBody>
      </p:sp>
      <p:grpSp>
        <p:nvGrpSpPr>
          <p:cNvPr id="56324" name="Group 22"/>
          <p:cNvGrpSpPr>
            <a:grpSpLocks/>
          </p:cNvGrpSpPr>
          <p:nvPr/>
        </p:nvGrpSpPr>
        <p:grpSpPr bwMode="auto">
          <a:xfrm>
            <a:off x="2483427" y="5638800"/>
            <a:ext cx="6754091" cy="1054100"/>
            <a:chOff x="1344" y="3696"/>
            <a:chExt cx="3264" cy="664"/>
          </a:xfrm>
        </p:grpSpPr>
        <p:sp>
          <p:nvSpPr>
            <p:cNvPr id="56326" name="Text Box 3"/>
            <p:cNvSpPr txBox="1">
              <a:spLocks noChangeArrowheads="1"/>
            </p:cNvSpPr>
            <p:nvPr/>
          </p:nvSpPr>
          <p:spPr bwMode="auto">
            <a:xfrm>
              <a:off x="1344" y="3743"/>
              <a:ext cx="133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100" b="1" dirty="0">
                  <a:solidFill>
                    <a:srgbClr val="7C59A7"/>
                  </a:solidFill>
                </a:rPr>
                <a:t>Original Image / 4</a:t>
              </a:r>
            </a:p>
          </p:txBody>
        </p:sp>
        <p:sp>
          <p:nvSpPr>
            <p:cNvPr id="56327" name="Text Box 4"/>
            <p:cNvSpPr txBox="1">
              <a:spLocks noChangeArrowheads="1"/>
            </p:cNvSpPr>
            <p:nvPr/>
          </p:nvSpPr>
          <p:spPr bwMode="auto">
            <a:xfrm>
              <a:off x="2928" y="3696"/>
              <a:ext cx="1680"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0"/>
                </a:spcBef>
                <a:buClrTx/>
                <a:buSzTx/>
                <a:buFontTx/>
                <a:buNone/>
              </a:pPr>
              <a:r>
                <a:rPr lang="en-US" altLang="ko-KR" sz="2100" b="1" dirty="0">
                  <a:solidFill>
                    <a:srgbClr val="7C59A7"/>
                  </a:solidFill>
                </a:rPr>
                <a:t>Histogram Equalize  Image</a:t>
              </a:r>
            </a:p>
            <a:p>
              <a:pPr algn="ctr" eaLnBrk="1" hangingPunct="1">
                <a:spcBef>
                  <a:spcPct val="0"/>
                </a:spcBef>
                <a:buClrTx/>
                <a:buSzTx/>
                <a:buFontTx/>
                <a:buNone/>
              </a:pPr>
              <a:r>
                <a:rPr lang="en-US" altLang="ko-KR" sz="2100" b="1" dirty="0">
                  <a:solidFill>
                    <a:srgbClr val="7C59A7"/>
                  </a:solidFill>
                </a:rPr>
                <a:t>(64 Level)</a:t>
              </a:r>
            </a:p>
          </p:txBody>
        </p:sp>
      </p:grpSp>
      <p:graphicFrame>
        <p:nvGraphicFramePr>
          <p:cNvPr id="56325" name="Object 20"/>
          <p:cNvGraphicFramePr>
            <a:graphicFrameLocks noChangeAspect="1"/>
          </p:cNvGraphicFramePr>
          <p:nvPr>
            <p:extLst>
              <p:ext uri="{D42A27DB-BD31-4B8C-83A1-F6EECF244321}">
                <p14:modId xmlns:p14="http://schemas.microsoft.com/office/powerpoint/2010/main" val="3180316554"/>
              </p:ext>
            </p:extLst>
          </p:nvPr>
        </p:nvGraphicFramePr>
        <p:xfrm>
          <a:off x="2328538" y="1079688"/>
          <a:ext cx="6924419" cy="4633725"/>
        </p:xfrm>
        <a:graphic>
          <a:graphicData uri="http://schemas.openxmlformats.org/presentationml/2006/ole">
            <mc:AlternateContent xmlns:mc="http://schemas.openxmlformats.org/markup-compatibility/2006">
              <mc:Choice xmlns:v="urn:schemas-microsoft-com:vml" Requires="v">
                <p:oleObj name="비트맵 이미지" r:id="rId2" imgW="5152381" imgH="5571429" progId="Paint.Picture">
                  <p:embed/>
                </p:oleObj>
              </mc:Choice>
              <mc:Fallback>
                <p:oleObj name="비트맵 이미지" r:id="rId2" imgW="5152381" imgH="5571429"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8538" y="1079688"/>
                        <a:ext cx="6924419" cy="4633725"/>
                      </a:xfrm>
                      <a:prstGeom prst="rect">
                        <a:avLst/>
                      </a:prstGeom>
                      <a:noFill/>
                      <a:ln>
                        <a:noFill/>
                      </a:ln>
                      <a:effectLst/>
                    </p:spPr>
                  </p:pic>
                </p:oleObj>
              </mc:Fallback>
            </mc:AlternateContent>
          </a:graphicData>
        </a:graphic>
      </p:graphicFrame>
      <p:sp>
        <p:nvSpPr>
          <p:cNvPr id="2" name="Rectangle 1"/>
          <p:cNvSpPr/>
          <p:nvPr/>
        </p:nvSpPr>
        <p:spPr>
          <a:xfrm>
            <a:off x="815491" y="277016"/>
            <a:ext cx="2834430" cy="400110"/>
          </a:xfrm>
          <a:prstGeom prst="rect">
            <a:avLst/>
          </a:prstGeom>
        </p:spPr>
        <p:txBody>
          <a:bodyPr wrap="none">
            <a:spAutoFit/>
          </a:bodyPr>
          <a:lstStyle/>
          <a:p>
            <a:r>
              <a:rPr lang="en-US" altLang="ko-KR" sz="2000"/>
              <a:t>Histogram Equalization</a:t>
            </a:r>
            <a:endParaRPr lang="en-US" sz="2000"/>
          </a:p>
        </p:txBody>
      </p:sp>
    </p:spTree>
    <p:extLst>
      <p:ext uri="{BB962C8B-B14F-4D97-AF65-F5344CB8AC3E}">
        <p14:creationId xmlns:p14="http://schemas.microsoft.com/office/powerpoint/2010/main" val="343883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828800" y="152400"/>
            <a:ext cx="8534400" cy="762000"/>
          </a:xfrm>
        </p:spPr>
        <p:txBody>
          <a:bodyPr/>
          <a:lstStyle/>
          <a:p>
            <a:pPr eaLnBrk="1" hangingPunct="1">
              <a:defRPr/>
            </a:pPr>
            <a:r>
              <a:rPr lang="en-US" altLang="ko-KR"/>
              <a:t>Histogram Equalization</a:t>
            </a:r>
          </a:p>
        </p:txBody>
      </p:sp>
      <p:sp>
        <p:nvSpPr>
          <p:cNvPr id="57346" name="슬라이드 번호 개체 틀 3"/>
          <p:cNvSpPr>
            <a:spLocks noGrp="1"/>
          </p:cNvSpPr>
          <p:nvPr>
            <p:ph type="sldNum" sz="quarter" idx="12"/>
          </p:nvPr>
        </p:nvSpPr>
        <p:spPr>
          <a:xfrm>
            <a:off x="6963078" y="6041362"/>
            <a:ext cx="911939"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DD2F189A-E6AE-4400-954F-445EFC10EE4E}" type="slidenum">
              <a:rPr kumimoji="0" lang="en-US" altLang="ko-KR" sz="1400">
                <a:solidFill>
                  <a:schemeClr val="accent1"/>
                </a:solidFill>
              </a:rPr>
              <a:pPr>
                <a:spcBef>
                  <a:spcPct val="50000"/>
                </a:spcBef>
                <a:buClrTx/>
                <a:buSzTx/>
                <a:buFontTx/>
                <a:buNone/>
              </a:pPr>
              <a:t>35</a:t>
            </a:fld>
            <a:endParaRPr kumimoji="0" lang="en-US" altLang="ko-KR" sz="1400">
              <a:solidFill>
                <a:schemeClr val="accent1"/>
              </a:solidFill>
            </a:endParaRPr>
          </a:p>
        </p:txBody>
      </p:sp>
      <p:pic>
        <p:nvPicPr>
          <p:cNvPr id="57348" name="Picture 3" descr="lena_rgb_equaliz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9709" y="1109664"/>
            <a:ext cx="3233737" cy="323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Picture 4" descr="Imag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6346" y="4565650"/>
            <a:ext cx="1609725"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5" descr="Image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8746" y="4552951"/>
            <a:ext cx="1628775"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1" name="Picture 6" descr="Image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63721" y="4538664"/>
            <a:ext cx="1609725"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2" name="Picture 7" descr="Image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8745" y="5556250"/>
            <a:ext cx="16383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3" name="Picture 8" descr="Image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8959" y="5538788"/>
            <a:ext cx="1614487"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4" name="Picture 9" descr="Image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6346" y="5588000"/>
            <a:ext cx="1604963"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5" name="Picture 10" descr="Image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0371" y="4514851"/>
            <a:ext cx="162877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6" name="Picture 11" descr="Image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08839" y="5556250"/>
            <a:ext cx="1609725"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7" name="Picture 12" descr="lena_rgb"/>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2696" y="1143001"/>
            <a:ext cx="3224213" cy="322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8" name="Text Box 13"/>
          <p:cNvSpPr txBox="1">
            <a:spLocks noChangeArrowheads="1"/>
          </p:cNvSpPr>
          <p:nvPr/>
        </p:nvSpPr>
        <p:spPr bwMode="auto">
          <a:xfrm>
            <a:off x="3270250" y="6491288"/>
            <a:ext cx="157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a:latin typeface="Times New Roman" panose="02020603050405020304" pitchFamily="18" charset="0"/>
                <a:ea typeface="궁서체" panose="02030609000101010101" pitchFamily="49" charset="-127"/>
              </a:rPr>
              <a:t>Original Image</a:t>
            </a:r>
          </a:p>
        </p:txBody>
      </p:sp>
      <p:sp>
        <p:nvSpPr>
          <p:cNvPr id="57359" name="Text Box 14"/>
          <p:cNvSpPr txBox="1">
            <a:spLocks noChangeArrowheads="1"/>
          </p:cNvSpPr>
          <p:nvPr/>
        </p:nvSpPr>
        <p:spPr bwMode="auto">
          <a:xfrm>
            <a:off x="7251700" y="6376988"/>
            <a:ext cx="172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a:latin typeface="Times New Roman" panose="02020603050405020304" pitchFamily="18" charset="0"/>
                <a:ea typeface="궁서체" panose="02030609000101010101" pitchFamily="49" charset="-127"/>
              </a:rPr>
              <a:t>Equalized Image</a:t>
            </a:r>
          </a:p>
        </p:txBody>
      </p:sp>
    </p:spTree>
    <p:extLst>
      <p:ext uri="{BB962C8B-B14F-4D97-AF65-F5344CB8AC3E}">
        <p14:creationId xmlns:p14="http://schemas.microsoft.com/office/powerpoint/2010/main" val="3547773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defRPr/>
            </a:pPr>
            <a:r>
              <a:rPr lang="en-US" altLang="ko-KR"/>
              <a:t>Histogram Equalization</a:t>
            </a:r>
          </a:p>
        </p:txBody>
      </p:sp>
      <p:sp>
        <p:nvSpPr>
          <p:cNvPr id="59394"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2B578A24-363E-4094-8AFB-0923451D385D}" type="slidenum">
              <a:rPr kumimoji="0" lang="en-US" altLang="ko-KR" sz="1400">
                <a:solidFill>
                  <a:schemeClr val="accent1"/>
                </a:solidFill>
              </a:rPr>
              <a:pPr>
                <a:spcBef>
                  <a:spcPct val="50000"/>
                </a:spcBef>
                <a:buClrTx/>
                <a:buSzTx/>
                <a:buFontTx/>
                <a:buNone/>
              </a:pPr>
              <a:t>36</a:t>
            </a:fld>
            <a:endParaRPr kumimoji="0" lang="en-US" altLang="ko-KR" sz="1400">
              <a:solidFill>
                <a:schemeClr val="accent1"/>
              </a:solidFill>
            </a:endParaRPr>
          </a:p>
        </p:txBody>
      </p:sp>
      <p:grpSp>
        <p:nvGrpSpPr>
          <p:cNvPr id="59396" name="Group 8"/>
          <p:cNvGrpSpPr>
            <a:grpSpLocks/>
          </p:cNvGrpSpPr>
          <p:nvPr/>
        </p:nvGrpSpPr>
        <p:grpSpPr bwMode="auto">
          <a:xfrm>
            <a:off x="479868" y="1442912"/>
            <a:ext cx="8991600" cy="4868863"/>
            <a:chOff x="48" y="864"/>
            <a:chExt cx="5664" cy="3067"/>
          </a:xfrm>
        </p:grpSpPr>
        <p:pic>
          <p:nvPicPr>
            <p:cNvPr id="59397" name="Picture 3"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 y="864"/>
              <a:ext cx="2758" cy="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4"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1" y="868"/>
              <a:ext cx="2751" cy="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9" name="Text Box 5"/>
            <p:cNvSpPr txBox="1">
              <a:spLocks noChangeArrowheads="1"/>
            </p:cNvSpPr>
            <p:nvPr/>
          </p:nvSpPr>
          <p:spPr bwMode="auto">
            <a:xfrm>
              <a:off x="781" y="3633"/>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Original Image</a:t>
              </a:r>
            </a:p>
          </p:txBody>
        </p:sp>
        <p:sp>
          <p:nvSpPr>
            <p:cNvPr id="59400" name="Text Box 6"/>
            <p:cNvSpPr txBox="1">
              <a:spLocks noChangeArrowheads="1"/>
            </p:cNvSpPr>
            <p:nvPr/>
          </p:nvSpPr>
          <p:spPr bwMode="auto">
            <a:xfrm>
              <a:off x="3788" y="3698"/>
              <a:ext cx="11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Equalized Image</a:t>
              </a:r>
            </a:p>
          </p:txBody>
        </p:sp>
      </p:grpSp>
    </p:spTree>
    <p:extLst>
      <p:ext uri="{BB962C8B-B14F-4D97-AF65-F5344CB8AC3E}">
        <p14:creationId xmlns:p14="http://schemas.microsoft.com/office/powerpoint/2010/main" val="2737088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3" name="Rectangle 17"/>
          <p:cNvSpPr>
            <a:spLocks noGrp="1" noChangeArrowheads="1"/>
          </p:cNvSpPr>
          <p:nvPr>
            <p:ph type="title"/>
          </p:nvPr>
        </p:nvSpPr>
        <p:spPr>
          <a:xfrm>
            <a:off x="614581" y="597881"/>
            <a:ext cx="8596668" cy="1320800"/>
          </a:xfrm>
        </p:spPr>
        <p:txBody>
          <a:bodyPr/>
          <a:lstStyle/>
          <a:p>
            <a:pPr eaLnBrk="1" hangingPunct="1">
              <a:defRPr/>
            </a:pPr>
            <a:r>
              <a:rPr lang="en-US" altLang="ko-KR" dirty="0"/>
              <a:t>Histogram Equalization</a:t>
            </a:r>
          </a:p>
        </p:txBody>
      </p:sp>
      <p:sp>
        <p:nvSpPr>
          <p:cNvPr id="60418"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261B007D-32DD-4142-A0B9-E13913367C43}" type="slidenum">
              <a:rPr kumimoji="0" lang="en-US" altLang="ko-KR" sz="1400">
                <a:solidFill>
                  <a:schemeClr val="accent1"/>
                </a:solidFill>
              </a:rPr>
              <a:pPr>
                <a:spcBef>
                  <a:spcPct val="50000"/>
                </a:spcBef>
                <a:buClrTx/>
                <a:buSzTx/>
                <a:buFontTx/>
                <a:buNone/>
              </a:pPr>
              <a:t>37</a:t>
            </a:fld>
            <a:endParaRPr kumimoji="0" lang="en-US" altLang="ko-KR" sz="1400">
              <a:solidFill>
                <a:schemeClr val="accent1"/>
              </a:solidFill>
            </a:endParaRPr>
          </a:p>
        </p:txBody>
      </p:sp>
      <p:grpSp>
        <p:nvGrpSpPr>
          <p:cNvPr id="60419" name="Group 18"/>
          <p:cNvGrpSpPr>
            <a:grpSpLocks/>
          </p:cNvGrpSpPr>
          <p:nvPr/>
        </p:nvGrpSpPr>
        <p:grpSpPr bwMode="auto">
          <a:xfrm>
            <a:off x="614581" y="1551912"/>
            <a:ext cx="8726488" cy="4854575"/>
            <a:chOff x="192" y="806"/>
            <a:chExt cx="5497" cy="3058"/>
          </a:xfrm>
        </p:grpSpPr>
        <p:pic>
          <p:nvPicPr>
            <p:cNvPr id="60421" name="Picture 5" descr="583sat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2" y="2784"/>
              <a:ext cx="1440"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Picture 6" descr="PICT058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2" y="1488"/>
              <a:ext cx="1440"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3" name="Picture 7" descr="sat33hi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8" y="2832"/>
              <a:ext cx="979" cy="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4" name="Picture 8" descr="sat33gra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28" y="1440"/>
              <a:ext cx="1488" cy="1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5" name="Picture 9" descr="sat33gray"/>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28" y="2784"/>
              <a:ext cx="1440"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6" name="Picture 10" descr="583sathis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8" y="1584"/>
              <a:ext cx="1027" cy="1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7" name="Picture 11" descr="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4" y="2784"/>
              <a:ext cx="9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8" name="Picture 12" descr="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4" y="1488"/>
              <a:ext cx="912"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9" name="Text Box 13"/>
            <p:cNvSpPr txBox="1">
              <a:spLocks noChangeArrowheads="1"/>
            </p:cNvSpPr>
            <p:nvPr/>
          </p:nvSpPr>
          <p:spPr bwMode="auto">
            <a:xfrm>
              <a:off x="192" y="1005"/>
              <a:ext cx="11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50000"/>
                </a:spcBef>
                <a:buClrTx/>
                <a:buSzTx/>
                <a:buFontTx/>
                <a:buNone/>
              </a:pPr>
              <a:r>
                <a:rPr kumimoji="0" lang="en-US" altLang="ko-KR" sz="2000" dirty="0">
                  <a:latin typeface="Arial" panose="020B0604020202020204" pitchFamily="34" charset="0"/>
                </a:rPr>
                <a:t>Input / Output</a:t>
              </a:r>
            </a:p>
          </p:txBody>
        </p:sp>
        <p:sp>
          <p:nvSpPr>
            <p:cNvPr id="60430" name="Text Box 14"/>
            <p:cNvSpPr txBox="1">
              <a:spLocks noChangeArrowheads="1"/>
            </p:cNvSpPr>
            <p:nvPr/>
          </p:nvSpPr>
          <p:spPr bwMode="auto">
            <a:xfrm>
              <a:off x="3030" y="846"/>
              <a:ext cx="100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50000"/>
                </a:spcBef>
                <a:buClrTx/>
                <a:buSzTx/>
                <a:buFontTx/>
                <a:buNone/>
              </a:pPr>
              <a:r>
                <a:rPr kumimoji="0" lang="en-US" altLang="ko-KR" sz="2000" dirty="0">
                  <a:latin typeface="Arial" panose="020B0604020202020204" pitchFamily="34" charset="0"/>
                </a:rPr>
                <a:t>Saturation image</a:t>
              </a:r>
            </a:p>
          </p:txBody>
        </p:sp>
        <p:sp>
          <p:nvSpPr>
            <p:cNvPr id="60431" name="Text Box 15"/>
            <p:cNvSpPr txBox="1">
              <a:spLocks noChangeArrowheads="1"/>
            </p:cNvSpPr>
            <p:nvPr/>
          </p:nvSpPr>
          <p:spPr bwMode="auto">
            <a:xfrm>
              <a:off x="1598" y="806"/>
              <a:ext cx="96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latinLnBrk="0" hangingPunct="1">
                <a:spcBef>
                  <a:spcPct val="50000"/>
                </a:spcBef>
                <a:buClrTx/>
                <a:buSzTx/>
                <a:buFontTx/>
                <a:buNone/>
              </a:pPr>
              <a:r>
                <a:rPr kumimoji="0" lang="en-US" altLang="ko-KR" sz="2000" dirty="0">
                  <a:latin typeface="Arial" panose="020B0604020202020204" pitchFamily="34" charset="0"/>
                </a:rPr>
                <a:t>Saturation adjustment function</a:t>
              </a:r>
            </a:p>
          </p:txBody>
        </p:sp>
        <p:sp>
          <p:nvSpPr>
            <p:cNvPr id="60432" name="Text Box 16"/>
            <p:cNvSpPr txBox="1">
              <a:spLocks noChangeArrowheads="1"/>
            </p:cNvSpPr>
            <p:nvPr/>
          </p:nvSpPr>
          <p:spPr bwMode="auto">
            <a:xfrm>
              <a:off x="4681" y="846"/>
              <a:ext cx="100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50000"/>
                </a:spcBef>
                <a:buClrTx/>
                <a:buSzTx/>
                <a:buFontTx/>
                <a:buNone/>
              </a:pPr>
              <a:r>
                <a:rPr kumimoji="0" lang="en-US" altLang="ko-KR" sz="2000" dirty="0">
                  <a:latin typeface="Arial" panose="020B0604020202020204" pitchFamily="34" charset="0"/>
                </a:rPr>
                <a:t>Saturation histogram</a:t>
              </a:r>
            </a:p>
          </p:txBody>
        </p:sp>
      </p:grpSp>
    </p:spTree>
    <p:extLst>
      <p:ext uri="{BB962C8B-B14F-4D97-AF65-F5344CB8AC3E}">
        <p14:creationId xmlns:p14="http://schemas.microsoft.com/office/powerpoint/2010/main" val="1886227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1" name="Rectangle 11"/>
          <p:cNvSpPr>
            <a:spLocks noGrp="1" noChangeArrowheads="1"/>
          </p:cNvSpPr>
          <p:nvPr>
            <p:ph type="title"/>
          </p:nvPr>
        </p:nvSpPr>
        <p:spPr/>
        <p:txBody>
          <a:bodyPr/>
          <a:lstStyle/>
          <a:p>
            <a:pPr eaLnBrk="1" hangingPunct="1">
              <a:defRPr/>
            </a:pPr>
            <a:r>
              <a:rPr lang="en-US" altLang="ko-KR"/>
              <a:t>Histogram Equalization</a:t>
            </a:r>
          </a:p>
        </p:txBody>
      </p:sp>
      <p:sp>
        <p:nvSpPr>
          <p:cNvPr id="61442"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8B6B3D07-47B3-43C5-A435-0EC1692D3F45}" type="slidenum">
              <a:rPr kumimoji="0" lang="en-US" altLang="ko-KR" sz="1400">
                <a:solidFill>
                  <a:schemeClr val="accent1"/>
                </a:solidFill>
              </a:rPr>
              <a:pPr>
                <a:spcBef>
                  <a:spcPct val="50000"/>
                </a:spcBef>
                <a:buClrTx/>
                <a:buSzTx/>
                <a:buFontTx/>
                <a:buNone/>
              </a:pPr>
              <a:t>38</a:t>
            </a:fld>
            <a:endParaRPr kumimoji="0" lang="en-US" altLang="ko-KR" sz="1400">
              <a:solidFill>
                <a:schemeClr val="accent1"/>
              </a:solidFill>
            </a:endParaRPr>
          </a:p>
        </p:txBody>
      </p:sp>
      <p:grpSp>
        <p:nvGrpSpPr>
          <p:cNvPr id="61443" name="Group 10"/>
          <p:cNvGrpSpPr>
            <a:grpSpLocks/>
          </p:cNvGrpSpPr>
          <p:nvPr/>
        </p:nvGrpSpPr>
        <p:grpSpPr bwMode="auto">
          <a:xfrm>
            <a:off x="2179638" y="1314450"/>
            <a:ext cx="7650162" cy="5010150"/>
            <a:chOff x="413" y="528"/>
            <a:chExt cx="4819" cy="3156"/>
          </a:xfrm>
        </p:grpSpPr>
        <p:pic>
          <p:nvPicPr>
            <p:cNvPr id="61445" name="Picture 4" descr="PICT05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 y="528"/>
              <a:ext cx="1968" cy="1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Text Box 5"/>
            <p:cNvSpPr txBox="1">
              <a:spLocks noChangeArrowheads="1"/>
            </p:cNvSpPr>
            <p:nvPr/>
          </p:nvSpPr>
          <p:spPr bwMode="auto">
            <a:xfrm>
              <a:off x="413" y="1152"/>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latinLnBrk="0" hangingPunct="1">
                <a:spcBef>
                  <a:spcPct val="50000"/>
                </a:spcBef>
                <a:buClrTx/>
                <a:buSzTx/>
                <a:buFontTx/>
                <a:buNone/>
              </a:pPr>
              <a:r>
                <a:rPr kumimoji="0" lang="en-US" altLang="ko-KR" sz="2000">
                  <a:latin typeface="Arial" panose="020B0604020202020204" pitchFamily="34" charset="0"/>
                </a:rPr>
                <a:t>Image</a:t>
              </a:r>
            </a:p>
          </p:txBody>
        </p:sp>
        <p:sp>
          <p:nvSpPr>
            <p:cNvPr id="61447" name="Text Box 6"/>
            <p:cNvSpPr txBox="1">
              <a:spLocks noChangeArrowheads="1"/>
            </p:cNvSpPr>
            <p:nvPr/>
          </p:nvSpPr>
          <p:spPr bwMode="auto">
            <a:xfrm>
              <a:off x="413" y="2544"/>
              <a:ext cx="864"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latinLnBrk="0" hangingPunct="1">
                <a:spcBef>
                  <a:spcPct val="50000"/>
                </a:spcBef>
                <a:buClrTx/>
                <a:buSzTx/>
                <a:buFontTx/>
                <a:buNone/>
              </a:pPr>
              <a:r>
                <a:rPr kumimoji="0" lang="en-US" altLang="ko-KR" sz="2000">
                  <a:latin typeface="Arial" panose="020B0604020202020204" pitchFamily="34" charset="0"/>
                </a:rPr>
                <a:t>Histogram equalized intensity</a:t>
              </a:r>
            </a:p>
          </p:txBody>
        </p:sp>
        <p:pic>
          <p:nvPicPr>
            <p:cNvPr id="61448" name="Picture 7" descr="583histeq"/>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5" y="2208"/>
              <a:ext cx="1968" cy="1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9" name="Picture 8" descr="583hi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3" y="528"/>
              <a:ext cx="1699" cy="1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0" name="Picture 9" descr="583heqhi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3" y="2208"/>
              <a:ext cx="1699" cy="1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706997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5" name="Rectangle 11"/>
          <p:cNvSpPr>
            <a:spLocks noGrp="1" noChangeArrowheads="1"/>
          </p:cNvSpPr>
          <p:nvPr>
            <p:ph type="title"/>
          </p:nvPr>
        </p:nvSpPr>
        <p:spPr/>
        <p:txBody>
          <a:bodyPr/>
          <a:lstStyle/>
          <a:p>
            <a:pPr eaLnBrk="1" hangingPunct="1">
              <a:defRPr/>
            </a:pPr>
            <a:r>
              <a:rPr lang="en-US" altLang="ko-KR"/>
              <a:t>Histogram Equalization</a:t>
            </a:r>
          </a:p>
        </p:txBody>
      </p:sp>
      <p:sp>
        <p:nvSpPr>
          <p:cNvPr id="62466"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EE8FCB00-E645-4A3C-99D6-31F2B33D07ED}" type="slidenum">
              <a:rPr kumimoji="0" lang="en-US" altLang="ko-KR" sz="1400">
                <a:solidFill>
                  <a:schemeClr val="accent1"/>
                </a:solidFill>
              </a:rPr>
              <a:pPr>
                <a:spcBef>
                  <a:spcPct val="50000"/>
                </a:spcBef>
                <a:buClrTx/>
                <a:buSzTx/>
                <a:buFontTx/>
                <a:buNone/>
              </a:pPr>
              <a:t>39</a:t>
            </a:fld>
            <a:endParaRPr kumimoji="0" lang="en-US" altLang="ko-KR" sz="1400">
              <a:solidFill>
                <a:schemeClr val="accent1"/>
              </a:solidFill>
            </a:endParaRPr>
          </a:p>
        </p:txBody>
      </p:sp>
      <p:grpSp>
        <p:nvGrpSpPr>
          <p:cNvPr id="62467" name="Group 10"/>
          <p:cNvGrpSpPr>
            <a:grpSpLocks/>
          </p:cNvGrpSpPr>
          <p:nvPr/>
        </p:nvGrpSpPr>
        <p:grpSpPr bwMode="auto">
          <a:xfrm>
            <a:off x="1066800" y="1353619"/>
            <a:ext cx="8839200" cy="5334000"/>
            <a:chOff x="192" y="336"/>
            <a:chExt cx="5568" cy="3360"/>
          </a:xfrm>
        </p:grpSpPr>
        <p:sp>
          <p:nvSpPr>
            <p:cNvPr id="62469" name="Text Box 4"/>
            <p:cNvSpPr txBox="1">
              <a:spLocks noChangeArrowheads="1"/>
            </p:cNvSpPr>
            <p:nvPr/>
          </p:nvSpPr>
          <p:spPr bwMode="auto">
            <a:xfrm>
              <a:off x="2160" y="336"/>
              <a:ext cx="14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latinLnBrk="0" hangingPunct="1">
                <a:spcBef>
                  <a:spcPct val="50000"/>
                </a:spcBef>
                <a:buClrTx/>
                <a:buSzTx/>
                <a:buFontTx/>
                <a:buNone/>
              </a:pPr>
              <a:r>
                <a:rPr kumimoji="0" lang="en-US" altLang="ko-KR" sz="2400">
                  <a:latin typeface="Arial" panose="020B0604020202020204" pitchFamily="34" charset="0"/>
                </a:rPr>
                <a:t>Original image</a:t>
              </a:r>
            </a:p>
          </p:txBody>
        </p:sp>
        <p:pic>
          <p:nvPicPr>
            <p:cNvPr id="62470" name="Picture 5" descr="ly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 y="720"/>
              <a:ext cx="1728" cy="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1" name="Picture 6" descr="lykahisteq"/>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 y="1584"/>
              <a:ext cx="1584" cy="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2" name="Picture 7" descr="lykaRGBhisteq"/>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6" y="1584"/>
              <a:ext cx="1584" cy="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3" name="Text Box 8"/>
            <p:cNvSpPr txBox="1">
              <a:spLocks noChangeArrowheads="1"/>
            </p:cNvSpPr>
            <p:nvPr/>
          </p:nvSpPr>
          <p:spPr bwMode="auto">
            <a:xfrm>
              <a:off x="288" y="816"/>
              <a:ext cx="1104"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latinLnBrk="0" hangingPunct="1">
                <a:spcBef>
                  <a:spcPct val="50000"/>
                </a:spcBef>
                <a:buClrTx/>
                <a:buSzTx/>
                <a:buFontTx/>
                <a:buNone/>
              </a:pPr>
              <a:r>
                <a:rPr kumimoji="0" lang="en-US" altLang="ko-KR" sz="2400">
                  <a:latin typeface="Arial" panose="020B0604020202020204" pitchFamily="34" charset="0"/>
                </a:rPr>
                <a:t>Histogram equalized intensity</a:t>
              </a:r>
            </a:p>
          </p:txBody>
        </p:sp>
        <p:sp>
          <p:nvSpPr>
            <p:cNvPr id="62474" name="Text Box 9"/>
            <p:cNvSpPr txBox="1">
              <a:spLocks noChangeArrowheads="1"/>
            </p:cNvSpPr>
            <p:nvPr/>
          </p:nvSpPr>
          <p:spPr bwMode="auto">
            <a:xfrm>
              <a:off x="3840" y="768"/>
              <a:ext cx="1920"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latinLnBrk="0" hangingPunct="1">
                <a:spcBef>
                  <a:spcPct val="50000"/>
                </a:spcBef>
                <a:buClrTx/>
                <a:buSzTx/>
                <a:buFontTx/>
                <a:buNone/>
              </a:pPr>
              <a:r>
                <a:rPr kumimoji="0" lang="en-US" altLang="ko-KR" sz="2400">
                  <a:latin typeface="Arial" panose="020B0604020202020204" pitchFamily="34" charset="0"/>
                </a:rPr>
                <a:t>Each R, G, B image is histogram equalized</a:t>
              </a:r>
            </a:p>
          </p:txBody>
        </p:sp>
      </p:grpSp>
    </p:spTree>
    <p:extLst>
      <p:ext uri="{BB962C8B-B14F-4D97-AF65-F5344CB8AC3E}">
        <p14:creationId xmlns:p14="http://schemas.microsoft.com/office/powerpoint/2010/main" val="998072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defRPr/>
            </a:pPr>
            <a:r>
              <a:rPr lang="en-US" altLang="ko-KR"/>
              <a:t>Histogram Specification</a:t>
            </a:r>
          </a:p>
        </p:txBody>
      </p:sp>
      <p:sp>
        <p:nvSpPr>
          <p:cNvPr id="63492" name="Rectangle 3"/>
          <p:cNvSpPr>
            <a:spLocks noGrp="1" noChangeArrowheads="1"/>
          </p:cNvSpPr>
          <p:nvPr>
            <p:ph idx="1"/>
          </p:nvPr>
        </p:nvSpPr>
        <p:spPr>
          <a:xfrm>
            <a:off x="779929" y="1428938"/>
            <a:ext cx="9906000" cy="5527675"/>
          </a:xfrm>
        </p:spPr>
        <p:txBody>
          <a:bodyPr/>
          <a:lstStyle/>
          <a:p>
            <a:pPr eaLnBrk="1" hangingPunct="1"/>
            <a:r>
              <a:rPr lang="en-US" altLang="ko-KR" sz="2000" dirty="0">
                <a:latin typeface="Times New Roman" panose="02020603050405020304" pitchFamily="18" charset="0"/>
              </a:rPr>
              <a:t>Histogram specification</a:t>
            </a:r>
          </a:p>
          <a:p>
            <a:pPr lvl="1" eaLnBrk="1" hangingPunct="1"/>
            <a:r>
              <a:rPr lang="en-US" altLang="ko-KR" sz="2000" dirty="0">
                <a:latin typeface="Times New Roman" panose="02020603050405020304" pitchFamily="18" charset="0"/>
              </a:rPr>
              <a:t>Specify particular histogram shapes capable of highlighting certain gray-level ranges in an image</a:t>
            </a:r>
          </a:p>
          <a:p>
            <a:pPr lvl="1" eaLnBrk="1" hangingPunct="1"/>
            <a:r>
              <a:rPr lang="en-US" altLang="ko-KR" sz="2000" dirty="0">
                <a:latin typeface="Times New Roman" panose="02020603050405020304" pitchFamily="18" charset="0"/>
              </a:rPr>
              <a:t>Lighten or darken an image or you need more contrast in an image</a:t>
            </a:r>
          </a:p>
          <a:p>
            <a:pPr lvl="1" eaLnBrk="1" hangingPunct="1"/>
            <a:r>
              <a:rPr lang="en-US" altLang="ko-KR" sz="2000" dirty="0">
                <a:latin typeface="Times New Roman" panose="02020603050405020304" pitchFamily="18" charset="0"/>
              </a:rPr>
              <a:t>Requires both a desired histogram and the image as input.</a:t>
            </a:r>
          </a:p>
          <a:p>
            <a:pPr marL="457200" lvl="1" indent="0" eaLnBrk="1" hangingPunct="1">
              <a:buNone/>
            </a:pPr>
            <a:endParaRPr lang="en-US" altLang="ko-KR" sz="3200" dirty="0">
              <a:latin typeface="Times New Roman" panose="02020603050405020304" pitchFamily="18" charset="0"/>
            </a:endParaRPr>
          </a:p>
          <a:p>
            <a:pPr eaLnBrk="1" hangingPunct="1"/>
            <a:r>
              <a:rPr lang="en-US" altLang="ko-KR" sz="2000" dirty="0">
                <a:latin typeface="Times New Roman" panose="02020603050405020304" pitchFamily="18" charset="0"/>
              </a:rPr>
              <a:t>The principle difficulty in </a:t>
            </a:r>
            <a:r>
              <a:rPr lang="en-US" altLang="ko-KR" sz="2000">
                <a:latin typeface="Times New Roman" panose="02020603050405020304" pitchFamily="18" charset="0"/>
              </a:rPr>
              <a:t>applying Histogram Specification </a:t>
            </a:r>
            <a:r>
              <a:rPr lang="en-US" altLang="ko-KR" sz="2000" dirty="0">
                <a:latin typeface="Times New Roman" panose="02020603050405020304" pitchFamily="18" charset="0"/>
              </a:rPr>
              <a:t>lies in being able to construct a meaningful histogram</a:t>
            </a:r>
          </a:p>
          <a:p>
            <a:pPr lvl="1" eaLnBrk="1" hangingPunct="1"/>
            <a:r>
              <a:rPr lang="en-US" altLang="ko-KR" sz="2000" dirty="0">
                <a:latin typeface="Times New Roman" panose="02020603050405020304" pitchFamily="18" charset="0"/>
              </a:rPr>
              <a:t>1. Specify a particular probability density function.</a:t>
            </a:r>
          </a:p>
          <a:p>
            <a:pPr lvl="1" eaLnBrk="1" hangingPunct="1"/>
            <a:r>
              <a:rPr lang="en-US" altLang="ko-KR" sz="2000" dirty="0">
                <a:latin typeface="Times New Roman" panose="02020603050405020304" pitchFamily="18" charset="0"/>
              </a:rPr>
              <a:t>2. Specify a particular histogram shape by means of graphic device.</a:t>
            </a:r>
          </a:p>
        </p:txBody>
      </p:sp>
      <p:sp>
        <p:nvSpPr>
          <p:cNvPr id="63490"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4030C831-C727-43C5-A545-6CE26981938A}" type="slidenum">
              <a:rPr kumimoji="0" lang="en-US" altLang="ko-KR" sz="1400">
                <a:solidFill>
                  <a:schemeClr val="accent1"/>
                </a:solidFill>
              </a:rPr>
              <a:pPr>
                <a:spcBef>
                  <a:spcPct val="50000"/>
                </a:spcBef>
                <a:buClrTx/>
                <a:buSzTx/>
                <a:buFontTx/>
                <a:buNone/>
              </a:pPr>
              <a:t>40</a:t>
            </a:fld>
            <a:endParaRPr kumimoji="0" lang="en-US" altLang="ko-KR" sz="1400">
              <a:solidFill>
                <a:schemeClr val="accent1"/>
              </a:solidFill>
            </a:endParaRPr>
          </a:p>
        </p:txBody>
      </p:sp>
    </p:spTree>
    <p:extLst>
      <p:ext uri="{BB962C8B-B14F-4D97-AF65-F5344CB8AC3E}">
        <p14:creationId xmlns:p14="http://schemas.microsoft.com/office/powerpoint/2010/main" val="4037643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72844-9E06-B44B-E584-5C5080FA7DB4}"/>
              </a:ext>
            </a:extLst>
          </p:cNvPr>
          <p:cNvSpPr>
            <a:spLocks noGrp="1"/>
          </p:cNvSpPr>
          <p:nvPr>
            <p:ph type="title"/>
          </p:nvPr>
        </p:nvSpPr>
        <p:spPr/>
        <p:txBody>
          <a:bodyPr/>
          <a:lstStyle/>
          <a:p>
            <a:r>
              <a:rPr lang="en-US" altLang="ko-KR" dirty="0"/>
              <a:t>Histogram Specification </a:t>
            </a:r>
            <a:endParaRPr lang="en-US" dirty="0"/>
          </a:p>
        </p:txBody>
      </p:sp>
      <p:sp>
        <p:nvSpPr>
          <p:cNvPr id="3" name="Content Placeholder 2">
            <a:extLst>
              <a:ext uri="{FF2B5EF4-FFF2-40B4-BE49-F238E27FC236}">
                <a16:creationId xmlns:a16="http://schemas.microsoft.com/office/drawing/2014/main" id="{06F96A14-7EAC-F4EA-D0EF-055A2769DCD7}"/>
              </a:ext>
            </a:extLst>
          </p:cNvPr>
          <p:cNvSpPr>
            <a:spLocks noGrp="1"/>
          </p:cNvSpPr>
          <p:nvPr>
            <p:ph idx="1"/>
          </p:nvPr>
        </p:nvSpPr>
        <p:spPr/>
        <p:txBody>
          <a:bodyPr/>
          <a:lstStyle/>
          <a:p>
            <a:r>
              <a:rPr lang="en-US" dirty="0"/>
              <a:t>1.Compute the histogram of both the input image and the target image.</a:t>
            </a:r>
          </a:p>
          <a:p>
            <a:r>
              <a:rPr lang="en-US" dirty="0"/>
              <a:t>2.Calculate the cumulative distribution function (CDF) of both the input and target histograms.</a:t>
            </a:r>
          </a:p>
          <a:p>
            <a:r>
              <a:rPr lang="en-US" dirty="0"/>
              <a:t>3.Find the mapping function that relates the input image’s CDF to the target image’s CDF.</a:t>
            </a:r>
          </a:p>
          <a:p>
            <a:r>
              <a:rPr lang="en-US" dirty="0"/>
              <a:t>4.Apply the mapping to the input image to adjust its pixel intensities, resulting in the transformed image.</a:t>
            </a:r>
          </a:p>
        </p:txBody>
      </p:sp>
    </p:spTree>
    <p:extLst>
      <p:ext uri="{BB962C8B-B14F-4D97-AF65-F5344CB8AC3E}">
        <p14:creationId xmlns:p14="http://schemas.microsoft.com/office/powerpoint/2010/main" val="2354233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normAutofit fontScale="90000"/>
          </a:bodyPr>
          <a:lstStyle/>
          <a:p>
            <a:pPr eaLnBrk="1" hangingPunct="1">
              <a:defRPr/>
            </a:pPr>
            <a:r>
              <a:rPr lang="en-US" altLang="ko-KR"/>
              <a:t>Histogram Specification</a:t>
            </a:r>
          </a:p>
        </p:txBody>
      </p:sp>
      <p:sp>
        <p:nvSpPr>
          <p:cNvPr id="64516" name="Rectangle 3"/>
          <p:cNvSpPr>
            <a:spLocks noGrp="1" noChangeArrowheads="1"/>
          </p:cNvSpPr>
          <p:nvPr>
            <p:ph type="body" sz="half" idx="1"/>
          </p:nvPr>
        </p:nvSpPr>
        <p:spPr>
          <a:xfrm>
            <a:off x="672354" y="878541"/>
            <a:ext cx="8812213" cy="5791200"/>
          </a:xfrm>
        </p:spPr>
        <p:txBody>
          <a:bodyPr/>
          <a:lstStyle/>
          <a:p>
            <a:pPr marL="533400" indent="-533400"/>
            <a:r>
              <a:rPr lang="en-US" altLang="ko-KR" sz="2800">
                <a:latin typeface="Times New Roman" panose="02020603050405020304" pitchFamily="18" charset="0"/>
              </a:rPr>
              <a:t>Let </a:t>
            </a:r>
            <a:r>
              <a:rPr lang="en-US" altLang="ko-KR" sz="2800" i="1">
                <a:latin typeface="Times New Roman" panose="02020603050405020304" pitchFamily="18" charset="0"/>
              </a:rPr>
              <a:t>p</a:t>
            </a:r>
            <a:r>
              <a:rPr lang="en-US" altLang="ko-KR" sz="2800" i="1" baseline="-25000">
                <a:latin typeface="Times New Roman" panose="02020603050405020304" pitchFamily="18" charset="0"/>
              </a:rPr>
              <a:t>r</a:t>
            </a:r>
            <a:r>
              <a:rPr lang="en-US" altLang="ko-KR" sz="2800">
                <a:latin typeface="Times New Roman" panose="02020603050405020304" pitchFamily="18" charset="0"/>
              </a:rPr>
              <a:t>(</a:t>
            </a:r>
            <a:r>
              <a:rPr lang="en-US" altLang="ko-KR" sz="2800" i="1">
                <a:latin typeface="Times New Roman" panose="02020603050405020304" pitchFamily="18" charset="0"/>
              </a:rPr>
              <a:t>r</a:t>
            </a:r>
            <a:r>
              <a:rPr lang="en-US" altLang="ko-KR" sz="2800">
                <a:latin typeface="Times New Roman" panose="02020603050405020304" pitchFamily="18" charset="0"/>
              </a:rPr>
              <a:t>) and </a:t>
            </a:r>
            <a:r>
              <a:rPr lang="en-US" altLang="ko-KR" sz="2800" i="1">
                <a:latin typeface="Times New Roman" panose="02020603050405020304" pitchFamily="18" charset="0"/>
              </a:rPr>
              <a:t>p</a:t>
            </a:r>
            <a:r>
              <a:rPr lang="en-US" altLang="ko-KR" sz="2800" i="1" baseline="-25000">
                <a:latin typeface="Times New Roman" panose="02020603050405020304" pitchFamily="18" charset="0"/>
              </a:rPr>
              <a:t>r</a:t>
            </a:r>
            <a:r>
              <a:rPr lang="en-US" altLang="ko-KR" sz="2800">
                <a:latin typeface="Times New Roman" panose="02020603050405020304" pitchFamily="18" charset="0"/>
              </a:rPr>
              <a:t>(</a:t>
            </a:r>
            <a:r>
              <a:rPr lang="en-US" altLang="ko-KR" sz="2800" i="1">
                <a:latin typeface="Times New Roman" panose="02020603050405020304" pitchFamily="18" charset="0"/>
              </a:rPr>
              <a:t>z</a:t>
            </a:r>
            <a:r>
              <a:rPr lang="en-US" altLang="ko-KR" sz="2800">
                <a:latin typeface="Times New Roman" panose="02020603050405020304" pitchFamily="18" charset="0"/>
              </a:rPr>
              <a:t>) be the original and desired probability density functions. Z is the levels of the desired image highlightened certain gray-level ranges</a:t>
            </a:r>
          </a:p>
          <a:p>
            <a:pPr marL="533400" indent="-533400">
              <a:buNone/>
            </a:pPr>
            <a:r>
              <a:rPr lang="en-US" altLang="ko-KR" sz="2800">
                <a:latin typeface="Times New Roman" panose="02020603050405020304" pitchFamily="18" charset="0"/>
              </a:rPr>
              <a:t>(1) Equalize the levels of the original image</a:t>
            </a:r>
          </a:p>
          <a:p>
            <a:pPr marL="533400" indent="-533400">
              <a:buNone/>
            </a:pPr>
            <a:r>
              <a:rPr lang="en-US" altLang="ko-KR" sz="2800">
                <a:latin typeface="Times New Roman" panose="02020603050405020304" pitchFamily="18" charset="0"/>
              </a:rPr>
              <a:t>	Histogram equalization applying</a:t>
            </a:r>
          </a:p>
          <a:p>
            <a:pPr marL="533400" indent="-533400"/>
            <a:endParaRPr lang="en-US" altLang="ko-KR" sz="2800">
              <a:latin typeface="Times New Roman" panose="02020603050405020304" pitchFamily="18" charset="0"/>
            </a:endParaRPr>
          </a:p>
          <a:p>
            <a:pPr marL="533400" indent="-533400">
              <a:buNone/>
            </a:pPr>
            <a:r>
              <a:rPr lang="en-US" altLang="ko-KR" sz="2800">
                <a:latin typeface="Times New Roman" panose="02020603050405020304" pitchFamily="18" charset="0"/>
              </a:rPr>
              <a:t>(2) Specify the desired density function and obtain the transformation function G(z)</a:t>
            </a:r>
          </a:p>
          <a:p>
            <a:pPr marL="914400" lvl="1" indent="-457200"/>
            <a:r>
              <a:rPr lang="en-US" altLang="ko-KR" sz="2400">
                <a:latin typeface="Times New Roman" panose="02020603050405020304" pitchFamily="18" charset="0"/>
              </a:rPr>
              <a:t>Desired image could be equalized by</a:t>
            </a:r>
          </a:p>
          <a:p>
            <a:pPr marL="533400" indent="-533400">
              <a:buNone/>
            </a:pPr>
            <a:r>
              <a:rPr lang="en-US" altLang="ko-KR" sz="2800">
                <a:latin typeface="Times New Roman" panose="02020603050405020304" pitchFamily="18" charset="0"/>
              </a:rPr>
              <a:t>(3) Apply the inverse transform function.</a:t>
            </a:r>
          </a:p>
          <a:p>
            <a:pPr marL="914400" lvl="1" indent="-457200"/>
            <a:r>
              <a:rPr lang="en-US" altLang="ko-KR" sz="2400">
                <a:latin typeface="Times New Roman" panose="02020603050405020304" pitchFamily="18" charset="0"/>
              </a:rPr>
              <a:t>The inverse process</a:t>
            </a:r>
            <a:r>
              <a:rPr lang="en-US" altLang="ko-KR" sz="2400"/>
              <a:t> </a:t>
            </a:r>
          </a:p>
        </p:txBody>
      </p:sp>
      <p:graphicFrame>
        <p:nvGraphicFramePr>
          <p:cNvPr id="64517" name="Object 2"/>
          <p:cNvGraphicFramePr>
            <a:graphicFrameLocks noGrp="1" noChangeAspect="1"/>
          </p:cNvGraphicFramePr>
          <p:nvPr>
            <p:ph sz="quarter" idx="2"/>
          </p:nvPr>
        </p:nvGraphicFramePr>
        <p:xfrm>
          <a:off x="7088188" y="2743200"/>
          <a:ext cx="2800350" cy="661988"/>
        </p:xfrm>
        <a:graphic>
          <a:graphicData uri="http://schemas.openxmlformats.org/presentationml/2006/ole">
            <mc:AlternateContent xmlns:mc="http://schemas.openxmlformats.org/markup-compatibility/2006">
              <mc:Choice xmlns:v="urn:schemas-microsoft-com:vml" Requires="v">
                <p:oleObj name="Equation" r:id="rId2" imgW="1397000" imgH="330200" progId="Equation.3">
                  <p:embed/>
                </p:oleObj>
              </mc:Choice>
              <mc:Fallback>
                <p:oleObj name="Equation" r:id="rId2" imgW="1397000" imgH="33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8188" y="2743200"/>
                        <a:ext cx="280035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8" name="Object 4"/>
          <p:cNvGraphicFramePr>
            <a:graphicFrameLocks noGrp="1" noChangeAspect="1"/>
          </p:cNvGraphicFramePr>
          <p:nvPr>
            <p:ph sz="quarter" idx="3"/>
          </p:nvPr>
        </p:nvGraphicFramePr>
        <p:xfrm>
          <a:off x="7415213" y="4267200"/>
          <a:ext cx="2489200" cy="577850"/>
        </p:xfrm>
        <a:graphic>
          <a:graphicData uri="http://schemas.openxmlformats.org/presentationml/2006/ole">
            <mc:AlternateContent xmlns:mc="http://schemas.openxmlformats.org/markup-compatibility/2006">
              <mc:Choice xmlns:v="urn:schemas-microsoft-com:vml" Requires="v">
                <p:oleObj name="Equation" r:id="rId4" imgW="1422400" imgH="330200" progId="Equation.3">
                  <p:embed/>
                </p:oleObj>
              </mc:Choice>
              <mc:Fallback>
                <p:oleObj name="Equation" r:id="rId4" imgW="1422400" imgH="330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15213" y="4267200"/>
                        <a:ext cx="24892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4514" name="슬라이드 번호 개체 틀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D992310A-8EB7-4BD5-802B-E5B90C8084B6}" type="slidenum">
              <a:rPr kumimoji="0" lang="en-US" altLang="ko-KR" sz="1400">
                <a:solidFill>
                  <a:schemeClr val="accent1"/>
                </a:solidFill>
              </a:rPr>
              <a:pPr>
                <a:spcBef>
                  <a:spcPct val="50000"/>
                </a:spcBef>
                <a:buClrTx/>
                <a:buSzTx/>
                <a:buFontTx/>
                <a:buNone/>
              </a:pPr>
              <a:t>42</a:t>
            </a:fld>
            <a:endParaRPr kumimoji="0" lang="en-US" altLang="ko-KR" sz="1400">
              <a:solidFill>
                <a:schemeClr val="accent1"/>
              </a:solidFill>
            </a:endParaRPr>
          </a:p>
        </p:txBody>
      </p:sp>
      <p:graphicFrame>
        <p:nvGraphicFramePr>
          <p:cNvPr id="64519" name="Object 6"/>
          <p:cNvGraphicFramePr>
            <a:graphicFrameLocks noChangeAspect="1"/>
          </p:cNvGraphicFramePr>
          <p:nvPr/>
        </p:nvGraphicFramePr>
        <p:xfrm>
          <a:off x="5334001" y="5791200"/>
          <a:ext cx="1928813" cy="452438"/>
        </p:xfrm>
        <a:graphic>
          <a:graphicData uri="http://schemas.openxmlformats.org/presentationml/2006/ole">
            <mc:AlternateContent xmlns:mc="http://schemas.openxmlformats.org/markup-compatibility/2006">
              <mc:Choice xmlns:v="urn:schemas-microsoft-com:vml" Requires="v">
                <p:oleObj name="Equation" r:id="rId6" imgW="850900" imgH="228600" progId="Equation.3">
                  <p:embed/>
                </p:oleObj>
              </mc:Choice>
              <mc:Fallback>
                <p:oleObj name="Equation" r:id="rId6" imgW="8509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1" y="5791200"/>
                        <a:ext cx="1928813"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0" name="Object 7"/>
          <p:cNvGraphicFramePr>
            <a:graphicFrameLocks noChangeAspect="1"/>
          </p:cNvGraphicFramePr>
          <p:nvPr/>
        </p:nvGraphicFramePr>
        <p:xfrm>
          <a:off x="7391400" y="5791201"/>
          <a:ext cx="1930400" cy="454025"/>
        </p:xfrm>
        <a:graphic>
          <a:graphicData uri="http://schemas.openxmlformats.org/presentationml/2006/ole">
            <mc:AlternateContent xmlns:mc="http://schemas.openxmlformats.org/markup-compatibility/2006">
              <mc:Choice xmlns:v="urn:schemas-microsoft-com:vml" Requires="v">
                <p:oleObj name="Equation" r:id="rId8" imgW="850900" imgH="228600" progId="Equation.3">
                  <p:embed/>
                </p:oleObj>
              </mc:Choice>
              <mc:Fallback>
                <p:oleObj name="Equation" r:id="rId8" imgW="85090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91400" y="5791201"/>
                        <a:ext cx="19304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096753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defRPr/>
            </a:pPr>
            <a:r>
              <a:rPr lang="en-US" altLang="ko-KR" dirty="0"/>
              <a:t>Histogram Specification </a:t>
            </a:r>
          </a:p>
        </p:txBody>
      </p:sp>
      <p:sp>
        <p:nvSpPr>
          <p:cNvPr id="65540" name="Rectangle 3"/>
          <p:cNvSpPr>
            <a:spLocks noGrp="1" noChangeArrowheads="1"/>
          </p:cNvSpPr>
          <p:nvPr>
            <p:ph sz="half" idx="1"/>
          </p:nvPr>
        </p:nvSpPr>
        <p:spPr>
          <a:xfrm>
            <a:off x="1016887" y="1359783"/>
            <a:ext cx="8812213" cy="5791200"/>
          </a:xfrm>
        </p:spPr>
        <p:txBody>
          <a:bodyPr/>
          <a:lstStyle/>
          <a:p>
            <a:pPr marL="533400" indent="-533400">
              <a:buFont typeface="Wingdings" panose="05000000000000000000" pitchFamily="2" charset="2"/>
              <a:buAutoNum type="arabicPeriod"/>
            </a:pPr>
            <a:r>
              <a:rPr lang="en-US" altLang="ko-KR" b="1" dirty="0"/>
              <a:t>Histogram equalize the original image</a:t>
            </a:r>
          </a:p>
          <a:p>
            <a:pPr marL="533400" indent="-533400">
              <a:buFont typeface="Wingdings" panose="05000000000000000000" pitchFamily="2" charset="2"/>
              <a:buAutoNum type="arabicPeriod"/>
            </a:pPr>
            <a:r>
              <a:rPr lang="en-US" altLang="ko-KR" b="1" dirty="0"/>
              <a:t>Perform an inverse histogram equalization on the equalized image</a:t>
            </a:r>
          </a:p>
        </p:txBody>
      </p:sp>
      <p:pic>
        <p:nvPicPr>
          <p:cNvPr id="65541" name="Picture 5" descr="fig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880043" y="2680583"/>
            <a:ext cx="6191250" cy="2662238"/>
          </a:xfrm>
          <a:noFill/>
        </p:spPr>
      </p:pic>
      <p:sp>
        <p:nvSpPr>
          <p:cNvPr id="65538" name="슬라이드 번호 개체 틀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8B7A0513-6173-4174-B825-4C5B6D534325}" type="slidenum">
              <a:rPr kumimoji="0" lang="en-US" altLang="ko-KR" sz="1400">
                <a:solidFill>
                  <a:schemeClr val="accent1"/>
                </a:solidFill>
              </a:rPr>
              <a:pPr>
                <a:spcBef>
                  <a:spcPct val="50000"/>
                </a:spcBef>
                <a:buClrTx/>
                <a:buSzTx/>
                <a:buFontTx/>
                <a:buNone/>
              </a:pPr>
              <a:t>43</a:t>
            </a:fld>
            <a:endParaRPr kumimoji="0" lang="en-US" altLang="ko-KR" sz="1400">
              <a:solidFill>
                <a:schemeClr val="accent1"/>
              </a:solidFill>
            </a:endParaRPr>
          </a:p>
        </p:txBody>
      </p:sp>
      <p:sp>
        <p:nvSpPr>
          <p:cNvPr id="65542" name="Text Box 7"/>
          <p:cNvSpPr txBox="1">
            <a:spLocks noChangeArrowheads="1"/>
          </p:cNvSpPr>
          <p:nvPr/>
        </p:nvSpPr>
        <p:spPr bwMode="auto">
          <a:xfrm>
            <a:off x="2852177" y="5489670"/>
            <a:ext cx="42478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600" b="1" dirty="0">
                <a:latin typeface="Times New Roman" panose="02020603050405020304" pitchFamily="18" charset="0"/>
              </a:rPr>
              <a:t>Fig. </a:t>
            </a:r>
            <a:r>
              <a:rPr lang="en-US" altLang="ko-KR" sz="1600" dirty="0">
                <a:latin typeface="Times New Roman" panose="02020603050405020304" pitchFamily="18" charset="0"/>
              </a:rPr>
              <a:t>Block diagram of histogram specification</a:t>
            </a:r>
            <a:r>
              <a:rPr lang="en-US" altLang="ko-KR" sz="1200" dirty="0">
                <a:latin typeface="Times New Roman" panose="02020603050405020304" pitchFamily="18" charset="0"/>
              </a:rPr>
              <a:t>.</a:t>
            </a:r>
          </a:p>
        </p:txBody>
      </p:sp>
    </p:spTree>
    <p:extLst>
      <p:ext uri="{BB962C8B-B14F-4D97-AF65-F5344CB8AC3E}">
        <p14:creationId xmlns:p14="http://schemas.microsoft.com/office/powerpoint/2010/main" val="34173685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1" name="Rectangle 5"/>
          <p:cNvSpPr>
            <a:spLocks noGrp="1" noChangeArrowheads="1"/>
          </p:cNvSpPr>
          <p:nvPr>
            <p:ph type="title"/>
          </p:nvPr>
        </p:nvSpPr>
        <p:spPr/>
        <p:txBody>
          <a:bodyPr>
            <a:normAutofit fontScale="90000"/>
          </a:bodyPr>
          <a:lstStyle/>
          <a:p>
            <a:pPr eaLnBrk="1" hangingPunct="1">
              <a:defRPr/>
            </a:pPr>
            <a:r>
              <a:rPr lang="en-US" altLang="ko-KR"/>
              <a:t>Histogram Specification</a:t>
            </a:r>
          </a:p>
        </p:txBody>
      </p:sp>
      <p:sp>
        <p:nvSpPr>
          <p:cNvPr id="66564" name="Rectangle 3"/>
          <p:cNvSpPr>
            <a:spLocks noGrp="1" noChangeArrowheads="1"/>
          </p:cNvSpPr>
          <p:nvPr>
            <p:ph type="body" sz="half" idx="1"/>
          </p:nvPr>
        </p:nvSpPr>
        <p:spPr>
          <a:xfrm>
            <a:off x="1676400" y="914400"/>
            <a:ext cx="5029200" cy="1066800"/>
          </a:xfrm>
        </p:spPr>
        <p:txBody>
          <a:bodyPr/>
          <a:lstStyle/>
          <a:p>
            <a:pPr eaLnBrk="1" hangingPunct="1"/>
            <a:r>
              <a:rPr lang="en-US" altLang="ko-KR" sz="2800"/>
              <a:t>Histogram specification</a:t>
            </a:r>
          </a:p>
        </p:txBody>
      </p:sp>
      <p:pic>
        <p:nvPicPr>
          <p:cNvPr id="66565"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739153" y="2454951"/>
            <a:ext cx="6286735" cy="2316687"/>
          </a:xfrm>
          <a:noFill/>
        </p:spPr>
      </p:pic>
      <p:sp>
        <p:nvSpPr>
          <p:cNvPr id="66562" name="슬라이드 번호 개체 틀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7F64C26D-A1C3-4211-867F-0BE10123E512}" type="slidenum">
              <a:rPr kumimoji="0" lang="en-US" altLang="ko-KR" sz="1400">
                <a:solidFill>
                  <a:schemeClr val="accent1"/>
                </a:solidFill>
              </a:rPr>
              <a:pPr>
                <a:spcBef>
                  <a:spcPct val="50000"/>
                </a:spcBef>
                <a:buClrTx/>
                <a:buSzTx/>
                <a:buFontTx/>
                <a:buNone/>
              </a:pPr>
              <a:t>44</a:t>
            </a:fld>
            <a:endParaRPr kumimoji="0" lang="en-US" altLang="ko-KR" sz="1400">
              <a:solidFill>
                <a:schemeClr val="accent1"/>
              </a:solidFill>
            </a:endParaRPr>
          </a:p>
        </p:txBody>
      </p:sp>
      <p:sp>
        <p:nvSpPr>
          <p:cNvPr id="66566" name="Text Box 7"/>
          <p:cNvSpPr txBox="1">
            <a:spLocks noChangeArrowheads="1"/>
          </p:cNvSpPr>
          <p:nvPr/>
        </p:nvSpPr>
        <p:spPr bwMode="auto">
          <a:xfrm>
            <a:off x="1392588" y="5076112"/>
            <a:ext cx="69798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600" b="1">
                <a:latin typeface="Times New Roman" panose="02020603050405020304" pitchFamily="18" charset="0"/>
              </a:rPr>
              <a:t>Fig. </a:t>
            </a:r>
            <a:r>
              <a:rPr lang="en-US" altLang="ko-KR" sz="1600">
                <a:latin typeface="Times New Roman" panose="02020603050405020304" pitchFamily="18" charset="0"/>
              </a:rPr>
              <a:t>Desired histogram, sum of histogram with mappings, and inverse LUT</a:t>
            </a:r>
            <a:r>
              <a:rPr lang="en-US" altLang="ko-KR" sz="1200">
                <a:latin typeface="Times New Roman" panose="02020603050405020304" pitchFamily="18" charset="0"/>
              </a:rPr>
              <a:t>.</a:t>
            </a:r>
          </a:p>
        </p:txBody>
      </p:sp>
    </p:spTree>
    <p:extLst>
      <p:ext uri="{BB962C8B-B14F-4D97-AF65-F5344CB8AC3E}">
        <p14:creationId xmlns:p14="http://schemas.microsoft.com/office/powerpoint/2010/main" val="4117192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23585783-601F-44A9-AD94-87334CAD02C4}" type="slidenum">
              <a:rPr kumimoji="0" lang="en-US" altLang="ko-KR" sz="1400">
                <a:solidFill>
                  <a:schemeClr val="accent1"/>
                </a:solidFill>
              </a:rPr>
              <a:pPr>
                <a:spcBef>
                  <a:spcPct val="50000"/>
                </a:spcBef>
                <a:buClrTx/>
                <a:buSzTx/>
                <a:buFontTx/>
                <a:buNone/>
              </a:pPr>
              <a:t>45</a:t>
            </a:fld>
            <a:endParaRPr kumimoji="0" lang="en-US" altLang="ko-KR" sz="1400">
              <a:solidFill>
                <a:schemeClr val="accent1"/>
              </a:solidFill>
            </a:endParaRPr>
          </a:p>
        </p:txBody>
      </p:sp>
      <p:grpSp>
        <p:nvGrpSpPr>
          <p:cNvPr id="67587" name="Group 10"/>
          <p:cNvGrpSpPr>
            <a:grpSpLocks/>
          </p:cNvGrpSpPr>
          <p:nvPr/>
        </p:nvGrpSpPr>
        <p:grpSpPr bwMode="auto">
          <a:xfrm>
            <a:off x="1859829" y="5407690"/>
            <a:ext cx="7227888" cy="733425"/>
            <a:chOff x="912" y="3695"/>
            <a:chExt cx="4553" cy="462"/>
          </a:xfrm>
        </p:grpSpPr>
        <p:sp>
          <p:nvSpPr>
            <p:cNvPr id="67589" name="Text Box 5"/>
            <p:cNvSpPr txBox="1">
              <a:spLocks noChangeArrowheads="1"/>
            </p:cNvSpPr>
            <p:nvPr/>
          </p:nvSpPr>
          <p:spPr bwMode="auto">
            <a:xfrm>
              <a:off x="912" y="3695"/>
              <a:ext cx="1310"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100" b="1" dirty="0">
                  <a:solidFill>
                    <a:srgbClr val="666699"/>
                  </a:solidFill>
                </a:rPr>
                <a:t>Original Image </a:t>
              </a:r>
            </a:p>
            <a:p>
              <a:pPr eaLnBrk="1" hangingPunct="1">
                <a:spcBef>
                  <a:spcPct val="0"/>
                </a:spcBef>
                <a:buClrTx/>
                <a:buSzTx/>
                <a:buFontTx/>
                <a:buNone/>
              </a:pPr>
              <a:r>
                <a:rPr lang="en-US" altLang="ko-KR" sz="2100" b="1" dirty="0">
                  <a:solidFill>
                    <a:srgbClr val="666699"/>
                  </a:solidFill>
                </a:rPr>
                <a:t>&amp; Histogram</a:t>
              </a:r>
            </a:p>
          </p:txBody>
        </p:sp>
        <p:sp>
          <p:nvSpPr>
            <p:cNvPr id="67590" name="Text Box 6"/>
            <p:cNvSpPr txBox="1">
              <a:spLocks noChangeArrowheads="1"/>
            </p:cNvSpPr>
            <p:nvPr/>
          </p:nvSpPr>
          <p:spPr bwMode="auto">
            <a:xfrm>
              <a:off x="2592" y="3733"/>
              <a:ext cx="156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100" b="1">
                  <a:solidFill>
                    <a:srgbClr val="666699"/>
                  </a:solidFill>
                </a:rPr>
                <a:t>Desired</a:t>
              </a:r>
              <a:r>
                <a:rPr lang="ko-KR" altLang="en-US" sz="2100" b="1">
                  <a:solidFill>
                    <a:srgbClr val="666699"/>
                  </a:solidFill>
                </a:rPr>
                <a:t> </a:t>
              </a:r>
              <a:r>
                <a:rPr lang="en-US" altLang="ko-KR" sz="2100" b="1">
                  <a:solidFill>
                    <a:srgbClr val="666699"/>
                  </a:solidFill>
                </a:rPr>
                <a:t>Histogram</a:t>
              </a:r>
            </a:p>
          </p:txBody>
        </p:sp>
        <p:sp>
          <p:nvSpPr>
            <p:cNvPr id="67591" name="Text Box 7"/>
            <p:cNvSpPr txBox="1">
              <a:spLocks noChangeArrowheads="1"/>
            </p:cNvSpPr>
            <p:nvPr/>
          </p:nvSpPr>
          <p:spPr bwMode="auto">
            <a:xfrm>
              <a:off x="4272" y="3695"/>
              <a:ext cx="119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100" b="1">
                  <a:solidFill>
                    <a:srgbClr val="666699"/>
                  </a:solidFill>
                </a:rPr>
                <a:t>Result Image </a:t>
              </a:r>
            </a:p>
            <a:p>
              <a:pPr eaLnBrk="1" hangingPunct="1">
                <a:spcBef>
                  <a:spcPct val="0"/>
                </a:spcBef>
                <a:buClrTx/>
                <a:buSzTx/>
                <a:buFontTx/>
                <a:buNone/>
              </a:pPr>
              <a:r>
                <a:rPr lang="en-US" altLang="ko-KR" sz="2100" b="1">
                  <a:solidFill>
                    <a:srgbClr val="666699"/>
                  </a:solidFill>
                </a:rPr>
                <a:t>&amp; Histogram</a:t>
              </a:r>
            </a:p>
          </p:txBody>
        </p:sp>
      </p:grpSp>
      <p:graphicFrame>
        <p:nvGraphicFramePr>
          <p:cNvPr id="67588" name="Object 8"/>
          <p:cNvGraphicFramePr>
            <a:graphicFrameLocks noChangeAspect="1"/>
          </p:cNvGraphicFramePr>
          <p:nvPr>
            <p:extLst>
              <p:ext uri="{D42A27DB-BD31-4B8C-83A1-F6EECF244321}">
                <p14:modId xmlns:p14="http://schemas.microsoft.com/office/powerpoint/2010/main" val="3604725994"/>
              </p:ext>
            </p:extLst>
          </p:nvPr>
        </p:nvGraphicFramePr>
        <p:xfrm>
          <a:off x="1977834" y="1599183"/>
          <a:ext cx="6764218" cy="3551996"/>
        </p:xfrm>
        <a:graphic>
          <a:graphicData uri="http://schemas.openxmlformats.org/presentationml/2006/ole">
            <mc:AlternateContent xmlns:mc="http://schemas.openxmlformats.org/markup-compatibility/2006">
              <mc:Choice xmlns:v="urn:schemas-microsoft-com:vml" Requires="v">
                <p:oleObj name="비트맵 이미지" r:id="rId2" imgW="7333333" imgH="5200000" progId="Paint.Picture">
                  <p:embed/>
                </p:oleObj>
              </mc:Choice>
              <mc:Fallback>
                <p:oleObj name="비트맵 이미지" r:id="rId2" imgW="7333333" imgH="5200000"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7834" y="1599183"/>
                        <a:ext cx="6764218" cy="3551996"/>
                      </a:xfrm>
                      <a:prstGeom prst="rect">
                        <a:avLst/>
                      </a:prstGeom>
                      <a:noFill/>
                      <a:ln>
                        <a:noFill/>
                      </a:ln>
                      <a:effectLst/>
                    </p:spPr>
                  </p:pic>
                </p:oleObj>
              </mc:Fallback>
            </mc:AlternateContent>
          </a:graphicData>
        </a:graphic>
      </p:graphicFrame>
      <p:sp>
        <p:nvSpPr>
          <p:cNvPr id="2" name="Rectangle 1"/>
          <p:cNvSpPr/>
          <p:nvPr/>
        </p:nvSpPr>
        <p:spPr>
          <a:xfrm>
            <a:off x="1795411" y="575779"/>
            <a:ext cx="4554452" cy="584775"/>
          </a:xfrm>
          <a:prstGeom prst="rect">
            <a:avLst/>
          </a:prstGeom>
        </p:spPr>
        <p:txBody>
          <a:bodyPr wrap="none">
            <a:spAutoFit/>
          </a:bodyPr>
          <a:lstStyle/>
          <a:p>
            <a:pPr defTabSz="457200">
              <a:spcBef>
                <a:spcPct val="0"/>
              </a:spcBef>
              <a:defRPr/>
            </a:pPr>
            <a:r>
              <a:rPr lang="en-US" altLang="ko-KR" sz="3200">
                <a:solidFill>
                  <a:schemeClr val="accent1"/>
                </a:solidFill>
                <a:latin typeface="+mj-lt"/>
                <a:ea typeface="+mj-ea"/>
                <a:cs typeface="+mj-cs"/>
              </a:rPr>
              <a:t>Histogram Specification</a:t>
            </a:r>
            <a:endParaRPr lang="en-US" sz="3200">
              <a:solidFill>
                <a:schemeClr val="accent1"/>
              </a:solidFill>
              <a:latin typeface="+mj-lt"/>
              <a:ea typeface="+mj-ea"/>
              <a:cs typeface="+mj-cs"/>
            </a:endParaRPr>
          </a:p>
        </p:txBody>
      </p:sp>
    </p:spTree>
    <p:extLst>
      <p:ext uri="{BB962C8B-B14F-4D97-AF65-F5344CB8AC3E}">
        <p14:creationId xmlns:p14="http://schemas.microsoft.com/office/powerpoint/2010/main" val="2946147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defRPr/>
            </a:pPr>
            <a:r>
              <a:rPr lang="en-US" altLang="ko-KR"/>
              <a:t>Arithmetic operations</a:t>
            </a:r>
          </a:p>
        </p:txBody>
      </p:sp>
      <p:sp>
        <p:nvSpPr>
          <p:cNvPr id="68612" name="Rectangle 3"/>
          <p:cNvSpPr>
            <a:spLocks noGrp="1" noChangeArrowheads="1"/>
          </p:cNvSpPr>
          <p:nvPr>
            <p:ph idx="1"/>
          </p:nvPr>
        </p:nvSpPr>
        <p:spPr>
          <a:xfrm>
            <a:off x="758016" y="2045494"/>
            <a:ext cx="8596668" cy="3880773"/>
          </a:xfrm>
        </p:spPr>
        <p:txBody>
          <a:bodyPr/>
          <a:lstStyle/>
          <a:p>
            <a:pPr eaLnBrk="1" hangingPunct="1"/>
            <a:r>
              <a:rPr lang="en-US" altLang="ko-KR">
                <a:latin typeface="Times New Roman" panose="02020603050405020304" pitchFamily="18" charset="0"/>
              </a:rPr>
              <a:t>Arithmetic operations</a:t>
            </a:r>
          </a:p>
          <a:p>
            <a:pPr lvl="1" eaLnBrk="1" hangingPunct="1"/>
            <a:r>
              <a:rPr lang="en-US" altLang="ko-KR">
                <a:latin typeface="Times New Roman" panose="02020603050405020304" pitchFamily="18" charset="0"/>
              </a:rPr>
              <a:t>Addition, Subtraction, Division, Multiplication </a:t>
            </a:r>
          </a:p>
          <a:p>
            <a:pPr lvl="1" eaLnBrk="1" hangingPunct="1"/>
            <a:r>
              <a:rPr lang="en-US" altLang="ko-KR">
                <a:latin typeface="Times New Roman" panose="02020603050405020304" pitchFamily="18" charset="0"/>
              </a:rPr>
              <a:t>Addition &amp; subtraction: adjusting the brightness of the image</a:t>
            </a:r>
          </a:p>
          <a:p>
            <a:pPr eaLnBrk="1" hangingPunct="1"/>
            <a:endParaRPr lang="en-US" altLang="ko-KR">
              <a:latin typeface="Times New Roman" panose="02020603050405020304" pitchFamily="18" charset="0"/>
            </a:endParaRPr>
          </a:p>
          <a:p>
            <a:pPr eaLnBrk="1" hangingPunct="1"/>
            <a:endParaRPr lang="en-US" altLang="ko-KR">
              <a:latin typeface="Times New Roman" panose="02020603050405020304" pitchFamily="18" charset="0"/>
            </a:endParaRPr>
          </a:p>
          <a:p>
            <a:pPr lvl="2" eaLnBrk="1" hangingPunct="1"/>
            <a:r>
              <a:rPr lang="en-US" altLang="ko-KR" sz="1600">
                <a:latin typeface="Times New Roman" panose="02020603050405020304" pitchFamily="18" charset="0"/>
              </a:rPr>
              <a:t>a : random pixel value</a:t>
            </a:r>
          </a:p>
          <a:p>
            <a:pPr lvl="1" eaLnBrk="1" hangingPunct="1"/>
            <a:r>
              <a:rPr lang="en-US" altLang="ko-KR">
                <a:latin typeface="Times New Roman" panose="02020603050405020304" pitchFamily="18" charset="0"/>
              </a:rPr>
              <a:t>Subtraction : motion detection</a:t>
            </a:r>
          </a:p>
          <a:p>
            <a:pPr lvl="1" eaLnBrk="1" hangingPunct="1"/>
            <a:r>
              <a:rPr lang="en-US" altLang="ko-KR">
                <a:latin typeface="Times New Roman" panose="02020603050405020304" pitchFamily="18" charset="0"/>
              </a:rPr>
              <a:t>Division, Multiplication : adjust the contrast of the image 	</a:t>
            </a:r>
          </a:p>
        </p:txBody>
      </p:sp>
      <p:sp>
        <p:nvSpPr>
          <p:cNvPr id="68610"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75A27F86-88CC-4247-8443-5B5F30343559}" type="slidenum">
              <a:rPr kumimoji="0" lang="en-US" altLang="ko-KR" sz="1400">
                <a:solidFill>
                  <a:schemeClr val="accent1"/>
                </a:solidFill>
              </a:rPr>
              <a:pPr>
                <a:spcBef>
                  <a:spcPct val="50000"/>
                </a:spcBef>
                <a:buClrTx/>
                <a:buSzTx/>
                <a:buFontTx/>
                <a:buNone/>
              </a:pPr>
              <a:t>46</a:t>
            </a:fld>
            <a:endParaRPr kumimoji="0" lang="en-US" altLang="ko-KR" sz="1400">
              <a:solidFill>
                <a:schemeClr val="accent1"/>
              </a:solidFill>
            </a:endParaRPr>
          </a:p>
        </p:txBody>
      </p:sp>
      <p:graphicFrame>
        <p:nvGraphicFramePr>
          <p:cNvPr id="68613" name="Object 4"/>
          <p:cNvGraphicFramePr>
            <a:graphicFrameLocks noChangeAspect="1"/>
          </p:cNvGraphicFramePr>
          <p:nvPr>
            <p:extLst>
              <p:ext uri="{D42A27DB-BD31-4B8C-83A1-F6EECF244321}">
                <p14:modId xmlns:p14="http://schemas.microsoft.com/office/powerpoint/2010/main" val="2464210997"/>
              </p:ext>
            </p:extLst>
          </p:nvPr>
        </p:nvGraphicFramePr>
        <p:xfrm>
          <a:off x="3032568" y="3363191"/>
          <a:ext cx="3886200" cy="628650"/>
        </p:xfrm>
        <a:graphic>
          <a:graphicData uri="http://schemas.openxmlformats.org/presentationml/2006/ole">
            <mc:AlternateContent xmlns:mc="http://schemas.openxmlformats.org/markup-compatibility/2006">
              <mc:Choice xmlns:v="urn:schemas-microsoft-com:vml" Requires="v">
                <p:oleObj name="Equation" r:id="rId2" imgW="1256755" imgH="203112" progId="Equation.3">
                  <p:embed/>
                </p:oleObj>
              </mc:Choice>
              <mc:Fallback>
                <p:oleObj name="Equation" r:id="rId2" imgW="1256755" imgH="203112"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2568" y="3363191"/>
                        <a:ext cx="3886200" cy="62865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360961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body" sz="half" idx="1"/>
          </p:nvPr>
        </p:nvSpPr>
        <p:spPr/>
        <p:txBody>
          <a:bodyPr/>
          <a:lstStyle/>
          <a:p>
            <a:pPr eaLnBrk="1" hangingPunct="1">
              <a:buFont typeface="Wingdings" panose="05000000000000000000" pitchFamily="2" charset="2"/>
              <a:buNone/>
            </a:pPr>
            <a:endParaRPr lang="en-US" altLang="ko-KR" sz="2800"/>
          </a:p>
          <a:p>
            <a:pPr eaLnBrk="1" hangingPunct="1"/>
            <a:endParaRPr lang="en-US" altLang="ko-KR" sz="2800"/>
          </a:p>
          <a:p>
            <a:pPr eaLnBrk="1" hangingPunct="1"/>
            <a:endParaRPr lang="en-US" altLang="ko-KR" sz="2800"/>
          </a:p>
          <a:p>
            <a:pPr eaLnBrk="1" hangingPunct="1"/>
            <a:endParaRPr lang="en-US" altLang="ko-KR" sz="2800"/>
          </a:p>
          <a:p>
            <a:pPr eaLnBrk="1" hangingPunct="1"/>
            <a:endParaRPr lang="en-US" altLang="ko-KR" sz="2800"/>
          </a:p>
          <a:p>
            <a:pPr eaLnBrk="1" hangingPunct="1">
              <a:buFont typeface="Wingdings" panose="05000000000000000000" pitchFamily="2" charset="2"/>
              <a:buNone/>
            </a:pPr>
            <a:endParaRPr lang="en-US" altLang="ko-KR" sz="2800"/>
          </a:p>
        </p:txBody>
      </p:sp>
      <p:graphicFrame>
        <p:nvGraphicFramePr>
          <p:cNvPr id="69636" name="Object 3"/>
          <p:cNvGraphicFramePr>
            <a:graphicFrameLocks noGrp="1" noChangeAspect="1"/>
          </p:cNvGraphicFramePr>
          <p:nvPr>
            <p:ph sz="quarter" idx="2"/>
            <p:extLst>
              <p:ext uri="{D42A27DB-BD31-4B8C-83A1-F6EECF244321}">
                <p14:modId xmlns:p14="http://schemas.microsoft.com/office/powerpoint/2010/main" val="2750478658"/>
              </p:ext>
            </p:extLst>
          </p:nvPr>
        </p:nvGraphicFramePr>
        <p:xfrm>
          <a:off x="1697038" y="1335088"/>
          <a:ext cx="7777162" cy="2068512"/>
        </p:xfrm>
        <a:graphic>
          <a:graphicData uri="http://schemas.openxmlformats.org/presentationml/2006/ole">
            <mc:AlternateContent xmlns:mc="http://schemas.openxmlformats.org/markup-compatibility/2006">
              <mc:Choice xmlns:v="urn:schemas-microsoft-com:vml" Requires="v">
                <p:oleObj name="비트맵 이미지" r:id="rId2" imgW="8561905" imgH="2276793" progId="Paint.Picture">
                  <p:embed/>
                </p:oleObj>
              </mc:Choice>
              <mc:Fallback>
                <p:oleObj name="비트맵 이미지" r:id="rId2" imgW="8561905" imgH="2276793"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335088"/>
                        <a:ext cx="7777162" cy="206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38" name="Object 5"/>
          <p:cNvGraphicFramePr>
            <a:graphicFrameLocks noGrp="1" noChangeAspect="1"/>
          </p:cNvGraphicFramePr>
          <p:nvPr>
            <p:ph sz="quarter" idx="3"/>
          </p:nvPr>
        </p:nvGraphicFramePr>
        <p:xfrm>
          <a:off x="3790950" y="3905250"/>
          <a:ext cx="4606925" cy="1828800"/>
        </p:xfrm>
        <a:graphic>
          <a:graphicData uri="http://schemas.openxmlformats.org/presentationml/2006/ole">
            <mc:AlternateContent xmlns:mc="http://schemas.openxmlformats.org/markup-compatibility/2006">
              <mc:Choice xmlns:v="urn:schemas-microsoft-com:vml" Requires="v">
                <p:oleObj name="비트맵 이미지" r:id="rId4" imgW="5638095" imgH="2238687" progId="Paint.Picture">
                  <p:embed/>
                </p:oleObj>
              </mc:Choice>
              <mc:Fallback>
                <p:oleObj name="비트맵 이미지" r:id="rId4" imgW="5638095" imgH="2238687"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0950" y="3905250"/>
                        <a:ext cx="4606925"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34" name="슬라이드 번호 개체 틀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01CC8E79-6949-40CD-8C29-9A16160242F7}" type="slidenum">
              <a:rPr kumimoji="0" lang="en-US" altLang="ko-KR" sz="1400">
                <a:solidFill>
                  <a:schemeClr val="accent1"/>
                </a:solidFill>
              </a:rPr>
              <a:pPr>
                <a:spcBef>
                  <a:spcPct val="50000"/>
                </a:spcBef>
                <a:buClrTx/>
                <a:buSzTx/>
                <a:buFontTx/>
                <a:buNone/>
              </a:pPr>
              <a:t>47</a:t>
            </a:fld>
            <a:endParaRPr kumimoji="0" lang="en-US" altLang="ko-KR" sz="1400">
              <a:solidFill>
                <a:schemeClr val="accent1"/>
              </a:solidFill>
            </a:endParaRPr>
          </a:p>
        </p:txBody>
      </p:sp>
      <p:sp>
        <p:nvSpPr>
          <p:cNvPr id="69637" name="Text Box 4"/>
          <p:cNvSpPr txBox="1">
            <a:spLocks noChangeArrowheads="1"/>
          </p:cNvSpPr>
          <p:nvPr/>
        </p:nvSpPr>
        <p:spPr bwMode="auto">
          <a:xfrm>
            <a:off x="4295775" y="3441700"/>
            <a:ext cx="3600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200" b="1">
                <a:latin typeface="Times New Roman" panose="02020603050405020304" pitchFamily="18" charset="0"/>
              </a:rPr>
              <a:t>Fig. 2.1 </a:t>
            </a:r>
            <a:r>
              <a:rPr lang="en-US" altLang="ko-KR" sz="1200">
                <a:latin typeface="Times New Roman" panose="02020603050405020304" pitchFamily="18" charset="0"/>
              </a:rPr>
              <a:t>(a)Original image; (b)image+40; (c)image-40.</a:t>
            </a:r>
          </a:p>
        </p:txBody>
      </p:sp>
      <p:sp>
        <p:nvSpPr>
          <p:cNvPr id="69639" name="Text Box 6"/>
          <p:cNvSpPr txBox="1">
            <a:spLocks noChangeArrowheads="1"/>
          </p:cNvSpPr>
          <p:nvPr/>
        </p:nvSpPr>
        <p:spPr bwMode="auto">
          <a:xfrm>
            <a:off x="4835525" y="5805489"/>
            <a:ext cx="25209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ClrTx/>
              <a:buSzTx/>
              <a:buFontTx/>
              <a:buNone/>
            </a:pPr>
            <a:r>
              <a:rPr lang="en-US" altLang="ko-KR" sz="1200" b="1">
                <a:latin typeface="Times New Roman" panose="02020603050405020304" pitchFamily="18" charset="0"/>
              </a:rPr>
              <a:t>Fig. </a:t>
            </a:r>
            <a:r>
              <a:rPr lang="en-US" altLang="ko-KR" sz="1200">
                <a:latin typeface="Times New Roman" panose="02020603050405020304" pitchFamily="18" charset="0"/>
              </a:rPr>
              <a:t>(a)image*1.2; (b)image/1.2.</a:t>
            </a:r>
          </a:p>
        </p:txBody>
      </p:sp>
      <p:sp>
        <p:nvSpPr>
          <p:cNvPr id="2" name="Rectangle 1"/>
          <p:cNvSpPr/>
          <p:nvPr/>
        </p:nvSpPr>
        <p:spPr>
          <a:xfrm>
            <a:off x="1467763" y="368151"/>
            <a:ext cx="2443298" cy="369332"/>
          </a:xfrm>
          <a:prstGeom prst="rect">
            <a:avLst/>
          </a:prstGeom>
        </p:spPr>
        <p:txBody>
          <a:bodyPr wrap="none">
            <a:spAutoFit/>
          </a:bodyPr>
          <a:lstStyle/>
          <a:p>
            <a:r>
              <a:rPr lang="en-US" altLang="ko-KR"/>
              <a:t>Arithmetic operations</a:t>
            </a:r>
            <a:endParaRPr lang="en-US"/>
          </a:p>
        </p:txBody>
      </p:sp>
    </p:spTree>
    <p:extLst>
      <p:ext uri="{BB962C8B-B14F-4D97-AF65-F5344CB8AC3E}">
        <p14:creationId xmlns:p14="http://schemas.microsoft.com/office/powerpoint/2010/main" val="4313487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defRPr/>
            </a:pPr>
            <a:r>
              <a:rPr lang="en-US" altLang="ko-KR"/>
              <a:t>Arithmetic Operations</a:t>
            </a:r>
          </a:p>
        </p:txBody>
      </p:sp>
      <p:sp>
        <p:nvSpPr>
          <p:cNvPr id="70660" name="Rectangle 3"/>
          <p:cNvSpPr>
            <a:spLocks noGrp="1" noChangeArrowheads="1"/>
          </p:cNvSpPr>
          <p:nvPr>
            <p:ph idx="1"/>
          </p:nvPr>
        </p:nvSpPr>
        <p:spPr>
          <a:xfrm>
            <a:off x="578722" y="1760077"/>
            <a:ext cx="8596668" cy="3880773"/>
          </a:xfrm>
        </p:spPr>
        <p:txBody>
          <a:bodyPr/>
          <a:lstStyle/>
          <a:p>
            <a:pPr eaLnBrk="1" hangingPunct="1"/>
            <a:r>
              <a:rPr lang="en-US" altLang="ko-KR">
                <a:latin typeface="Times New Roman" panose="02020603050405020304" pitchFamily="18" charset="0"/>
                <a:ea typeface="Arial Unicode MS" panose="020B0604020202020204" pitchFamily="34" charset="-128"/>
                <a:cs typeface="Arial Unicode MS" panose="020B0604020202020204" pitchFamily="34" charset="-128"/>
              </a:rPr>
              <a:t>Addition and Subtraction</a:t>
            </a:r>
          </a:p>
          <a:p>
            <a:pPr lvl="1" eaLnBrk="1" hangingPunct="1"/>
            <a:r>
              <a:rPr lang="en-US" altLang="ko-KR">
                <a:latin typeface="Times New Roman" panose="02020603050405020304" pitchFamily="18" charset="0"/>
                <a:ea typeface="Arial Unicode MS" panose="020B0604020202020204" pitchFamily="34" charset="-128"/>
                <a:cs typeface="Arial Unicode MS" panose="020B0604020202020204" pitchFamily="34" charset="-128"/>
              </a:rPr>
              <a:t>Adding values to a pixel brightens the image. </a:t>
            </a:r>
          </a:p>
          <a:p>
            <a:pPr lvl="1" eaLnBrk="1" hangingPunct="1"/>
            <a:r>
              <a:rPr lang="en-US" altLang="ko-KR">
                <a:latin typeface="Times New Roman" panose="02020603050405020304" pitchFamily="18" charset="0"/>
                <a:ea typeface="Arial Unicode MS" panose="020B0604020202020204" pitchFamily="34" charset="-128"/>
                <a:cs typeface="Arial Unicode MS" panose="020B0604020202020204" pitchFamily="34" charset="-128"/>
              </a:rPr>
              <a:t>Subtracting values from a pixel darkens the image.</a:t>
            </a:r>
          </a:p>
          <a:p>
            <a:pPr lvl="1" eaLnBrk="1" hangingPunct="1"/>
            <a:r>
              <a:rPr lang="en-US" altLang="ko-KR">
                <a:latin typeface="Times New Roman" panose="02020603050405020304" pitchFamily="18" charset="0"/>
                <a:ea typeface="Arial Unicode MS" panose="020B0604020202020204" pitchFamily="34" charset="-128"/>
                <a:cs typeface="Arial Unicode MS" panose="020B0604020202020204" pitchFamily="34" charset="-128"/>
              </a:rPr>
              <a:t>Adding and subtracting cannot adjust the contrast of the image.</a:t>
            </a:r>
            <a:br>
              <a:rPr lang="en-US" altLang="ko-KR">
                <a:latin typeface="Times New Roman" panose="02020603050405020304" pitchFamily="18" charset="0"/>
                <a:ea typeface="Arial Unicode MS" panose="020B0604020202020204" pitchFamily="34" charset="-128"/>
                <a:cs typeface="Arial Unicode MS" panose="020B0604020202020204" pitchFamily="34" charset="-128"/>
              </a:rPr>
            </a:br>
            <a:br>
              <a:rPr lang="en-US" altLang="ko-KR">
                <a:latin typeface="Times New Roman" panose="02020603050405020304" pitchFamily="18" charset="0"/>
                <a:ea typeface="Arial Unicode MS" panose="020B0604020202020204" pitchFamily="34" charset="-128"/>
                <a:cs typeface="Arial Unicode MS" panose="020B0604020202020204" pitchFamily="34" charset="-128"/>
              </a:rPr>
            </a:br>
            <a:endParaRPr lang="en-US" altLang="ko-KR">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70658"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E405E44B-E9FE-4C3E-ACE1-7AAF24DFAE3B}" type="slidenum">
              <a:rPr kumimoji="0" lang="en-US" altLang="ko-KR" sz="1400">
                <a:solidFill>
                  <a:schemeClr val="accent1"/>
                </a:solidFill>
              </a:rPr>
              <a:pPr>
                <a:spcBef>
                  <a:spcPct val="50000"/>
                </a:spcBef>
                <a:buClrTx/>
                <a:buSzTx/>
                <a:buFontTx/>
                <a:buNone/>
              </a:pPr>
              <a:t>48</a:t>
            </a:fld>
            <a:endParaRPr kumimoji="0" lang="en-US" altLang="ko-KR" sz="1400">
              <a:solidFill>
                <a:schemeClr val="accent1"/>
              </a:solidFill>
            </a:endParaRPr>
          </a:p>
        </p:txBody>
      </p:sp>
      <p:grpSp>
        <p:nvGrpSpPr>
          <p:cNvPr id="70661" name="Group 4"/>
          <p:cNvGrpSpPr>
            <a:grpSpLocks/>
          </p:cNvGrpSpPr>
          <p:nvPr/>
        </p:nvGrpSpPr>
        <p:grpSpPr bwMode="auto">
          <a:xfrm>
            <a:off x="1090893" y="3561687"/>
            <a:ext cx="7439025" cy="2662237"/>
            <a:chOff x="546" y="2394"/>
            <a:chExt cx="4686" cy="1677"/>
          </a:xfrm>
        </p:grpSpPr>
        <p:pic>
          <p:nvPicPr>
            <p:cNvPr id="70662" name="Picture 5"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 y="2394"/>
              <a:ext cx="1440" cy="1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3" name="Picture 6"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3" y="2412"/>
              <a:ext cx="1422" cy="1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4" name="Picture 7" descr="Image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2" y="2427"/>
              <a:ext cx="1440" cy="1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5" name="Text Box 8"/>
            <p:cNvSpPr txBox="1">
              <a:spLocks noChangeArrowheads="1"/>
            </p:cNvSpPr>
            <p:nvPr/>
          </p:nvSpPr>
          <p:spPr bwMode="auto">
            <a:xfrm>
              <a:off x="746" y="3792"/>
              <a:ext cx="8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&lt;Original&gt;</a:t>
              </a:r>
            </a:p>
          </p:txBody>
        </p:sp>
        <p:sp>
          <p:nvSpPr>
            <p:cNvPr id="70666" name="Text Box 9"/>
            <p:cNvSpPr txBox="1">
              <a:spLocks noChangeArrowheads="1"/>
            </p:cNvSpPr>
            <p:nvPr/>
          </p:nvSpPr>
          <p:spPr bwMode="auto">
            <a:xfrm>
              <a:off x="2403" y="3822"/>
              <a:ext cx="102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&lt;Original+50&gt;</a:t>
              </a:r>
            </a:p>
          </p:txBody>
        </p:sp>
        <p:sp>
          <p:nvSpPr>
            <p:cNvPr id="70667" name="Text Box 10"/>
            <p:cNvSpPr txBox="1">
              <a:spLocks noChangeArrowheads="1"/>
            </p:cNvSpPr>
            <p:nvPr/>
          </p:nvSpPr>
          <p:spPr bwMode="auto">
            <a:xfrm>
              <a:off x="4022" y="3840"/>
              <a:ext cx="9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&lt;Original-60&gt;</a:t>
              </a:r>
            </a:p>
          </p:txBody>
        </p:sp>
      </p:grpSp>
    </p:spTree>
    <p:extLst>
      <p:ext uri="{BB962C8B-B14F-4D97-AF65-F5344CB8AC3E}">
        <p14:creationId xmlns:p14="http://schemas.microsoft.com/office/powerpoint/2010/main" val="10054148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defRPr/>
            </a:pPr>
            <a:r>
              <a:rPr lang="en-US" altLang="ko-KR"/>
              <a:t>Arithmetic operations</a:t>
            </a:r>
          </a:p>
        </p:txBody>
      </p:sp>
      <p:sp>
        <p:nvSpPr>
          <p:cNvPr id="71682"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E6BE6E68-175E-48C7-963F-607DC022E84C}" type="slidenum">
              <a:rPr kumimoji="0" lang="en-US" altLang="ko-KR" sz="1400">
                <a:solidFill>
                  <a:schemeClr val="accent1"/>
                </a:solidFill>
              </a:rPr>
              <a:pPr>
                <a:spcBef>
                  <a:spcPct val="50000"/>
                </a:spcBef>
                <a:buClrTx/>
                <a:buSzTx/>
                <a:buFontTx/>
                <a:buNone/>
              </a:pPr>
              <a:t>49</a:t>
            </a:fld>
            <a:endParaRPr kumimoji="0" lang="en-US" altLang="ko-KR" sz="1400">
              <a:solidFill>
                <a:schemeClr val="accent1"/>
              </a:solidFill>
            </a:endParaRPr>
          </a:p>
        </p:txBody>
      </p:sp>
      <p:grpSp>
        <p:nvGrpSpPr>
          <p:cNvPr id="71684" name="Group 3"/>
          <p:cNvGrpSpPr>
            <a:grpSpLocks/>
          </p:cNvGrpSpPr>
          <p:nvPr/>
        </p:nvGrpSpPr>
        <p:grpSpPr bwMode="auto">
          <a:xfrm>
            <a:off x="2133600" y="1600200"/>
            <a:ext cx="7543800" cy="2133600"/>
            <a:chOff x="384" y="960"/>
            <a:chExt cx="4752" cy="1344"/>
          </a:xfrm>
        </p:grpSpPr>
        <p:grpSp>
          <p:nvGrpSpPr>
            <p:cNvPr id="71693" name="Group 4"/>
            <p:cNvGrpSpPr>
              <a:grpSpLocks/>
            </p:cNvGrpSpPr>
            <p:nvPr/>
          </p:nvGrpSpPr>
          <p:grpSpPr bwMode="auto">
            <a:xfrm>
              <a:off x="384" y="960"/>
              <a:ext cx="4752" cy="1344"/>
              <a:chOff x="240" y="1056"/>
              <a:chExt cx="3464" cy="1008"/>
            </a:xfrm>
          </p:grpSpPr>
          <p:graphicFrame>
            <p:nvGraphicFramePr>
              <p:cNvPr id="71698" name="Object 5"/>
              <p:cNvGraphicFramePr>
                <a:graphicFrameLocks noChangeAspect="1"/>
              </p:cNvGraphicFramePr>
              <p:nvPr/>
            </p:nvGraphicFramePr>
            <p:xfrm>
              <a:off x="240" y="1056"/>
              <a:ext cx="922" cy="980"/>
            </p:xfrm>
            <a:graphic>
              <a:graphicData uri="http://schemas.openxmlformats.org/presentationml/2006/ole">
                <mc:AlternateContent xmlns:mc="http://schemas.openxmlformats.org/markup-compatibility/2006">
                  <mc:Choice xmlns:v="urn:schemas-microsoft-com:vml" Requires="v">
                    <p:oleObj name="비트맵 이미지" r:id="rId2" imgW="704948" imgH="676369" progId="Paint.Picture">
                      <p:embed/>
                    </p:oleObj>
                  </mc:Choice>
                  <mc:Fallback>
                    <p:oleObj name="비트맵 이미지" r:id="rId2" imgW="704948" imgH="676369"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056"/>
                            <a:ext cx="922" cy="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99" name="Object 6"/>
              <p:cNvGraphicFramePr>
                <a:graphicFrameLocks noChangeAspect="1"/>
              </p:cNvGraphicFramePr>
              <p:nvPr/>
            </p:nvGraphicFramePr>
            <p:xfrm>
              <a:off x="1536" y="1056"/>
              <a:ext cx="873" cy="1008"/>
            </p:xfrm>
            <a:graphic>
              <a:graphicData uri="http://schemas.openxmlformats.org/presentationml/2006/ole">
                <mc:AlternateContent xmlns:mc="http://schemas.openxmlformats.org/markup-compatibility/2006">
                  <mc:Choice xmlns:v="urn:schemas-microsoft-com:vml" Requires="v">
                    <p:oleObj name="비트맵 이미지" r:id="rId4" imgW="666667" imgH="695238" progId="Paint.Picture">
                      <p:embed/>
                    </p:oleObj>
                  </mc:Choice>
                  <mc:Fallback>
                    <p:oleObj name="비트맵 이미지" r:id="rId4" imgW="666667" imgH="695238"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6" y="1056"/>
                            <a:ext cx="873"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00" name="Object 7"/>
              <p:cNvGraphicFramePr>
                <a:graphicFrameLocks noChangeAspect="1"/>
              </p:cNvGraphicFramePr>
              <p:nvPr/>
            </p:nvGraphicFramePr>
            <p:xfrm>
              <a:off x="2832" y="1056"/>
              <a:ext cx="872" cy="967"/>
            </p:xfrm>
            <a:graphic>
              <a:graphicData uri="http://schemas.openxmlformats.org/presentationml/2006/ole">
                <mc:AlternateContent xmlns:mc="http://schemas.openxmlformats.org/markup-compatibility/2006">
                  <mc:Choice xmlns:v="urn:schemas-microsoft-com:vml" Requires="v">
                    <p:oleObj name="비트맵 이미지" r:id="rId6" imgW="666667" imgH="666667" progId="Paint.Picture">
                      <p:embed/>
                    </p:oleObj>
                  </mc:Choice>
                  <mc:Fallback>
                    <p:oleObj name="비트맵 이미지" r:id="rId6" imgW="666667" imgH="666667"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2" y="1056"/>
                            <a:ext cx="872" cy="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1694" name="Group 8"/>
            <p:cNvGrpSpPr>
              <a:grpSpLocks/>
            </p:cNvGrpSpPr>
            <p:nvPr/>
          </p:nvGrpSpPr>
          <p:grpSpPr bwMode="auto">
            <a:xfrm>
              <a:off x="1728" y="1440"/>
              <a:ext cx="288" cy="288"/>
              <a:chOff x="1728" y="2928"/>
              <a:chExt cx="288" cy="288"/>
            </a:xfrm>
          </p:grpSpPr>
          <p:sp>
            <p:nvSpPr>
              <p:cNvPr id="71696" name="Line 9"/>
              <p:cNvSpPr>
                <a:spLocks noChangeShapeType="1"/>
              </p:cNvSpPr>
              <p:nvPr/>
            </p:nvSpPr>
            <p:spPr bwMode="auto">
              <a:xfrm>
                <a:off x="1728" y="3072"/>
                <a:ext cx="288"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1697" name="Line 10"/>
              <p:cNvSpPr>
                <a:spLocks noChangeShapeType="1"/>
              </p:cNvSpPr>
              <p:nvPr/>
            </p:nvSpPr>
            <p:spPr bwMode="auto">
              <a:xfrm>
                <a:off x="1872" y="2928"/>
                <a:ext cx="0" cy="28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71695" name="AutoShape 11"/>
            <p:cNvSpPr>
              <a:spLocks noChangeArrowheads="1"/>
            </p:cNvSpPr>
            <p:nvPr/>
          </p:nvSpPr>
          <p:spPr bwMode="auto">
            <a:xfrm>
              <a:off x="3504" y="1488"/>
              <a:ext cx="288" cy="24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p:spPr>
          <p:txBody>
            <a:bodyPr wrap="none" anchor="ctr"/>
            <a:lstStyle/>
            <a:p>
              <a:endParaRPr lang="en-US"/>
            </a:p>
          </p:txBody>
        </p:sp>
      </p:grpSp>
      <p:grpSp>
        <p:nvGrpSpPr>
          <p:cNvPr id="71685" name="Group 12"/>
          <p:cNvGrpSpPr>
            <a:grpSpLocks/>
          </p:cNvGrpSpPr>
          <p:nvPr/>
        </p:nvGrpSpPr>
        <p:grpSpPr bwMode="auto">
          <a:xfrm>
            <a:off x="2133600" y="4300538"/>
            <a:ext cx="7658100" cy="1643062"/>
            <a:chOff x="384" y="2613"/>
            <a:chExt cx="4824" cy="1035"/>
          </a:xfrm>
        </p:grpSpPr>
        <p:graphicFrame>
          <p:nvGraphicFramePr>
            <p:cNvPr id="71689" name="Object 13"/>
            <p:cNvGraphicFramePr>
              <a:graphicFrameLocks noChangeAspect="1"/>
            </p:cNvGraphicFramePr>
            <p:nvPr/>
          </p:nvGraphicFramePr>
          <p:xfrm>
            <a:off x="384" y="2613"/>
            <a:ext cx="2832" cy="1035"/>
          </p:xfrm>
          <a:graphic>
            <a:graphicData uri="http://schemas.openxmlformats.org/presentationml/2006/ole">
              <mc:AlternateContent xmlns:mc="http://schemas.openxmlformats.org/markup-compatibility/2006">
                <mc:Choice xmlns:v="urn:schemas-microsoft-com:vml" Requires="v">
                  <p:oleObj name="비트맵 이미지" r:id="rId8" imgW="3543795" imgH="1295238" progId="Paint.Picture">
                    <p:embed/>
                  </p:oleObj>
                </mc:Choice>
                <mc:Fallback>
                  <p:oleObj name="비트맵 이미지" r:id="rId8" imgW="3543795" imgH="1295238" progId="Paint.Picture">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 y="2613"/>
                          <a:ext cx="2832" cy="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90" name="Object 14"/>
            <p:cNvGraphicFramePr>
              <a:graphicFrameLocks noChangeAspect="1"/>
            </p:cNvGraphicFramePr>
            <p:nvPr/>
          </p:nvGraphicFramePr>
          <p:xfrm>
            <a:off x="3936" y="2640"/>
            <a:ext cx="1272" cy="961"/>
          </p:xfrm>
          <a:graphic>
            <a:graphicData uri="http://schemas.openxmlformats.org/presentationml/2006/ole">
              <mc:AlternateContent xmlns:mc="http://schemas.openxmlformats.org/markup-compatibility/2006">
                <mc:Choice xmlns:v="urn:schemas-microsoft-com:vml" Requires="v">
                  <p:oleObj name="비트맵 이미지" r:id="rId10" imgW="1638529" imgH="1238423" progId="Paint.Picture">
                    <p:embed/>
                  </p:oleObj>
                </mc:Choice>
                <mc:Fallback>
                  <p:oleObj name="비트맵 이미지" r:id="rId10" imgW="1638529" imgH="1238423" progId="Paint.Picture">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36" y="2640"/>
                          <a:ext cx="1272" cy="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91" name="Line 15"/>
            <p:cNvSpPr>
              <a:spLocks noChangeShapeType="1"/>
            </p:cNvSpPr>
            <p:nvPr/>
          </p:nvSpPr>
          <p:spPr bwMode="auto">
            <a:xfrm flipH="1">
              <a:off x="1728" y="3120"/>
              <a:ext cx="144" cy="0"/>
            </a:xfrm>
            <a:prstGeom prst="line">
              <a:avLst/>
            </a:prstGeom>
            <a:noFill/>
            <a:ln w="2857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1692" name="AutoShape 16"/>
            <p:cNvSpPr>
              <a:spLocks noChangeArrowheads="1"/>
            </p:cNvSpPr>
            <p:nvPr/>
          </p:nvSpPr>
          <p:spPr bwMode="auto">
            <a:xfrm>
              <a:off x="3360" y="2976"/>
              <a:ext cx="384" cy="2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p:spPr>
          <p:txBody>
            <a:bodyPr wrap="none" anchor="ctr"/>
            <a:lstStyle/>
            <a:p>
              <a:endParaRPr lang="en-US"/>
            </a:p>
          </p:txBody>
        </p:sp>
      </p:grpSp>
      <p:sp>
        <p:nvSpPr>
          <p:cNvPr id="71686" name="Text Box 17"/>
          <p:cNvSpPr txBox="1">
            <a:spLocks noChangeArrowheads="1"/>
          </p:cNvSpPr>
          <p:nvPr/>
        </p:nvSpPr>
        <p:spPr bwMode="auto">
          <a:xfrm>
            <a:off x="7772400" y="36576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Arial Narrow" panose="020B0606020202030204" pitchFamily="34" charset="0"/>
              </a:rPr>
              <a:t>add operation</a:t>
            </a:r>
          </a:p>
        </p:txBody>
      </p:sp>
      <p:sp>
        <p:nvSpPr>
          <p:cNvPr id="71687" name="Text Box 18"/>
          <p:cNvSpPr txBox="1">
            <a:spLocks noChangeArrowheads="1"/>
          </p:cNvSpPr>
          <p:nvPr/>
        </p:nvSpPr>
        <p:spPr bwMode="auto">
          <a:xfrm>
            <a:off x="7772400" y="58674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Arial Narrow" panose="020B0606020202030204" pitchFamily="34" charset="0"/>
              </a:rPr>
              <a:t>subtract operation</a:t>
            </a:r>
          </a:p>
        </p:txBody>
      </p:sp>
      <p:sp>
        <p:nvSpPr>
          <p:cNvPr id="71688" name="Text Box 19"/>
          <p:cNvSpPr txBox="1">
            <a:spLocks noChangeArrowheads="1"/>
          </p:cNvSpPr>
          <p:nvPr/>
        </p:nvSpPr>
        <p:spPr bwMode="auto">
          <a:xfrm>
            <a:off x="3276600" y="38100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Arial Narrow" panose="020B0606020202030204" pitchFamily="34" charset="0"/>
              </a:rPr>
              <a:t>Original image</a:t>
            </a:r>
          </a:p>
        </p:txBody>
      </p:sp>
    </p:spTree>
    <p:extLst>
      <p:ext uri="{BB962C8B-B14F-4D97-AF65-F5344CB8AC3E}">
        <p14:creationId xmlns:p14="http://schemas.microsoft.com/office/powerpoint/2010/main" val="25244442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eaLnBrk="1" hangingPunct="1">
              <a:defRPr/>
            </a:pPr>
            <a:r>
              <a:rPr lang="en-US" altLang="ko-KR"/>
              <a:t>Arithmetic Operations</a:t>
            </a:r>
          </a:p>
        </p:txBody>
      </p:sp>
      <p:sp>
        <p:nvSpPr>
          <p:cNvPr id="72708" name="Rectangle 3"/>
          <p:cNvSpPr>
            <a:spLocks noGrp="1" noChangeArrowheads="1"/>
          </p:cNvSpPr>
          <p:nvPr>
            <p:ph idx="1"/>
          </p:nvPr>
        </p:nvSpPr>
        <p:spPr/>
        <p:txBody>
          <a:bodyPr/>
          <a:lstStyle/>
          <a:p>
            <a:pPr eaLnBrk="1" hangingPunct="1"/>
            <a:r>
              <a:rPr lang="en-US" altLang="ko-KR">
                <a:latin typeface="Times New Roman" panose="02020603050405020304" pitchFamily="18" charset="0"/>
                <a:ea typeface="Arial Unicode MS" panose="020B0604020202020204" pitchFamily="34" charset="-128"/>
                <a:cs typeface="Arial Unicode MS" panose="020B0604020202020204" pitchFamily="34" charset="-128"/>
              </a:rPr>
              <a:t>Multiplication and Division</a:t>
            </a:r>
          </a:p>
          <a:p>
            <a:pPr lvl="1" eaLnBrk="1" hangingPunct="1"/>
            <a:r>
              <a:rPr lang="en-US" altLang="ko-KR">
                <a:latin typeface="Times New Roman" panose="02020603050405020304" pitchFamily="18" charset="0"/>
                <a:ea typeface="Arial Unicode MS" panose="020B0604020202020204" pitchFamily="34" charset="-128"/>
                <a:cs typeface="Arial Unicode MS" panose="020B0604020202020204" pitchFamily="34" charset="-128"/>
              </a:rPr>
              <a:t>Multiplying and dividing pixels by different values adjust the contrast of the image. </a:t>
            </a:r>
          </a:p>
          <a:p>
            <a:pPr lvl="1" eaLnBrk="1" hangingPunct="1"/>
            <a:r>
              <a:rPr lang="en-US" altLang="ko-KR">
                <a:latin typeface="Times New Roman" panose="02020603050405020304" pitchFamily="18" charset="0"/>
                <a:ea typeface="Arial Unicode MS" panose="020B0604020202020204" pitchFamily="34" charset="-128"/>
                <a:cs typeface="Arial Unicode MS" panose="020B0604020202020204" pitchFamily="34" charset="-128"/>
              </a:rPr>
              <a:t>The contrast of the image will be increased by multiplication and decreased by division.</a:t>
            </a:r>
            <a:br>
              <a:rPr lang="en-US" altLang="ko-KR">
                <a:latin typeface="Times New Roman" panose="02020603050405020304" pitchFamily="18" charset="0"/>
                <a:ea typeface="Arial Unicode MS" panose="020B0604020202020204" pitchFamily="34" charset="-128"/>
                <a:cs typeface="Arial Unicode MS" panose="020B0604020202020204" pitchFamily="34" charset="-128"/>
              </a:rPr>
            </a:br>
            <a:br>
              <a:rPr lang="en-US" altLang="ko-KR">
                <a:latin typeface="Arial" panose="020B0604020202020204" pitchFamily="34" charset="0"/>
                <a:cs typeface="Arial" panose="020B0604020202020204" pitchFamily="34" charset="0"/>
              </a:rPr>
            </a:br>
            <a:endParaRPr lang="en-US" altLang="ko-KR">
              <a:latin typeface="Arial" panose="020B0604020202020204" pitchFamily="34" charset="0"/>
              <a:cs typeface="Arial" panose="020B0604020202020204" pitchFamily="34" charset="0"/>
            </a:endParaRPr>
          </a:p>
          <a:p>
            <a:pPr eaLnBrk="1" hangingPunct="1"/>
            <a:endParaRPr lang="en-US" altLang="ko-KR"/>
          </a:p>
        </p:txBody>
      </p:sp>
      <p:sp>
        <p:nvSpPr>
          <p:cNvPr id="72706"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C7A6C112-4E66-40E2-9462-CE74F6640B2B}" type="slidenum">
              <a:rPr kumimoji="0" lang="en-US" altLang="ko-KR" sz="1400">
                <a:solidFill>
                  <a:schemeClr val="accent1"/>
                </a:solidFill>
              </a:rPr>
              <a:pPr>
                <a:spcBef>
                  <a:spcPct val="50000"/>
                </a:spcBef>
                <a:buClrTx/>
                <a:buSzTx/>
                <a:buFontTx/>
                <a:buNone/>
              </a:pPr>
              <a:t>50</a:t>
            </a:fld>
            <a:endParaRPr kumimoji="0" lang="en-US" altLang="ko-KR" sz="1400">
              <a:solidFill>
                <a:schemeClr val="accent1"/>
              </a:solidFill>
            </a:endParaRPr>
          </a:p>
        </p:txBody>
      </p:sp>
      <p:grpSp>
        <p:nvGrpSpPr>
          <p:cNvPr id="72709" name="Group 4"/>
          <p:cNvGrpSpPr>
            <a:grpSpLocks/>
          </p:cNvGrpSpPr>
          <p:nvPr/>
        </p:nvGrpSpPr>
        <p:grpSpPr bwMode="auto">
          <a:xfrm>
            <a:off x="2438401" y="3657600"/>
            <a:ext cx="7491413" cy="2662238"/>
            <a:chOff x="672" y="2298"/>
            <a:chExt cx="4719" cy="1677"/>
          </a:xfrm>
        </p:grpSpPr>
        <p:pic>
          <p:nvPicPr>
            <p:cNvPr id="72710" name="Picture 5"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2298"/>
              <a:ext cx="1440" cy="1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1" name="Text Box 6"/>
            <p:cNvSpPr txBox="1">
              <a:spLocks noChangeArrowheads="1"/>
            </p:cNvSpPr>
            <p:nvPr/>
          </p:nvSpPr>
          <p:spPr bwMode="auto">
            <a:xfrm>
              <a:off x="872" y="3696"/>
              <a:ext cx="8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&lt;Original&gt;</a:t>
              </a:r>
            </a:p>
          </p:txBody>
        </p:sp>
        <p:sp>
          <p:nvSpPr>
            <p:cNvPr id="72712" name="Text Box 7"/>
            <p:cNvSpPr txBox="1">
              <a:spLocks noChangeArrowheads="1"/>
            </p:cNvSpPr>
            <p:nvPr/>
          </p:nvSpPr>
          <p:spPr bwMode="auto">
            <a:xfrm>
              <a:off x="2498" y="3726"/>
              <a:ext cx="10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 *1.5&gt;</a:t>
              </a:r>
            </a:p>
          </p:txBody>
        </p:sp>
        <p:sp>
          <p:nvSpPr>
            <p:cNvPr id="72713" name="Text Box 8"/>
            <p:cNvSpPr txBox="1">
              <a:spLocks noChangeArrowheads="1"/>
            </p:cNvSpPr>
            <p:nvPr/>
          </p:nvSpPr>
          <p:spPr bwMode="auto">
            <a:xfrm>
              <a:off x="4134" y="3744"/>
              <a:ext cx="10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&lt;Original/1.5&gt;</a:t>
              </a:r>
            </a:p>
          </p:txBody>
        </p:sp>
        <p:pic>
          <p:nvPicPr>
            <p:cNvPr id="72714" name="Picture 9" descr="Image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3" y="2313"/>
              <a:ext cx="1434"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5" name="Picture 10" descr="Image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5" y="2322"/>
              <a:ext cx="1446" cy="1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64755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eaLnBrk="1" hangingPunct="1">
              <a:defRPr/>
            </a:pPr>
            <a:r>
              <a:rPr lang="en-US" altLang="ko-KR"/>
              <a:t>Point processes</a:t>
            </a:r>
          </a:p>
        </p:txBody>
      </p:sp>
      <p:sp>
        <p:nvSpPr>
          <p:cNvPr id="73730"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7481A749-A614-4B10-9624-6E3C878DC1BD}" type="slidenum">
              <a:rPr kumimoji="0" lang="en-US" altLang="ko-KR" sz="1400">
                <a:solidFill>
                  <a:schemeClr val="accent1"/>
                </a:solidFill>
              </a:rPr>
              <a:pPr>
                <a:spcBef>
                  <a:spcPct val="50000"/>
                </a:spcBef>
                <a:buClrTx/>
                <a:buSzTx/>
                <a:buFontTx/>
                <a:buNone/>
              </a:pPr>
              <a:t>51</a:t>
            </a:fld>
            <a:endParaRPr kumimoji="0" lang="en-US" altLang="ko-KR" sz="1400">
              <a:solidFill>
                <a:schemeClr val="accent1"/>
              </a:solidFill>
            </a:endParaRPr>
          </a:p>
        </p:txBody>
      </p:sp>
      <p:graphicFrame>
        <p:nvGraphicFramePr>
          <p:cNvPr id="73732" name="Object 3"/>
          <p:cNvGraphicFramePr>
            <a:graphicFrameLocks noChangeAspect="1"/>
          </p:cNvGraphicFramePr>
          <p:nvPr/>
        </p:nvGraphicFramePr>
        <p:xfrm>
          <a:off x="2590800" y="1600200"/>
          <a:ext cx="2362200" cy="2362200"/>
        </p:xfrm>
        <a:graphic>
          <a:graphicData uri="http://schemas.openxmlformats.org/presentationml/2006/ole">
            <mc:AlternateContent xmlns:mc="http://schemas.openxmlformats.org/markup-compatibility/2006">
              <mc:Choice xmlns:v="urn:schemas-microsoft-com:vml" Requires="v">
                <p:oleObj name="비트맵 이미지" r:id="rId2" imgW="676369" imgH="676369" progId="Paint.Picture">
                  <p:embed/>
                </p:oleObj>
              </mc:Choice>
              <mc:Fallback>
                <p:oleObj name="비트맵 이미지" r:id="rId2" imgW="676369" imgH="676369"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600200"/>
                        <a:ext cx="23622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33" name="Object 4"/>
          <p:cNvGraphicFramePr>
            <a:graphicFrameLocks noChangeAspect="1"/>
          </p:cNvGraphicFramePr>
          <p:nvPr/>
        </p:nvGraphicFramePr>
        <p:xfrm>
          <a:off x="6003926" y="1600200"/>
          <a:ext cx="2454275" cy="2362200"/>
        </p:xfrm>
        <a:graphic>
          <a:graphicData uri="http://schemas.openxmlformats.org/presentationml/2006/ole">
            <mc:AlternateContent xmlns:mc="http://schemas.openxmlformats.org/markup-compatibility/2006">
              <mc:Choice xmlns:v="urn:schemas-microsoft-com:vml" Requires="v">
                <p:oleObj name="비트맵 이미지" r:id="rId4" imgW="685714" imgH="695238" progId="Paint.Picture">
                  <p:embed/>
                </p:oleObj>
              </mc:Choice>
              <mc:Fallback>
                <p:oleObj name="비트맵 이미지" r:id="rId4" imgW="685714" imgH="695238"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3926" y="1600200"/>
                        <a:ext cx="2454275"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34" name="Object 5"/>
          <p:cNvGraphicFramePr>
            <a:graphicFrameLocks noChangeAspect="1"/>
          </p:cNvGraphicFramePr>
          <p:nvPr/>
        </p:nvGraphicFramePr>
        <p:xfrm>
          <a:off x="5943600" y="4114801"/>
          <a:ext cx="2590800" cy="2354263"/>
        </p:xfrm>
        <a:graphic>
          <a:graphicData uri="http://schemas.openxmlformats.org/presentationml/2006/ole">
            <mc:AlternateContent xmlns:mc="http://schemas.openxmlformats.org/markup-compatibility/2006">
              <mc:Choice xmlns:v="urn:schemas-microsoft-com:vml" Requires="v">
                <p:oleObj name="비트맵 이미지" r:id="rId6" imgW="666667" imgH="685714" progId="Paint.Picture">
                  <p:embed/>
                </p:oleObj>
              </mc:Choice>
              <mc:Fallback>
                <p:oleObj name="비트맵 이미지" r:id="rId6" imgW="666667" imgH="685714"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3600" y="4114801"/>
                        <a:ext cx="2590800" cy="235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5" name="Text Box 6"/>
          <p:cNvSpPr txBox="1">
            <a:spLocks noChangeArrowheads="1"/>
          </p:cNvSpPr>
          <p:nvPr/>
        </p:nvSpPr>
        <p:spPr bwMode="auto">
          <a:xfrm>
            <a:off x="2895600" y="3962401"/>
            <a:ext cx="1752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Arial Narrow" panose="020B0606020202030204" pitchFamily="34" charset="0"/>
              </a:rPr>
              <a:t>Original image</a:t>
            </a:r>
          </a:p>
        </p:txBody>
      </p:sp>
      <p:sp>
        <p:nvSpPr>
          <p:cNvPr id="73736" name="Text Box 7"/>
          <p:cNvSpPr txBox="1">
            <a:spLocks noChangeArrowheads="1"/>
          </p:cNvSpPr>
          <p:nvPr/>
        </p:nvSpPr>
        <p:spPr bwMode="auto">
          <a:xfrm>
            <a:off x="8458200" y="2057401"/>
            <a:ext cx="1752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Arial Narrow" panose="020B0606020202030204" pitchFamily="34" charset="0"/>
              </a:rPr>
              <a:t>Multiplication operation</a:t>
            </a:r>
          </a:p>
        </p:txBody>
      </p:sp>
      <p:sp>
        <p:nvSpPr>
          <p:cNvPr id="73737" name="Text Box 8"/>
          <p:cNvSpPr txBox="1">
            <a:spLocks noChangeArrowheads="1"/>
          </p:cNvSpPr>
          <p:nvPr/>
        </p:nvSpPr>
        <p:spPr bwMode="auto">
          <a:xfrm>
            <a:off x="8382000" y="4495801"/>
            <a:ext cx="1752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buClrTx/>
              <a:buSzTx/>
              <a:buFontTx/>
              <a:buNone/>
            </a:pPr>
            <a:r>
              <a:rPr lang="en-US" altLang="ko-KR" sz="2400">
                <a:latin typeface="Arial Narrow" panose="020B0606020202030204" pitchFamily="34" charset="0"/>
              </a:rPr>
              <a:t>Division operation</a:t>
            </a:r>
          </a:p>
        </p:txBody>
      </p:sp>
      <p:sp>
        <p:nvSpPr>
          <p:cNvPr id="73738" name="AutoShape 9"/>
          <p:cNvSpPr>
            <a:spLocks noChangeArrowheads="1"/>
          </p:cNvSpPr>
          <p:nvPr/>
        </p:nvSpPr>
        <p:spPr bwMode="auto">
          <a:xfrm>
            <a:off x="5181600" y="3124200"/>
            <a:ext cx="533400" cy="3048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FFFF"/>
          </a:soli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7855703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defRPr/>
            </a:pPr>
            <a:r>
              <a:rPr lang="en-US" altLang="ko-KR" dirty="0"/>
              <a:t>Arithmetic Operations</a:t>
            </a:r>
          </a:p>
        </p:txBody>
      </p:sp>
      <p:sp>
        <p:nvSpPr>
          <p:cNvPr id="74756" name="Rectangle 3"/>
          <p:cNvSpPr>
            <a:spLocks noGrp="1" noChangeArrowheads="1"/>
          </p:cNvSpPr>
          <p:nvPr>
            <p:ph idx="1"/>
          </p:nvPr>
        </p:nvSpPr>
        <p:spPr>
          <a:xfrm>
            <a:off x="614581" y="1595813"/>
            <a:ext cx="8596668" cy="3880773"/>
          </a:xfrm>
        </p:spPr>
        <p:txBody>
          <a:bodyPr/>
          <a:lstStyle/>
          <a:p>
            <a:pPr eaLnBrk="1" hangingPunct="1"/>
            <a:r>
              <a:rPr lang="en-US" altLang="ko-KR">
                <a:latin typeface="Times New Roman" panose="02020603050405020304" pitchFamily="18" charset="0"/>
                <a:cs typeface="Arial" panose="020B0604020202020204" pitchFamily="34" charset="0"/>
              </a:rPr>
              <a:t>Problems</a:t>
            </a:r>
          </a:p>
          <a:p>
            <a:pPr lvl="1" eaLnBrk="1" hangingPunct="1"/>
            <a:r>
              <a:rPr lang="en-US" altLang="ko-KR">
                <a:latin typeface="Times New Roman" panose="02020603050405020304" pitchFamily="18" charset="0"/>
                <a:cs typeface="Arial" panose="020B0604020202020204" pitchFamily="34" charset="0"/>
              </a:rPr>
              <a:t>They can generate negative values or values greater than the maximum possible values. </a:t>
            </a:r>
          </a:p>
          <a:p>
            <a:pPr lvl="1" eaLnBrk="1" hangingPunct="1"/>
            <a:r>
              <a:rPr lang="en-US" altLang="ko-KR">
                <a:latin typeface="Times New Roman" panose="02020603050405020304" pitchFamily="18" charset="0"/>
                <a:cs typeface="Arial" panose="020B0604020202020204" pitchFamily="34" charset="0"/>
              </a:rPr>
              <a:t>One possible solution is clamping. It sets to 0 for negative values and to 255 for overflow values.</a:t>
            </a:r>
            <a:endParaRPr lang="en-US" altLang="ko-KR">
              <a:latin typeface="Times New Roman" panose="02020603050405020304" pitchFamily="18" charset="0"/>
            </a:endParaRPr>
          </a:p>
        </p:txBody>
      </p:sp>
      <p:sp>
        <p:nvSpPr>
          <p:cNvPr id="74754"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D8DEEA82-8C39-429D-B20F-16988B2008F9}" type="slidenum">
              <a:rPr kumimoji="0" lang="en-US" altLang="ko-KR" sz="1400">
                <a:solidFill>
                  <a:schemeClr val="accent1"/>
                </a:solidFill>
              </a:rPr>
              <a:pPr>
                <a:spcBef>
                  <a:spcPct val="50000"/>
                </a:spcBef>
                <a:buClrTx/>
                <a:buSzTx/>
                <a:buFontTx/>
                <a:buNone/>
              </a:pPr>
              <a:t>52</a:t>
            </a:fld>
            <a:endParaRPr kumimoji="0" lang="en-US" altLang="ko-KR" sz="1400">
              <a:solidFill>
                <a:schemeClr val="accent1"/>
              </a:solidFill>
            </a:endParaRPr>
          </a:p>
        </p:txBody>
      </p:sp>
    </p:spTree>
    <p:extLst>
      <p:ext uri="{BB962C8B-B14F-4D97-AF65-F5344CB8AC3E}">
        <p14:creationId xmlns:p14="http://schemas.microsoft.com/office/powerpoint/2010/main" val="2023463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defRPr/>
            </a:pPr>
            <a:r>
              <a:rPr lang="en-US" altLang="ko-KR"/>
              <a:t>Point processes</a:t>
            </a:r>
          </a:p>
        </p:txBody>
      </p:sp>
      <p:sp>
        <p:nvSpPr>
          <p:cNvPr id="75780" name="Rectangle 3"/>
          <p:cNvSpPr>
            <a:spLocks noGrp="1" noChangeArrowheads="1"/>
          </p:cNvSpPr>
          <p:nvPr>
            <p:ph idx="1"/>
          </p:nvPr>
        </p:nvSpPr>
        <p:spPr>
          <a:xfrm>
            <a:off x="802840" y="1497201"/>
            <a:ext cx="8596668" cy="3880773"/>
          </a:xfrm>
        </p:spPr>
        <p:txBody>
          <a:bodyPr/>
          <a:lstStyle/>
          <a:p>
            <a:pPr eaLnBrk="1" hangingPunct="1"/>
            <a:r>
              <a:rPr lang="en-US" altLang="ko-KR">
                <a:latin typeface="Times New Roman" panose="02020603050405020304" pitchFamily="18" charset="0"/>
              </a:rPr>
              <a:t>Image Subtraction and Change Detection</a:t>
            </a:r>
          </a:p>
          <a:p>
            <a:pPr lvl="1" eaLnBrk="1" hangingPunct="1"/>
            <a:r>
              <a:rPr lang="en-US" altLang="ko-KR">
                <a:latin typeface="Times New Roman" panose="02020603050405020304" pitchFamily="18" charset="0"/>
              </a:rPr>
              <a:t>applications</a:t>
            </a:r>
          </a:p>
          <a:p>
            <a:pPr lvl="2" eaLnBrk="1" hangingPunct="1"/>
            <a:r>
              <a:rPr lang="en-US" altLang="ko-KR">
                <a:latin typeface="Times New Roman" panose="02020603050405020304" pitchFamily="18" charset="0"/>
              </a:rPr>
              <a:t>medical imaging application : display blood-flow paths</a:t>
            </a:r>
          </a:p>
          <a:p>
            <a:pPr lvl="2" eaLnBrk="1" hangingPunct="1"/>
            <a:r>
              <a:rPr lang="en-US" altLang="ko-KR">
                <a:latin typeface="Times New Roman" panose="02020603050405020304" pitchFamily="18" charset="0"/>
              </a:rPr>
              <a:t>automated inspection of printed circuits</a:t>
            </a:r>
          </a:p>
          <a:p>
            <a:pPr lvl="2" eaLnBrk="1" hangingPunct="1"/>
            <a:r>
              <a:rPr lang="en-US" altLang="ko-KR">
                <a:latin typeface="Times New Roman" panose="02020603050405020304" pitchFamily="18" charset="0"/>
              </a:rPr>
              <a:t>security monitoring</a:t>
            </a:r>
          </a:p>
          <a:p>
            <a:pPr lvl="1" eaLnBrk="1" hangingPunct="1"/>
            <a:endParaRPr lang="en-US" altLang="ko-KR">
              <a:latin typeface="Times New Roman" panose="02020603050405020304" pitchFamily="18" charset="0"/>
            </a:endParaRPr>
          </a:p>
        </p:txBody>
      </p:sp>
      <p:sp>
        <p:nvSpPr>
          <p:cNvPr id="75778"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DDFD3FB3-597B-4D09-889A-478EFA930214}" type="slidenum">
              <a:rPr kumimoji="0" lang="en-US" altLang="ko-KR" sz="1400">
                <a:solidFill>
                  <a:schemeClr val="accent1"/>
                </a:solidFill>
              </a:rPr>
              <a:pPr>
                <a:spcBef>
                  <a:spcPct val="50000"/>
                </a:spcBef>
                <a:buClrTx/>
                <a:buSzTx/>
                <a:buFontTx/>
                <a:buNone/>
              </a:pPr>
              <a:t>53</a:t>
            </a:fld>
            <a:endParaRPr kumimoji="0" lang="en-US" altLang="ko-KR" sz="1400">
              <a:solidFill>
                <a:schemeClr val="accent1"/>
              </a:solidFill>
            </a:endParaRPr>
          </a:p>
        </p:txBody>
      </p:sp>
      <p:grpSp>
        <p:nvGrpSpPr>
          <p:cNvPr id="75781" name="Group 4"/>
          <p:cNvGrpSpPr>
            <a:grpSpLocks/>
          </p:cNvGrpSpPr>
          <p:nvPr/>
        </p:nvGrpSpPr>
        <p:grpSpPr bwMode="auto">
          <a:xfrm>
            <a:off x="1896036" y="3522375"/>
            <a:ext cx="5029200" cy="2743200"/>
            <a:chOff x="672" y="960"/>
            <a:chExt cx="4464" cy="2928"/>
          </a:xfrm>
        </p:grpSpPr>
        <p:pic>
          <p:nvPicPr>
            <p:cNvPr id="75782" name="Picture 5" descr="t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960"/>
              <a:ext cx="2112"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Picture 6" descr="tt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2448"/>
              <a:ext cx="2112"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Picture 7" descr="ttdif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4" y="960"/>
              <a:ext cx="2112"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5" name="Picture 8" descr="ttdif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4" y="2448"/>
              <a:ext cx="2112"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1178930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hangingPunct="1">
              <a:defRPr/>
            </a:pPr>
            <a:r>
              <a:rPr lang="en-US" altLang="ko-KR" dirty="0"/>
              <a:t>Logic</a:t>
            </a:r>
            <a:r>
              <a:rPr lang="ko-KR" altLang="en-US" dirty="0"/>
              <a:t> </a:t>
            </a:r>
            <a:r>
              <a:rPr lang="en-US" altLang="ko-KR" dirty="0"/>
              <a:t>operations</a:t>
            </a:r>
            <a:endParaRPr lang="ko-KR" altLang="en-US" dirty="0"/>
          </a:p>
        </p:txBody>
      </p:sp>
      <p:sp>
        <p:nvSpPr>
          <p:cNvPr id="76804" name="Rectangle 3"/>
          <p:cNvSpPr>
            <a:spLocks noGrp="1" noChangeArrowheads="1"/>
          </p:cNvSpPr>
          <p:nvPr>
            <p:ph idx="1"/>
          </p:nvPr>
        </p:nvSpPr>
        <p:spPr>
          <a:xfrm>
            <a:off x="542863" y="1604777"/>
            <a:ext cx="8596668" cy="3880773"/>
          </a:xfrm>
        </p:spPr>
        <p:txBody>
          <a:bodyPr/>
          <a:lstStyle/>
          <a:p>
            <a:pPr eaLnBrk="1" hangingPunct="1"/>
            <a:r>
              <a:rPr lang="en-US" altLang="ko-KR"/>
              <a:t>NOT operations</a:t>
            </a:r>
          </a:p>
          <a:p>
            <a:pPr eaLnBrk="1" hangingPunct="1"/>
            <a:r>
              <a:rPr lang="en-US" altLang="ko-KR"/>
              <a:t>XOR operations</a:t>
            </a:r>
          </a:p>
          <a:p>
            <a:pPr lvl="1" eaLnBrk="1" hangingPunct="1"/>
            <a:r>
              <a:rPr lang="en-US" altLang="ko-KR"/>
              <a:t>Bitwise XOR(eXclusive OR) operation</a:t>
            </a:r>
          </a:p>
          <a:p>
            <a:pPr eaLnBrk="1" hangingPunct="1"/>
            <a:r>
              <a:rPr lang="en-US" altLang="ko-KR"/>
              <a:t>AND operations</a:t>
            </a:r>
          </a:p>
          <a:p>
            <a:pPr lvl="1" eaLnBrk="1" hangingPunct="1"/>
            <a:r>
              <a:rPr lang="en-US" altLang="ko-KR"/>
              <a:t>Bitwise AND operation</a:t>
            </a:r>
          </a:p>
          <a:p>
            <a:pPr eaLnBrk="1" hangingPunct="1"/>
            <a:r>
              <a:rPr lang="en-US" altLang="ko-KR"/>
              <a:t>OR operations</a:t>
            </a:r>
          </a:p>
          <a:p>
            <a:pPr lvl="1" eaLnBrk="1" hangingPunct="1"/>
            <a:r>
              <a:rPr lang="en-US" altLang="ko-KR"/>
              <a:t>Bitwise OR operation</a:t>
            </a:r>
          </a:p>
          <a:p>
            <a:pPr lvl="1" eaLnBrk="1" hangingPunct="1"/>
            <a:endParaRPr lang="en-US" altLang="ko-KR"/>
          </a:p>
          <a:p>
            <a:pPr eaLnBrk="1" hangingPunct="1"/>
            <a:endParaRPr lang="en-US" altLang="ko-KR"/>
          </a:p>
        </p:txBody>
      </p:sp>
      <p:sp>
        <p:nvSpPr>
          <p:cNvPr id="76802"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6C7BC10E-1ADA-4BC3-B749-5851F5BE7B93}" type="slidenum">
              <a:rPr kumimoji="0" lang="en-US" altLang="ko-KR" sz="1400">
                <a:solidFill>
                  <a:schemeClr val="accent1"/>
                </a:solidFill>
              </a:rPr>
              <a:pPr>
                <a:spcBef>
                  <a:spcPct val="50000"/>
                </a:spcBef>
                <a:buClrTx/>
                <a:buSzTx/>
                <a:buFontTx/>
                <a:buNone/>
              </a:pPr>
              <a:t>54</a:t>
            </a:fld>
            <a:endParaRPr kumimoji="0" lang="en-US" altLang="ko-KR" sz="1400">
              <a:solidFill>
                <a:schemeClr val="accent1"/>
              </a:solidFill>
            </a:endParaRPr>
          </a:p>
        </p:txBody>
      </p:sp>
    </p:spTree>
    <p:extLst>
      <p:ext uri="{BB962C8B-B14F-4D97-AF65-F5344CB8AC3E}">
        <p14:creationId xmlns:p14="http://schemas.microsoft.com/office/powerpoint/2010/main" val="20826727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pPr eaLnBrk="1" hangingPunct="1">
              <a:defRPr/>
            </a:pPr>
            <a:r>
              <a:rPr lang="en-US" altLang="ko-KR"/>
              <a:t>NOT Operations</a:t>
            </a:r>
          </a:p>
        </p:txBody>
      </p:sp>
      <p:sp>
        <p:nvSpPr>
          <p:cNvPr id="77828" name="Rectangle 3"/>
          <p:cNvSpPr>
            <a:spLocks noGrp="1" noChangeArrowheads="1"/>
          </p:cNvSpPr>
          <p:nvPr>
            <p:ph idx="1"/>
          </p:nvPr>
        </p:nvSpPr>
        <p:spPr>
          <a:xfrm>
            <a:off x="865592" y="1397735"/>
            <a:ext cx="8596668" cy="3880773"/>
          </a:xfrm>
        </p:spPr>
        <p:txBody>
          <a:bodyPr/>
          <a:lstStyle/>
          <a:p>
            <a:pPr eaLnBrk="1" hangingPunct="1">
              <a:buFont typeface="Wingdings" panose="05000000000000000000" pitchFamily="2" charset="2"/>
              <a:buNone/>
            </a:pPr>
            <a:endParaRPr lang="en-US" altLang="ko-KR" sz="2400">
              <a:solidFill>
                <a:srgbClr val="000000"/>
              </a:solidFill>
            </a:endParaRPr>
          </a:p>
          <a:p>
            <a:pPr eaLnBrk="1" hangingPunct="1"/>
            <a:r>
              <a:rPr lang="en-US" altLang="ko-KR" sz="2400"/>
              <a:t>   </a:t>
            </a:r>
            <a:r>
              <a:rPr lang="en-US" altLang="ko-KR" sz="2400" i="1"/>
              <a:t>new Pixel = 255 </a:t>
            </a:r>
            <a:r>
              <a:rPr lang="en-US" altLang="ko-KR" sz="2400" i="1">
                <a:latin typeface="Times New Roman" panose="02020603050405020304" pitchFamily="18" charset="0"/>
              </a:rPr>
              <a:t>–</a:t>
            </a:r>
            <a:r>
              <a:rPr lang="en-US" altLang="ko-KR" sz="2400" i="1"/>
              <a:t> old Pixel</a:t>
            </a:r>
          </a:p>
        </p:txBody>
      </p:sp>
      <p:sp>
        <p:nvSpPr>
          <p:cNvPr id="77826" name="슬라이드 번호 개체 틀 3"/>
          <p:cNvSpPr>
            <a:spLocks noGrp="1"/>
          </p:cNvSpPr>
          <p:nvPr>
            <p:ph type="sldNum" sz="quarter" idx="12"/>
          </p:nvPr>
        </p:nvSpPr>
        <p:spPr>
          <a:xfrm>
            <a:off x="6846545" y="5566225"/>
            <a:ext cx="911939"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1C1563FA-DBE4-465A-B8B8-D6754DB08EEA}" type="slidenum">
              <a:rPr kumimoji="0" lang="en-US" altLang="ko-KR" sz="1400">
                <a:solidFill>
                  <a:schemeClr val="accent1"/>
                </a:solidFill>
              </a:rPr>
              <a:pPr>
                <a:spcBef>
                  <a:spcPct val="50000"/>
                </a:spcBef>
                <a:buClrTx/>
                <a:buSzTx/>
                <a:buFontTx/>
                <a:buNone/>
              </a:pPr>
              <a:t>55</a:t>
            </a:fld>
            <a:endParaRPr kumimoji="0" lang="en-US" altLang="ko-KR" sz="1400">
              <a:solidFill>
                <a:schemeClr val="accent1"/>
              </a:solidFill>
            </a:endParaRPr>
          </a:p>
        </p:txBody>
      </p:sp>
      <p:pic>
        <p:nvPicPr>
          <p:cNvPr id="77829" name="Picture 4" descr="UNI00f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6006" y="26849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Picture 5" descr="UNI00f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7130" y="2728815"/>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1" name="Text Box 6"/>
          <p:cNvSpPr txBox="1">
            <a:spLocks noChangeArrowheads="1"/>
          </p:cNvSpPr>
          <p:nvPr/>
        </p:nvSpPr>
        <p:spPr bwMode="auto">
          <a:xfrm>
            <a:off x="2412322" y="4922076"/>
            <a:ext cx="1209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400" dirty="0">
                <a:latin typeface="Times New Roman" panose="02020603050405020304" pitchFamily="18" charset="0"/>
              </a:rPr>
              <a:t>Original</a:t>
            </a:r>
            <a:endParaRPr lang="ko-KR" altLang="en-US" sz="2400" dirty="0">
              <a:latin typeface="Times New Roman" panose="02020603050405020304" pitchFamily="18" charset="0"/>
            </a:endParaRPr>
          </a:p>
        </p:txBody>
      </p:sp>
      <p:sp>
        <p:nvSpPr>
          <p:cNvPr id="77832" name="Text Box 7"/>
          <p:cNvSpPr txBox="1">
            <a:spLocks noChangeArrowheads="1"/>
          </p:cNvSpPr>
          <p:nvPr/>
        </p:nvSpPr>
        <p:spPr bwMode="auto">
          <a:xfrm>
            <a:off x="5266006" y="4918465"/>
            <a:ext cx="2119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400" dirty="0">
                <a:latin typeface="Times New Roman" panose="02020603050405020304" pitchFamily="18" charset="0"/>
              </a:rPr>
              <a:t>NOT Operation</a:t>
            </a:r>
            <a:endParaRPr lang="ko-KR" altLang="en-US" sz="2400" dirty="0">
              <a:latin typeface="Times New Roman" panose="02020603050405020304" pitchFamily="18" charset="0"/>
            </a:endParaRPr>
          </a:p>
        </p:txBody>
      </p:sp>
    </p:spTree>
    <p:extLst>
      <p:ext uri="{BB962C8B-B14F-4D97-AF65-F5344CB8AC3E}">
        <p14:creationId xmlns:p14="http://schemas.microsoft.com/office/powerpoint/2010/main" val="24129950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normAutofit/>
          </a:bodyPr>
          <a:lstStyle/>
          <a:p>
            <a:pPr eaLnBrk="1" hangingPunct="1">
              <a:defRPr/>
            </a:pPr>
            <a:r>
              <a:rPr lang="en-US" altLang="ko-KR" sz="3200"/>
              <a:t>XOR Operations</a:t>
            </a:r>
          </a:p>
        </p:txBody>
      </p:sp>
      <p:sp>
        <p:nvSpPr>
          <p:cNvPr id="78852" name="Rectangle 3"/>
          <p:cNvSpPr>
            <a:spLocks noGrp="1" noChangeArrowheads="1"/>
          </p:cNvSpPr>
          <p:nvPr>
            <p:ph idx="1"/>
          </p:nvPr>
        </p:nvSpPr>
        <p:spPr>
          <a:xfrm>
            <a:off x="1912939" y="952500"/>
            <a:ext cx="8364537" cy="4953000"/>
          </a:xfrm>
        </p:spPr>
        <p:txBody>
          <a:bodyPr/>
          <a:lstStyle/>
          <a:p>
            <a:pPr marL="914400" lvl="1" indent="-457200">
              <a:lnSpc>
                <a:spcPct val="70000"/>
              </a:lnSpc>
            </a:pPr>
            <a:endParaRPr lang="en-US" altLang="ko-KR" sz="2500" dirty="0">
              <a:latin typeface="Arial" panose="020B0604020202020204" pitchFamily="34" charset="0"/>
              <a:cs typeface="Arial" panose="020B0604020202020204" pitchFamily="34" charset="0"/>
            </a:endParaRPr>
          </a:p>
          <a:p>
            <a:pPr marL="914400" lvl="1" indent="-457200">
              <a:lnSpc>
                <a:spcPct val="70000"/>
              </a:lnSpc>
            </a:pPr>
            <a:r>
              <a:rPr lang="en-US" altLang="ko-KR" sz="2000" dirty="0">
                <a:latin typeface="Arial" panose="020B0604020202020204" pitchFamily="34" charset="0"/>
                <a:cs typeface="Arial" panose="020B0604020202020204" pitchFamily="34" charset="0"/>
              </a:rPr>
              <a:t>XOR function sets bits that are the same in each operand to 0 and bits that are different to 1. </a:t>
            </a:r>
          </a:p>
          <a:p>
            <a:pPr marL="914400" lvl="1" indent="-457200">
              <a:lnSpc>
                <a:spcPct val="70000"/>
              </a:lnSpc>
            </a:pPr>
            <a:r>
              <a:rPr lang="en-US" altLang="ko-KR" sz="2000" dirty="0">
                <a:latin typeface="Arial" panose="020B0604020202020204" pitchFamily="34" charset="0"/>
                <a:cs typeface="Arial" panose="020B0604020202020204" pitchFamily="34" charset="0"/>
              </a:rPr>
              <a:t>In image processing, XOR operation sets the pixels that are specified to black, others to nonblack.</a:t>
            </a:r>
          </a:p>
          <a:p>
            <a:pPr marL="914400" lvl="1" indent="-457200">
              <a:lnSpc>
                <a:spcPct val="70000"/>
              </a:lnSpc>
            </a:pPr>
            <a:r>
              <a:rPr lang="en-US" altLang="ko-KR" sz="2000" dirty="0">
                <a:latin typeface="Arial" panose="020B0604020202020204" pitchFamily="34" charset="0"/>
                <a:cs typeface="Arial" panose="020B0604020202020204" pitchFamily="34" charset="0"/>
              </a:rPr>
              <a:t>Usage</a:t>
            </a:r>
          </a:p>
          <a:p>
            <a:pPr marL="1295400" lvl="2" indent="-381000">
              <a:lnSpc>
                <a:spcPct val="70000"/>
              </a:lnSpc>
            </a:pPr>
            <a:r>
              <a:rPr lang="en-US" altLang="ko-KR" sz="2000" dirty="0">
                <a:latin typeface="Arial" panose="020B0604020202020204" pitchFamily="34" charset="0"/>
                <a:cs typeface="Arial" panose="020B0604020202020204" pitchFamily="34" charset="0"/>
              </a:rPr>
              <a:t>Used to find all pixels of a certain value</a:t>
            </a:r>
          </a:p>
          <a:p>
            <a:pPr marL="1295400" lvl="2" indent="-381000">
              <a:lnSpc>
                <a:spcPct val="70000"/>
              </a:lnSpc>
            </a:pPr>
            <a:r>
              <a:rPr lang="en-US" altLang="ko-KR" sz="2000" dirty="0">
                <a:latin typeface="Arial" panose="020B0604020202020204" pitchFamily="34" charset="0"/>
                <a:cs typeface="Arial" panose="020B0604020202020204" pitchFamily="34" charset="0"/>
              </a:rPr>
              <a:t>Frequently used to draw a cursor for the mouse</a:t>
            </a:r>
          </a:p>
          <a:p>
            <a:pPr marL="1295400" lvl="2" indent="-381000">
              <a:lnSpc>
                <a:spcPct val="70000"/>
              </a:lnSpc>
            </a:pPr>
            <a:r>
              <a:rPr lang="en-US" altLang="ko-KR" sz="2000" dirty="0">
                <a:latin typeface="Arial" panose="020B0604020202020204" pitchFamily="34" charset="0"/>
                <a:cs typeface="Arial" panose="020B0604020202020204" pitchFamily="34" charset="0"/>
              </a:rPr>
              <a:t>For some special effects</a:t>
            </a:r>
          </a:p>
        </p:txBody>
      </p:sp>
      <p:pic>
        <p:nvPicPr>
          <p:cNvPr id="78853" name="Picture 4" descr="UNI00e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1" y="3897312"/>
            <a:ext cx="5040313" cy="235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37631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en-US" altLang="ko-KR"/>
              <a:t>XOR Operations</a:t>
            </a:r>
          </a:p>
        </p:txBody>
      </p:sp>
      <p:sp>
        <p:nvSpPr>
          <p:cNvPr id="79874"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B64EAFEE-E422-4DFD-9879-8F99BF673FAE}" type="slidenum">
              <a:rPr kumimoji="0" lang="en-US" altLang="ko-KR" sz="1400">
                <a:solidFill>
                  <a:schemeClr val="accent1"/>
                </a:solidFill>
              </a:rPr>
              <a:pPr>
                <a:spcBef>
                  <a:spcPct val="50000"/>
                </a:spcBef>
                <a:buClrTx/>
                <a:buSzTx/>
                <a:buFontTx/>
                <a:buNone/>
              </a:pPr>
              <a:t>57</a:t>
            </a:fld>
            <a:endParaRPr kumimoji="0" lang="en-US" altLang="ko-KR" sz="1400">
              <a:solidFill>
                <a:schemeClr val="accent1"/>
              </a:solidFill>
            </a:endParaRPr>
          </a:p>
        </p:txBody>
      </p:sp>
      <p:pic>
        <p:nvPicPr>
          <p:cNvPr id="79876" name="Picture 3"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0755" y="1270000"/>
            <a:ext cx="393382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7" name="Picture 4"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1" y="3800476"/>
            <a:ext cx="3933825"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8" name="Text Box 5"/>
          <p:cNvSpPr txBox="1">
            <a:spLocks noChangeArrowheads="1"/>
          </p:cNvSpPr>
          <p:nvPr/>
        </p:nvSpPr>
        <p:spPr bwMode="auto">
          <a:xfrm>
            <a:off x="6096000" y="2133601"/>
            <a:ext cx="162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&lt;ORIGINAL&gt;</a:t>
            </a:r>
          </a:p>
        </p:txBody>
      </p:sp>
      <p:sp>
        <p:nvSpPr>
          <p:cNvPr id="79879" name="Text Box 6"/>
          <p:cNvSpPr txBox="1">
            <a:spLocks noChangeArrowheads="1"/>
          </p:cNvSpPr>
          <p:nvPr/>
        </p:nvSpPr>
        <p:spPr bwMode="auto">
          <a:xfrm>
            <a:off x="7177088" y="6262688"/>
            <a:ext cx="2762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  XOR   250&gt;</a:t>
            </a:r>
          </a:p>
        </p:txBody>
      </p:sp>
      <p:sp>
        <p:nvSpPr>
          <p:cNvPr id="79880" name="Text Box 7"/>
          <p:cNvSpPr txBox="1">
            <a:spLocks noChangeArrowheads="1"/>
          </p:cNvSpPr>
          <p:nvPr/>
        </p:nvSpPr>
        <p:spPr bwMode="auto">
          <a:xfrm>
            <a:off x="2743200" y="6248401"/>
            <a:ext cx="2762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lgn="ctr" eaLnBrk="1" latinLnBrk="0" hangingPunct="1">
              <a:spcBef>
                <a:spcPct val="0"/>
              </a:spcBef>
              <a:buClrTx/>
              <a:buSzTx/>
              <a:buFontTx/>
              <a:buNone/>
            </a:pPr>
            <a:r>
              <a:rPr lang="en-US" altLang="ko-KR" sz="1800" b="1">
                <a:latin typeface="Times New Roman" panose="02020603050405020304" pitchFamily="18" charset="0"/>
                <a:ea typeface="궁서체" panose="02030609000101010101" pitchFamily="49" charset="-127"/>
              </a:rPr>
              <a:t>&lt;ORIGINAL  XOR   128&gt;</a:t>
            </a:r>
          </a:p>
        </p:txBody>
      </p:sp>
      <p:pic>
        <p:nvPicPr>
          <p:cNvPr id="79881" name="Picture 8" descr="Image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829050"/>
            <a:ext cx="4114800"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00282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altLang="ko-KR" dirty="0"/>
              <a:t>AND operations</a:t>
            </a:r>
            <a:r>
              <a:rPr lang="ko-KR" altLang="en-US" dirty="0"/>
              <a:t> </a:t>
            </a:r>
          </a:p>
        </p:txBody>
      </p:sp>
      <p:sp>
        <p:nvSpPr>
          <p:cNvPr id="80898"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A98D6A6C-658D-4307-BD2C-50173B689F95}" type="slidenum">
              <a:rPr kumimoji="0" lang="en-US" altLang="ko-KR" sz="1400">
                <a:solidFill>
                  <a:schemeClr val="accent1"/>
                </a:solidFill>
              </a:rPr>
              <a:pPr>
                <a:spcBef>
                  <a:spcPct val="50000"/>
                </a:spcBef>
                <a:buClrTx/>
                <a:buSzTx/>
                <a:buFontTx/>
                <a:buNone/>
              </a:pPr>
              <a:t>58</a:t>
            </a:fld>
            <a:endParaRPr kumimoji="0" lang="en-US" altLang="ko-KR" sz="1400">
              <a:solidFill>
                <a:schemeClr val="accent1"/>
              </a:solidFill>
            </a:endParaRPr>
          </a:p>
        </p:txBody>
      </p:sp>
      <p:sp>
        <p:nvSpPr>
          <p:cNvPr id="80900" name="Rectangle 3"/>
          <p:cNvSpPr>
            <a:spLocks noChangeArrowheads="1"/>
          </p:cNvSpPr>
          <p:nvPr/>
        </p:nvSpPr>
        <p:spPr bwMode="auto">
          <a:xfrm>
            <a:off x="2879725" y="24399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ko-KR" altLang="en-US" sz="2400">
              <a:latin typeface="Times New Roman" panose="02020603050405020304" pitchFamily="18" charset="0"/>
            </a:endParaRPr>
          </a:p>
        </p:txBody>
      </p:sp>
      <p:grpSp>
        <p:nvGrpSpPr>
          <p:cNvPr id="80901" name="Group 4"/>
          <p:cNvGrpSpPr>
            <a:grpSpLocks/>
          </p:cNvGrpSpPr>
          <p:nvPr/>
        </p:nvGrpSpPr>
        <p:grpSpPr bwMode="auto">
          <a:xfrm>
            <a:off x="2360614" y="3810000"/>
            <a:ext cx="7470775" cy="1885950"/>
            <a:chOff x="480" y="1566"/>
            <a:chExt cx="4706" cy="1188"/>
          </a:xfrm>
        </p:grpSpPr>
        <p:pic>
          <p:nvPicPr>
            <p:cNvPr id="80904" name="Picture 5" descr="UNI00e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 y="1577"/>
              <a:ext cx="1181" cy="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5" name="Picture 6" descr="UNI00e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3" y="1577"/>
              <a:ext cx="1174" cy="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6" name="Picture 7" descr="UNI00e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4" y="1566"/>
              <a:ext cx="1202" cy="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7" name="Text Box 8"/>
            <p:cNvSpPr txBox="1">
              <a:spLocks noChangeArrowheads="1"/>
            </p:cNvSpPr>
            <p:nvPr/>
          </p:nvSpPr>
          <p:spPr bwMode="auto">
            <a:xfrm>
              <a:off x="1680" y="2016"/>
              <a:ext cx="5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400">
                  <a:latin typeface="Times New Roman" panose="02020603050405020304" pitchFamily="18" charset="0"/>
                </a:rPr>
                <a:t>AND</a:t>
              </a:r>
            </a:p>
          </p:txBody>
        </p:sp>
        <p:sp>
          <p:nvSpPr>
            <p:cNvPr id="80908" name="Text Box 9"/>
            <p:cNvSpPr txBox="1">
              <a:spLocks noChangeArrowheads="1"/>
            </p:cNvSpPr>
            <p:nvPr/>
          </p:nvSpPr>
          <p:spPr bwMode="auto">
            <a:xfrm>
              <a:off x="3552" y="201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r>
                <a:rPr lang="en-US" altLang="ko-KR" sz="2400">
                  <a:latin typeface="Times New Roman" panose="02020603050405020304" pitchFamily="18" charset="0"/>
                </a:rPr>
                <a:t>=</a:t>
              </a:r>
            </a:p>
          </p:txBody>
        </p:sp>
      </p:grpSp>
      <p:graphicFrame>
        <p:nvGraphicFramePr>
          <p:cNvPr id="80903" name="Object 11"/>
          <p:cNvGraphicFramePr>
            <a:graphicFrameLocks noChangeAspect="1"/>
          </p:cNvGraphicFramePr>
          <p:nvPr/>
        </p:nvGraphicFramePr>
        <p:xfrm>
          <a:off x="2438400" y="2209800"/>
          <a:ext cx="4724400" cy="1066800"/>
        </p:xfrm>
        <a:graphic>
          <a:graphicData uri="http://schemas.openxmlformats.org/presentationml/2006/ole">
            <mc:AlternateContent xmlns:mc="http://schemas.openxmlformats.org/markup-compatibility/2006">
              <mc:Choice xmlns:v="urn:schemas-microsoft-com:vml" Requires="v">
                <p:oleObj name="그림" r:id="rId5" imgW="4114286" imgH="969805" progId="StaticMetafile">
                  <p:embed/>
                </p:oleObj>
              </mc:Choice>
              <mc:Fallback>
                <p:oleObj name="그림" r:id="rId5" imgW="4114286" imgH="969805" progId="StaticMetafil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2209800"/>
                        <a:ext cx="4724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588275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defRPr/>
            </a:pPr>
            <a:r>
              <a:rPr lang="en-US" altLang="ko-KR" dirty="0"/>
              <a:t>OR operations</a:t>
            </a:r>
            <a:endParaRPr lang="ko-KR" altLang="en-US" dirty="0"/>
          </a:p>
        </p:txBody>
      </p:sp>
      <p:sp>
        <p:nvSpPr>
          <p:cNvPr id="81922" name="슬라이드 번호 개체 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a:spcBef>
                <a:spcPct val="50000"/>
              </a:spcBef>
              <a:buClrTx/>
              <a:buSzTx/>
              <a:buFontTx/>
              <a:buNone/>
            </a:pPr>
            <a:fld id="{C87C1195-2247-4855-9E25-F07B6D07E884}" type="slidenum">
              <a:rPr kumimoji="0" lang="en-US" altLang="ko-KR" sz="1400">
                <a:solidFill>
                  <a:schemeClr val="accent1"/>
                </a:solidFill>
              </a:rPr>
              <a:pPr>
                <a:spcBef>
                  <a:spcPct val="50000"/>
                </a:spcBef>
                <a:buClrTx/>
                <a:buSzTx/>
                <a:buFontTx/>
                <a:buNone/>
              </a:pPr>
              <a:t>59</a:t>
            </a:fld>
            <a:endParaRPr kumimoji="0" lang="en-US" altLang="ko-KR" sz="1400">
              <a:solidFill>
                <a:schemeClr val="accent1"/>
              </a:solidFill>
            </a:endParaRPr>
          </a:p>
        </p:txBody>
      </p:sp>
      <p:sp>
        <p:nvSpPr>
          <p:cNvPr id="81925" name="Rectangle 4"/>
          <p:cNvSpPr>
            <a:spLocks noChangeArrowheads="1"/>
          </p:cNvSpPr>
          <p:nvPr/>
        </p:nvSpPr>
        <p:spPr bwMode="auto">
          <a:xfrm>
            <a:off x="2790825" y="23320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latinLnBrk="1">
              <a:spcBef>
                <a:spcPct val="20000"/>
              </a:spcBef>
              <a:buClr>
                <a:schemeClr val="accent1"/>
              </a:buClr>
              <a:buSzPct val="80000"/>
              <a:buFont typeface="Wingdings" panose="05000000000000000000" pitchFamily="2" charset="2"/>
              <a:buChar char="n"/>
              <a:defRPr kumimoji="1" sz="3200">
                <a:solidFill>
                  <a:schemeClr val="tx1"/>
                </a:solidFill>
                <a:latin typeface="굴림" panose="020B0600000101010101" pitchFamily="34" charset="-127"/>
                <a:ea typeface="굴림" panose="020B0600000101010101" pitchFamily="34" charset="-127"/>
              </a:defRPr>
            </a:lvl1pPr>
            <a:lvl2pPr marL="742950" indent="-285750" latinLnBrk="1">
              <a:spcBef>
                <a:spcPct val="20000"/>
              </a:spcBef>
              <a:buChar char="–"/>
              <a:defRPr kumimoji="1" sz="2800">
                <a:solidFill>
                  <a:schemeClr val="tx1"/>
                </a:solidFill>
                <a:latin typeface="굴림" panose="020B0600000101010101" pitchFamily="34" charset="-127"/>
                <a:ea typeface="굴림" panose="020B0600000101010101" pitchFamily="34" charset="-127"/>
              </a:defRPr>
            </a:lvl2pPr>
            <a:lvl3pPr marL="1143000" indent="-228600" latinLnBrk="1">
              <a:spcBef>
                <a:spcPct val="20000"/>
              </a:spcBef>
              <a:buChar char="•"/>
              <a:defRPr kumimoji="1" sz="2400">
                <a:solidFill>
                  <a:schemeClr val="tx1"/>
                </a:solidFill>
                <a:latin typeface="굴림" panose="020B0600000101010101" pitchFamily="34" charset="-127"/>
                <a:ea typeface="굴림" panose="020B0600000101010101" pitchFamily="34" charset="-127"/>
              </a:defRPr>
            </a:lvl3pPr>
            <a:lvl4pPr marL="16002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4pPr>
            <a:lvl5pPr marL="2057400" indent="-228600" latinLnBrk="1">
              <a:spcBef>
                <a:spcPct val="20000"/>
              </a:spcBef>
              <a:buChar char="»"/>
              <a:defRPr kumimoji="1" sz="2000">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굴림" panose="020B0600000101010101" pitchFamily="34" charset="-127"/>
                <a:ea typeface="굴림" panose="020B0600000101010101" pitchFamily="34" charset="-127"/>
              </a:defRPr>
            </a:lvl9pPr>
          </a:lstStyle>
          <a:p>
            <a:pPr eaLnBrk="1" hangingPunct="1">
              <a:spcBef>
                <a:spcPct val="0"/>
              </a:spcBef>
              <a:buClrTx/>
              <a:buSzTx/>
              <a:buFontTx/>
              <a:buNone/>
            </a:pPr>
            <a:endParaRPr lang="ko-KR" altLang="en-US" sz="2400">
              <a:latin typeface="Times New Roman" panose="02020603050405020304" pitchFamily="18" charset="0"/>
            </a:endParaRPr>
          </a:p>
        </p:txBody>
      </p:sp>
      <p:pic>
        <p:nvPicPr>
          <p:cNvPr id="81926" name="Picture 5" descr="UNI00e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429001"/>
            <a:ext cx="731520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1927" name="Object 6"/>
          <p:cNvGraphicFramePr>
            <a:graphicFrameLocks noChangeAspect="1"/>
          </p:cNvGraphicFramePr>
          <p:nvPr/>
        </p:nvGraphicFramePr>
        <p:xfrm>
          <a:off x="2362200" y="2133600"/>
          <a:ext cx="4414838" cy="1074738"/>
        </p:xfrm>
        <a:graphic>
          <a:graphicData uri="http://schemas.openxmlformats.org/presentationml/2006/ole">
            <mc:AlternateContent xmlns:mc="http://schemas.openxmlformats.org/markup-compatibility/2006">
              <mc:Choice xmlns:v="urn:schemas-microsoft-com:vml" Requires="v">
                <p:oleObj name="그림" r:id="rId3" imgW="4415331" imgH="1074627" progId="StaticMetafile">
                  <p:embed/>
                </p:oleObj>
              </mc:Choice>
              <mc:Fallback>
                <p:oleObj name="그림" r:id="rId3" imgW="4415331" imgH="1074627" progId="StaticMetafil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133600"/>
                        <a:ext cx="4414838" cy="107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546992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pic>
        <p:nvPicPr>
          <p:cNvPr id="5" name="Picture 4"/>
          <p:cNvPicPr>
            <a:picLocks noChangeAspect="1"/>
          </p:cNvPicPr>
          <p:nvPr/>
        </p:nvPicPr>
        <p:blipFill>
          <a:blip r:embed="rId2"/>
          <a:stretch>
            <a:fillRect/>
          </a:stretch>
        </p:blipFill>
        <p:spPr>
          <a:xfrm>
            <a:off x="1489531" y="1814926"/>
            <a:ext cx="3486137" cy="4351338"/>
          </a:xfrm>
          <a:prstGeom prst="rect">
            <a:avLst/>
          </a:prstGeom>
        </p:spPr>
      </p:pic>
    </p:spTree>
    <p:extLst>
      <p:ext uri="{BB962C8B-B14F-4D97-AF65-F5344CB8AC3E}">
        <p14:creationId xmlns:p14="http://schemas.microsoft.com/office/powerpoint/2010/main" val="20453039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22241046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33015112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6493</TotalTime>
  <Words>2152</Words>
  <Application>Microsoft Office PowerPoint</Application>
  <PresentationFormat>Widescreen</PresentationFormat>
  <Paragraphs>344</Paragraphs>
  <Slides>62</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62</vt:i4>
      </vt:variant>
    </vt:vector>
  </HeadingPairs>
  <TitlesOfParts>
    <vt:vector size="73" baseType="lpstr">
      <vt:lpstr>Arial</vt:lpstr>
      <vt:lpstr>Arial Narrow</vt:lpstr>
      <vt:lpstr>Calibri</vt:lpstr>
      <vt:lpstr>Times New Roman</vt:lpstr>
      <vt:lpstr>Trebuchet MS</vt:lpstr>
      <vt:lpstr>Wingdings</vt:lpstr>
      <vt:lpstr>Wingdings 3</vt:lpstr>
      <vt:lpstr>Facet</vt:lpstr>
      <vt:lpstr>비트맵 이미지</vt:lpstr>
      <vt:lpstr>Equation</vt:lpstr>
      <vt:lpstr>그림</vt:lpstr>
      <vt:lpstr>Multimedia Computing</vt:lpstr>
      <vt:lpstr>Content</vt:lpstr>
      <vt:lpstr>Types of image</vt:lpstr>
      <vt:lpstr>Types of image</vt:lpstr>
      <vt:lpstr>RGB image</vt:lpstr>
      <vt:lpstr>Image Data type</vt:lpstr>
      <vt:lpstr>Point processes</vt:lpstr>
      <vt:lpstr>PowerPoint Presentation</vt:lpstr>
      <vt:lpstr>PowerPoint Presentation</vt:lpstr>
      <vt:lpstr>PowerPoint Presentation</vt:lpstr>
      <vt:lpstr>Look-up Table (LUT)</vt:lpstr>
      <vt:lpstr>Look-up Table (LUT)</vt:lpstr>
      <vt:lpstr>The model of point processing</vt:lpstr>
      <vt:lpstr>Histogram</vt:lpstr>
      <vt:lpstr>Histogram </vt:lpstr>
      <vt:lpstr>PowerPoint Presentation</vt:lpstr>
      <vt:lpstr>PowerPoint Presentation</vt:lpstr>
      <vt:lpstr>Histogram</vt:lpstr>
      <vt:lpstr>Histogram</vt:lpstr>
      <vt:lpstr>Histogram Equalization</vt:lpstr>
      <vt:lpstr>Histogram Equalization</vt:lpstr>
      <vt:lpstr>Histogram Equalization</vt:lpstr>
      <vt:lpstr>Histogram Equalization</vt:lpstr>
      <vt:lpstr>Histogram Equalization</vt:lpstr>
      <vt:lpstr>Histogram Equalization</vt:lpstr>
      <vt:lpstr>Histogram Equalization</vt:lpstr>
      <vt:lpstr>Histogram Equalization</vt:lpstr>
      <vt:lpstr>Histogram Equalization</vt:lpstr>
      <vt:lpstr>Histogram Equalization</vt:lpstr>
      <vt:lpstr>Histogram Equalization</vt:lpstr>
      <vt:lpstr>Histogram Equalization</vt:lpstr>
      <vt:lpstr>Histogram Equalization</vt:lpstr>
      <vt:lpstr>PowerPoint Presentation</vt:lpstr>
      <vt:lpstr>PowerPoint Presentation</vt:lpstr>
      <vt:lpstr>Histogram Equalization</vt:lpstr>
      <vt:lpstr>Histogram Equalization</vt:lpstr>
      <vt:lpstr>Histogram Equalization</vt:lpstr>
      <vt:lpstr>Histogram Equalization</vt:lpstr>
      <vt:lpstr>Histogram Equalization</vt:lpstr>
      <vt:lpstr>Histogram Specification</vt:lpstr>
      <vt:lpstr>Histogram Specification </vt:lpstr>
      <vt:lpstr>Histogram Specification</vt:lpstr>
      <vt:lpstr>Histogram Specification </vt:lpstr>
      <vt:lpstr>Histogram Specification</vt:lpstr>
      <vt:lpstr>PowerPoint Presentation</vt:lpstr>
      <vt:lpstr>Arithmetic operations</vt:lpstr>
      <vt:lpstr>PowerPoint Presentation</vt:lpstr>
      <vt:lpstr>Arithmetic Operations</vt:lpstr>
      <vt:lpstr>Arithmetic operations</vt:lpstr>
      <vt:lpstr>Arithmetic Operations</vt:lpstr>
      <vt:lpstr>Point processes</vt:lpstr>
      <vt:lpstr>Arithmetic Operations</vt:lpstr>
      <vt:lpstr>Point processes</vt:lpstr>
      <vt:lpstr>Logic operations</vt:lpstr>
      <vt:lpstr>NOT Operations</vt:lpstr>
      <vt:lpstr>XOR Operations</vt:lpstr>
      <vt:lpstr>XOR Operations</vt:lpstr>
      <vt:lpstr>AND operations </vt:lpstr>
      <vt:lpstr>OR operations</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131</cp:revision>
  <dcterms:created xsi:type="dcterms:W3CDTF">2020-01-27T14:45:02Z</dcterms:created>
  <dcterms:modified xsi:type="dcterms:W3CDTF">2024-10-07T06:02:43Z</dcterms:modified>
</cp:coreProperties>
</file>