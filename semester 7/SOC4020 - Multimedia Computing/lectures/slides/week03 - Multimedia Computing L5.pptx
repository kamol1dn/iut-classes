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58"/>
  </p:notesMasterIdLst>
  <p:sldIdLst>
    <p:sldId id="256" r:id="rId2"/>
    <p:sldId id="258" r:id="rId3"/>
    <p:sldId id="291" r:id="rId4"/>
    <p:sldId id="292" r:id="rId5"/>
    <p:sldId id="293" r:id="rId6"/>
    <p:sldId id="294" r:id="rId7"/>
    <p:sldId id="295" r:id="rId8"/>
    <p:sldId id="296" r:id="rId9"/>
    <p:sldId id="297" r:id="rId10"/>
    <p:sldId id="298" r:id="rId11"/>
    <p:sldId id="313" r:id="rId12"/>
    <p:sldId id="315" r:id="rId13"/>
    <p:sldId id="316" r:id="rId14"/>
    <p:sldId id="321" r:id="rId15"/>
    <p:sldId id="322" r:id="rId16"/>
    <p:sldId id="323" r:id="rId17"/>
    <p:sldId id="304" r:id="rId18"/>
    <p:sldId id="326" r:id="rId19"/>
    <p:sldId id="328" r:id="rId20"/>
    <p:sldId id="327" r:id="rId21"/>
    <p:sldId id="355" r:id="rId22"/>
    <p:sldId id="288" r:id="rId23"/>
    <p:sldId id="277" r:id="rId24"/>
    <p:sldId id="290" r:id="rId25"/>
    <p:sldId id="289" r:id="rId26"/>
    <p:sldId id="344" r:id="rId27"/>
    <p:sldId id="345" r:id="rId28"/>
    <p:sldId id="346" r:id="rId29"/>
    <p:sldId id="279" r:id="rId30"/>
    <p:sldId id="314" r:id="rId31"/>
    <p:sldId id="280" r:id="rId32"/>
    <p:sldId id="281" r:id="rId33"/>
    <p:sldId id="348" r:id="rId34"/>
    <p:sldId id="307" r:id="rId35"/>
    <p:sldId id="309" r:id="rId36"/>
    <p:sldId id="282" r:id="rId37"/>
    <p:sldId id="283" r:id="rId38"/>
    <p:sldId id="349" r:id="rId39"/>
    <p:sldId id="347" r:id="rId40"/>
    <p:sldId id="287" r:id="rId41"/>
    <p:sldId id="284" r:id="rId42"/>
    <p:sldId id="356" r:id="rId43"/>
    <p:sldId id="329" r:id="rId44"/>
    <p:sldId id="330" r:id="rId45"/>
    <p:sldId id="331" r:id="rId46"/>
    <p:sldId id="354" r:id="rId47"/>
    <p:sldId id="358" r:id="rId48"/>
    <p:sldId id="359" r:id="rId49"/>
    <p:sldId id="350" r:id="rId50"/>
    <p:sldId id="351" r:id="rId51"/>
    <p:sldId id="302" r:id="rId52"/>
    <p:sldId id="306" r:id="rId53"/>
    <p:sldId id="352" r:id="rId54"/>
    <p:sldId id="311" r:id="rId55"/>
    <p:sldId id="299" r:id="rId56"/>
    <p:sldId id="300"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633" autoAdjust="0"/>
  </p:normalViewPr>
  <p:slideViewPr>
    <p:cSldViewPr snapToGrid="0">
      <p:cViewPr varScale="1">
        <p:scale>
          <a:sx n="57" d="100"/>
          <a:sy n="57" d="100"/>
        </p:scale>
        <p:origin x="8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1</a:t>
            </a:fld>
            <a:endParaRPr lang="en-US"/>
          </a:p>
        </p:txBody>
      </p:sp>
    </p:spTree>
    <p:extLst>
      <p:ext uri="{BB962C8B-B14F-4D97-AF65-F5344CB8AC3E}">
        <p14:creationId xmlns:p14="http://schemas.microsoft.com/office/powerpoint/2010/main" val="464836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a:t>
            </a:fld>
            <a:endParaRPr lang="en-US"/>
          </a:p>
        </p:txBody>
      </p:sp>
    </p:spTree>
    <p:extLst>
      <p:ext uri="{BB962C8B-B14F-4D97-AF65-F5344CB8AC3E}">
        <p14:creationId xmlns:p14="http://schemas.microsoft.com/office/powerpoint/2010/main" val="150070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d=upper bound – lower bound.   Symbol= lower limit: lower limit + d(probability of symbol)</a:t>
            </a:r>
          </a:p>
        </p:txBody>
      </p:sp>
      <p:sp>
        <p:nvSpPr>
          <p:cNvPr id="4" name="Slide Number Placeholder 3"/>
          <p:cNvSpPr>
            <a:spLocks noGrp="1"/>
          </p:cNvSpPr>
          <p:nvPr>
            <p:ph type="sldNum" sz="quarter" idx="5"/>
          </p:nvPr>
        </p:nvSpPr>
        <p:spPr/>
        <p:txBody>
          <a:bodyPr/>
          <a:lstStyle/>
          <a:p>
            <a:fld id="{118BD2CD-5368-43DB-9451-734A67620D4E}" type="slidenum">
              <a:rPr lang="en-US" smtClean="0"/>
              <a:t>5</a:t>
            </a:fld>
            <a:endParaRPr lang="en-US"/>
          </a:p>
        </p:txBody>
      </p:sp>
    </p:spTree>
    <p:extLst>
      <p:ext uri="{BB962C8B-B14F-4D97-AF65-F5344CB8AC3E}">
        <p14:creationId xmlns:p14="http://schemas.microsoft.com/office/powerpoint/2010/main" val="805866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8B21BB66-6D66-5953-A1B3-69A9E08707AD}"/>
              </a:ext>
            </a:extLst>
          </p:cNvPr>
          <p:cNvSpPr>
            <a:spLocks noGrp="1" noRot="1" noChangeAspect="1" noTextEdit="1"/>
          </p:cNvSpPr>
          <p:nvPr>
            <p:ph type="sldImg"/>
          </p:nvPr>
        </p:nvSpPr>
        <p:spPr>
          <a:ln/>
        </p:spPr>
      </p:sp>
      <p:sp>
        <p:nvSpPr>
          <p:cNvPr id="48131" name="Notes Placeholder 2">
            <a:extLst>
              <a:ext uri="{FF2B5EF4-FFF2-40B4-BE49-F238E27FC236}">
                <a16:creationId xmlns:a16="http://schemas.microsoft.com/office/drawing/2014/main" id="{37B12290-BCF6-91EA-897B-9F34A3338F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8132" name="Slide Number Placeholder 3">
            <a:extLst>
              <a:ext uri="{FF2B5EF4-FFF2-40B4-BE49-F238E27FC236}">
                <a16:creationId xmlns:a16="http://schemas.microsoft.com/office/drawing/2014/main" id="{ECD30FDB-902A-427D-EF7A-AA987BAA49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C457704-29A2-491C-A1E2-88950D5876F4}" type="slidenum">
              <a:rPr lang="en-US" altLang="en-US"/>
              <a:pPr/>
              <a:t>23</a:t>
            </a:fld>
            <a:endParaRPr lang="en-US" altLang="en-US"/>
          </a:p>
        </p:txBody>
      </p:sp>
    </p:spTree>
    <p:extLst>
      <p:ext uri="{BB962C8B-B14F-4D97-AF65-F5344CB8AC3E}">
        <p14:creationId xmlns:p14="http://schemas.microsoft.com/office/powerpoint/2010/main" val="2341804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35D94421-68C0-B25A-FD28-2771BEB2ADAE}"/>
              </a:ext>
            </a:extLst>
          </p:cNvPr>
          <p:cNvSpPr>
            <a:spLocks noGrp="1" noRot="1" noChangeAspect="1" noTextEdit="1"/>
          </p:cNvSpPr>
          <p:nvPr>
            <p:ph type="sldImg"/>
          </p:nvPr>
        </p:nvSpPr>
        <p:spPr>
          <a:ln/>
        </p:spPr>
      </p:sp>
      <p:sp>
        <p:nvSpPr>
          <p:cNvPr id="49155" name="Notes Placeholder 2">
            <a:extLst>
              <a:ext uri="{FF2B5EF4-FFF2-40B4-BE49-F238E27FC236}">
                <a16:creationId xmlns:a16="http://schemas.microsoft.com/office/drawing/2014/main" id="{3B89AD07-3442-EFFB-BAE3-6FB47A2ED1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9156" name="Slide Number Placeholder 3">
            <a:extLst>
              <a:ext uri="{FF2B5EF4-FFF2-40B4-BE49-F238E27FC236}">
                <a16:creationId xmlns:a16="http://schemas.microsoft.com/office/drawing/2014/main" id="{0FD45CC7-DE12-67EA-FDA0-CEED8F7711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C762D48-E0F6-4086-8299-A61FEA7BE32A}" type="slidenum">
              <a:rPr lang="en-US" altLang="en-US"/>
              <a:pPr/>
              <a:t>29</a:t>
            </a:fld>
            <a:endParaRPr lang="en-US" altLang="en-US"/>
          </a:p>
        </p:txBody>
      </p:sp>
    </p:spTree>
    <p:extLst>
      <p:ext uri="{BB962C8B-B14F-4D97-AF65-F5344CB8AC3E}">
        <p14:creationId xmlns:p14="http://schemas.microsoft.com/office/powerpoint/2010/main" val="4166253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F16E6CD6-F706-BA58-CF0D-AA4EA9276F6B}"/>
              </a:ext>
            </a:extLst>
          </p:cNvPr>
          <p:cNvSpPr>
            <a:spLocks noGrp="1" noRot="1" noChangeAspect="1" noTextEdit="1"/>
          </p:cNvSpPr>
          <p:nvPr>
            <p:ph type="sldImg"/>
          </p:nvPr>
        </p:nvSpPr>
        <p:spPr>
          <a:ln/>
        </p:spPr>
      </p:sp>
      <p:sp>
        <p:nvSpPr>
          <p:cNvPr id="50179" name="Notes Placeholder 2">
            <a:extLst>
              <a:ext uri="{FF2B5EF4-FFF2-40B4-BE49-F238E27FC236}">
                <a16:creationId xmlns:a16="http://schemas.microsoft.com/office/drawing/2014/main" id="{5381A205-C8D3-2847-E4B2-25E63AD217F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0180" name="Slide Number Placeholder 3">
            <a:extLst>
              <a:ext uri="{FF2B5EF4-FFF2-40B4-BE49-F238E27FC236}">
                <a16:creationId xmlns:a16="http://schemas.microsoft.com/office/drawing/2014/main" id="{C24CDBE6-B438-723C-0C78-34E7B104F7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111675-D4B9-483C-B26A-204405AE0CA3}" type="slidenum">
              <a:rPr lang="en-US" altLang="en-US"/>
              <a:pPr/>
              <a:t>31</a:t>
            </a:fld>
            <a:endParaRPr lang="en-US" altLang="en-US"/>
          </a:p>
        </p:txBody>
      </p:sp>
    </p:spTree>
    <p:extLst>
      <p:ext uri="{BB962C8B-B14F-4D97-AF65-F5344CB8AC3E}">
        <p14:creationId xmlns:p14="http://schemas.microsoft.com/office/powerpoint/2010/main" val="3921253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C2EF8467-109D-6911-A496-25850994BE19}"/>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id="{ACC8EDC2-7B2B-9F96-723F-39C873DA34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1204" name="Slide Number Placeholder 3">
            <a:extLst>
              <a:ext uri="{FF2B5EF4-FFF2-40B4-BE49-F238E27FC236}">
                <a16:creationId xmlns:a16="http://schemas.microsoft.com/office/drawing/2014/main" id="{529D6211-8C90-0D03-0F53-F21BB743E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7FD6D58-5731-45D7-8503-07688715A4C3}" type="slidenum">
              <a:rPr lang="en-US" altLang="en-US"/>
              <a:pPr/>
              <a:t>32</a:t>
            </a:fld>
            <a:endParaRPr lang="en-US" altLang="en-US"/>
          </a:p>
        </p:txBody>
      </p:sp>
    </p:spTree>
    <p:extLst>
      <p:ext uri="{BB962C8B-B14F-4D97-AF65-F5344CB8AC3E}">
        <p14:creationId xmlns:p14="http://schemas.microsoft.com/office/powerpoint/2010/main" val="2671899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97335BCC-13AA-8982-DB5B-17E20D78ACDB}"/>
              </a:ext>
            </a:extLst>
          </p:cNvPr>
          <p:cNvSpPr>
            <a:spLocks noGrp="1" noRot="1" noChangeAspect="1" noTextEdit="1"/>
          </p:cNvSpPr>
          <p:nvPr>
            <p:ph type="sldImg"/>
          </p:nvPr>
        </p:nvSpPr>
        <p:spPr>
          <a:ln/>
        </p:spPr>
      </p:sp>
      <p:sp>
        <p:nvSpPr>
          <p:cNvPr id="52227" name="Notes Placeholder 2">
            <a:extLst>
              <a:ext uri="{FF2B5EF4-FFF2-40B4-BE49-F238E27FC236}">
                <a16:creationId xmlns:a16="http://schemas.microsoft.com/office/drawing/2014/main" id="{F52E29AD-A084-F437-E74E-A200B8D3F4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2228" name="Footer Placeholder 3">
            <a:extLst>
              <a:ext uri="{FF2B5EF4-FFF2-40B4-BE49-F238E27FC236}">
                <a16:creationId xmlns:a16="http://schemas.microsoft.com/office/drawing/2014/main" id="{7B622FB7-82CE-D49E-BEC1-464B13AC2D1D}"/>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ORCHID Research Group</a:t>
            </a:r>
          </a:p>
          <a:p>
            <a:r>
              <a:rPr lang="en-US" altLang="en-US"/>
              <a:t>Department of Computer Science, University of Illinois at Urbana-Champaign</a:t>
            </a:r>
          </a:p>
        </p:txBody>
      </p:sp>
      <p:sp>
        <p:nvSpPr>
          <p:cNvPr id="52229" name="Slide Number Placeholder 4">
            <a:extLst>
              <a:ext uri="{FF2B5EF4-FFF2-40B4-BE49-F238E27FC236}">
                <a16:creationId xmlns:a16="http://schemas.microsoft.com/office/drawing/2014/main" id="{67C455C0-E1C6-B2AA-D43C-F8B7C0B565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C6E241A-99B1-4E29-967A-A81B51614A38}" type="slidenum">
              <a:rPr lang="en-US" altLang="en-US"/>
              <a:pPr/>
              <a:t>34</a:t>
            </a:fld>
            <a:endParaRPr lang="en-US" altLang="en-US"/>
          </a:p>
        </p:txBody>
      </p:sp>
    </p:spTree>
    <p:extLst>
      <p:ext uri="{BB962C8B-B14F-4D97-AF65-F5344CB8AC3E}">
        <p14:creationId xmlns:p14="http://schemas.microsoft.com/office/powerpoint/2010/main" val="3954282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 masking is </a:t>
            </a:r>
            <a:r>
              <a:rPr lang="en-US" b="0" i="0" dirty="0">
                <a:solidFill>
                  <a:srgbClr val="040C28"/>
                </a:solidFill>
                <a:effectLst/>
                <a:latin typeface="Google Sans"/>
              </a:rPr>
              <a:t>the reduction of perception of one sound by the presence of another sound</a:t>
            </a:r>
            <a:r>
              <a:rPr lang="en-US" b="0" i="0" dirty="0">
                <a:solidFill>
                  <a:srgbClr val="1F1F1F"/>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35</a:t>
            </a:fld>
            <a:endParaRPr lang="en-US"/>
          </a:p>
        </p:txBody>
      </p:sp>
    </p:spTree>
    <p:extLst>
      <p:ext uri="{BB962C8B-B14F-4D97-AF65-F5344CB8AC3E}">
        <p14:creationId xmlns:p14="http://schemas.microsoft.com/office/powerpoint/2010/main" val="1752029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868C0405-2E72-0315-4F9F-AE5EA171B0C7}"/>
              </a:ext>
            </a:extLst>
          </p:cNvPr>
          <p:cNvSpPr>
            <a:spLocks noGrp="1" noRot="1" noChangeAspect="1" noTextEdit="1"/>
          </p:cNvSpPr>
          <p:nvPr>
            <p:ph type="sldImg"/>
          </p:nvPr>
        </p:nvSpPr>
        <p:spPr>
          <a:ln/>
        </p:spPr>
      </p:sp>
      <p:sp>
        <p:nvSpPr>
          <p:cNvPr id="53251" name="Notes Placeholder 2">
            <a:extLst>
              <a:ext uri="{FF2B5EF4-FFF2-40B4-BE49-F238E27FC236}">
                <a16:creationId xmlns:a16="http://schemas.microsoft.com/office/drawing/2014/main" id="{6EDD53E8-F9EF-FF8E-FCD6-3449ED9446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3252" name="Slide Number Placeholder 3">
            <a:extLst>
              <a:ext uri="{FF2B5EF4-FFF2-40B4-BE49-F238E27FC236}">
                <a16:creationId xmlns:a16="http://schemas.microsoft.com/office/drawing/2014/main" id="{5AA07359-D081-6186-4AD4-3E407DACC6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1BC007-AFEE-4291-9B37-7D080A0B2C5D}" type="slidenum">
              <a:rPr lang="en-US" altLang="en-US"/>
              <a:pPr/>
              <a:t>36</a:t>
            </a:fld>
            <a:endParaRPr lang="en-US" altLang="en-US"/>
          </a:p>
        </p:txBody>
      </p:sp>
    </p:spTree>
    <p:extLst>
      <p:ext uri="{BB962C8B-B14F-4D97-AF65-F5344CB8AC3E}">
        <p14:creationId xmlns:p14="http://schemas.microsoft.com/office/powerpoint/2010/main" val="1061731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3D9D327-F950-88B8-8D8D-49BFE746AA14}"/>
              </a:ext>
            </a:extLst>
          </p:cNvPr>
          <p:cNvSpPr>
            <a:spLocks noGrp="1" noRot="1" noChangeAspect="1" noTextEdit="1"/>
          </p:cNvSpPr>
          <p:nvPr>
            <p:ph type="sldImg"/>
          </p:nvPr>
        </p:nvSpPr>
        <p:spPr>
          <a:ln/>
        </p:spPr>
      </p:sp>
      <p:sp>
        <p:nvSpPr>
          <p:cNvPr id="54275" name="Notes Placeholder 2">
            <a:extLst>
              <a:ext uri="{FF2B5EF4-FFF2-40B4-BE49-F238E27FC236}">
                <a16:creationId xmlns:a16="http://schemas.microsoft.com/office/drawing/2014/main" id="{860422CA-B65E-0EB0-A7F2-49A3DB69F2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000000"/>
                </a:solidFill>
                <a:effectLst/>
                <a:latin typeface="Times New Roman" panose="02020603050405020304" pitchFamily="18" charset="0"/>
              </a:rPr>
              <a:t>SMR=Signal to Mask Ratio , Mask to Noise Ratio</a:t>
            </a:r>
            <a:endParaRPr lang="en-US" altLang="en-US" dirty="0">
              <a:latin typeface="Arial" panose="020B0604020202020204" pitchFamily="34" charset="0"/>
            </a:endParaRPr>
          </a:p>
        </p:txBody>
      </p:sp>
      <p:sp>
        <p:nvSpPr>
          <p:cNvPr id="54276" name="Slide Number Placeholder 3">
            <a:extLst>
              <a:ext uri="{FF2B5EF4-FFF2-40B4-BE49-F238E27FC236}">
                <a16:creationId xmlns:a16="http://schemas.microsoft.com/office/drawing/2014/main" id="{71298D5A-9D2F-52CC-4E53-0D9EEEB5B1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3D7581-35B0-45C6-A961-A72B688ABE5E}" type="slidenum">
              <a:rPr lang="en-US" altLang="en-US"/>
              <a:pPr/>
              <a:t>37</a:t>
            </a:fld>
            <a:endParaRPr lang="en-US" altLang="en-US"/>
          </a:p>
        </p:txBody>
      </p:sp>
    </p:spTree>
    <p:extLst>
      <p:ext uri="{BB962C8B-B14F-4D97-AF65-F5344CB8AC3E}">
        <p14:creationId xmlns:p14="http://schemas.microsoft.com/office/powerpoint/2010/main" val="5741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6D01738B-A646-61C7-0CC5-A9CEFF8F5771}"/>
              </a:ext>
            </a:extLst>
          </p:cNvPr>
          <p:cNvSpPr>
            <a:spLocks noGrp="1" noRot="1" noChangeAspect="1" noTextEdit="1"/>
          </p:cNvSpPr>
          <p:nvPr>
            <p:ph type="sldImg"/>
          </p:nvPr>
        </p:nvSpPr>
        <p:spPr>
          <a:ln/>
        </p:spPr>
      </p:sp>
      <p:sp>
        <p:nvSpPr>
          <p:cNvPr id="55299" name="Notes Placeholder 2">
            <a:extLst>
              <a:ext uri="{FF2B5EF4-FFF2-40B4-BE49-F238E27FC236}">
                <a16:creationId xmlns:a16="http://schemas.microsoft.com/office/drawing/2014/main" id="{8E8F31EE-D5A8-77E7-1F9F-7A39530949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5300" name="Slide Number Placeholder 3">
            <a:extLst>
              <a:ext uri="{FF2B5EF4-FFF2-40B4-BE49-F238E27FC236}">
                <a16:creationId xmlns:a16="http://schemas.microsoft.com/office/drawing/2014/main" id="{3982AD0C-CC35-7FAB-759C-D279A1C87E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80056DA-2DEC-42B7-BAF9-5CAEC7150814}" type="slidenum">
              <a:rPr lang="en-US" altLang="en-US"/>
              <a:pPr/>
              <a:t>41</a:t>
            </a:fld>
            <a:endParaRPr lang="en-US" altLang="en-US"/>
          </a:p>
        </p:txBody>
      </p:sp>
    </p:spTree>
    <p:extLst>
      <p:ext uri="{BB962C8B-B14F-4D97-AF65-F5344CB8AC3E}">
        <p14:creationId xmlns:p14="http://schemas.microsoft.com/office/powerpoint/2010/main" val="2141061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8C3666AA-E1A8-4BB7-DC20-6E87CCDDE637}"/>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E64D6DCE-54D8-1665-B170-2BAA35924F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7348" name="Slide Number Placeholder 3">
            <a:extLst>
              <a:ext uri="{FF2B5EF4-FFF2-40B4-BE49-F238E27FC236}">
                <a16:creationId xmlns:a16="http://schemas.microsoft.com/office/drawing/2014/main" id="{A786C03E-6A14-97E5-42D1-775E1A9D31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50EDD9-F2EF-46D1-AF03-513AC811097B}" type="slidenum">
              <a:rPr lang="en-US" altLang="en-US"/>
              <a:pPr/>
              <a:t>48</a:t>
            </a:fld>
            <a:endParaRPr lang="en-US" altLang="en-US"/>
          </a:p>
        </p:txBody>
      </p:sp>
    </p:spTree>
    <p:extLst>
      <p:ext uri="{BB962C8B-B14F-4D97-AF65-F5344CB8AC3E}">
        <p14:creationId xmlns:p14="http://schemas.microsoft.com/office/powerpoint/2010/main" val="1707933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55</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68626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0730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49422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61919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77476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90447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6155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433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9/21/2026</a:t>
            </a:fld>
            <a:endParaRPr lang="en-US"/>
          </a:p>
        </p:txBody>
      </p:sp>
    </p:spTree>
    <p:extLst>
      <p:ext uri="{BB962C8B-B14F-4D97-AF65-F5344CB8AC3E}">
        <p14:creationId xmlns:p14="http://schemas.microsoft.com/office/powerpoint/2010/main" val="686577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1504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0546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505348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90195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970545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237758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843838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9/21/2026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36463482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inhaz.ahmed@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en.wikipedia.org/w/index.php?title=Comparison_of_audio_formats&amp;action=edit&amp;section=2"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sz="1400" dirty="0"/>
              <a:t>By </a:t>
            </a:r>
          </a:p>
          <a:p>
            <a:pPr algn="ctr"/>
            <a:r>
              <a:rPr lang="en-US" dirty="0"/>
              <a:t>Minhaz Uddin Ahmed, PhD</a:t>
            </a:r>
          </a:p>
          <a:p>
            <a:pPr algn="ctr"/>
            <a:r>
              <a:rPr lang="en-US" dirty="0"/>
              <a:t>Department of Computer Engineering</a:t>
            </a:r>
          </a:p>
          <a:p>
            <a:pPr algn="ctr"/>
            <a:r>
              <a:rPr lang="en-US" err="1"/>
              <a:t>Inha</a:t>
            </a:r>
            <a:r>
              <a:rPr lang="en-US"/>
              <a:t> University Tashkent.</a:t>
            </a:r>
            <a:endParaRPr lang="en-US" dirty="0"/>
          </a:p>
          <a:p>
            <a:pPr algn="ctr"/>
            <a:r>
              <a:rPr lang="en-US" dirty="0"/>
              <a:t>Email: </a:t>
            </a:r>
            <a:r>
              <a:rPr lang="en-US" dirty="0">
                <a:hlinkClick r:id="rId3"/>
              </a:rPr>
              <a:t>minhaz.ahmed@gmail.com</a:t>
            </a:r>
            <a:endParaRPr lang="en-US" dirty="0"/>
          </a:p>
          <a:p>
            <a:pPr algn="ctr"/>
            <a:endParaRPr lang="en-US" dirty="0"/>
          </a:p>
        </p:txBody>
      </p:sp>
    </p:spTree>
    <p:extLst>
      <p:ext uri="{BB962C8B-B14F-4D97-AF65-F5344CB8AC3E}">
        <p14:creationId xmlns:p14="http://schemas.microsoft.com/office/powerpoint/2010/main" val="376073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31068" y="1574514"/>
            <a:ext cx="8596668" cy="3880773"/>
          </a:xfrm>
        </p:spPr>
        <p:txBody>
          <a:bodyPr>
            <a:noAutofit/>
          </a:bodyPr>
          <a:lstStyle/>
          <a:p>
            <a:pPr>
              <a:buFont typeface="Wingdings" panose="05000000000000000000" pitchFamily="2" charset="2"/>
              <a:buChar char="Ø"/>
            </a:pPr>
            <a:r>
              <a:rPr lang="en-US" sz="2000" dirty="0"/>
              <a:t>Arithmetic Coding Algorithm</a:t>
            </a:r>
          </a:p>
          <a:p>
            <a:pPr>
              <a:buFont typeface="Wingdings" panose="05000000000000000000" pitchFamily="2" charset="2"/>
              <a:buChar char="Ø"/>
            </a:pPr>
            <a:r>
              <a:rPr lang="en-US" sz="2000" dirty="0"/>
              <a:t>Scaling and incremental coding</a:t>
            </a:r>
          </a:p>
          <a:p>
            <a:pPr>
              <a:buFont typeface="Wingdings" panose="05000000000000000000" pitchFamily="2" charset="2"/>
              <a:buChar char="Ø"/>
            </a:pPr>
            <a:r>
              <a:rPr lang="en-US" sz="2000" dirty="0"/>
              <a:t>Lossy Compression Algorithms</a:t>
            </a:r>
          </a:p>
          <a:p>
            <a:pPr>
              <a:buFont typeface="Wingdings" panose="05000000000000000000" pitchFamily="2" charset="2"/>
              <a:buChar char="Ø"/>
            </a:pPr>
            <a:r>
              <a:rPr lang="en-US" sz="2000" dirty="0"/>
              <a:t>Advantage and disadvantage</a:t>
            </a:r>
          </a:p>
          <a:p>
            <a:pPr>
              <a:buFont typeface="Wingdings" panose="05000000000000000000" pitchFamily="2" charset="2"/>
              <a:buChar char="Ø"/>
            </a:pPr>
            <a:r>
              <a:rPr lang="en-US" sz="2000" dirty="0"/>
              <a:t>Distortion Theory</a:t>
            </a:r>
          </a:p>
          <a:p>
            <a:pPr>
              <a:buFont typeface="Wingdings" panose="05000000000000000000" pitchFamily="2" charset="2"/>
              <a:buChar char="Ø"/>
            </a:pPr>
            <a:r>
              <a:rPr lang="en-US" sz="2000" dirty="0"/>
              <a:t>MPEG1</a:t>
            </a:r>
          </a:p>
          <a:p>
            <a:pPr>
              <a:buFont typeface="Wingdings" panose="05000000000000000000" pitchFamily="2" charset="2"/>
              <a:buChar char="Ø"/>
            </a:pPr>
            <a:r>
              <a:rPr lang="en-US" sz="2000" dirty="0"/>
              <a:t>MP3</a:t>
            </a:r>
          </a:p>
          <a:p>
            <a:pPr>
              <a:buFont typeface="Wingdings" panose="05000000000000000000" pitchFamily="2" charset="2"/>
              <a:buChar char="Ø"/>
            </a:pPr>
            <a:r>
              <a:rPr lang="en-US" sz="2000" dirty="0"/>
              <a:t>MP4</a:t>
            </a:r>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a:buFont typeface="Wingdings" panose="05000000000000000000" pitchFamily="2" charset="2"/>
              <a:buChar char="Ø"/>
            </a:pPr>
            <a:endParaRPr lang="en-US" sz="1600" dirty="0"/>
          </a:p>
          <a:p>
            <a:pPr marL="0" indent="0">
              <a:buNone/>
            </a:pPr>
            <a:endParaRPr lang="en-US" sz="1600" dirty="0"/>
          </a:p>
          <a:p>
            <a:pPr marL="0" indent="0">
              <a:buNone/>
            </a:pPr>
            <a:endParaRPr lang="en-US" sz="1600" dirty="0"/>
          </a:p>
        </p:txBody>
      </p:sp>
    </p:spTree>
    <p:extLst>
      <p:ext uri="{BB962C8B-B14F-4D97-AF65-F5344CB8AC3E}">
        <p14:creationId xmlns:p14="http://schemas.microsoft.com/office/powerpoint/2010/main" val="203595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1647D8F6-55F8-1B0A-35E5-CE4A05E11466}"/>
              </a:ext>
            </a:extLst>
          </p:cNvPr>
          <p:cNvSpPr>
            <a:spLocks noGrp="1"/>
          </p:cNvSpPr>
          <p:nvPr>
            <p:ph type="title"/>
          </p:nvPr>
        </p:nvSpPr>
        <p:spPr>
          <a:xfrm>
            <a:off x="1981200" y="571501"/>
            <a:ext cx="8229600" cy="1000125"/>
          </a:xfrm>
        </p:spPr>
        <p:txBody>
          <a:bodyPr/>
          <a:lstStyle/>
          <a:p>
            <a:pPr eaLnBrk="1" hangingPunct="1"/>
            <a:r>
              <a:rPr lang="en-CA" altLang="en-US" dirty="0"/>
              <a:t>Arithmetic Coding</a:t>
            </a:r>
          </a:p>
        </p:txBody>
      </p:sp>
      <p:sp>
        <p:nvSpPr>
          <p:cNvPr id="3" name="Content Placeholder 2">
            <a:extLst>
              <a:ext uri="{FF2B5EF4-FFF2-40B4-BE49-F238E27FC236}">
                <a16:creationId xmlns:a16="http://schemas.microsoft.com/office/drawing/2014/main" id="{2AA420A5-61B8-BFD8-146F-7A53F27AEE8F}"/>
              </a:ext>
            </a:extLst>
          </p:cNvPr>
          <p:cNvSpPr>
            <a:spLocks noGrp="1"/>
          </p:cNvSpPr>
          <p:nvPr>
            <p:ph idx="1"/>
          </p:nvPr>
        </p:nvSpPr>
        <p:spPr/>
        <p:txBody>
          <a:bodyPr rtlCol="0">
            <a:normAutofit/>
          </a:bodyPr>
          <a:lstStyle/>
          <a:p>
            <a:pPr>
              <a:defRPr/>
            </a:pPr>
            <a:r>
              <a:rPr lang="en-CA" dirty="0"/>
              <a:t>Arithmetic coding is a more modern coding method that usually out-performs Huffman coding.</a:t>
            </a:r>
          </a:p>
          <a:p>
            <a:pPr>
              <a:defRPr/>
            </a:pPr>
            <a:endParaRPr lang="en-CA" dirty="0"/>
          </a:p>
          <a:p>
            <a:pPr>
              <a:defRPr/>
            </a:pPr>
            <a:r>
              <a:rPr lang="en-CA" dirty="0"/>
              <a:t>Huffman coding assigns each symbol a codeword which has an integral bit length. Arithmetic coding can treat the whole message as one unit.</a:t>
            </a:r>
          </a:p>
          <a:p>
            <a:pPr>
              <a:defRPr/>
            </a:pPr>
            <a:endParaRPr lang="en-CA" dirty="0"/>
          </a:p>
          <a:p>
            <a:pPr>
              <a:defRPr/>
            </a:pPr>
            <a:r>
              <a:rPr lang="en-CA" dirty="0"/>
              <a:t>A message is represented by a half-open interval [</a:t>
            </a:r>
            <a:r>
              <a:rPr lang="en-CA" i="1" dirty="0">
                <a:latin typeface="Times New Roman" pitchFamily="18" charset="0"/>
                <a:cs typeface="Times New Roman" pitchFamily="18" charset="0"/>
              </a:rPr>
              <a:t>a</a:t>
            </a:r>
            <a:r>
              <a:rPr lang="en-CA" dirty="0"/>
              <a:t>, </a:t>
            </a:r>
            <a:r>
              <a:rPr lang="en-CA" i="1" dirty="0">
                <a:latin typeface="Times New Roman" pitchFamily="18" charset="0"/>
                <a:cs typeface="Times New Roman" pitchFamily="18" charset="0"/>
              </a:rPr>
              <a:t>b</a:t>
            </a:r>
            <a:r>
              <a:rPr lang="en-CA" dirty="0"/>
              <a:t>) where </a:t>
            </a:r>
            <a:r>
              <a:rPr lang="en-CA" i="1" dirty="0">
                <a:latin typeface="Times New Roman" pitchFamily="18" charset="0"/>
                <a:cs typeface="Times New Roman" pitchFamily="18" charset="0"/>
              </a:rPr>
              <a:t>a</a:t>
            </a:r>
            <a:r>
              <a:rPr lang="en-CA" dirty="0"/>
              <a:t> and </a:t>
            </a:r>
            <a:r>
              <a:rPr lang="en-CA" i="1" dirty="0">
                <a:latin typeface="Times New Roman" pitchFamily="18" charset="0"/>
                <a:cs typeface="Times New Roman" pitchFamily="18" charset="0"/>
              </a:rPr>
              <a:t>b</a:t>
            </a:r>
            <a:r>
              <a:rPr lang="en-CA" dirty="0"/>
              <a:t> are real numbers between 0 and 1. Initially, the interval is [0, 1). When the message becomes longer, the length of the interval shortens and the number of bits needed to represent the interval increases.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617E2-2ECC-793C-F686-C3CC368A0818}"/>
              </a:ext>
            </a:extLst>
          </p:cNvPr>
          <p:cNvSpPr>
            <a:spLocks noGrp="1"/>
          </p:cNvSpPr>
          <p:nvPr>
            <p:ph idx="1"/>
          </p:nvPr>
        </p:nvSpPr>
        <p:spPr>
          <a:xfrm>
            <a:off x="1981200" y="642938"/>
            <a:ext cx="8229600" cy="5357812"/>
          </a:xfrm>
        </p:spPr>
        <p:txBody>
          <a:bodyPr rtlCol="0">
            <a:normAutofit fontScale="70000" lnSpcReduction="20000"/>
          </a:bodyPr>
          <a:lstStyle/>
          <a:p>
            <a:pPr>
              <a:defRPr/>
            </a:pPr>
            <a:r>
              <a:rPr lang="en-CA" sz="3100" b="1" dirty="0"/>
              <a:t>ALGORITHM 7.5 Arithmetic Coding Encoder</a:t>
            </a:r>
          </a:p>
          <a:p>
            <a:pPr>
              <a:defRPr/>
            </a:pPr>
            <a:endParaRPr lang="en-CA" sz="2800" dirty="0"/>
          </a:p>
          <a:p>
            <a:pPr marL="0" indent="0">
              <a:buNone/>
              <a:defRPr/>
            </a:pPr>
            <a:r>
              <a:rPr lang="en-CA" sz="2800" dirty="0">
                <a:latin typeface="Courier New" pitchFamily="49" charset="0"/>
                <a:cs typeface="Courier New" pitchFamily="49" charset="0"/>
              </a:rPr>
              <a:t>BEGIN</a:t>
            </a:r>
          </a:p>
          <a:p>
            <a:pPr marL="457200" lvl="1" indent="0">
              <a:buNone/>
              <a:defRPr/>
            </a:pPr>
            <a:r>
              <a:rPr lang="en-CA" sz="2400" dirty="0">
                <a:latin typeface="Courier New" pitchFamily="49" charset="0"/>
                <a:cs typeface="Courier New" pitchFamily="49" charset="0"/>
              </a:rPr>
              <a:t>low = 0.0; 	high = 1.0; 	range = 1.0;</a:t>
            </a:r>
          </a:p>
          <a:p>
            <a:pPr marL="457200" lvl="1" indent="0">
              <a:buNone/>
              <a:defRPr/>
            </a:pPr>
            <a:endParaRPr lang="en-CA" sz="2400" dirty="0">
              <a:latin typeface="Courier New" pitchFamily="49" charset="0"/>
              <a:cs typeface="Courier New" pitchFamily="49" charset="0"/>
            </a:endParaRPr>
          </a:p>
          <a:p>
            <a:pPr marL="457200" lvl="1" indent="0">
              <a:buNone/>
              <a:defRPr/>
            </a:pPr>
            <a:r>
              <a:rPr lang="en-CA" sz="2400" dirty="0">
                <a:latin typeface="Courier New" pitchFamily="49" charset="0"/>
                <a:cs typeface="Courier New" pitchFamily="49" charset="0"/>
              </a:rPr>
              <a:t>while (symbol != terminator)</a:t>
            </a:r>
          </a:p>
          <a:p>
            <a:pPr marL="457200" lvl="1" indent="0">
              <a:buNone/>
              <a:defRPr/>
            </a:pPr>
            <a:r>
              <a:rPr lang="en-CA" sz="2400" dirty="0">
                <a:latin typeface="Courier New" pitchFamily="49" charset="0"/>
                <a:cs typeface="Courier New" pitchFamily="49" charset="0"/>
              </a:rPr>
              <a:t>{</a:t>
            </a:r>
          </a:p>
          <a:p>
            <a:pPr marL="457200" lvl="1" indent="0">
              <a:buNone/>
              <a:defRPr/>
            </a:pPr>
            <a:r>
              <a:rPr lang="en-CA" sz="2400" dirty="0">
                <a:latin typeface="Courier New" pitchFamily="49" charset="0"/>
                <a:cs typeface="Courier New" pitchFamily="49" charset="0"/>
              </a:rPr>
              <a:t>	get (symbol);</a:t>
            </a:r>
          </a:p>
          <a:p>
            <a:pPr marL="457200" lvl="1" indent="0">
              <a:buNone/>
              <a:defRPr/>
            </a:pPr>
            <a:r>
              <a:rPr lang="en-CA" sz="2400" dirty="0">
                <a:latin typeface="Courier New" pitchFamily="49" charset="0"/>
                <a:cs typeface="Courier New" pitchFamily="49" charset="0"/>
              </a:rPr>
              <a:t>	low = low + range * </a:t>
            </a:r>
            <a:r>
              <a:rPr lang="en-CA" sz="2400" dirty="0" err="1">
                <a:latin typeface="Courier New" pitchFamily="49" charset="0"/>
                <a:cs typeface="Courier New" pitchFamily="49" charset="0"/>
              </a:rPr>
              <a:t>Range_low</a:t>
            </a:r>
            <a:r>
              <a:rPr lang="en-CA" sz="2400" dirty="0">
                <a:latin typeface="Courier New" pitchFamily="49" charset="0"/>
                <a:cs typeface="Courier New" pitchFamily="49" charset="0"/>
              </a:rPr>
              <a:t>(symbol);</a:t>
            </a:r>
          </a:p>
          <a:p>
            <a:pPr marL="457200" lvl="1" indent="0">
              <a:buNone/>
              <a:defRPr/>
            </a:pPr>
            <a:r>
              <a:rPr lang="en-CA" sz="2400" dirty="0">
                <a:latin typeface="Courier New" pitchFamily="49" charset="0"/>
                <a:cs typeface="Courier New" pitchFamily="49" charset="0"/>
              </a:rPr>
              <a:t>	high = low + range * </a:t>
            </a:r>
            <a:r>
              <a:rPr lang="en-CA" sz="2400" dirty="0" err="1">
                <a:latin typeface="Courier New" pitchFamily="49" charset="0"/>
                <a:cs typeface="Courier New" pitchFamily="49" charset="0"/>
              </a:rPr>
              <a:t>Range_high</a:t>
            </a:r>
            <a:r>
              <a:rPr lang="en-CA" sz="2400" dirty="0">
                <a:latin typeface="Courier New" pitchFamily="49" charset="0"/>
                <a:cs typeface="Courier New" pitchFamily="49" charset="0"/>
              </a:rPr>
              <a:t>(symbol);</a:t>
            </a:r>
          </a:p>
          <a:p>
            <a:pPr marL="457200" lvl="1" indent="0">
              <a:buNone/>
              <a:defRPr/>
            </a:pPr>
            <a:r>
              <a:rPr lang="en-CA" sz="2400" dirty="0">
                <a:latin typeface="Courier New" pitchFamily="49" charset="0"/>
                <a:cs typeface="Courier New" pitchFamily="49" charset="0"/>
              </a:rPr>
              <a:t>	range = high - low;</a:t>
            </a:r>
          </a:p>
          <a:p>
            <a:pPr marL="457200" lvl="1" indent="0">
              <a:buNone/>
              <a:defRPr/>
            </a:pPr>
            <a:r>
              <a:rPr lang="en-CA" sz="2400" dirty="0">
                <a:latin typeface="Courier New" pitchFamily="49" charset="0"/>
                <a:cs typeface="Courier New" pitchFamily="49" charset="0"/>
              </a:rPr>
              <a:t>}</a:t>
            </a:r>
          </a:p>
          <a:p>
            <a:pPr marL="457200" lvl="1" indent="0">
              <a:buNone/>
              <a:defRPr/>
            </a:pPr>
            <a:endParaRPr lang="en-CA" sz="2400" dirty="0"/>
          </a:p>
          <a:p>
            <a:pPr marL="457200" lvl="1" indent="0">
              <a:buNone/>
              <a:defRPr/>
            </a:pPr>
            <a:r>
              <a:rPr lang="en-CA" sz="2400" dirty="0">
                <a:latin typeface="Courier New" pitchFamily="49" charset="0"/>
                <a:cs typeface="Courier New" pitchFamily="49" charset="0"/>
              </a:rPr>
              <a:t>output a code so that low &lt;= code &lt; high;</a:t>
            </a:r>
          </a:p>
          <a:p>
            <a:pPr marL="0" indent="0">
              <a:buNone/>
              <a:defRPr/>
            </a:pPr>
            <a:r>
              <a:rPr lang="en-CA" sz="2800" dirty="0">
                <a:latin typeface="Courier New" pitchFamily="49" charset="0"/>
                <a:cs typeface="Courier New" pitchFamily="49" charset="0"/>
              </a:rPr>
              <a:t>END</a:t>
            </a:r>
            <a:endParaRPr lang="en-CA" sz="2600" b="1" dirty="0">
              <a:latin typeface="Courier New" pitchFamily="49" charset="0"/>
              <a:cs typeface="Courier New"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D0307-A391-EC11-21C6-BBCB72EA2813}"/>
              </a:ext>
            </a:extLst>
          </p:cNvPr>
          <p:cNvSpPr>
            <a:spLocks noGrp="1"/>
          </p:cNvSpPr>
          <p:nvPr>
            <p:ph idx="1"/>
          </p:nvPr>
        </p:nvSpPr>
        <p:spPr>
          <a:xfrm>
            <a:off x="835572" y="600897"/>
            <a:ext cx="8229600" cy="5357812"/>
          </a:xfrm>
        </p:spPr>
        <p:txBody>
          <a:bodyPr rtlCol="0">
            <a:normAutofit fontScale="92500" lnSpcReduction="10000"/>
          </a:bodyPr>
          <a:lstStyle/>
          <a:p>
            <a:pPr algn="ctr">
              <a:defRPr/>
            </a:pPr>
            <a:r>
              <a:rPr lang="en-CA" b="1" dirty="0"/>
              <a:t>Example: Encoding in Arithmetic Coding</a:t>
            </a:r>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marL="514350" indent="-514350" algn="ctr">
              <a:buFont typeface="Arial" panose="020B0604020202020204" pitchFamily="34" charset="0"/>
              <a:buAutoNum type="alphaLcParenBoth"/>
              <a:defRPr/>
            </a:pPr>
            <a:r>
              <a:rPr lang="en-CA" dirty="0"/>
              <a:t>Probability distribution of symbols.</a:t>
            </a:r>
          </a:p>
          <a:p>
            <a:pPr marL="514350" indent="-514350" algn="ctr">
              <a:buFont typeface="Arial" panose="020B0604020202020204" pitchFamily="34" charset="0"/>
              <a:buAutoNum type="alphaLcParenBoth"/>
              <a:defRPr/>
            </a:pPr>
            <a:endParaRPr lang="en-CA" dirty="0"/>
          </a:p>
          <a:p>
            <a:pPr algn="ctr">
              <a:defRPr/>
            </a:pPr>
            <a:r>
              <a:rPr lang="en-CA" dirty="0"/>
              <a:t>Fig. 7.8: Arithmetic Coding: Encode Symbols “CAEE$”</a:t>
            </a:r>
            <a:endParaRPr lang="en-CA" b="1" dirty="0"/>
          </a:p>
        </p:txBody>
      </p:sp>
      <p:graphicFrame>
        <p:nvGraphicFramePr>
          <p:cNvPr id="6" name="Table 5">
            <a:extLst>
              <a:ext uri="{FF2B5EF4-FFF2-40B4-BE49-F238E27FC236}">
                <a16:creationId xmlns:a16="http://schemas.microsoft.com/office/drawing/2014/main" id="{ABA42EDA-7E9A-3548-0929-13E5FCDB3357}"/>
              </a:ext>
            </a:extLst>
          </p:cNvPr>
          <p:cNvGraphicFramePr>
            <a:graphicFrameLocks noGrp="1"/>
          </p:cNvGraphicFramePr>
          <p:nvPr/>
        </p:nvGraphicFramePr>
        <p:xfrm>
          <a:off x="3097267" y="1073535"/>
          <a:ext cx="4000500" cy="350035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370880">
                <a:tc>
                  <a:txBody>
                    <a:bodyPr/>
                    <a:lstStyle/>
                    <a:p>
                      <a:pPr algn="ctr"/>
                      <a:r>
                        <a:rPr lang="en-CA" sz="1800" dirty="0"/>
                        <a:t>Symbol</a:t>
                      </a:r>
                    </a:p>
                  </a:txBody>
                  <a:tcPr marL="91439" marR="91439" marT="45725" marB="45725"/>
                </a:tc>
                <a:tc>
                  <a:txBody>
                    <a:bodyPr/>
                    <a:lstStyle/>
                    <a:p>
                      <a:pPr algn="ctr"/>
                      <a:r>
                        <a:rPr lang="en-CA" sz="1800" dirty="0"/>
                        <a:t>Probability</a:t>
                      </a:r>
                    </a:p>
                  </a:txBody>
                  <a:tcPr marL="91439" marR="91439" marT="45725" marB="45725"/>
                </a:tc>
                <a:tc>
                  <a:txBody>
                    <a:bodyPr/>
                    <a:lstStyle/>
                    <a:p>
                      <a:pPr algn="ctr"/>
                      <a:r>
                        <a:rPr lang="en-CA" sz="1800" dirty="0"/>
                        <a:t>Range</a:t>
                      </a:r>
                    </a:p>
                  </a:txBody>
                  <a:tcPr marL="91439" marR="91439" marT="45725" marB="45725"/>
                </a:tc>
                <a:extLst>
                  <a:ext uri="{0D108BD9-81ED-4DB2-BD59-A6C34878D82A}">
                    <a16:rowId xmlns:a16="http://schemas.microsoft.com/office/drawing/2014/main" val="10000"/>
                  </a:ext>
                </a:extLst>
              </a:tr>
              <a:tr h="370880">
                <a:tc>
                  <a:txBody>
                    <a:bodyPr/>
                    <a:lstStyle/>
                    <a:p>
                      <a:pPr algn="ctr"/>
                      <a:r>
                        <a:rPr lang="en-CA" sz="1800" dirty="0"/>
                        <a:t>A</a:t>
                      </a:r>
                    </a:p>
                  </a:txBody>
                  <a:tcPr marL="91439" marR="91439" marT="45725" marB="45725"/>
                </a:tc>
                <a:tc>
                  <a:txBody>
                    <a:bodyPr/>
                    <a:lstStyle/>
                    <a:p>
                      <a:pPr algn="ctr"/>
                      <a:r>
                        <a:rPr lang="en-CA" sz="1800" dirty="0"/>
                        <a:t>0.2</a:t>
                      </a:r>
                    </a:p>
                  </a:txBody>
                  <a:tcPr marL="91439" marR="91439" marT="45725" marB="45725"/>
                </a:tc>
                <a:tc>
                  <a:txBody>
                    <a:bodyPr/>
                    <a:lstStyle/>
                    <a:p>
                      <a:pPr algn="ctr"/>
                      <a:r>
                        <a:rPr lang="en-CA" sz="1800" dirty="0"/>
                        <a:t>[0,</a:t>
                      </a:r>
                      <a:r>
                        <a:rPr lang="en-CA" sz="1800" baseline="0" dirty="0"/>
                        <a:t> 0.2)</a:t>
                      </a:r>
                      <a:endParaRPr lang="en-CA" sz="1800" dirty="0"/>
                    </a:p>
                  </a:txBody>
                  <a:tcPr marL="91439" marR="91439" marT="45725" marB="45725"/>
                </a:tc>
                <a:extLst>
                  <a:ext uri="{0D108BD9-81ED-4DB2-BD59-A6C34878D82A}">
                    <a16:rowId xmlns:a16="http://schemas.microsoft.com/office/drawing/2014/main" val="10001"/>
                  </a:ext>
                </a:extLst>
              </a:tr>
              <a:tr h="370880">
                <a:tc>
                  <a:txBody>
                    <a:bodyPr/>
                    <a:lstStyle/>
                    <a:p>
                      <a:pPr algn="ctr"/>
                      <a:r>
                        <a:rPr lang="en-CA" sz="1800" dirty="0"/>
                        <a:t>B</a:t>
                      </a:r>
                    </a:p>
                  </a:txBody>
                  <a:tcPr marL="91439" marR="91439" marT="45725" marB="45725"/>
                </a:tc>
                <a:tc>
                  <a:txBody>
                    <a:bodyPr/>
                    <a:lstStyle/>
                    <a:p>
                      <a:pPr algn="ctr"/>
                      <a:r>
                        <a:rPr lang="en-CA" sz="1800" dirty="0"/>
                        <a:t>0.1</a:t>
                      </a:r>
                    </a:p>
                  </a:txBody>
                  <a:tcPr marL="91439" marR="91439" marT="45725" marB="45725"/>
                </a:tc>
                <a:tc>
                  <a:txBody>
                    <a:bodyPr/>
                    <a:lstStyle/>
                    <a:p>
                      <a:pPr algn="ctr"/>
                      <a:r>
                        <a:rPr lang="en-CA" sz="1800" dirty="0"/>
                        <a:t>[0.2, 0.3)</a:t>
                      </a:r>
                    </a:p>
                  </a:txBody>
                  <a:tcPr marL="91439" marR="91439" marT="45725" marB="45725"/>
                </a:tc>
                <a:extLst>
                  <a:ext uri="{0D108BD9-81ED-4DB2-BD59-A6C34878D82A}">
                    <a16:rowId xmlns:a16="http://schemas.microsoft.com/office/drawing/2014/main" val="10002"/>
                  </a:ext>
                </a:extLst>
              </a:tr>
              <a:tr h="298327">
                <a:tc>
                  <a:txBody>
                    <a:bodyPr/>
                    <a:lstStyle/>
                    <a:p>
                      <a:pPr algn="ctr"/>
                      <a:r>
                        <a:rPr lang="en-CA" sz="1800" dirty="0"/>
                        <a:t>C</a:t>
                      </a:r>
                    </a:p>
                  </a:txBody>
                  <a:tcPr marL="91439" marR="91439" marT="45725" marB="45725"/>
                </a:tc>
                <a:tc>
                  <a:txBody>
                    <a:bodyPr/>
                    <a:lstStyle/>
                    <a:p>
                      <a:pPr algn="ctr"/>
                      <a:r>
                        <a:rPr lang="en-CA" sz="1800" dirty="0"/>
                        <a:t>0.2</a:t>
                      </a:r>
                    </a:p>
                  </a:txBody>
                  <a:tcPr marL="91439" marR="91439" marT="45725" marB="45725"/>
                </a:tc>
                <a:tc>
                  <a:txBody>
                    <a:bodyPr/>
                    <a:lstStyle/>
                    <a:p>
                      <a:pPr algn="ctr"/>
                      <a:r>
                        <a:rPr lang="en-CA" sz="1800" dirty="0"/>
                        <a:t>[0.3, 0.5)</a:t>
                      </a:r>
                    </a:p>
                  </a:txBody>
                  <a:tcPr marL="91439" marR="91439" marT="45725" marB="45725"/>
                </a:tc>
                <a:extLst>
                  <a:ext uri="{0D108BD9-81ED-4DB2-BD59-A6C34878D82A}">
                    <a16:rowId xmlns:a16="http://schemas.microsoft.com/office/drawing/2014/main" val="10003"/>
                  </a:ext>
                </a:extLst>
              </a:tr>
              <a:tr h="370880">
                <a:tc>
                  <a:txBody>
                    <a:bodyPr/>
                    <a:lstStyle/>
                    <a:p>
                      <a:pPr algn="ctr"/>
                      <a:r>
                        <a:rPr lang="en-CA" sz="1800" dirty="0"/>
                        <a:t>D</a:t>
                      </a:r>
                    </a:p>
                  </a:txBody>
                  <a:tcPr marL="91439" marR="91439" marT="45725" marB="45725"/>
                </a:tc>
                <a:tc>
                  <a:txBody>
                    <a:bodyPr/>
                    <a:lstStyle/>
                    <a:p>
                      <a:pPr algn="ctr"/>
                      <a:r>
                        <a:rPr lang="en-CA" sz="1800" dirty="0"/>
                        <a:t>0.05</a:t>
                      </a:r>
                    </a:p>
                  </a:txBody>
                  <a:tcPr marL="91439" marR="91439" marT="45725" marB="45725"/>
                </a:tc>
                <a:tc>
                  <a:txBody>
                    <a:bodyPr/>
                    <a:lstStyle/>
                    <a:p>
                      <a:pPr algn="ctr"/>
                      <a:r>
                        <a:rPr lang="en-CA" sz="1800" dirty="0"/>
                        <a:t>[0.5,</a:t>
                      </a:r>
                      <a:r>
                        <a:rPr lang="en-CA" sz="1800" baseline="0" dirty="0"/>
                        <a:t> 0.55)</a:t>
                      </a:r>
                      <a:endParaRPr lang="en-CA" sz="1800" dirty="0"/>
                    </a:p>
                  </a:txBody>
                  <a:tcPr marL="91439" marR="91439" marT="45725" marB="45725"/>
                </a:tc>
                <a:extLst>
                  <a:ext uri="{0D108BD9-81ED-4DB2-BD59-A6C34878D82A}">
                    <a16:rowId xmlns:a16="http://schemas.microsoft.com/office/drawing/2014/main" val="10004"/>
                  </a:ext>
                </a:extLst>
              </a:tr>
              <a:tr h="370880">
                <a:tc>
                  <a:txBody>
                    <a:bodyPr/>
                    <a:lstStyle/>
                    <a:p>
                      <a:pPr algn="ctr"/>
                      <a:r>
                        <a:rPr lang="en-CA" sz="1800" dirty="0"/>
                        <a:t>E</a:t>
                      </a:r>
                    </a:p>
                  </a:txBody>
                  <a:tcPr marL="91439" marR="91439" marT="45725" marB="45725"/>
                </a:tc>
                <a:tc>
                  <a:txBody>
                    <a:bodyPr/>
                    <a:lstStyle/>
                    <a:p>
                      <a:pPr algn="ctr"/>
                      <a:r>
                        <a:rPr lang="en-CA" sz="1800" dirty="0"/>
                        <a:t>0.3</a:t>
                      </a:r>
                    </a:p>
                  </a:txBody>
                  <a:tcPr marL="91439" marR="91439" marT="45725" marB="45725"/>
                </a:tc>
                <a:tc>
                  <a:txBody>
                    <a:bodyPr/>
                    <a:lstStyle/>
                    <a:p>
                      <a:pPr algn="ctr"/>
                      <a:r>
                        <a:rPr lang="en-CA" sz="1800" dirty="0"/>
                        <a:t>[0.55, 0.85)</a:t>
                      </a:r>
                    </a:p>
                  </a:txBody>
                  <a:tcPr marL="91439" marR="91439" marT="45725" marB="45725"/>
                </a:tc>
                <a:extLst>
                  <a:ext uri="{0D108BD9-81ED-4DB2-BD59-A6C34878D82A}">
                    <a16:rowId xmlns:a16="http://schemas.microsoft.com/office/drawing/2014/main" val="10005"/>
                  </a:ext>
                </a:extLst>
              </a:tr>
              <a:tr h="370880">
                <a:tc>
                  <a:txBody>
                    <a:bodyPr/>
                    <a:lstStyle/>
                    <a:p>
                      <a:pPr algn="ctr"/>
                      <a:r>
                        <a:rPr lang="en-CA" sz="1800" dirty="0"/>
                        <a:t>F</a:t>
                      </a:r>
                    </a:p>
                  </a:txBody>
                  <a:tcPr marL="91439" marR="91439" marT="45725" marB="45725"/>
                </a:tc>
                <a:tc>
                  <a:txBody>
                    <a:bodyPr/>
                    <a:lstStyle/>
                    <a:p>
                      <a:pPr algn="ctr"/>
                      <a:r>
                        <a:rPr lang="en-CA" sz="1800" dirty="0"/>
                        <a:t>0.05</a:t>
                      </a:r>
                    </a:p>
                  </a:txBody>
                  <a:tcPr marL="91439" marR="91439" marT="45725" marB="45725"/>
                </a:tc>
                <a:tc>
                  <a:txBody>
                    <a:bodyPr/>
                    <a:lstStyle/>
                    <a:p>
                      <a:pPr algn="ctr"/>
                      <a:r>
                        <a:rPr lang="en-CA" sz="1800" dirty="0"/>
                        <a:t>[0.85, 0.9)</a:t>
                      </a:r>
                    </a:p>
                  </a:txBody>
                  <a:tcPr marL="91439" marR="91439" marT="45725" marB="45725"/>
                </a:tc>
                <a:extLst>
                  <a:ext uri="{0D108BD9-81ED-4DB2-BD59-A6C34878D82A}">
                    <a16:rowId xmlns:a16="http://schemas.microsoft.com/office/drawing/2014/main" val="10006"/>
                  </a:ext>
                </a:extLst>
              </a:tr>
              <a:tr h="370880">
                <a:tc>
                  <a:txBody>
                    <a:bodyPr/>
                    <a:lstStyle/>
                    <a:p>
                      <a:pPr algn="ctr"/>
                      <a:r>
                        <a:rPr lang="en-CA" sz="1800" dirty="0"/>
                        <a:t>G</a:t>
                      </a:r>
                    </a:p>
                  </a:txBody>
                  <a:tcPr marL="91439" marR="91439" marT="45725" marB="45725"/>
                </a:tc>
                <a:tc>
                  <a:txBody>
                    <a:bodyPr/>
                    <a:lstStyle/>
                    <a:p>
                      <a:pPr algn="ctr"/>
                      <a:r>
                        <a:rPr lang="en-CA" sz="1800" dirty="0"/>
                        <a:t>0.1</a:t>
                      </a:r>
                    </a:p>
                  </a:txBody>
                  <a:tcPr marL="91439" marR="91439" marT="45725" marB="45725"/>
                </a:tc>
                <a:tc>
                  <a:txBody>
                    <a:bodyPr/>
                    <a:lstStyle/>
                    <a:p>
                      <a:pPr algn="ctr"/>
                      <a:r>
                        <a:rPr lang="en-CA" sz="1800" dirty="0"/>
                        <a:t>[0.9, 1.0)</a:t>
                      </a:r>
                    </a:p>
                  </a:txBody>
                  <a:tcPr marL="91439" marR="91439"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649F57EB-0151-EEB2-A85F-3747D0329EF2}"/>
              </a:ext>
            </a:extLst>
          </p:cNvPr>
          <p:cNvSpPr>
            <a:spLocks noGrp="1"/>
          </p:cNvSpPr>
          <p:nvPr>
            <p:ph idx="1"/>
          </p:nvPr>
        </p:nvSpPr>
        <p:spPr>
          <a:xfrm>
            <a:off x="520262" y="5303916"/>
            <a:ext cx="8229600" cy="571500"/>
          </a:xfrm>
        </p:spPr>
        <p:txBody>
          <a:bodyPr/>
          <a:lstStyle/>
          <a:p>
            <a:pPr algn="ctr" eaLnBrk="1" hangingPunct="1"/>
            <a:r>
              <a:rPr lang="en-CA" altLang="en-US" sz="2400" dirty="0"/>
              <a:t>Fig. 7.8(b) Graphical display of shrinking ranges.</a:t>
            </a:r>
            <a:endParaRPr lang="en-CA" altLang="en-US" sz="2600" b="1" dirty="0"/>
          </a:p>
        </p:txBody>
      </p:sp>
      <p:pic>
        <p:nvPicPr>
          <p:cNvPr id="41989" name="Picture 5" descr="arith-code-alt.png">
            <a:extLst>
              <a:ext uri="{FF2B5EF4-FFF2-40B4-BE49-F238E27FC236}">
                <a16:creationId xmlns:a16="http://schemas.microsoft.com/office/drawing/2014/main" id="{7EB75D76-74D3-BC72-5485-EAF2416578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04038" y="1029521"/>
            <a:ext cx="7286625"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42720-4F8B-D5BA-92C0-98BBF27BAE7C}"/>
              </a:ext>
            </a:extLst>
          </p:cNvPr>
          <p:cNvSpPr>
            <a:spLocks noGrp="1"/>
          </p:cNvSpPr>
          <p:nvPr>
            <p:ph idx="1"/>
          </p:nvPr>
        </p:nvSpPr>
        <p:spPr>
          <a:xfrm>
            <a:off x="635876" y="750094"/>
            <a:ext cx="8229600" cy="5357812"/>
          </a:xfrm>
        </p:spPr>
        <p:txBody>
          <a:bodyPr rtlCol="0">
            <a:normAutofit/>
          </a:bodyPr>
          <a:lstStyle/>
          <a:p>
            <a:pPr algn="ctr">
              <a:defRPr/>
            </a:pPr>
            <a:r>
              <a:rPr lang="en-CA" b="1" dirty="0"/>
              <a:t>Example: Encoding in Arithmetic Coding</a:t>
            </a:r>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r>
              <a:rPr lang="en-CA" dirty="0"/>
              <a:t>(c) New </a:t>
            </a:r>
            <a:r>
              <a:rPr lang="en-CA" i="1" dirty="0"/>
              <a:t>low</a:t>
            </a:r>
            <a:r>
              <a:rPr lang="en-CA" dirty="0"/>
              <a:t>, </a:t>
            </a:r>
            <a:r>
              <a:rPr lang="en-CA" i="1" dirty="0"/>
              <a:t>high</a:t>
            </a:r>
            <a:r>
              <a:rPr lang="en-CA" dirty="0"/>
              <a:t>, and </a:t>
            </a:r>
            <a:r>
              <a:rPr lang="en-CA" i="1" dirty="0"/>
              <a:t>range </a:t>
            </a:r>
            <a:r>
              <a:rPr lang="en-CA" dirty="0"/>
              <a:t>generated.</a:t>
            </a:r>
          </a:p>
          <a:p>
            <a:pPr algn="ctr">
              <a:defRPr/>
            </a:pPr>
            <a:endParaRPr lang="en-CA" dirty="0"/>
          </a:p>
          <a:p>
            <a:pPr algn="ctr">
              <a:defRPr/>
            </a:pPr>
            <a:r>
              <a:rPr lang="en-CA" dirty="0"/>
              <a:t>Fig. 7.8 (cont’d): Arithmetic Coding: Encode Symbols “CAEE$”</a:t>
            </a:r>
          </a:p>
        </p:txBody>
      </p:sp>
      <p:graphicFrame>
        <p:nvGraphicFramePr>
          <p:cNvPr id="6" name="Table 5">
            <a:extLst>
              <a:ext uri="{FF2B5EF4-FFF2-40B4-BE49-F238E27FC236}">
                <a16:creationId xmlns:a16="http://schemas.microsoft.com/office/drawing/2014/main" id="{7DFD6983-D35D-05B2-024A-3DEB6CD5F29C}"/>
              </a:ext>
            </a:extLst>
          </p:cNvPr>
          <p:cNvGraphicFramePr>
            <a:graphicFrameLocks noGrp="1"/>
          </p:cNvGraphicFramePr>
          <p:nvPr/>
        </p:nvGraphicFramePr>
        <p:xfrm>
          <a:off x="2568466" y="1451907"/>
          <a:ext cx="4000500" cy="2595565"/>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1000125">
                  <a:extLst>
                    <a:ext uri="{9D8B030D-6E8A-4147-A177-3AD203B41FA5}">
                      <a16:colId xmlns:a16="http://schemas.microsoft.com/office/drawing/2014/main" val="20001"/>
                    </a:ext>
                  </a:extLst>
                </a:gridCol>
                <a:gridCol w="1000125">
                  <a:extLst>
                    <a:ext uri="{9D8B030D-6E8A-4147-A177-3AD203B41FA5}">
                      <a16:colId xmlns:a16="http://schemas.microsoft.com/office/drawing/2014/main" val="20002"/>
                    </a:ext>
                  </a:extLst>
                </a:gridCol>
                <a:gridCol w="1000125">
                  <a:extLst>
                    <a:ext uri="{9D8B030D-6E8A-4147-A177-3AD203B41FA5}">
                      <a16:colId xmlns:a16="http://schemas.microsoft.com/office/drawing/2014/main" val="20003"/>
                    </a:ext>
                  </a:extLst>
                </a:gridCol>
              </a:tblGrid>
              <a:tr h="370795">
                <a:tc>
                  <a:txBody>
                    <a:bodyPr/>
                    <a:lstStyle/>
                    <a:p>
                      <a:pPr algn="ctr"/>
                      <a:r>
                        <a:rPr lang="en-CA" sz="1800" dirty="0"/>
                        <a:t>Symbol</a:t>
                      </a:r>
                    </a:p>
                  </a:txBody>
                  <a:tcPr marL="91439" marR="91439" marT="45714" marB="45714"/>
                </a:tc>
                <a:tc>
                  <a:txBody>
                    <a:bodyPr/>
                    <a:lstStyle/>
                    <a:p>
                      <a:pPr algn="ctr"/>
                      <a:r>
                        <a:rPr lang="en-CA" sz="1800" dirty="0"/>
                        <a:t>Low</a:t>
                      </a:r>
                    </a:p>
                  </a:txBody>
                  <a:tcPr marL="91439" marR="91439" marT="45714" marB="45714"/>
                </a:tc>
                <a:tc>
                  <a:txBody>
                    <a:bodyPr/>
                    <a:lstStyle/>
                    <a:p>
                      <a:pPr algn="ctr"/>
                      <a:r>
                        <a:rPr lang="en-CA" sz="1800" dirty="0"/>
                        <a:t>High</a:t>
                      </a:r>
                    </a:p>
                  </a:txBody>
                  <a:tcPr marL="91439" marR="91439" marT="45714" marB="45714"/>
                </a:tc>
                <a:tc>
                  <a:txBody>
                    <a:bodyPr/>
                    <a:lstStyle/>
                    <a:p>
                      <a:pPr algn="ctr"/>
                      <a:r>
                        <a:rPr lang="en-CA" sz="1800" dirty="0"/>
                        <a:t>Range</a:t>
                      </a:r>
                    </a:p>
                  </a:txBody>
                  <a:tcPr marL="91439" marR="91439" marT="45714" marB="45714"/>
                </a:tc>
                <a:extLst>
                  <a:ext uri="{0D108BD9-81ED-4DB2-BD59-A6C34878D82A}">
                    <a16:rowId xmlns:a16="http://schemas.microsoft.com/office/drawing/2014/main" val="10000"/>
                  </a:ext>
                </a:extLst>
              </a:tr>
              <a:tr h="370795">
                <a:tc>
                  <a:txBody>
                    <a:bodyPr/>
                    <a:lstStyle/>
                    <a:p>
                      <a:pPr algn="ctr"/>
                      <a:endParaRPr lang="en-CA" sz="1800" dirty="0"/>
                    </a:p>
                  </a:txBody>
                  <a:tcPr marL="91439" marR="91439" marT="45714" marB="45714"/>
                </a:tc>
                <a:tc>
                  <a:txBody>
                    <a:bodyPr/>
                    <a:lstStyle/>
                    <a:p>
                      <a:pPr algn="ctr"/>
                      <a:r>
                        <a:rPr lang="en-CA" sz="1800" dirty="0"/>
                        <a:t>0</a:t>
                      </a:r>
                    </a:p>
                  </a:txBody>
                  <a:tcPr marL="91439" marR="91439" marT="45714" marB="45714"/>
                </a:tc>
                <a:tc>
                  <a:txBody>
                    <a:bodyPr/>
                    <a:lstStyle/>
                    <a:p>
                      <a:pPr algn="ctr"/>
                      <a:r>
                        <a:rPr lang="en-CA" sz="1800" dirty="0"/>
                        <a:t>1.0</a:t>
                      </a:r>
                    </a:p>
                  </a:txBody>
                  <a:tcPr marL="91439" marR="91439" marT="45714" marB="45714"/>
                </a:tc>
                <a:tc>
                  <a:txBody>
                    <a:bodyPr/>
                    <a:lstStyle/>
                    <a:p>
                      <a:pPr algn="ctr"/>
                      <a:r>
                        <a:rPr lang="en-CA" sz="1800" dirty="0"/>
                        <a:t>1.0</a:t>
                      </a:r>
                    </a:p>
                  </a:txBody>
                  <a:tcPr marL="91439" marR="91439" marT="45714" marB="45714"/>
                </a:tc>
                <a:extLst>
                  <a:ext uri="{0D108BD9-81ED-4DB2-BD59-A6C34878D82A}">
                    <a16:rowId xmlns:a16="http://schemas.microsoft.com/office/drawing/2014/main" val="10001"/>
                  </a:ext>
                </a:extLst>
              </a:tr>
              <a:tr h="370795">
                <a:tc>
                  <a:txBody>
                    <a:bodyPr/>
                    <a:lstStyle/>
                    <a:p>
                      <a:pPr algn="ctr"/>
                      <a:r>
                        <a:rPr lang="en-CA" sz="1800" dirty="0"/>
                        <a:t>C</a:t>
                      </a:r>
                    </a:p>
                  </a:txBody>
                  <a:tcPr marL="91439" marR="91439" marT="45714" marB="45714"/>
                </a:tc>
                <a:tc>
                  <a:txBody>
                    <a:bodyPr/>
                    <a:lstStyle/>
                    <a:p>
                      <a:pPr algn="ctr"/>
                      <a:r>
                        <a:rPr lang="en-CA" sz="1800" dirty="0"/>
                        <a:t>0.3</a:t>
                      </a:r>
                    </a:p>
                  </a:txBody>
                  <a:tcPr marL="91439" marR="91439" marT="45714" marB="45714"/>
                </a:tc>
                <a:tc>
                  <a:txBody>
                    <a:bodyPr/>
                    <a:lstStyle/>
                    <a:p>
                      <a:pPr algn="ctr"/>
                      <a:r>
                        <a:rPr lang="en-CA" sz="1800" dirty="0"/>
                        <a:t>0.5</a:t>
                      </a:r>
                    </a:p>
                  </a:txBody>
                  <a:tcPr marL="91439" marR="91439" marT="45714" marB="45714"/>
                </a:tc>
                <a:tc>
                  <a:txBody>
                    <a:bodyPr/>
                    <a:lstStyle/>
                    <a:p>
                      <a:pPr algn="ctr"/>
                      <a:r>
                        <a:rPr lang="en-CA" sz="1800" dirty="0"/>
                        <a:t>0.2</a:t>
                      </a:r>
                    </a:p>
                  </a:txBody>
                  <a:tcPr marL="91439" marR="91439" marT="45714" marB="45714"/>
                </a:tc>
                <a:extLst>
                  <a:ext uri="{0D108BD9-81ED-4DB2-BD59-A6C34878D82A}">
                    <a16:rowId xmlns:a16="http://schemas.microsoft.com/office/drawing/2014/main" val="10002"/>
                  </a:ext>
                </a:extLst>
              </a:tr>
              <a:tr h="370795">
                <a:tc>
                  <a:txBody>
                    <a:bodyPr/>
                    <a:lstStyle/>
                    <a:p>
                      <a:pPr algn="ctr"/>
                      <a:r>
                        <a:rPr lang="en-CA" sz="1800" dirty="0"/>
                        <a:t>A</a:t>
                      </a:r>
                    </a:p>
                  </a:txBody>
                  <a:tcPr marL="91439" marR="91439" marT="45714" marB="45714"/>
                </a:tc>
                <a:tc>
                  <a:txBody>
                    <a:bodyPr/>
                    <a:lstStyle/>
                    <a:p>
                      <a:pPr algn="ctr"/>
                      <a:r>
                        <a:rPr lang="en-CA" sz="1800" dirty="0"/>
                        <a:t>0.30</a:t>
                      </a:r>
                    </a:p>
                  </a:txBody>
                  <a:tcPr marL="91439" marR="91439" marT="45714" marB="45714"/>
                </a:tc>
                <a:tc>
                  <a:txBody>
                    <a:bodyPr/>
                    <a:lstStyle/>
                    <a:p>
                      <a:pPr algn="ctr"/>
                      <a:r>
                        <a:rPr lang="en-CA" sz="1800" dirty="0"/>
                        <a:t>0.34</a:t>
                      </a:r>
                    </a:p>
                  </a:txBody>
                  <a:tcPr marL="91439" marR="91439" marT="45714" marB="45714"/>
                </a:tc>
                <a:tc>
                  <a:txBody>
                    <a:bodyPr/>
                    <a:lstStyle/>
                    <a:p>
                      <a:pPr algn="ctr"/>
                      <a:r>
                        <a:rPr lang="en-CA" sz="1800" dirty="0"/>
                        <a:t>0.04</a:t>
                      </a:r>
                    </a:p>
                  </a:txBody>
                  <a:tcPr marL="91439" marR="91439" marT="45714" marB="45714"/>
                </a:tc>
                <a:extLst>
                  <a:ext uri="{0D108BD9-81ED-4DB2-BD59-A6C34878D82A}">
                    <a16:rowId xmlns:a16="http://schemas.microsoft.com/office/drawing/2014/main" val="10003"/>
                  </a:ext>
                </a:extLst>
              </a:tr>
              <a:tr h="370795">
                <a:tc>
                  <a:txBody>
                    <a:bodyPr/>
                    <a:lstStyle/>
                    <a:p>
                      <a:pPr algn="ctr"/>
                      <a:r>
                        <a:rPr lang="en-CA" sz="1800" dirty="0"/>
                        <a:t>E</a:t>
                      </a:r>
                    </a:p>
                  </a:txBody>
                  <a:tcPr marL="91439" marR="91439" marT="45714" marB="45714"/>
                </a:tc>
                <a:tc>
                  <a:txBody>
                    <a:bodyPr/>
                    <a:lstStyle/>
                    <a:p>
                      <a:pPr algn="ctr"/>
                      <a:r>
                        <a:rPr lang="en-CA" sz="1800" dirty="0"/>
                        <a:t>0.322</a:t>
                      </a:r>
                    </a:p>
                  </a:txBody>
                  <a:tcPr marL="91439" marR="91439" marT="45714" marB="45714"/>
                </a:tc>
                <a:tc>
                  <a:txBody>
                    <a:bodyPr/>
                    <a:lstStyle/>
                    <a:p>
                      <a:pPr algn="ctr"/>
                      <a:r>
                        <a:rPr lang="en-CA" sz="1800" dirty="0"/>
                        <a:t>0.334</a:t>
                      </a:r>
                    </a:p>
                  </a:txBody>
                  <a:tcPr marL="91439" marR="91439" marT="45714" marB="45714"/>
                </a:tc>
                <a:tc>
                  <a:txBody>
                    <a:bodyPr/>
                    <a:lstStyle/>
                    <a:p>
                      <a:pPr algn="ctr"/>
                      <a:r>
                        <a:rPr lang="en-CA" sz="1800" dirty="0"/>
                        <a:t>0.012</a:t>
                      </a:r>
                    </a:p>
                  </a:txBody>
                  <a:tcPr marL="91439" marR="91439" marT="45714" marB="45714"/>
                </a:tc>
                <a:extLst>
                  <a:ext uri="{0D108BD9-81ED-4DB2-BD59-A6C34878D82A}">
                    <a16:rowId xmlns:a16="http://schemas.microsoft.com/office/drawing/2014/main" val="10004"/>
                  </a:ext>
                </a:extLst>
              </a:tr>
              <a:tr h="370795">
                <a:tc>
                  <a:txBody>
                    <a:bodyPr/>
                    <a:lstStyle/>
                    <a:p>
                      <a:pPr algn="ctr"/>
                      <a:r>
                        <a:rPr lang="en-CA" sz="1800" dirty="0"/>
                        <a:t>E</a:t>
                      </a:r>
                    </a:p>
                  </a:txBody>
                  <a:tcPr marL="91439" marR="91439" marT="45714" marB="45714"/>
                </a:tc>
                <a:tc>
                  <a:txBody>
                    <a:bodyPr/>
                    <a:lstStyle/>
                    <a:p>
                      <a:pPr algn="ctr"/>
                      <a:r>
                        <a:rPr lang="en-CA" sz="1800" dirty="0"/>
                        <a:t>0.3286</a:t>
                      </a:r>
                    </a:p>
                  </a:txBody>
                  <a:tcPr marL="91439" marR="91439" marT="45714" marB="45714"/>
                </a:tc>
                <a:tc>
                  <a:txBody>
                    <a:bodyPr/>
                    <a:lstStyle/>
                    <a:p>
                      <a:pPr algn="ctr"/>
                      <a:r>
                        <a:rPr lang="en-CA" sz="1800" dirty="0"/>
                        <a:t>0.3322</a:t>
                      </a:r>
                    </a:p>
                  </a:txBody>
                  <a:tcPr marL="91439" marR="91439" marT="45714" marB="45714"/>
                </a:tc>
                <a:tc>
                  <a:txBody>
                    <a:bodyPr/>
                    <a:lstStyle/>
                    <a:p>
                      <a:pPr algn="ctr"/>
                      <a:r>
                        <a:rPr lang="en-CA" sz="1800" dirty="0"/>
                        <a:t>0.0036</a:t>
                      </a:r>
                    </a:p>
                  </a:txBody>
                  <a:tcPr marL="91439" marR="91439" marT="45714" marB="45714"/>
                </a:tc>
                <a:extLst>
                  <a:ext uri="{0D108BD9-81ED-4DB2-BD59-A6C34878D82A}">
                    <a16:rowId xmlns:a16="http://schemas.microsoft.com/office/drawing/2014/main" val="10005"/>
                  </a:ext>
                </a:extLst>
              </a:tr>
              <a:tr h="370795">
                <a:tc>
                  <a:txBody>
                    <a:bodyPr/>
                    <a:lstStyle/>
                    <a:p>
                      <a:pPr algn="ctr"/>
                      <a:r>
                        <a:rPr lang="en-CA" sz="1800" dirty="0"/>
                        <a:t>$</a:t>
                      </a:r>
                    </a:p>
                  </a:txBody>
                  <a:tcPr marL="91439" marR="91439" marT="45714" marB="45714"/>
                </a:tc>
                <a:tc>
                  <a:txBody>
                    <a:bodyPr/>
                    <a:lstStyle/>
                    <a:p>
                      <a:pPr algn="ctr"/>
                      <a:r>
                        <a:rPr lang="en-CA" sz="1800" dirty="0"/>
                        <a:t>0.33184</a:t>
                      </a:r>
                    </a:p>
                  </a:txBody>
                  <a:tcPr marL="91439" marR="91439" marT="45714" marB="45714"/>
                </a:tc>
                <a:tc>
                  <a:txBody>
                    <a:bodyPr/>
                    <a:lstStyle/>
                    <a:p>
                      <a:pPr algn="ctr"/>
                      <a:r>
                        <a:rPr lang="en-CA" sz="1800" dirty="0"/>
                        <a:t>0.33220</a:t>
                      </a:r>
                    </a:p>
                  </a:txBody>
                  <a:tcPr marL="91439" marR="91439" marT="45714" marB="45714"/>
                </a:tc>
                <a:tc>
                  <a:txBody>
                    <a:bodyPr/>
                    <a:lstStyle/>
                    <a:p>
                      <a:pPr algn="ctr"/>
                      <a:r>
                        <a:rPr lang="en-CA" sz="1800" dirty="0"/>
                        <a:t>0.00036</a:t>
                      </a:r>
                    </a:p>
                  </a:txBody>
                  <a:tcPr marL="91439" marR="91439" marT="45714" marB="45714"/>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C89C9A-82DD-2E6F-126B-8A39A0DCD923}"/>
              </a:ext>
            </a:extLst>
          </p:cNvPr>
          <p:cNvSpPr>
            <a:spLocks noGrp="1"/>
          </p:cNvSpPr>
          <p:nvPr>
            <p:ph idx="1"/>
          </p:nvPr>
        </p:nvSpPr>
        <p:spPr>
          <a:xfrm>
            <a:off x="1981200" y="642938"/>
            <a:ext cx="8229600" cy="5357812"/>
          </a:xfrm>
        </p:spPr>
        <p:txBody>
          <a:bodyPr rtlCol="0">
            <a:normAutofit fontScale="70000" lnSpcReduction="20000"/>
          </a:bodyPr>
          <a:lstStyle/>
          <a:p>
            <a:pPr>
              <a:defRPr/>
            </a:pPr>
            <a:r>
              <a:rPr lang="en-CA" sz="2800" b="1" dirty="0"/>
              <a:t>PROCEDURE 7.2 Generating Codeword for Encoder</a:t>
            </a:r>
          </a:p>
          <a:p>
            <a:pPr>
              <a:defRPr/>
            </a:pPr>
            <a:endParaRPr lang="en-CA" sz="2400" dirty="0"/>
          </a:p>
          <a:p>
            <a:pPr marL="0" indent="0">
              <a:buNone/>
              <a:defRPr/>
            </a:pPr>
            <a:r>
              <a:rPr lang="en-CA" sz="2400" dirty="0">
                <a:latin typeface="Courier New" pitchFamily="49" charset="0"/>
                <a:cs typeface="Courier New" pitchFamily="49" charset="0"/>
              </a:rPr>
              <a:t>BEGIN</a:t>
            </a:r>
          </a:p>
          <a:p>
            <a:pPr marL="457200" lvl="1" indent="0">
              <a:buNone/>
              <a:defRPr/>
            </a:pPr>
            <a:r>
              <a:rPr lang="en-CA" sz="2000" dirty="0">
                <a:latin typeface="Courier New" pitchFamily="49" charset="0"/>
                <a:cs typeface="Courier New" pitchFamily="49" charset="0"/>
              </a:rPr>
              <a:t>code = 0;</a:t>
            </a:r>
          </a:p>
          <a:p>
            <a:pPr marL="457200" lvl="1" indent="0">
              <a:buNone/>
              <a:defRPr/>
            </a:pPr>
            <a:r>
              <a:rPr lang="en-CA" sz="2000" dirty="0">
                <a:latin typeface="Courier New" pitchFamily="49" charset="0"/>
                <a:cs typeface="Courier New" pitchFamily="49" charset="0"/>
              </a:rPr>
              <a:t>k = 1;</a:t>
            </a:r>
          </a:p>
          <a:p>
            <a:pPr marL="457200" lvl="1" indent="0">
              <a:buNone/>
              <a:defRPr/>
            </a:pPr>
            <a:r>
              <a:rPr lang="en-CA" sz="2000" dirty="0">
                <a:latin typeface="Courier New" pitchFamily="49" charset="0"/>
                <a:cs typeface="Courier New" pitchFamily="49" charset="0"/>
              </a:rPr>
              <a:t>while (value(code) &lt; low)</a:t>
            </a:r>
          </a:p>
          <a:p>
            <a:pPr marL="457200" lvl="1" indent="0">
              <a:buNone/>
              <a:defRPr/>
            </a:pPr>
            <a:r>
              <a:rPr lang="en-CA" sz="2000" dirty="0">
                <a:latin typeface="Courier New" pitchFamily="49" charset="0"/>
                <a:cs typeface="Courier New" pitchFamily="49" charset="0"/>
              </a:rPr>
              <a:t>{ </a:t>
            </a:r>
          </a:p>
          <a:p>
            <a:pPr marL="457200" lvl="1" indent="0">
              <a:buNone/>
              <a:defRPr/>
            </a:pPr>
            <a:r>
              <a:rPr lang="en-CA" sz="2000" dirty="0">
                <a:latin typeface="Courier New" pitchFamily="49" charset="0"/>
                <a:cs typeface="Courier New" pitchFamily="49" charset="0"/>
              </a:rPr>
              <a:t>	assign 1 to the </a:t>
            </a:r>
            <a:r>
              <a:rPr lang="en-CA" sz="2000" dirty="0" err="1">
                <a:latin typeface="Courier New" pitchFamily="49" charset="0"/>
                <a:cs typeface="Courier New" pitchFamily="49" charset="0"/>
              </a:rPr>
              <a:t>kth</a:t>
            </a:r>
            <a:r>
              <a:rPr lang="en-CA" sz="2000" dirty="0">
                <a:latin typeface="Courier New" pitchFamily="49" charset="0"/>
                <a:cs typeface="Courier New" pitchFamily="49" charset="0"/>
              </a:rPr>
              <a:t> binary fraction bit</a:t>
            </a:r>
          </a:p>
          <a:p>
            <a:pPr marL="457200" lvl="1" indent="0">
              <a:buNone/>
              <a:defRPr/>
            </a:pPr>
            <a:r>
              <a:rPr lang="en-CA" sz="2000" dirty="0">
                <a:latin typeface="Courier New" pitchFamily="49" charset="0"/>
                <a:cs typeface="Courier New" pitchFamily="49" charset="0"/>
              </a:rPr>
              <a:t>	if (value(code) &gt; high)</a:t>
            </a:r>
          </a:p>
          <a:p>
            <a:pPr marL="457200" lvl="1" indent="0">
              <a:buNone/>
              <a:defRPr/>
            </a:pPr>
            <a:r>
              <a:rPr lang="en-CA" sz="2000" dirty="0">
                <a:latin typeface="Courier New" pitchFamily="49" charset="0"/>
                <a:cs typeface="Courier New" pitchFamily="49" charset="0"/>
              </a:rPr>
              <a:t>	replace the </a:t>
            </a:r>
            <a:r>
              <a:rPr lang="en-CA" sz="2000" dirty="0" err="1">
                <a:latin typeface="Courier New" pitchFamily="49" charset="0"/>
                <a:cs typeface="Courier New" pitchFamily="49" charset="0"/>
              </a:rPr>
              <a:t>kth</a:t>
            </a:r>
            <a:r>
              <a:rPr lang="en-CA" sz="2000" dirty="0">
                <a:latin typeface="Courier New" pitchFamily="49" charset="0"/>
                <a:cs typeface="Courier New" pitchFamily="49" charset="0"/>
              </a:rPr>
              <a:t> bit by 0</a:t>
            </a:r>
          </a:p>
          <a:p>
            <a:pPr marL="457200" lvl="1" indent="0">
              <a:buNone/>
              <a:defRPr/>
            </a:pPr>
            <a:r>
              <a:rPr lang="en-CA" sz="2000" dirty="0">
                <a:latin typeface="Courier New" pitchFamily="49" charset="0"/>
                <a:cs typeface="Courier New" pitchFamily="49" charset="0"/>
              </a:rPr>
              <a:t>	k = k + 1;</a:t>
            </a:r>
          </a:p>
          <a:p>
            <a:pPr marL="457200" lvl="1" indent="0">
              <a:buNone/>
              <a:defRPr/>
            </a:pPr>
            <a:r>
              <a:rPr lang="en-CA" sz="2000" dirty="0">
                <a:latin typeface="Courier New" pitchFamily="49" charset="0"/>
                <a:cs typeface="Courier New" pitchFamily="49" charset="0"/>
              </a:rPr>
              <a:t>}</a:t>
            </a:r>
          </a:p>
          <a:p>
            <a:pPr marL="0" indent="0">
              <a:buNone/>
              <a:defRPr/>
            </a:pPr>
            <a:r>
              <a:rPr lang="en-CA" sz="2400" dirty="0">
                <a:latin typeface="Courier New" pitchFamily="49" charset="0"/>
                <a:cs typeface="Courier New" pitchFamily="49" charset="0"/>
              </a:rPr>
              <a:t>END</a:t>
            </a:r>
          </a:p>
          <a:p>
            <a:pPr>
              <a:defRPr/>
            </a:pPr>
            <a:endParaRPr lang="en-CA" sz="2400" dirty="0"/>
          </a:p>
          <a:p>
            <a:pPr marL="0" indent="0">
              <a:buNone/>
              <a:defRPr/>
            </a:pPr>
            <a:r>
              <a:rPr lang="en-CA" sz="2400" dirty="0"/>
              <a:t>The final step in Arithmetic encoding calls for the generation of a number that falls within the range [</a:t>
            </a:r>
            <a:r>
              <a:rPr lang="en-CA" sz="2400" i="1" dirty="0">
                <a:latin typeface="Times New Roman" pitchFamily="18" charset="0"/>
                <a:cs typeface="Times New Roman" pitchFamily="18" charset="0"/>
              </a:rPr>
              <a:t>low</a:t>
            </a:r>
            <a:r>
              <a:rPr lang="en-CA" sz="2400" dirty="0"/>
              <a:t>, </a:t>
            </a:r>
            <a:r>
              <a:rPr lang="en-CA" sz="2400" i="1" dirty="0">
                <a:latin typeface="Times New Roman" pitchFamily="18" charset="0"/>
                <a:cs typeface="Times New Roman" pitchFamily="18" charset="0"/>
              </a:rPr>
              <a:t>high</a:t>
            </a:r>
            <a:r>
              <a:rPr lang="en-CA" sz="2400" dirty="0"/>
              <a:t>). The above algorithm will ensure that the shortest binary codeword is found.</a:t>
            </a:r>
            <a:endParaRPr lang="en-CA" sz="26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926282-FD4E-0F1A-EDB4-98376E301F34}"/>
              </a:ext>
            </a:extLst>
          </p:cNvPr>
          <p:cNvSpPr>
            <a:spLocks noGrp="1"/>
          </p:cNvSpPr>
          <p:nvPr>
            <p:ph idx="1"/>
          </p:nvPr>
        </p:nvSpPr>
        <p:spPr>
          <a:xfrm>
            <a:off x="1981200" y="642938"/>
            <a:ext cx="8229600" cy="5357812"/>
          </a:xfrm>
        </p:spPr>
        <p:txBody>
          <a:bodyPr rtlCol="0">
            <a:normAutofit fontScale="70000" lnSpcReduction="20000"/>
          </a:bodyPr>
          <a:lstStyle/>
          <a:p>
            <a:pPr>
              <a:defRPr/>
            </a:pPr>
            <a:r>
              <a:rPr lang="en-CA" sz="2800" b="1" dirty="0"/>
              <a:t>ALGORITHM 7.6 Arithmetic Coding Decoder</a:t>
            </a:r>
          </a:p>
          <a:p>
            <a:pPr>
              <a:defRPr/>
            </a:pPr>
            <a:endParaRPr lang="en-CA" sz="2400" dirty="0"/>
          </a:p>
          <a:p>
            <a:pPr marL="0" indent="0">
              <a:buNone/>
              <a:defRPr/>
            </a:pPr>
            <a:r>
              <a:rPr lang="en-CA" sz="2400" dirty="0">
                <a:latin typeface="Courier New" pitchFamily="49" charset="0"/>
                <a:cs typeface="Courier New" pitchFamily="49" charset="0"/>
              </a:rPr>
              <a:t>BEGIN</a:t>
            </a:r>
          </a:p>
          <a:p>
            <a:pPr marL="457200" lvl="1" indent="0">
              <a:buNone/>
              <a:defRPr/>
            </a:pPr>
            <a:r>
              <a:rPr lang="en-CA" sz="2000" dirty="0">
                <a:latin typeface="Courier New" pitchFamily="49" charset="0"/>
                <a:cs typeface="Courier New" pitchFamily="49" charset="0"/>
              </a:rPr>
              <a:t>get binary code and convert to</a:t>
            </a:r>
          </a:p>
          <a:p>
            <a:pPr marL="457200" lvl="1" indent="0">
              <a:buNone/>
              <a:defRPr/>
            </a:pPr>
            <a:r>
              <a:rPr lang="en-CA" sz="2000" dirty="0">
                <a:latin typeface="Courier New" pitchFamily="49" charset="0"/>
                <a:cs typeface="Courier New" pitchFamily="49" charset="0"/>
              </a:rPr>
              <a:t>decimal value = value(code);</a:t>
            </a:r>
          </a:p>
          <a:p>
            <a:pPr marL="457200" lvl="1" indent="0">
              <a:buNone/>
              <a:defRPr/>
            </a:pPr>
            <a:r>
              <a:rPr lang="en-CA" sz="2000" dirty="0">
                <a:latin typeface="Courier New" pitchFamily="49" charset="0"/>
                <a:cs typeface="Courier New" pitchFamily="49" charset="0"/>
              </a:rPr>
              <a:t>Do</a:t>
            </a:r>
          </a:p>
          <a:p>
            <a:pPr marL="457200" lvl="1" indent="0">
              <a:buNone/>
              <a:defRPr/>
            </a:pPr>
            <a:r>
              <a:rPr lang="en-CA" sz="2000" dirty="0">
                <a:latin typeface="Courier New" pitchFamily="49" charset="0"/>
                <a:cs typeface="Courier New" pitchFamily="49" charset="0"/>
              </a:rPr>
              <a:t>{ </a:t>
            </a:r>
          </a:p>
          <a:p>
            <a:pPr marL="457200" lvl="1" indent="0">
              <a:buNone/>
              <a:defRPr/>
            </a:pPr>
            <a:r>
              <a:rPr lang="en-CA" sz="2000" dirty="0">
                <a:latin typeface="Courier New" pitchFamily="49" charset="0"/>
                <a:cs typeface="Courier New" pitchFamily="49" charset="0"/>
              </a:rPr>
              <a:t>	find a symbol s so that</a:t>
            </a:r>
          </a:p>
          <a:p>
            <a:pPr marL="457200" lvl="1" indent="0">
              <a:buNone/>
              <a:defRPr/>
            </a:pPr>
            <a:r>
              <a:rPr lang="en-CA" sz="2000" dirty="0">
                <a:latin typeface="Courier New" pitchFamily="49" charset="0"/>
                <a:cs typeface="Courier New" pitchFamily="49" charset="0"/>
              </a:rPr>
              <a:t>		</a:t>
            </a:r>
            <a:r>
              <a:rPr lang="en-CA" sz="2000" dirty="0" err="1">
                <a:latin typeface="Courier New" pitchFamily="49" charset="0"/>
                <a:cs typeface="Courier New" pitchFamily="49" charset="0"/>
              </a:rPr>
              <a:t>Range_low</a:t>
            </a:r>
            <a:r>
              <a:rPr lang="en-CA" sz="2000" dirty="0">
                <a:latin typeface="Courier New" pitchFamily="49" charset="0"/>
                <a:cs typeface="Courier New" pitchFamily="49" charset="0"/>
              </a:rPr>
              <a:t>(s) &lt;= value &lt; </a:t>
            </a:r>
            <a:r>
              <a:rPr lang="en-CA" sz="2000" dirty="0" err="1">
                <a:latin typeface="Courier New" pitchFamily="49" charset="0"/>
                <a:cs typeface="Courier New" pitchFamily="49" charset="0"/>
              </a:rPr>
              <a:t>Range_high</a:t>
            </a:r>
            <a:r>
              <a:rPr lang="en-CA" sz="2000" dirty="0">
                <a:latin typeface="Courier New" pitchFamily="49" charset="0"/>
                <a:cs typeface="Courier New" pitchFamily="49" charset="0"/>
              </a:rPr>
              <a:t>(s);</a:t>
            </a:r>
          </a:p>
          <a:p>
            <a:pPr marL="457200" lvl="1" indent="0">
              <a:buNone/>
              <a:defRPr/>
            </a:pPr>
            <a:r>
              <a:rPr lang="en-CA" sz="2000" dirty="0">
                <a:latin typeface="Courier New" pitchFamily="49" charset="0"/>
                <a:cs typeface="Courier New" pitchFamily="49" charset="0"/>
              </a:rPr>
              <a:t>	output s;</a:t>
            </a:r>
          </a:p>
          <a:p>
            <a:pPr marL="457200" lvl="1" indent="0">
              <a:buNone/>
              <a:defRPr/>
            </a:pPr>
            <a:r>
              <a:rPr lang="en-CA" sz="2000" dirty="0">
                <a:latin typeface="Courier New" pitchFamily="49" charset="0"/>
                <a:cs typeface="Courier New" pitchFamily="49" charset="0"/>
              </a:rPr>
              <a:t>	low = </a:t>
            </a:r>
            <a:r>
              <a:rPr lang="en-CA" sz="2000" dirty="0" err="1">
                <a:latin typeface="Courier New" pitchFamily="49" charset="0"/>
                <a:cs typeface="Courier New" pitchFamily="49" charset="0"/>
              </a:rPr>
              <a:t>Rang_low</a:t>
            </a:r>
            <a:r>
              <a:rPr lang="en-CA" sz="2000" dirty="0">
                <a:latin typeface="Courier New" pitchFamily="49" charset="0"/>
                <a:cs typeface="Courier New" pitchFamily="49" charset="0"/>
              </a:rPr>
              <a:t>(s);</a:t>
            </a:r>
          </a:p>
          <a:p>
            <a:pPr marL="457200" lvl="1" indent="0">
              <a:buNone/>
              <a:defRPr/>
            </a:pPr>
            <a:r>
              <a:rPr lang="en-CA" sz="2000" dirty="0">
                <a:latin typeface="Courier New" pitchFamily="49" charset="0"/>
                <a:cs typeface="Courier New" pitchFamily="49" charset="0"/>
              </a:rPr>
              <a:t>	high = </a:t>
            </a:r>
            <a:r>
              <a:rPr lang="en-CA" sz="2000" dirty="0" err="1">
                <a:latin typeface="Courier New" pitchFamily="49" charset="0"/>
                <a:cs typeface="Courier New" pitchFamily="49" charset="0"/>
              </a:rPr>
              <a:t>Range_high</a:t>
            </a:r>
            <a:r>
              <a:rPr lang="en-CA" sz="2000" dirty="0">
                <a:latin typeface="Courier New" pitchFamily="49" charset="0"/>
                <a:cs typeface="Courier New" pitchFamily="49" charset="0"/>
              </a:rPr>
              <a:t>(s);</a:t>
            </a:r>
          </a:p>
          <a:p>
            <a:pPr marL="457200" lvl="1" indent="0">
              <a:buNone/>
              <a:defRPr/>
            </a:pPr>
            <a:r>
              <a:rPr lang="en-CA" sz="2000" dirty="0">
                <a:latin typeface="Courier New" pitchFamily="49" charset="0"/>
                <a:cs typeface="Courier New" pitchFamily="49" charset="0"/>
              </a:rPr>
              <a:t>	range = high - low;</a:t>
            </a:r>
          </a:p>
          <a:p>
            <a:pPr marL="457200" lvl="1" indent="0">
              <a:buNone/>
              <a:defRPr/>
            </a:pPr>
            <a:r>
              <a:rPr lang="en-CA" sz="2000" dirty="0">
                <a:latin typeface="Courier New" pitchFamily="49" charset="0"/>
                <a:cs typeface="Courier New" pitchFamily="49" charset="0"/>
              </a:rPr>
              <a:t>	value = [value - low] / range;</a:t>
            </a:r>
          </a:p>
          <a:p>
            <a:pPr marL="457200" lvl="1" indent="0">
              <a:buNone/>
              <a:defRPr/>
            </a:pPr>
            <a:r>
              <a:rPr lang="en-CA" sz="2000" dirty="0">
                <a:latin typeface="Courier New" pitchFamily="49" charset="0"/>
                <a:cs typeface="Courier New" pitchFamily="49" charset="0"/>
              </a:rPr>
              <a:t>}</a:t>
            </a:r>
          </a:p>
          <a:p>
            <a:pPr marL="457200" lvl="1" indent="0">
              <a:buNone/>
              <a:defRPr/>
            </a:pPr>
            <a:r>
              <a:rPr lang="en-CA" sz="2000" dirty="0">
                <a:latin typeface="Courier New" pitchFamily="49" charset="0"/>
                <a:cs typeface="Courier New" pitchFamily="49" charset="0"/>
              </a:rPr>
              <a:t>Until symbol s is a terminator</a:t>
            </a:r>
          </a:p>
          <a:p>
            <a:pPr marL="0" indent="0">
              <a:buNone/>
              <a:defRPr/>
            </a:pPr>
            <a:r>
              <a:rPr lang="en-CA" sz="2400" dirty="0">
                <a:latin typeface="Courier New" pitchFamily="49" charset="0"/>
                <a:cs typeface="Courier New" pitchFamily="49" charset="0"/>
              </a:rPr>
              <a:t>END</a:t>
            </a:r>
            <a:endParaRPr lang="en-CA" sz="2600" b="1" dirty="0">
              <a:latin typeface="Courier New" pitchFamily="49" charset="0"/>
              <a:cs typeface="Courier New"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13272-1B98-6DE5-C2E2-658B8042EE3F}"/>
              </a:ext>
            </a:extLst>
          </p:cNvPr>
          <p:cNvSpPr>
            <a:spLocks noGrp="1"/>
          </p:cNvSpPr>
          <p:nvPr>
            <p:ph idx="1"/>
          </p:nvPr>
        </p:nvSpPr>
        <p:spPr>
          <a:xfrm>
            <a:off x="951187" y="548346"/>
            <a:ext cx="8229600" cy="642937"/>
          </a:xfrm>
        </p:spPr>
        <p:txBody>
          <a:bodyPr rtlCol="0">
            <a:normAutofit/>
          </a:bodyPr>
          <a:lstStyle/>
          <a:p>
            <a:pPr algn="ctr">
              <a:defRPr/>
            </a:pPr>
            <a:r>
              <a:rPr lang="en-CA" b="1" dirty="0"/>
              <a:t>Table 7.5 Arithmetic coding: decode symbols “CAEE$”</a:t>
            </a:r>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a:p>
            <a:pPr algn="ctr">
              <a:defRPr/>
            </a:pPr>
            <a:endParaRPr lang="en-CA" b="1" dirty="0"/>
          </a:p>
        </p:txBody>
      </p:sp>
      <p:graphicFrame>
        <p:nvGraphicFramePr>
          <p:cNvPr id="6" name="Table 5">
            <a:extLst>
              <a:ext uri="{FF2B5EF4-FFF2-40B4-BE49-F238E27FC236}">
                <a16:creationId xmlns:a16="http://schemas.microsoft.com/office/drawing/2014/main" id="{DE0712E2-8FC2-6284-6070-41906190D4C0}"/>
              </a:ext>
            </a:extLst>
          </p:cNvPr>
          <p:cNvGraphicFramePr>
            <a:graphicFrameLocks noGrp="1"/>
          </p:cNvGraphicFramePr>
          <p:nvPr/>
        </p:nvGraphicFramePr>
        <p:xfrm>
          <a:off x="1409864" y="1373900"/>
          <a:ext cx="7261169" cy="4364750"/>
        </p:xfrm>
        <a:graphic>
          <a:graphicData uri="http://schemas.openxmlformats.org/drawingml/2006/table">
            <a:tbl>
              <a:tblPr firstRow="1" bandRow="1">
                <a:tableStyleId>{5C22544A-7EE6-4342-B048-85BDC9FD1C3A}</a:tableStyleId>
              </a:tblPr>
              <a:tblGrid>
                <a:gridCol w="1452234">
                  <a:extLst>
                    <a:ext uri="{9D8B030D-6E8A-4147-A177-3AD203B41FA5}">
                      <a16:colId xmlns:a16="http://schemas.microsoft.com/office/drawing/2014/main" val="20000"/>
                    </a:ext>
                  </a:extLst>
                </a:gridCol>
                <a:gridCol w="1400366">
                  <a:extLst>
                    <a:ext uri="{9D8B030D-6E8A-4147-A177-3AD203B41FA5}">
                      <a16:colId xmlns:a16="http://schemas.microsoft.com/office/drawing/2014/main" val="20001"/>
                    </a:ext>
                  </a:extLst>
                </a:gridCol>
                <a:gridCol w="1504101">
                  <a:extLst>
                    <a:ext uri="{9D8B030D-6E8A-4147-A177-3AD203B41FA5}">
                      <a16:colId xmlns:a16="http://schemas.microsoft.com/office/drawing/2014/main" val="20002"/>
                    </a:ext>
                  </a:extLst>
                </a:gridCol>
                <a:gridCol w="1452234">
                  <a:extLst>
                    <a:ext uri="{9D8B030D-6E8A-4147-A177-3AD203B41FA5}">
                      <a16:colId xmlns:a16="http://schemas.microsoft.com/office/drawing/2014/main" val="20003"/>
                    </a:ext>
                  </a:extLst>
                </a:gridCol>
                <a:gridCol w="1452234">
                  <a:extLst>
                    <a:ext uri="{9D8B030D-6E8A-4147-A177-3AD203B41FA5}">
                      <a16:colId xmlns:a16="http://schemas.microsoft.com/office/drawing/2014/main" val="20004"/>
                    </a:ext>
                  </a:extLst>
                </a:gridCol>
              </a:tblGrid>
              <a:tr h="846115">
                <a:tc>
                  <a:txBody>
                    <a:bodyPr/>
                    <a:lstStyle/>
                    <a:p>
                      <a:pPr algn="ctr"/>
                      <a:r>
                        <a:rPr lang="en-CA" sz="1800" dirty="0"/>
                        <a:t>Value</a:t>
                      </a:r>
                    </a:p>
                  </a:txBody>
                  <a:tcPr marL="91439" marR="91439" marT="45713" marB="45713"/>
                </a:tc>
                <a:tc>
                  <a:txBody>
                    <a:bodyPr/>
                    <a:lstStyle/>
                    <a:p>
                      <a:pPr algn="ctr"/>
                      <a:r>
                        <a:rPr lang="en-CA" sz="1800" dirty="0"/>
                        <a:t>Output Symbol</a:t>
                      </a:r>
                    </a:p>
                  </a:txBody>
                  <a:tcPr marL="91439" marR="91439" marT="45713" marB="45713"/>
                </a:tc>
                <a:tc>
                  <a:txBody>
                    <a:bodyPr/>
                    <a:lstStyle/>
                    <a:p>
                      <a:pPr algn="ctr"/>
                      <a:r>
                        <a:rPr lang="en-CA" sz="1800" dirty="0"/>
                        <a:t>Low</a:t>
                      </a:r>
                    </a:p>
                  </a:txBody>
                  <a:tcPr marL="91439" marR="91439" marT="45713" marB="45713"/>
                </a:tc>
                <a:tc>
                  <a:txBody>
                    <a:bodyPr/>
                    <a:lstStyle/>
                    <a:p>
                      <a:pPr algn="ctr"/>
                      <a:r>
                        <a:rPr lang="en-CA" sz="1800" dirty="0"/>
                        <a:t>High</a:t>
                      </a:r>
                    </a:p>
                  </a:txBody>
                  <a:tcPr marL="91439" marR="91439" marT="45713" marB="45713"/>
                </a:tc>
                <a:tc>
                  <a:txBody>
                    <a:bodyPr/>
                    <a:lstStyle/>
                    <a:p>
                      <a:pPr algn="ctr"/>
                      <a:r>
                        <a:rPr lang="en-CA" sz="1800" dirty="0"/>
                        <a:t>Range</a:t>
                      </a:r>
                    </a:p>
                  </a:txBody>
                  <a:tcPr marL="91439" marR="91439" marT="45713" marB="45713"/>
                </a:tc>
                <a:extLst>
                  <a:ext uri="{0D108BD9-81ED-4DB2-BD59-A6C34878D82A}">
                    <a16:rowId xmlns:a16="http://schemas.microsoft.com/office/drawing/2014/main" val="10000"/>
                  </a:ext>
                </a:extLst>
              </a:tr>
              <a:tr h="846115">
                <a:tc>
                  <a:txBody>
                    <a:bodyPr/>
                    <a:lstStyle/>
                    <a:p>
                      <a:pPr algn="ctr"/>
                      <a:r>
                        <a:rPr lang="en-CA" sz="1800" kern="1200" baseline="0" dirty="0">
                          <a:solidFill>
                            <a:schemeClr val="dk1"/>
                          </a:solidFill>
                          <a:latin typeface="+mn-lt"/>
                          <a:ea typeface="+mn-ea"/>
                          <a:cs typeface="+mn-cs"/>
                        </a:rPr>
                        <a:t>0.33203125</a:t>
                      </a:r>
                      <a:endParaRPr lang="en-CA" sz="1800" dirty="0"/>
                    </a:p>
                  </a:txBody>
                  <a:tcPr marL="91439" marR="91439" marT="45713" marB="45713"/>
                </a:tc>
                <a:tc>
                  <a:txBody>
                    <a:bodyPr/>
                    <a:lstStyle/>
                    <a:p>
                      <a:pPr algn="ctr"/>
                      <a:r>
                        <a:rPr lang="en-CA" sz="1800" dirty="0"/>
                        <a:t>C</a:t>
                      </a:r>
                    </a:p>
                  </a:txBody>
                  <a:tcPr marL="91439" marR="91439" marT="45713" marB="45713"/>
                </a:tc>
                <a:tc>
                  <a:txBody>
                    <a:bodyPr/>
                    <a:lstStyle/>
                    <a:p>
                      <a:pPr algn="ctr"/>
                      <a:r>
                        <a:rPr lang="en-CA" sz="1800" dirty="0"/>
                        <a:t>0.3</a:t>
                      </a:r>
                    </a:p>
                  </a:txBody>
                  <a:tcPr marL="91439" marR="91439" marT="45713" marB="45713"/>
                </a:tc>
                <a:tc>
                  <a:txBody>
                    <a:bodyPr/>
                    <a:lstStyle/>
                    <a:p>
                      <a:pPr algn="ctr"/>
                      <a:r>
                        <a:rPr lang="en-CA" sz="1800" dirty="0"/>
                        <a:t>0.5</a:t>
                      </a:r>
                    </a:p>
                  </a:txBody>
                  <a:tcPr marL="91439" marR="91439" marT="45713" marB="45713"/>
                </a:tc>
                <a:tc>
                  <a:txBody>
                    <a:bodyPr/>
                    <a:lstStyle/>
                    <a:p>
                      <a:pPr algn="ctr"/>
                      <a:r>
                        <a:rPr lang="en-CA" sz="1800" dirty="0"/>
                        <a:t>0.2</a:t>
                      </a:r>
                    </a:p>
                  </a:txBody>
                  <a:tcPr marL="91439" marR="91439" marT="45713" marB="45713"/>
                </a:tc>
                <a:extLst>
                  <a:ext uri="{0D108BD9-81ED-4DB2-BD59-A6C34878D82A}">
                    <a16:rowId xmlns:a16="http://schemas.microsoft.com/office/drawing/2014/main" val="10001"/>
                  </a:ext>
                </a:extLst>
              </a:tr>
              <a:tr h="846115">
                <a:tc>
                  <a:txBody>
                    <a:bodyPr/>
                    <a:lstStyle/>
                    <a:p>
                      <a:pPr algn="ctr"/>
                      <a:r>
                        <a:rPr lang="en-CA" sz="1800" kern="1200" baseline="0" dirty="0">
                          <a:solidFill>
                            <a:schemeClr val="dk1"/>
                          </a:solidFill>
                          <a:latin typeface="+mn-lt"/>
                          <a:ea typeface="+mn-ea"/>
                          <a:cs typeface="+mn-cs"/>
                        </a:rPr>
                        <a:t>0.16015625</a:t>
                      </a:r>
                      <a:endParaRPr lang="en-CA" sz="1800" dirty="0"/>
                    </a:p>
                  </a:txBody>
                  <a:tcPr marL="91439" marR="91439" marT="45713" marB="45713"/>
                </a:tc>
                <a:tc>
                  <a:txBody>
                    <a:bodyPr/>
                    <a:lstStyle/>
                    <a:p>
                      <a:pPr algn="ctr"/>
                      <a:r>
                        <a:rPr lang="en-CA" sz="1800" dirty="0"/>
                        <a:t>A</a:t>
                      </a:r>
                    </a:p>
                  </a:txBody>
                  <a:tcPr marL="91439" marR="91439" marT="45713" marB="45713"/>
                </a:tc>
                <a:tc>
                  <a:txBody>
                    <a:bodyPr/>
                    <a:lstStyle/>
                    <a:p>
                      <a:pPr algn="ctr"/>
                      <a:r>
                        <a:rPr lang="en-CA" sz="1800" dirty="0"/>
                        <a:t>0.0</a:t>
                      </a:r>
                    </a:p>
                  </a:txBody>
                  <a:tcPr marL="91439" marR="91439" marT="45713" marB="45713"/>
                </a:tc>
                <a:tc>
                  <a:txBody>
                    <a:bodyPr/>
                    <a:lstStyle/>
                    <a:p>
                      <a:pPr algn="ctr"/>
                      <a:r>
                        <a:rPr lang="en-CA" sz="1800" dirty="0"/>
                        <a:t>0.2</a:t>
                      </a:r>
                    </a:p>
                  </a:txBody>
                  <a:tcPr marL="91439" marR="91439" marT="45713" marB="45713"/>
                </a:tc>
                <a:tc>
                  <a:txBody>
                    <a:bodyPr/>
                    <a:lstStyle/>
                    <a:p>
                      <a:pPr algn="ctr"/>
                      <a:r>
                        <a:rPr lang="en-CA" sz="1800" dirty="0"/>
                        <a:t>0.2</a:t>
                      </a:r>
                    </a:p>
                  </a:txBody>
                  <a:tcPr marL="91439" marR="91439" marT="45713" marB="45713"/>
                </a:tc>
                <a:extLst>
                  <a:ext uri="{0D108BD9-81ED-4DB2-BD59-A6C34878D82A}">
                    <a16:rowId xmlns:a16="http://schemas.microsoft.com/office/drawing/2014/main" val="10002"/>
                  </a:ext>
                </a:extLst>
              </a:tr>
              <a:tr h="846115">
                <a:tc>
                  <a:txBody>
                    <a:bodyPr/>
                    <a:lstStyle/>
                    <a:p>
                      <a:pPr algn="ctr"/>
                      <a:r>
                        <a:rPr lang="en-CA" sz="1800" kern="1200" baseline="0" dirty="0">
                          <a:solidFill>
                            <a:schemeClr val="dk1"/>
                          </a:solidFill>
                          <a:latin typeface="+mn-lt"/>
                          <a:ea typeface="+mn-ea"/>
                          <a:cs typeface="+mn-cs"/>
                        </a:rPr>
                        <a:t>0.80078125</a:t>
                      </a:r>
                      <a:endParaRPr lang="en-CA" sz="1800" dirty="0"/>
                    </a:p>
                  </a:txBody>
                  <a:tcPr marL="91439" marR="91439" marT="45713" marB="45713"/>
                </a:tc>
                <a:tc>
                  <a:txBody>
                    <a:bodyPr/>
                    <a:lstStyle/>
                    <a:p>
                      <a:pPr algn="ctr"/>
                      <a:r>
                        <a:rPr lang="en-CA" sz="1800" dirty="0"/>
                        <a:t>E</a:t>
                      </a:r>
                    </a:p>
                  </a:txBody>
                  <a:tcPr marL="91439" marR="91439" marT="45713" marB="45713"/>
                </a:tc>
                <a:tc>
                  <a:txBody>
                    <a:bodyPr/>
                    <a:lstStyle/>
                    <a:p>
                      <a:pPr algn="ctr"/>
                      <a:r>
                        <a:rPr lang="en-CA" sz="1800" dirty="0"/>
                        <a:t>0.55</a:t>
                      </a:r>
                    </a:p>
                  </a:txBody>
                  <a:tcPr marL="91439" marR="91439" marT="45713" marB="45713"/>
                </a:tc>
                <a:tc>
                  <a:txBody>
                    <a:bodyPr/>
                    <a:lstStyle/>
                    <a:p>
                      <a:pPr algn="ctr"/>
                      <a:r>
                        <a:rPr lang="en-CA" sz="1800" dirty="0"/>
                        <a:t>0.85</a:t>
                      </a:r>
                    </a:p>
                  </a:txBody>
                  <a:tcPr marL="91439" marR="91439" marT="45713" marB="45713"/>
                </a:tc>
                <a:tc>
                  <a:txBody>
                    <a:bodyPr/>
                    <a:lstStyle/>
                    <a:p>
                      <a:pPr algn="ctr"/>
                      <a:r>
                        <a:rPr lang="en-CA" sz="1800" dirty="0"/>
                        <a:t>0.3</a:t>
                      </a:r>
                    </a:p>
                  </a:txBody>
                  <a:tcPr marL="91439" marR="91439" marT="45713" marB="45713"/>
                </a:tc>
                <a:extLst>
                  <a:ext uri="{0D108BD9-81ED-4DB2-BD59-A6C34878D82A}">
                    <a16:rowId xmlns:a16="http://schemas.microsoft.com/office/drawing/2014/main" val="10003"/>
                  </a:ext>
                </a:extLst>
              </a:tr>
              <a:tr h="490145">
                <a:tc>
                  <a:txBody>
                    <a:bodyPr/>
                    <a:lstStyle/>
                    <a:p>
                      <a:pPr algn="ctr"/>
                      <a:r>
                        <a:rPr lang="en-CA" sz="1800" kern="1200" baseline="0" dirty="0">
                          <a:solidFill>
                            <a:schemeClr val="dk1"/>
                          </a:solidFill>
                          <a:latin typeface="+mn-lt"/>
                          <a:ea typeface="+mn-ea"/>
                          <a:cs typeface="+mn-cs"/>
                        </a:rPr>
                        <a:t>0.8359375</a:t>
                      </a:r>
                      <a:endParaRPr lang="en-CA" sz="1800" dirty="0"/>
                    </a:p>
                  </a:txBody>
                  <a:tcPr marL="91439" marR="91439" marT="45713" marB="45713"/>
                </a:tc>
                <a:tc>
                  <a:txBody>
                    <a:bodyPr/>
                    <a:lstStyle/>
                    <a:p>
                      <a:pPr algn="ctr"/>
                      <a:r>
                        <a:rPr lang="en-CA" sz="1800" dirty="0"/>
                        <a:t>E</a:t>
                      </a:r>
                    </a:p>
                  </a:txBody>
                  <a:tcPr marL="91439" marR="91439" marT="45713" marB="45713"/>
                </a:tc>
                <a:tc>
                  <a:txBody>
                    <a:bodyPr/>
                    <a:lstStyle/>
                    <a:p>
                      <a:pPr algn="ctr"/>
                      <a:r>
                        <a:rPr lang="en-CA" sz="1800" dirty="0"/>
                        <a:t>0.55</a:t>
                      </a:r>
                    </a:p>
                  </a:txBody>
                  <a:tcPr marL="91439" marR="91439" marT="45713" marB="45713"/>
                </a:tc>
                <a:tc>
                  <a:txBody>
                    <a:bodyPr/>
                    <a:lstStyle/>
                    <a:p>
                      <a:pPr algn="ctr"/>
                      <a:r>
                        <a:rPr lang="en-CA" sz="1800" dirty="0"/>
                        <a:t>0.85</a:t>
                      </a:r>
                    </a:p>
                  </a:txBody>
                  <a:tcPr marL="91439" marR="91439" marT="45713" marB="45713"/>
                </a:tc>
                <a:tc>
                  <a:txBody>
                    <a:bodyPr/>
                    <a:lstStyle/>
                    <a:p>
                      <a:pPr algn="ctr"/>
                      <a:r>
                        <a:rPr lang="en-CA" sz="1800" dirty="0"/>
                        <a:t>0.3</a:t>
                      </a:r>
                    </a:p>
                  </a:txBody>
                  <a:tcPr marL="91439" marR="91439" marT="45713" marB="45713"/>
                </a:tc>
                <a:extLst>
                  <a:ext uri="{0D108BD9-81ED-4DB2-BD59-A6C34878D82A}">
                    <a16:rowId xmlns:a16="http://schemas.microsoft.com/office/drawing/2014/main" val="10004"/>
                  </a:ext>
                </a:extLst>
              </a:tr>
              <a:tr h="490145">
                <a:tc>
                  <a:txBody>
                    <a:bodyPr/>
                    <a:lstStyle/>
                    <a:p>
                      <a:pPr algn="ctr"/>
                      <a:r>
                        <a:rPr lang="en-CA" sz="1800" kern="1200" baseline="0" dirty="0">
                          <a:solidFill>
                            <a:schemeClr val="dk1"/>
                          </a:solidFill>
                          <a:latin typeface="+mn-lt"/>
                          <a:ea typeface="+mn-ea"/>
                          <a:cs typeface="+mn-cs"/>
                        </a:rPr>
                        <a:t>0.953125</a:t>
                      </a:r>
                      <a:endParaRPr lang="en-CA" sz="1800" dirty="0"/>
                    </a:p>
                  </a:txBody>
                  <a:tcPr marL="91439" marR="91439" marT="45713" marB="45713"/>
                </a:tc>
                <a:tc>
                  <a:txBody>
                    <a:bodyPr/>
                    <a:lstStyle/>
                    <a:p>
                      <a:pPr algn="ctr"/>
                      <a:r>
                        <a:rPr lang="en-CA" sz="1800" dirty="0"/>
                        <a:t>$</a:t>
                      </a:r>
                    </a:p>
                  </a:txBody>
                  <a:tcPr marL="91439" marR="91439" marT="45713" marB="45713"/>
                </a:tc>
                <a:tc>
                  <a:txBody>
                    <a:bodyPr/>
                    <a:lstStyle/>
                    <a:p>
                      <a:pPr algn="ctr"/>
                      <a:r>
                        <a:rPr lang="en-CA" sz="1800" dirty="0"/>
                        <a:t>0.9</a:t>
                      </a:r>
                    </a:p>
                  </a:txBody>
                  <a:tcPr marL="91439" marR="91439" marT="45713" marB="45713"/>
                </a:tc>
                <a:tc>
                  <a:txBody>
                    <a:bodyPr/>
                    <a:lstStyle/>
                    <a:p>
                      <a:pPr algn="ctr"/>
                      <a:r>
                        <a:rPr lang="en-CA" sz="1800" dirty="0"/>
                        <a:t>1.0</a:t>
                      </a:r>
                    </a:p>
                  </a:txBody>
                  <a:tcPr marL="91439" marR="91439" marT="45713" marB="45713"/>
                </a:tc>
                <a:tc>
                  <a:txBody>
                    <a:bodyPr/>
                    <a:lstStyle/>
                    <a:p>
                      <a:pPr algn="ctr"/>
                      <a:r>
                        <a:rPr lang="en-CA" sz="1800" dirty="0"/>
                        <a:t>0.1</a:t>
                      </a:r>
                    </a:p>
                  </a:txBody>
                  <a:tcPr marL="91439" marR="91439" marT="45713" marB="45713"/>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Lossy Compression</a:t>
            </a:r>
          </a:p>
        </p:txBody>
      </p:sp>
      <p:sp>
        <p:nvSpPr>
          <p:cNvPr id="6" name="TextBox 5">
            <a:extLst>
              <a:ext uri="{FF2B5EF4-FFF2-40B4-BE49-F238E27FC236}">
                <a16:creationId xmlns:a16="http://schemas.microsoft.com/office/drawing/2014/main" id="{A372BE2D-B417-C07B-3FB5-E5FEBE8BD17C}"/>
              </a:ext>
            </a:extLst>
          </p:cNvPr>
          <p:cNvSpPr txBox="1"/>
          <p:nvPr/>
        </p:nvSpPr>
        <p:spPr>
          <a:xfrm>
            <a:off x="677334" y="2238704"/>
            <a:ext cx="9756197" cy="923330"/>
          </a:xfrm>
          <a:prstGeom prst="rect">
            <a:avLst/>
          </a:prstGeom>
          <a:noFill/>
        </p:spPr>
        <p:txBody>
          <a:bodyPr wrap="none" rtlCol="0">
            <a:spAutoFit/>
          </a:bodyPr>
          <a:lstStyle/>
          <a:p>
            <a:pPr marL="285750" indent="-285750">
              <a:buFont typeface="Arial" panose="020B0604020202020204" pitchFamily="34" charset="0"/>
              <a:buChar char="•"/>
            </a:pPr>
            <a:r>
              <a:rPr lang="en-US" dirty="0"/>
              <a:t>The compressed data is not the same as the original data but a close approximation of it.</a:t>
            </a:r>
          </a:p>
          <a:p>
            <a:pPr marL="285750" indent="-285750">
              <a:buFont typeface="Arial" panose="020B0604020202020204" pitchFamily="34" charset="0"/>
              <a:buChar char="•"/>
            </a:pPr>
            <a:r>
              <a:rPr lang="en-US" dirty="0"/>
              <a:t>Yields a much higher compression ratio than that of loss less compression</a:t>
            </a:r>
          </a:p>
          <a:p>
            <a:endParaRPr lang="en-US" dirty="0"/>
          </a:p>
        </p:txBody>
      </p:sp>
    </p:spTree>
    <p:extLst>
      <p:ext uri="{BB962C8B-B14F-4D97-AF65-F5344CB8AC3E}">
        <p14:creationId xmlns:p14="http://schemas.microsoft.com/office/powerpoint/2010/main" val="1097033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The Rate-distortion Theory</a:t>
            </a:r>
          </a:p>
        </p:txBody>
      </p:sp>
      <p:pic>
        <p:nvPicPr>
          <p:cNvPr id="5" name="Content Placeholder 4">
            <a:extLst>
              <a:ext uri="{FF2B5EF4-FFF2-40B4-BE49-F238E27FC236}">
                <a16:creationId xmlns:a16="http://schemas.microsoft.com/office/drawing/2014/main" id="{6252DF3D-E284-34A5-91C8-28A7DB5698A4}"/>
              </a:ext>
            </a:extLst>
          </p:cNvPr>
          <p:cNvPicPr>
            <a:picLocks noGrp="1" noChangeAspect="1"/>
          </p:cNvPicPr>
          <p:nvPr>
            <p:ph idx="1"/>
          </p:nvPr>
        </p:nvPicPr>
        <p:blipFill>
          <a:blip r:embed="rId2"/>
          <a:srcRect t="16364" r="2703" b="5650"/>
          <a:stretch/>
        </p:blipFill>
        <p:spPr>
          <a:xfrm>
            <a:off x="561719" y="1679904"/>
            <a:ext cx="7815025" cy="4363544"/>
          </a:xfrm>
        </p:spPr>
      </p:pic>
    </p:spTree>
    <p:extLst>
      <p:ext uri="{BB962C8B-B14F-4D97-AF65-F5344CB8AC3E}">
        <p14:creationId xmlns:p14="http://schemas.microsoft.com/office/powerpoint/2010/main" val="2298140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Quantization</a:t>
            </a:r>
          </a:p>
        </p:txBody>
      </p:sp>
      <p:sp>
        <p:nvSpPr>
          <p:cNvPr id="6" name="TextBox 5">
            <a:extLst>
              <a:ext uri="{FF2B5EF4-FFF2-40B4-BE49-F238E27FC236}">
                <a16:creationId xmlns:a16="http://schemas.microsoft.com/office/drawing/2014/main" id="{333CCDC1-8D13-2EB8-F117-3193550A845E}"/>
              </a:ext>
            </a:extLst>
          </p:cNvPr>
          <p:cNvSpPr txBox="1"/>
          <p:nvPr/>
        </p:nvSpPr>
        <p:spPr>
          <a:xfrm>
            <a:off x="769564" y="1930400"/>
            <a:ext cx="8977337" cy="2862322"/>
          </a:xfrm>
          <a:prstGeom prst="rect">
            <a:avLst/>
          </a:prstGeom>
          <a:noFill/>
        </p:spPr>
        <p:txBody>
          <a:bodyPr wrap="square" rtlCol="0">
            <a:spAutoFit/>
          </a:bodyPr>
          <a:lstStyle/>
          <a:p>
            <a:r>
              <a:rPr lang="en-US" dirty="0"/>
              <a:t>Reduce the number of output values to a much smaller set.</a:t>
            </a:r>
          </a:p>
          <a:p>
            <a:endParaRPr lang="en-US" dirty="0"/>
          </a:p>
          <a:p>
            <a:r>
              <a:rPr lang="en-US" dirty="0"/>
              <a:t>Main source of the loss in lossy compression.</a:t>
            </a:r>
          </a:p>
          <a:p>
            <a:endParaRPr lang="en-US" dirty="0"/>
          </a:p>
          <a:p>
            <a:endParaRPr lang="en-US" dirty="0"/>
          </a:p>
          <a:p>
            <a:r>
              <a:rPr lang="en-US" dirty="0">
                <a:solidFill>
                  <a:srgbClr val="00B050"/>
                </a:solidFill>
              </a:rPr>
              <a:t>Uniform</a:t>
            </a:r>
            <a:r>
              <a:rPr lang="en-US" dirty="0"/>
              <a:t>: The type of quantization in which the quantization levels are uniformly spaced is termed as a Uniform Quantization.</a:t>
            </a:r>
          </a:p>
          <a:p>
            <a:endParaRPr lang="en-US" dirty="0"/>
          </a:p>
          <a:p>
            <a:r>
              <a:rPr lang="en-US" dirty="0">
                <a:solidFill>
                  <a:srgbClr val="00B050"/>
                </a:solidFill>
              </a:rPr>
              <a:t>Nonuniform</a:t>
            </a:r>
            <a:r>
              <a:rPr lang="en-US" dirty="0"/>
              <a:t> : in which the quantization levels are unequal and mostly the relation between them is logarithmic, is termed as a Non-uniform Quantization.</a:t>
            </a:r>
          </a:p>
        </p:txBody>
      </p:sp>
    </p:spTree>
    <p:extLst>
      <p:ext uri="{BB962C8B-B14F-4D97-AF65-F5344CB8AC3E}">
        <p14:creationId xmlns:p14="http://schemas.microsoft.com/office/powerpoint/2010/main" val="1654872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Frequence Masking</a:t>
            </a:r>
          </a:p>
        </p:txBody>
      </p:sp>
      <p:pic>
        <p:nvPicPr>
          <p:cNvPr id="5" name="Content Placeholder 4">
            <a:extLst>
              <a:ext uri="{FF2B5EF4-FFF2-40B4-BE49-F238E27FC236}">
                <a16:creationId xmlns:a16="http://schemas.microsoft.com/office/drawing/2014/main" id="{89CB6695-D2F8-4481-BEC0-95DD020C3836}"/>
              </a:ext>
            </a:extLst>
          </p:cNvPr>
          <p:cNvPicPr>
            <a:picLocks noGrp="1" noChangeAspect="1"/>
          </p:cNvPicPr>
          <p:nvPr>
            <p:ph idx="1"/>
          </p:nvPr>
        </p:nvPicPr>
        <p:blipFill>
          <a:blip r:embed="rId2"/>
          <a:srcRect t="14491" r="2251" b="4242"/>
          <a:stretch/>
        </p:blipFill>
        <p:spPr>
          <a:xfrm>
            <a:off x="470315" y="1630345"/>
            <a:ext cx="7950204" cy="4507524"/>
          </a:xfrm>
        </p:spPr>
      </p:pic>
    </p:spTree>
    <p:extLst>
      <p:ext uri="{BB962C8B-B14F-4D97-AF65-F5344CB8AC3E}">
        <p14:creationId xmlns:p14="http://schemas.microsoft.com/office/powerpoint/2010/main" val="252710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Threshold of Hearing</a:t>
            </a:r>
          </a:p>
        </p:txBody>
      </p:sp>
      <p:pic>
        <p:nvPicPr>
          <p:cNvPr id="5" name="Content Placeholder 4">
            <a:extLst>
              <a:ext uri="{FF2B5EF4-FFF2-40B4-BE49-F238E27FC236}">
                <a16:creationId xmlns:a16="http://schemas.microsoft.com/office/drawing/2014/main" id="{9273893A-3D5C-1278-D3AA-93E6C16F42A7}"/>
              </a:ext>
            </a:extLst>
          </p:cNvPr>
          <p:cNvPicPr>
            <a:picLocks noGrp="1" noChangeAspect="1"/>
          </p:cNvPicPr>
          <p:nvPr>
            <p:ph idx="1"/>
          </p:nvPr>
        </p:nvPicPr>
        <p:blipFill>
          <a:blip r:embed="rId2"/>
          <a:srcRect l="3072" t="10844"/>
          <a:stretch/>
        </p:blipFill>
        <p:spPr>
          <a:xfrm>
            <a:off x="802759" y="1527348"/>
            <a:ext cx="6442103" cy="4491614"/>
          </a:xfrm>
        </p:spPr>
      </p:pic>
    </p:spTree>
    <p:extLst>
      <p:ext uri="{BB962C8B-B14F-4D97-AF65-F5344CB8AC3E}">
        <p14:creationId xmlns:p14="http://schemas.microsoft.com/office/powerpoint/2010/main" val="3336649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Threshold of Hearing</a:t>
            </a:r>
          </a:p>
        </p:txBody>
      </p:sp>
      <p:pic>
        <p:nvPicPr>
          <p:cNvPr id="5" name="Content Placeholder 4">
            <a:extLst>
              <a:ext uri="{FF2B5EF4-FFF2-40B4-BE49-F238E27FC236}">
                <a16:creationId xmlns:a16="http://schemas.microsoft.com/office/drawing/2014/main" id="{26ED9AFE-CB70-BEFE-A982-4AA6040DBCCB}"/>
              </a:ext>
            </a:extLst>
          </p:cNvPr>
          <p:cNvPicPr>
            <a:picLocks noGrp="1" noChangeAspect="1"/>
          </p:cNvPicPr>
          <p:nvPr>
            <p:ph idx="1"/>
          </p:nvPr>
        </p:nvPicPr>
        <p:blipFill>
          <a:blip r:embed="rId2"/>
          <a:srcRect t="17870" r="1381"/>
          <a:stretch/>
        </p:blipFill>
        <p:spPr>
          <a:xfrm>
            <a:off x="419794" y="1930400"/>
            <a:ext cx="8272030" cy="4098610"/>
          </a:xfrm>
        </p:spPr>
      </p:pic>
    </p:spTree>
    <p:extLst>
      <p:ext uri="{BB962C8B-B14F-4D97-AF65-F5344CB8AC3E}">
        <p14:creationId xmlns:p14="http://schemas.microsoft.com/office/powerpoint/2010/main" val="469400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43B1C53-E05A-C7A9-D51B-8B2C9924DD24}"/>
              </a:ext>
            </a:extLst>
          </p:cNvPr>
          <p:cNvSpPr>
            <a:spLocks noGrp="1" noChangeArrowheads="1"/>
          </p:cNvSpPr>
          <p:nvPr>
            <p:ph type="title"/>
          </p:nvPr>
        </p:nvSpPr>
        <p:spPr/>
        <p:txBody>
          <a:bodyPr/>
          <a:lstStyle/>
          <a:p>
            <a:r>
              <a:rPr lang="en-US" altLang="en-US" dirty="0"/>
              <a:t>Why Audio Compression is Needed</a:t>
            </a:r>
          </a:p>
        </p:txBody>
      </p:sp>
      <p:sp>
        <p:nvSpPr>
          <p:cNvPr id="11267" name="Rectangle 3">
            <a:extLst>
              <a:ext uri="{FF2B5EF4-FFF2-40B4-BE49-F238E27FC236}">
                <a16:creationId xmlns:a16="http://schemas.microsoft.com/office/drawing/2014/main" id="{5FA77A5D-F649-0874-5B34-404730DCCD14}"/>
              </a:ext>
            </a:extLst>
          </p:cNvPr>
          <p:cNvSpPr>
            <a:spLocks noGrp="1" noChangeArrowheads="1"/>
          </p:cNvSpPr>
          <p:nvPr>
            <p:ph type="body" idx="1"/>
          </p:nvPr>
        </p:nvSpPr>
        <p:spPr>
          <a:xfrm>
            <a:off x="677334" y="1930400"/>
            <a:ext cx="8596668" cy="3880773"/>
          </a:xfrm>
        </p:spPr>
        <p:txBody>
          <a:bodyPr/>
          <a:lstStyle/>
          <a:p>
            <a:r>
              <a:rPr lang="en-US" altLang="en-US" dirty="0"/>
              <a:t>to reduce the span between the softest and loudest parts of an audio signal</a:t>
            </a:r>
          </a:p>
          <a:p>
            <a:endParaRPr lang="en-US" altLang="en-US" dirty="0"/>
          </a:p>
          <a:p>
            <a:r>
              <a:rPr lang="en-US" altLang="en-US" dirty="0"/>
              <a:t>Data rate = sampling rate * quantization bits * channels (+ control information)</a:t>
            </a:r>
          </a:p>
          <a:p>
            <a:r>
              <a:rPr lang="en-US" altLang="en-US" dirty="0"/>
              <a:t>For example (digital audio):</a:t>
            </a:r>
          </a:p>
          <a:p>
            <a:pPr lvl="1"/>
            <a:r>
              <a:rPr lang="en-US" altLang="en-US" sz="2000" dirty="0"/>
              <a:t>44100 Hz; 16 bits; 2 channels</a:t>
            </a:r>
          </a:p>
          <a:p>
            <a:pPr lvl="1"/>
            <a:r>
              <a:rPr lang="en-US" altLang="en-US" sz="2000" dirty="0"/>
              <a:t>generates about 1.4M of data per second; 84M per minute; 5G per hour</a:t>
            </a:r>
          </a:p>
        </p:txBody>
      </p:sp>
    </p:spTree>
    <p:extLst>
      <p:ext uri="{BB962C8B-B14F-4D97-AF65-F5344CB8AC3E}">
        <p14:creationId xmlns:p14="http://schemas.microsoft.com/office/powerpoint/2010/main" val="3176428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Audio compression format</a:t>
            </a:r>
          </a:p>
        </p:txBody>
      </p:sp>
      <p:sp>
        <p:nvSpPr>
          <p:cNvPr id="3" name="Content Placeholder 2">
            <a:extLst>
              <a:ext uri="{FF2B5EF4-FFF2-40B4-BE49-F238E27FC236}">
                <a16:creationId xmlns:a16="http://schemas.microsoft.com/office/drawing/2014/main" id="{A84DE812-0CF4-F5C7-89E3-FD234106EE07}"/>
              </a:ext>
            </a:extLst>
          </p:cNvPr>
          <p:cNvSpPr>
            <a:spLocks noGrp="1"/>
          </p:cNvSpPr>
          <p:nvPr>
            <p:ph idx="1"/>
          </p:nvPr>
        </p:nvSpPr>
        <p:spPr/>
        <p:txBody>
          <a:bodyPr/>
          <a:lstStyle/>
          <a:p>
            <a:r>
              <a:rPr lang="en-US" b="0" i="0" dirty="0">
                <a:solidFill>
                  <a:srgbClr val="202122"/>
                </a:solidFill>
                <a:effectLst/>
                <a:latin typeface="Arial" panose="020B0604020202020204" pitchFamily="34" charset="0"/>
              </a:rPr>
              <a:t>An </a:t>
            </a:r>
            <a:r>
              <a:rPr lang="en-US" b="1" i="0" dirty="0">
                <a:solidFill>
                  <a:srgbClr val="202122"/>
                </a:solidFill>
                <a:effectLst/>
                <a:latin typeface="Arial" panose="020B0604020202020204" pitchFamily="34" charset="0"/>
              </a:rPr>
              <a:t>audio coding format</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audio compression format</a:t>
            </a:r>
            <a:r>
              <a:rPr lang="en-US" b="0" i="0" dirty="0">
                <a:solidFill>
                  <a:srgbClr val="202122"/>
                </a:solidFill>
                <a:effectLst/>
                <a:latin typeface="Arial" panose="020B0604020202020204" pitchFamily="34" charset="0"/>
              </a:rPr>
              <a:t>) is a </a:t>
            </a:r>
            <a:r>
              <a:rPr lang="en-US" dirty="0">
                <a:latin typeface="Arial" panose="020B0604020202020204" pitchFamily="34" charset="0"/>
              </a:rPr>
              <a:t>content representation format</a:t>
            </a:r>
            <a:r>
              <a:rPr lang="en-US" b="0" i="0" dirty="0">
                <a:solidFill>
                  <a:srgbClr val="202122"/>
                </a:solidFill>
                <a:effectLst/>
                <a:latin typeface="Arial" panose="020B0604020202020204" pitchFamily="34" charset="0"/>
              </a:rPr>
              <a:t> for storage or transmission of </a:t>
            </a:r>
            <a:r>
              <a:rPr lang="en-US" dirty="0">
                <a:latin typeface="Arial" panose="020B0604020202020204" pitchFamily="34" charset="0"/>
              </a:rPr>
              <a:t>digital audio</a:t>
            </a:r>
            <a:r>
              <a:rPr lang="en-US" b="0" i="0" dirty="0">
                <a:solidFill>
                  <a:srgbClr val="202122"/>
                </a:solidFill>
                <a:effectLst/>
                <a:latin typeface="Arial" panose="020B0604020202020204" pitchFamily="34" charset="0"/>
              </a:rPr>
              <a:t> (such as in </a:t>
            </a:r>
            <a:r>
              <a:rPr lang="en-US" dirty="0">
                <a:latin typeface="Arial" panose="020B0604020202020204" pitchFamily="34" charset="0"/>
              </a:rPr>
              <a:t>digital television</a:t>
            </a:r>
            <a:r>
              <a:rPr lang="en-US" b="0" i="0" dirty="0">
                <a:solidFill>
                  <a:srgbClr val="202122"/>
                </a:solidFill>
                <a:effectLst/>
                <a:latin typeface="Arial" panose="020B0604020202020204" pitchFamily="34" charset="0"/>
              </a:rPr>
              <a:t>, </a:t>
            </a:r>
            <a:r>
              <a:rPr lang="en-US" dirty="0">
                <a:latin typeface="Arial" panose="020B0604020202020204" pitchFamily="34" charset="0"/>
              </a:rPr>
              <a:t>digital radio</a:t>
            </a:r>
            <a:r>
              <a:rPr lang="en-US" b="0" i="0" dirty="0">
                <a:solidFill>
                  <a:srgbClr val="202122"/>
                </a:solidFill>
                <a:effectLst/>
                <a:latin typeface="Arial" panose="020B0604020202020204" pitchFamily="34" charset="0"/>
              </a:rPr>
              <a:t> and in audio and video files). Examples of audio coding formats include </a:t>
            </a:r>
            <a:r>
              <a:rPr lang="en-US" dirty="0">
                <a:latin typeface="Arial" panose="020B0604020202020204" pitchFamily="34" charset="0"/>
              </a:rPr>
              <a:t>MP3</a:t>
            </a:r>
            <a:r>
              <a:rPr lang="en-US" b="0" i="0" dirty="0">
                <a:solidFill>
                  <a:srgbClr val="202122"/>
                </a:solidFill>
                <a:effectLst/>
                <a:latin typeface="Arial" panose="020B0604020202020204" pitchFamily="34" charset="0"/>
              </a:rPr>
              <a:t>, </a:t>
            </a:r>
            <a:r>
              <a:rPr lang="en-US" dirty="0">
                <a:latin typeface="Arial" panose="020B0604020202020204" pitchFamily="34" charset="0"/>
              </a:rPr>
              <a:t>AAC</a:t>
            </a:r>
            <a:r>
              <a:rPr lang="en-US" b="0" i="0" dirty="0">
                <a:solidFill>
                  <a:srgbClr val="202122"/>
                </a:solidFill>
                <a:effectLst/>
                <a:latin typeface="Arial" panose="020B0604020202020204" pitchFamily="34" charset="0"/>
              </a:rPr>
              <a:t>, </a:t>
            </a:r>
            <a:r>
              <a:rPr lang="en-US" dirty="0" err="1">
                <a:latin typeface="Arial" panose="020B0604020202020204" pitchFamily="34" charset="0"/>
              </a:rPr>
              <a:t>Vorbis</a:t>
            </a:r>
            <a:r>
              <a:rPr lang="en-US" b="0" i="0" dirty="0">
                <a:solidFill>
                  <a:srgbClr val="202122"/>
                </a:solidFill>
                <a:effectLst/>
                <a:latin typeface="Arial" panose="020B0604020202020204" pitchFamily="34" charset="0"/>
              </a:rPr>
              <a:t>, </a:t>
            </a:r>
            <a:r>
              <a:rPr lang="en-US" dirty="0">
                <a:latin typeface="Arial" panose="020B0604020202020204" pitchFamily="34" charset="0"/>
              </a:rPr>
              <a:t>FLAC</a:t>
            </a:r>
            <a:r>
              <a:rPr lang="en-US" b="0" i="0" dirty="0">
                <a:solidFill>
                  <a:srgbClr val="202122"/>
                </a:solidFill>
                <a:effectLst/>
                <a:latin typeface="Arial" panose="020B0604020202020204" pitchFamily="34" charset="0"/>
              </a:rPr>
              <a:t>, and </a:t>
            </a:r>
            <a:r>
              <a:rPr lang="en-US" dirty="0">
                <a:latin typeface="Arial" panose="020B0604020202020204" pitchFamily="34" charset="0"/>
              </a:rPr>
              <a:t>Opus</a:t>
            </a:r>
            <a:r>
              <a:rPr lang="en-US" b="0" i="0" dirty="0">
                <a:solidFill>
                  <a:srgbClr val="202122"/>
                </a:solidFill>
                <a:effectLst/>
                <a:latin typeface="Arial" panose="020B0604020202020204" pitchFamily="34" charset="0"/>
              </a:rPr>
              <a:t>. </a:t>
            </a:r>
          </a:p>
          <a:p>
            <a:endParaRPr lang="en-US" dirty="0">
              <a:solidFill>
                <a:srgbClr val="202122"/>
              </a:solidFill>
              <a:latin typeface="Arial" panose="020B0604020202020204" pitchFamily="34" charset="0"/>
            </a:endParaRPr>
          </a:p>
          <a:p>
            <a:r>
              <a:rPr lang="en-US" b="0" i="0" dirty="0">
                <a:solidFill>
                  <a:srgbClr val="202122"/>
                </a:solidFill>
                <a:effectLst/>
                <a:latin typeface="Arial" panose="020B0604020202020204" pitchFamily="34" charset="0"/>
              </a:rPr>
              <a:t>A specific software or hardware implementation capable of </a:t>
            </a:r>
            <a:r>
              <a:rPr lang="en-US" dirty="0">
                <a:latin typeface="Arial" panose="020B0604020202020204" pitchFamily="34" charset="0"/>
              </a:rPr>
              <a:t>audio compression</a:t>
            </a:r>
            <a:r>
              <a:rPr lang="en-US" b="0" i="0" dirty="0">
                <a:solidFill>
                  <a:srgbClr val="202122"/>
                </a:solidFill>
                <a:effectLst/>
                <a:latin typeface="Arial" panose="020B0604020202020204" pitchFamily="34" charset="0"/>
              </a:rPr>
              <a:t> and decompression to/from a specific audio coding format is called an </a:t>
            </a:r>
            <a:r>
              <a:rPr lang="en-US" i="1" dirty="0">
                <a:solidFill>
                  <a:srgbClr val="202122"/>
                </a:solidFill>
                <a:latin typeface="Arial" panose="020B0604020202020204" pitchFamily="34" charset="0"/>
              </a:rPr>
              <a:t>audio codec</a:t>
            </a:r>
            <a:r>
              <a:rPr lang="en-US" b="0" i="0" dirty="0">
                <a:solidFill>
                  <a:srgbClr val="202122"/>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431685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Lossless audio coding</a:t>
            </a:r>
          </a:p>
        </p:txBody>
      </p:sp>
      <p:sp>
        <p:nvSpPr>
          <p:cNvPr id="3" name="Content Placeholder 2">
            <a:extLst>
              <a:ext uri="{FF2B5EF4-FFF2-40B4-BE49-F238E27FC236}">
                <a16:creationId xmlns:a16="http://schemas.microsoft.com/office/drawing/2014/main" id="{A84DE812-0CF4-F5C7-89E3-FD234106EE07}"/>
              </a:ext>
            </a:extLst>
          </p:cNvPr>
          <p:cNvSpPr>
            <a:spLocks noGrp="1"/>
          </p:cNvSpPr>
          <p:nvPr>
            <p:ph idx="1"/>
          </p:nvPr>
        </p:nvSpPr>
        <p:spPr/>
        <p:txBody>
          <a:bodyPr/>
          <a:lstStyle/>
          <a:p>
            <a:r>
              <a:rPr lang="en-US" b="0" i="0" dirty="0">
                <a:solidFill>
                  <a:srgbClr val="202122"/>
                </a:solidFill>
                <a:effectLst/>
                <a:latin typeface="Arial" panose="020B0604020202020204" pitchFamily="34" charset="0"/>
              </a:rPr>
              <a:t>Lossless audio coding formats such as </a:t>
            </a:r>
            <a:r>
              <a:rPr lang="en-US" dirty="0">
                <a:latin typeface="Arial" panose="020B0604020202020204" pitchFamily="34" charset="0"/>
              </a:rPr>
              <a:t>FLAC</a:t>
            </a:r>
            <a:r>
              <a:rPr lang="en-US" b="0" i="0" dirty="0">
                <a:solidFill>
                  <a:srgbClr val="202122"/>
                </a:solidFill>
                <a:effectLst/>
                <a:latin typeface="Arial" panose="020B0604020202020204" pitchFamily="34" charset="0"/>
              </a:rPr>
              <a:t> and </a:t>
            </a:r>
            <a:r>
              <a:rPr lang="en-US" dirty="0">
                <a:latin typeface="Arial" panose="020B0604020202020204" pitchFamily="34" charset="0"/>
              </a:rPr>
              <a:t>Apple Lossless</a:t>
            </a:r>
            <a:r>
              <a:rPr lang="en-US" b="0" i="0" dirty="0">
                <a:solidFill>
                  <a:srgbClr val="202122"/>
                </a:solidFill>
                <a:effectLst/>
                <a:latin typeface="Arial" panose="020B0604020202020204" pitchFamily="34" charset="0"/>
              </a:rPr>
              <a:t> are sometimes available, though at the cost of larger files.</a:t>
            </a:r>
            <a:endParaRPr lang="en-US" dirty="0"/>
          </a:p>
        </p:txBody>
      </p:sp>
    </p:spTree>
    <p:extLst>
      <p:ext uri="{BB962C8B-B14F-4D97-AF65-F5344CB8AC3E}">
        <p14:creationId xmlns:p14="http://schemas.microsoft.com/office/powerpoint/2010/main" val="1758668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Audio compression Lossy</a:t>
            </a:r>
          </a:p>
        </p:txBody>
      </p:sp>
      <p:sp>
        <p:nvSpPr>
          <p:cNvPr id="3" name="Content Placeholder 2">
            <a:extLst>
              <a:ext uri="{FF2B5EF4-FFF2-40B4-BE49-F238E27FC236}">
                <a16:creationId xmlns:a16="http://schemas.microsoft.com/office/drawing/2014/main" id="{A84DE812-0CF4-F5C7-89E3-FD234106EE07}"/>
              </a:ext>
            </a:extLst>
          </p:cNvPr>
          <p:cNvSpPr>
            <a:spLocks noGrp="1"/>
          </p:cNvSpPr>
          <p:nvPr>
            <p:ph idx="1"/>
          </p:nvPr>
        </p:nvSpPr>
        <p:spPr/>
        <p:txBody>
          <a:bodyPr/>
          <a:lstStyle/>
          <a:p>
            <a:r>
              <a:rPr lang="en-US" b="0" i="0" dirty="0">
                <a:solidFill>
                  <a:srgbClr val="202122"/>
                </a:solidFill>
                <a:effectLst/>
                <a:latin typeface="Arial" panose="020B0604020202020204" pitchFamily="34" charset="0"/>
              </a:rPr>
              <a:t>The most widely used audio coding formats are </a:t>
            </a:r>
            <a:r>
              <a:rPr lang="en-US" dirty="0">
                <a:latin typeface="Arial" panose="020B0604020202020204" pitchFamily="34" charset="0"/>
              </a:rPr>
              <a:t>MP3</a:t>
            </a:r>
            <a:r>
              <a:rPr lang="en-US" b="0" i="0" dirty="0">
                <a:solidFill>
                  <a:srgbClr val="202122"/>
                </a:solidFill>
                <a:effectLst/>
                <a:latin typeface="Arial" panose="020B0604020202020204" pitchFamily="34" charset="0"/>
              </a:rPr>
              <a:t> and </a:t>
            </a:r>
            <a:r>
              <a:rPr lang="en-US" dirty="0">
                <a:latin typeface="Arial" panose="020B0604020202020204" pitchFamily="34" charset="0"/>
              </a:rPr>
              <a:t>Advanced Audio Coding</a:t>
            </a:r>
            <a:r>
              <a:rPr lang="en-US" b="0" i="0" dirty="0">
                <a:solidFill>
                  <a:srgbClr val="202122"/>
                </a:solidFill>
                <a:effectLst/>
                <a:latin typeface="Arial" panose="020B0604020202020204" pitchFamily="34" charset="0"/>
              </a:rPr>
              <a:t> (AAC), both of which are lossy formats based on </a:t>
            </a:r>
            <a:r>
              <a:rPr lang="en-US" dirty="0">
                <a:latin typeface="Arial" panose="020B0604020202020204" pitchFamily="34" charset="0"/>
              </a:rPr>
              <a:t>modified discrete cosine transform</a:t>
            </a:r>
            <a:r>
              <a:rPr lang="en-US" b="0" i="0" dirty="0">
                <a:solidFill>
                  <a:srgbClr val="202122"/>
                </a:solidFill>
                <a:effectLst/>
                <a:latin typeface="Arial" panose="020B0604020202020204" pitchFamily="34" charset="0"/>
              </a:rPr>
              <a:t> (MDCT) and </a:t>
            </a:r>
            <a:r>
              <a:rPr lang="en-US" dirty="0">
                <a:latin typeface="Arial" panose="020B0604020202020204" pitchFamily="34" charset="0"/>
              </a:rPr>
              <a:t>perceptual coding</a:t>
            </a:r>
            <a:r>
              <a:rPr lang="en-US" b="0" i="0" dirty="0">
                <a:solidFill>
                  <a:srgbClr val="202122"/>
                </a:solidFill>
                <a:effectLst/>
                <a:latin typeface="Arial" panose="020B0604020202020204" pitchFamily="34" charset="0"/>
              </a:rPr>
              <a:t> algorithms</a:t>
            </a:r>
          </a:p>
          <a:p>
            <a:endParaRPr lang="en-US" dirty="0">
              <a:solidFill>
                <a:srgbClr val="202122"/>
              </a:solidFill>
              <a:latin typeface="Arial" panose="020B0604020202020204" pitchFamily="34" charset="0"/>
            </a:endParaRPr>
          </a:p>
          <a:p>
            <a:r>
              <a:rPr lang="en-US" dirty="0"/>
              <a:t>Loss of some original audio data, permanently</a:t>
            </a:r>
          </a:p>
          <a:p>
            <a:r>
              <a:rPr lang="en-US" dirty="0"/>
              <a:t>Lower audio quality, noticeable in certain scenarios</a:t>
            </a:r>
          </a:p>
          <a:p>
            <a:r>
              <a:rPr lang="en-US" dirty="0"/>
              <a:t>Not suitable for high-end audio applications (music production, audiophiles)</a:t>
            </a:r>
          </a:p>
        </p:txBody>
      </p:sp>
    </p:spTree>
    <p:extLst>
      <p:ext uri="{BB962C8B-B14F-4D97-AF65-F5344CB8AC3E}">
        <p14:creationId xmlns:p14="http://schemas.microsoft.com/office/powerpoint/2010/main" val="3286591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55BAFD62-4D38-C096-D150-41962AE31EEE}"/>
              </a:ext>
            </a:extLst>
          </p:cNvPr>
          <p:cNvSpPr>
            <a:spLocks noGrp="1"/>
          </p:cNvSpPr>
          <p:nvPr>
            <p:ph type="title"/>
          </p:nvPr>
        </p:nvSpPr>
        <p:spPr>
          <a:xfrm>
            <a:off x="870019" y="385187"/>
            <a:ext cx="8229600" cy="1371600"/>
          </a:xfrm>
        </p:spPr>
        <p:txBody>
          <a:bodyPr/>
          <a:lstStyle/>
          <a:p>
            <a:r>
              <a:rPr lang="en-US" altLang="en-US" dirty="0"/>
              <a:t>History of MPEG Audio – MP3</a:t>
            </a:r>
          </a:p>
        </p:txBody>
      </p:sp>
      <p:sp>
        <p:nvSpPr>
          <p:cNvPr id="35843" name="Content Placeholder 2">
            <a:extLst>
              <a:ext uri="{FF2B5EF4-FFF2-40B4-BE49-F238E27FC236}">
                <a16:creationId xmlns:a16="http://schemas.microsoft.com/office/drawing/2014/main" id="{F450697A-45D1-023D-B7D1-15CBED6B072B}"/>
              </a:ext>
            </a:extLst>
          </p:cNvPr>
          <p:cNvSpPr>
            <a:spLocks noGrp="1"/>
          </p:cNvSpPr>
          <p:nvPr>
            <p:ph idx="1"/>
          </p:nvPr>
        </p:nvSpPr>
        <p:spPr>
          <a:xfrm>
            <a:off x="870019" y="1756787"/>
            <a:ext cx="8229600" cy="3886200"/>
          </a:xfrm>
        </p:spPr>
        <p:txBody>
          <a:bodyPr/>
          <a:lstStyle/>
          <a:p>
            <a:r>
              <a:rPr lang="en-US" altLang="en-US" dirty="0">
                <a:solidFill>
                  <a:srgbClr val="FF0000"/>
                </a:solidFill>
              </a:rPr>
              <a:t>First psychoacoustic masking code </a:t>
            </a:r>
            <a:r>
              <a:rPr lang="en-US" altLang="en-US" dirty="0"/>
              <a:t>was proposed in 1979 in AT&amp;T – Bell Labs, Murray Hill. </a:t>
            </a:r>
          </a:p>
          <a:p>
            <a:r>
              <a:rPr lang="en-US" altLang="en-US" dirty="0"/>
              <a:t>MP3 based on OCF (optimum coding in frequency domain) and PXFM (Perceptual transform coding)</a:t>
            </a:r>
          </a:p>
          <a:p>
            <a:r>
              <a:rPr lang="en-US" altLang="en-US" dirty="0"/>
              <a:t>MPEG-1 Audio Layer III – public release 1993</a:t>
            </a:r>
          </a:p>
          <a:p>
            <a:r>
              <a:rPr lang="en-US" altLang="en-US" dirty="0"/>
              <a:t>MPEG-2 Audio III – public release 1995</a:t>
            </a:r>
          </a:p>
        </p:txBody>
      </p:sp>
    </p:spTree>
    <p:extLst>
      <p:ext uri="{BB962C8B-B14F-4D97-AF65-F5344CB8AC3E}">
        <p14:creationId xmlns:p14="http://schemas.microsoft.com/office/powerpoint/2010/main" val="261774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455BA14-9813-DE35-275B-D8723625F9B0}"/>
              </a:ext>
            </a:extLst>
          </p:cNvPr>
          <p:cNvSpPr>
            <a:spLocks noGrp="1"/>
          </p:cNvSpPr>
          <p:nvPr>
            <p:ph type="title"/>
          </p:nvPr>
        </p:nvSpPr>
        <p:spPr/>
        <p:txBody>
          <a:bodyPr/>
          <a:lstStyle/>
          <a:p>
            <a:r>
              <a:rPr lang="en-US" altLang="en-US"/>
              <a:t>MPEG-1 Audio</a:t>
            </a:r>
          </a:p>
        </p:txBody>
      </p:sp>
      <p:sp>
        <p:nvSpPr>
          <p:cNvPr id="12291" name="Content Placeholder 2">
            <a:extLst>
              <a:ext uri="{FF2B5EF4-FFF2-40B4-BE49-F238E27FC236}">
                <a16:creationId xmlns:a16="http://schemas.microsoft.com/office/drawing/2014/main" id="{81AAF7C0-DBF9-C6A9-A285-F8CEDE0A9313}"/>
              </a:ext>
            </a:extLst>
          </p:cNvPr>
          <p:cNvSpPr>
            <a:spLocks noGrp="1"/>
          </p:cNvSpPr>
          <p:nvPr>
            <p:ph idx="1"/>
          </p:nvPr>
        </p:nvSpPr>
        <p:spPr>
          <a:xfrm>
            <a:off x="1044402" y="1688123"/>
            <a:ext cx="7155053" cy="3886200"/>
          </a:xfrm>
        </p:spPr>
        <p:txBody>
          <a:bodyPr/>
          <a:lstStyle/>
          <a:p>
            <a:r>
              <a:rPr lang="en-US" altLang="en-US" dirty="0"/>
              <a:t>Lossy compression of audio</a:t>
            </a:r>
          </a:p>
          <a:p>
            <a:r>
              <a:rPr lang="en-US" altLang="en-US" dirty="0"/>
              <a:t>In late 1980’s ISO’s MPEG group started to standardize </a:t>
            </a:r>
          </a:p>
          <a:p>
            <a:pPr lvl="1"/>
            <a:r>
              <a:rPr lang="en-US" altLang="en-US" dirty="0"/>
              <a:t>TV broadcasting</a:t>
            </a:r>
          </a:p>
          <a:p>
            <a:pPr lvl="1"/>
            <a:r>
              <a:rPr lang="en-US" altLang="en-US" dirty="0"/>
              <a:t>Use of Audio on CD-ROM (later DVD)</a:t>
            </a:r>
          </a:p>
          <a:p>
            <a:r>
              <a:rPr lang="en-US" altLang="en-US" dirty="0"/>
              <a:t>MPEG-1 Audio – 1992</a:t>
            </a:r>
          </a:p>
          <a:p>
            <a:r>
              <a:rPr lang="en-US" altLang="en-US" dirty="0"/>
              <a:t>MPEG-2 Audio - 1994 </a:t>
            </a:r>
          </a:p>
          <a:p>
            <a:r>
              <a:rPr lang="en-US" altLang="en-US" dirty="0"/>
              <a:t>MPEG-1 Audio Layer I, II, III</a:t>
            </a:r>
          </a:p>
          <a:p>
            <a:endParaRPr lang="en-US" altLang="en-US" dirty="0"/>
          </a:p>
        </p:txBody>
      </p:sp>
    </p:spTree>
    <p:extLst>
      <p:ext uri="{BB962C8B-B14F-4D97-AF65-F5344CB8AC3E}">
        <p14:creationId xmlns:p14="http://schemas.microsoft.com/office/powerpoint/2010/main" val="528492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D52F595-ABC6-CB8E-29F8-FDD57E527F37}"/>
              </a:ext>
            </a:extLst>
          </p:cNvPr>
          <p:cNvSpPr>
            <a:spLocks noGrp="1"/>
          </p:cNvSpPr>
          <p:nvPr>
            <p:ph type="title"/>
          </p:nvPr>
        </p:nvSpPr>
        <p:spPr/>
        <p:txBody>
          <a:bodyPr/>
          <a:lstStyle/>
          <a:p>
            <a:r>
              <a:rPr lang="en-US" altLang="en-US"/>
              <a:t>MPEG-1 Audio Encoding</a:t>
            </a:r>
          </a:p>
        </p:txBody>
      </p:sp>
      <p:sp>
        <p:nvSpPr>
          <p:cNvPr id="13315" name="Content Placeholder 2">
            <a:extLst>
              <a:ext uri="{FF2B5EF4-FFF2-40B4-BE49-F238E27FC236}">
                <a16:creationId xmlns:a16="http://schemas.microsoft.com/office/drawing/2014/main" id="{4F6DCF54-4E17-C387-4BD7-23C332E75384}"/>
              </a:ext>
            </a:extLst>
          </p:cNvPr>
          <p:cNvSpPr>
            <a:spLocks noGrp="1"/>
          </p:cNvSpPr>
          <p:nvPr>
            <p:ph idx="1"/>
          </p:nvPr>
        </p:nvSpPr>
        <p:spPr>
          <a:xfrm>
            <a:off x="677334" y="1678268"/>
            <a:ext cx="8596668" cy="3880773"/>
          </a:xfrm>
        </p:spPr>
        <p:txBody>
          <a:bodyPr/>
          <a:lstStyle/>
          <a:p>
            <a:r>
              <a:rPr lang="en-US" altLang="en-US" sz="2400" dirty="0"/>
              <a:t>Characteristics</a:t>
            </a:r>
          </a:p>
          <a:p>
            <a:pPr lvl="1"/>
            <a:r>
              <a:rPr lang="en-US" altLang="en-US" sz="2000" dirty="0"/>
              <a:t>Precision 16 bits</a:t>
            </a:r>
          </a:p>
          <a:p>
            <a:pPr lvl="1"/>
            <a:r>
              <a:rPr lang="en-US" altLang="en-US" sz="2000" dirty="0"/>
              <a:t>Sampling frequency: 32KHz, 44.1 </a:t>
            </a:r>
            <a:r>
              <a:rPr lang="en-US" altLang="en-US" sz="2000" dirty="0" err="1"/>
              <a:t>KHz</a:t>
            </a:r>
            <a:r>
              <a:rPr lang="en-US" altLang="en-US" sz="2000" dirty="0"/>
              <a:t>, 48 </a:t>
            </a:r>
            <a:r>
              <a:rPr lang="en-US" altLang="en-US" sz="2000" dirty="0" err="1"/>
              <a:t>KHz</a:t>
            </a:r>
            <a:endParaRPr lang="en-US" altLang="en-US" sz="2000" dirty="0"/>
          </a:p>
          <a:p>
            <a:pPr lvl="1"/>
            <a:r>
              <a:rPr lang="en-US" altLang="en-US" sz="2000" dirty="0"/>
              <a:t>3 compression layers: Layer 1, Layer 2, Layer 3 (MP3)</a:t>
            </a:r>
          </a:p>
          <a:p>
            <a:pPr lvl="2"/>
            <a:r>
              <a:rPr lang="en-US" altLang="en-US" sz="1800" dirty="0"/>
              <a:t>Layer 3: 32-320 kbps, target 64 kbps</a:t>
            </a:r>
          </a:p>
          <a:p>
            <a:pPr lvl="2"/>
            <a:r>
              <a:rPr lang="en-US" altLang="en-US" sz="1800" dirty="0"/>
              <a:t>Layer 2: 32-384 kbps, target 128 kbps</a:t>
            </a:r>
          </a:p>
          <a:p>
            <a:pPr lvl="2"/>
            <a:r>
              <a:rPr lang="en-US" altLang="en-US" sz="1800" dirty="0"/>
              <a:t>Layer 1: 32-448 kbps, target 192 kbps</a:t>
            </a:r>
          </a:p>
        </p:txBody>
      </p:sp>
    </p:spTree>
    <p:extLst>
      <p:ext uri="{BB962C8B-B14F-4D97-AF65-F5344CB8AC3E}">
        <p14:creationId xmlns:p14="http://schemas.microsoft.com/office/powerpoint/2010/main" val="3507161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226D5EC-D36D-C98D-29FA-91830CA57A1F}"/>
              </a:ext>
            </a:extLst>
          </p:cNvPr>
          <p:cNvSpPr>
            <a:spLocks noGrp="1"/>
          </p:cNvSpPr>
          <p:nvPr>
            <p:ph type="title"/>
          </p:nvPr>
        </p:nvSpPr>
        <p:spPr>
          <a:xfrm>
            <a:off x="695011" y="228600"/>
            <a:ext cx="8229600" cy="1371600"/>
          </a:xfrm>
        </p:spPr>
        <p:txBody>
          <a:bodyPr/>
          <a:lstStyle/>
          <a:p>
            <a:r>
              <a:rPr lang="en-US" altLang="en-US" dirty="0"/>
              <a:t>MPEG-1 Audio Layer II </a:t>
            </a:r>
          </a:p>
        </p:txBody>
      </p:sp>
      <p:sp>
        <p:nvSpPr>
          <p:cNvPr id="14339" name="Content Placeholder 2">
            <a:extLst>
              <a:ext uri="{FF2B5EF4-FFF2-40B4-BE49-F238E27FC236}">
                <a16:creationId xmlns:a16="http://schemas.microsoft.com/office/drawing/2014/main" id="{F8488566-4A32-E246-C60D-F8BA595FB24F}"/>
              </a:ext>
            </a:extLst>
          </p:cNvPr>
          <p:cNvSpPr>
            <a:spLocks noGrp="1"/>
          </p:cNvSpPr>
          <p:nvPr>
            <p:ph idx="1"/>
          </p:nvPr>
        </p:nvSpPr>
        <p:spPr>
          <a:xfrm>
            <a:off x="695011" y="1600200"/>
            <a:ext cx="8229600" cy="3886200"/>
          </a:xfrm>
        </p:spPr>
        <p:txBody>
          <a:bodyPr>
            <a:normAutofit fontScale="85000" lnSpcReduction="20000"/>
          </a:bodyPr>
          <a:lstStyle/>
          <a:p>
            <a:r>
              <a:rPr lang="en-US" altLang="en-US" sz="2800" dirty="0"/>
              <a:t>Called </a:t>
            </a:r>
            <a:r>
              <a:rPr lang="en-US" altLang="en-US" sz="2800" dirty="0">
                <a:solidFill>
                  <a:srgbClr val="FF0000"/>
                </a:solidFill>
              </a:rPr>
              <a:t>MP2</a:t>
            </a:r>
            <a:endParaRPr lang="en-US" altLang="en-US" sz="2800" dirty="0"/>
          </a:p>
          <a:p>
            <a:r>
              <a:rPr lang="en-US" altLang="en-US" sz="2800" dirty="0"/>
              <a:t>Dominant standard for </a:t>
            </a:r>
            <a:r>
              <a:rPr lang="en-US" altLang="en-US" sz="2800" dirty="0">
                <a:solidFill>
                  <a:srgbClr val="FF0000"/>
                </a:solidFill>
              </a:rPr>
              <a:t>audio broadcasting</a:t>
            </a:r>
          </a:p>
          <a:p>
            <a:pPr lvl="1"/>
            <a:r>
              <a:rPr lang="en-US" altLang="en-US" sz="2400" dirty="0">
                <a:solidFill>
                  <a:srgbClr val="FF0000"/>
                </a:solidFill>
              </a:rPr>
              <a:t>DAB digital radio and DVB digital television</a:t>
            </a:r>
          </a:p>
          <a:p>
            <a:r>
              <a:rPr lang="en-US" altLang="en-US" sz="2800" dirty="0"/>
              <a:t>Came out of MUSICAM codecs  with bit rates 64-196 kbps</a:t>
            </a:r>
          </a:p>
          <a:p>
            <a:pPr lvl="1"/>
            <a:r>
              <a:rPr lang="en-US" altLang="en-US" sz="2000" dirty="0"/>
              <a:t>MUSICAM audio coding - basis for MPEG-1 and MPEG-2 audio </a:t>
            </a:r>
          </a:p>
          <a:p>
            <a:r>
              <a:rPr lang="en-US" altLang="en-US" sz="2800" dirty="0"/>
              <a:t>Sampling rates: 32, 44.1, 48 kHz</a:t>
            </a:r>
          </a:p>
          <a:p>
            <a:r>
              <a:rPr lang="en-US" altLang="en-US" sz="2800" dirty="0"/>
              <a:t>Bit rates: 32, 48, 56, 64, 80, 96, … 384 kbps</a:t>
            </a:r>
          </a:p>
          <a:p>
            <a:r>
              <a:rPr lang="en-US" altLang="en-US" sz="2800" dirty="0"/>
              <a:t>Format: mono, stereo, dual channel, … </a:t>
            </a:r>
          </a:p>
          <a:p>
            <a:pPr lvl="1"/>
            <a:r>
              <a:rPr lang="en-US" altLang="en-US" sz="2400" dirty="0"/>
              <a:t>MP2 – sub-band audio encoder in </a:t>
            </a:r>
            <a:r>
              <a:rPr lang="en-US" altLang="en-US" sz="2400" dirty="0">
                <a:solidFill>
                  <a:srgbClr val="FF0000"/>
                </a:solidFill>
              </a:rPr>
              <a:t>time domain</a:t>
            </a:r>
          </a:p>
          <a:p>
            <a:pPr lvl="1"/>
            <a:endParaRPr lang="en-US" altLang="en-US" dirty="0"/>
          </a:p>
          <a:p>
            <a:endParaRPr lang="en-US" altLang="en-US" sz="2800" dirty="0"/>
          </a:p>
        </p:txBody>
      </p:sp>
    </p:spTree>
    <p:extLst>
      <p:ext uri="{BB962C8B-B14F-4D97-AF65-F5344CB8AC3E}">
        <p14:creationId xmlns:p14="http://schemas.microsoft.com/office/powerpoint/2010/main" val="323027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E767F99-E9CC-C9B8-5592-7741104ABF32}"/>
              </a:ext>
            </a:extLst>
          </p:cNvPr>
          <p:cNvSpPr>
            <a:spLocks noGrp="1"/>
          </p:cNvSpPr>
          <p:nvPr>
            <p:ph type="title"/>
          </p:nvPr>
        </p:nvSpPr>
        <p:spPr/>
        <p:txBody>
          <a:bodyPr/>
          <a:lstStyle/>
          <a:p>
            <a:r>
              <a:rPr lang="en-US" altLang="en-US"/>
              <a:t>MPEG-1 Audio Layer III</a:t>
            </a:r>
          </a:p>
        </p:txBody>
      </p:sp>
      <p:sp>
        <p:nvSpPr>
          <p:cNvPr id="15363" name="Content Placeholder 2">
            <a:extLst>
              <a:ext uri="{FF2B5EF4-FFF2-40B4-BE49-F238E27FC236}">
                <a16:creationId xmlns:a16="http://schemas.microsoft.com/office/drawing/2014/main" id="{4653D5CE-4E55-CBF2-BE2A-A952728A4A95}"/>
              </a:ext>
            </a:extLst>
          </p:cNvPr>
          <p:cNvSpPr>
            <a:spLocks noGrp="1"/>
          </p:cNvSpPr>
          <p:nvPr>
            <p:ph idx="1"/>
          </p:nvPr>
        </p:nvSpPr>
        <p:spPr/>
        <p:txBody>
          <a:bodyPr/>
          <a:lstStyle/>
          <a:p>
            <a:r>
              <a:rPr lang="en-US" altLang="en-US" sz="2400" dirty="0"/>
              <a:t>MPEG-1 Layer III is called </a:t>
            </a:r>
            <a:r>
              <a:rPr lang="en-US" altLang="en-US" sz="2400" dirty="0">
                <a:solidFill>
                  <a:srgbClr val="FF0000"/>
                </a:solidFill>
              </a:rPr>
              <a:t>MP3</a:t>
            </a:r>
            <a:r>
              <a:rPr lang="en-US" altLang="en-US" sz="2400" dirty="0"/>
              <a:t> format </a:t>
            </a:r>
          </a:p>
          <a:p>
            <a:pPr lvl="1"/>
            <a:r>
              <a:rPr lang="en-US" altLang="en-US" sz="2000" dirty="0"/>
              <a:t>Popular for  Internet applications</a:t>
            </a:r>
          </a:p>
          <a:p>
            <a:pPr lvl="1"/>
            <a:r>
              <a:rPr lang="en-US" altLang="en-US" sz="2000" dirty="0"/>
              <a:t>Goal to compress to </a:t>
            </a:r>
            <a:r>
              <a:rPr lang="en-US" altLang="en-US" sz="2000" b="1" dirty="0">
                <a:solidFill>
                  <a:srgbClr val="FF0000"/>
                </a:solidFill>
              </a:rPr>
              <a:t>128 kbps</a:t>
            </a:r>
            <a:r>
              <a:rPr lang="en-US" altLang="en-US" sz="2000" dirty="0"/>
              <a:t>, but can be compressed to higher or lower resulting quality</a:t>
            </a:r>
          </a:p>
          <a:p>
            <a:pPr lvl="1"/>
            <a:r>
              <a:rPr lang="en-US" altLang="en-US" sz="2000" dirty="0"/>
              <a:t>Utilization of </a:t>
            </a:r>
            <a:r>
              <a:rPr lang="en-US" altLang="en-US" sz="2000" b="1" dirty="0">
                <a:solidFill>
                  <a:srgbClr val="FF0000"/>
                </a:solidFill>
              </a:rPr>
              <a:t>psychoacoustics</a:t>
            </a:r>
          </a:p>
          <a:p>
            <a:pPr lvl="2"/>
            <a:r>
              <a:rPr lang="en-US" altLang="en-US" sz="1800" dirty="0"/>
              <a:t>Scientific study of sound perception . </a:t>
            </a:r>
          </a:p>
          <a:p>
            <a:endParaRPr lang="en-US" altLang="en-US" dirty="0"/>
          </a:p>
        </p:txBody>
      </p:sp>
    </p:spTree>
    <p:extLst>
      <p:ext uri="{BB962C8B-B14F-4D97-AF65-F5344CB8AC3E}">
        <p14:creationId xmlns:p14="http://schemas.microsoft.com/office/powerpoint/2010/main" val="4177314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4A10B-0860-E944-C774-0A09B623AE4E}"/>
              </a:ext>
            </a:extLst>
          </p:cNvPr>
          <p:cNvSpPr>
            <a:spLocks noGrp="1"/>
          </p:cNvSpPr>
          <p:nvPr>
            <p:ph type="title"/>
          </p:nvPr>
        </p:nvSpPr>
        <p:spPr/>
        <p:txBody>
          <a:bodyPr/>
          <a:lstStyle/>
          <a:p>
            <a:r>
              <a:rPr lang="en-US" dirty="0"/>
              <a:t>MP3 (MPEG Audio Layer III)</a:t>
            </a:r>
          </a:p>
        </p:txBody>
      </p:sp>
      <p:sp>
        <p:nvSpPr>
          <p:cNvPr id="3" name="Content Placeholder 2">
            <a:extLst>
              <a:ext uri="{FF2B5EF4-FFF2-40B4-BE49-F238E27FC236}">
                <a16:creationId xmlns:a16="http://schemas.microsoft.com/office/drawing/2014/main" id="{AE17A249-13F6-D550-BB03-6EE338E7FAD0}"/>
              </a:ext>
            </a:extLst>
          </p:cNvPr>
          <p:cNvSpPr>
            <a:spLocks noGrp="1"/>
          </p:cNvSpPr>
          <p:nvPr>
            <p:ph idx="1"/>
          </p:nvPr>
        </p:nvSpPr>
        <p:spPr/>
        <p:txBody>
          <a:bodyPr>
            <a:normAutofit/>
          </a:bodyPr>
          <a:lstStyle/>
          <a:p>
            <a:pPr algn="just"/>
            <a:r>
              <a:rPr lang="en-US" b="0" i="0" dirty="0">
                <a:solidFill>
                  <a:srgbClr val="000000"/>
                </a:solidFill>
                <a:effectLst/>
                <a:latin typeface="Arial" panose="020B0604020202020204" pitchFamily="34" charset="0"/>
              </a:rPr>
              <a:t>The Motion Pictures Experts Group (MPEG), a group that works on standards for both audio and video systems. MPEG is a working group that was formed from the existing </a:t>
            </a:r>
            <a:r>
              <a:rPr lang="en-US" dirty="0">
                <a:latin typeface="Arial" panose="020B0604020202020204" pitchFamily="34" charset="0"/>
              </a:rPr>
              <a:t>JPEG</a:t>
            </a:r>
            <a:r>
              <a:rPr lang="en-US" b="0" i="0" dirty="0">
                <a:solidFill>
                  <a:srgbClr val="000000"/>
                </a:solidFill>
                <a:effectLst/>
                <a:latin typeface="Arial" panose="020B0604020202020204" pitchFamily="34" charset="0"/>
              </a:rPr>
              <a:t> (Joint Photographic Experts Group) standard for bit reduction of still pictures. Its goal is to devise a suitable encoding scheme for transmitting moving pictures and sound over various broadcast links and recording them in standard digital storage media. Since moving pictures are often accompanied by sound, MPEG also defined a standard for encoding audio information. In 1992, a standard for audio and video encoding was devised known as MPEG-1.</a:t>
            </a:r>
            <a:endParaRPr lang="en-US" dirty="0"/>
          </a:p>
        </p:txBody>
      </p:sp>
    </p:spTree>
    <p:extLst>
      <p:ext uri="{BB962C8B-B14F-4D97-AF65-F5344CB8AC3E}">
        <p14:creationId xmlns:p14="http://schemas.microsoft.com/office/powerpoint/2010/main" val="3938525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989F4-A3E5-7876-32CD-F35C39E06E78}"/>
              </a:ext>
            </a:extLst>
          </p:cNvPr>
          <p:cNvSpPr>
            <a:spLocks noGrp="1"/>
          </p:cNvSpPr>
          <p:nvPr>
            <p:ph type="title"/>
          </p:nvPr>
        </p:nvSpPr>
        <p:spPr/>
        <p:txBody>
          <a:bodyPr/>
          <a:lstStyle/>
          <a:p>
            <a:r>
              <a:rPr lang="en-US" dirty="0"/>
              <a:t>MP3 (MPEG Audio Layer III)</a:t>
            </a:r>
          </a:p>
        </p:txBody>
      </p:sp>
      <p:sp>
        <p:nvSpPr>
          <p:cNvPr id="3" name="Content Placeholder 2">
            <a:extLst>
              <a:ext uri="{FF2B5EF4-FFF2-40B4-BE49-F238E27FC236}">
                <a16:creationId xmlns:a16="http://schemas.microsoft.com/office/drawing/2014/main" id="{088FE376-4308-B724-F827-4F08C9926B98}"/>
              </a:ext>
            </a:extLst>
          </p:cNvPr>
          <p:cNvSpPr>
            <a:spLocks noGrp="1"/>
          </p:cNvSpPr>
          <p:nvPr>
            <p:ph idx="1"/>
          </p:nvPr>
        </p:nvSpPr>
        <p:spPr/>
        <p:txBody>
          <a:bodyPr/>
          <a:lstStyle/>
          <a:p>
            <a:pPr algn="just"/>
            <a:r>
              <a:rPr lang="en-US" b="0" i="0" dirty="0">
                <a:solidFill>
                  <a:srgbClr val="000000"/>
                </a:solidFill>
                <a:effectLst/>
                <a:latin typeface="Arial" panose="020B0604020202020204" pitchFamily="34" charset="0"/>
              </a:rPr>
              <a:t>MP3 stands for MPEG-1 Layer 3. Layers represent a family of coding algorithms. Layer 1 has the lowest complexity compared to the other layers. Layer 2 requires a more complex encoder and decoder and is directed more towards different applications. Thus, Layer 2 is more able than Layer 1 to remove the redundancy in the signal that takes up space. Layer 3 is again more complex and further reduces redundancy and relevance from the data. . The layers are backwards-compatible, which means that any software or hardware capable of decoding Layer 3 audio should also be able to decode Layers 1 and 2.</a:t>
            </a:r>
            <a:endParaRPr lang="en-US" dirty="0"/>
          </a:p>
        </p:txBody>
      </p:sp>
    </p:spTree>
    <p:extLst>
      <p:ext uri="{BB962C8B-B14F-4D97-AF65-F5344CB8AC3E}">
        <p14:creationId xmlns:p14="http://schemas.microsoft.com/office/powerpoint/2010/main" val="4257084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568B-73D5-EEC7-A63F-1B2424B057C4}"/>
              </a:ext>
            </a:extLst>
          </p:cNvPr>
          <p:cNvSpPr>
            <a:spLocks noGrp="1"/>
          </p:cNvSpPr>
          <p:nvPr>
            <p:ph type="title"/>
          </p:nvPr>
        </p:nvSpPr>
        <p:spPr/>
        <p:txBody>
          <a:bodyPr/>
          <a:lstStyle/>
          <a:p>
            <a:r>
              <a:rPr lang="en-US" dirty="0"/>
              <a:t>MP3 (MPEG Audio Layer III)</a:t>
            </a:r>
          </a:p>
        </p:txBody>
      </p:sp>
      <p:sp>
        <p:nvSpPr>
          <p:cNvPr id="3" name="Content Placeholder 2">
            <a:extLst>
              <a:ext uri="{FF2B5EF4-FFF2-40B4-BE49-F238E27FC236}">
                <a16:creationId xmlns:a16="http://schemas.microsoft.com/office/drawing/2014/main" id="{5634F252-AFF6-1D32-D23C-5F348C588433}"/>
              </a:ext>
            </a:extLst>
          </p:cNvPr>
          <p:cNvSpPr>
            <a:spLocks noGrp="1"/>
          </p:cNvSpPr>
          <p:nvPr>
            <p:ph idx="1"/>
          </p:nvPr>
        </p:nvSpPr>
        <p:spPr/>
        <p:txBody>
          <a:bodyPr/>
          <a:lstStyle/>
          <a:p>
            <a:pPr algn="just"/>
            <a:r>
              <a:rPr lang="en-US" b="0" i="0" dirty="0">
                <a:solidFill>
                  <a:srgbClr val="000000"/>
                </a:solidFill>
                <a:effectLst/>
                <a:latin typeface="Arial" panose="020B0604020202020204" pitchFamily="34" charset="0"/>
              </a:rPr>
              <a:t>MPEG-1 Layer 3 is defined as an open standard, so the specification is available to anyone interested in implementing the standard. Since no single company owns the standard, public example source code is available and the format is well defined. Also, driven by the demand for professional use, many MP3 encoders and decoders are readily available for use. This simplifies and accelerates the adoption of MP3 technology. Additionally, the widespread increase in usage of computers fast enough to decode audio, as well as increasingly fast and widely available Internet access, has contributed to the embracing of MP3 music format.</a:t>
            </a:r>
            <a:endParaRPr lang="en-US" dirty="0"/>
          </a:p>
        </p:txBody>
      </p:sp>
    </p:spTree>
    <p:extLst>
      <p:ext uri="{BB962C8B-B14F-4D97-AF65-F5344CB8AC3E}">
        <p14:creationId xmlns:p14="http://schemas.microsoft.com/office/powerpoint/2010/main" val="1142101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0861581-8BFD-5A47-C682-7E39DEA9A4DC}"/>
              </a:ext>
            </a:extLst>
          </p:cNvPr>
          <p:cNvSpPr>
            <a:spLocks noGrp="1"/>
          </p:cNvSpPr>
          <p:nvPr>
            <p:ph type="title"/>
          </p:nvPr>
        </p:nvSpPr>
        <p:spPr/>
        <p:txBody>
          <a:bodyPr/>
          <a:lstStyle/>
          <a:p>
            <a:r>
              <a:rPr lang="en-US" altLang="en-US"/>
              <a:t>MPEG Audio Encoding Steps</a:t>
            </a:r>
          </a:p>
        </p:txBody>
      </p:sp>
      <p:pic>
        <p:nvPicPr>
          <p:cNvPr id="16388" name="Picture 2">
            <a:extLst>
              <a:ext uri="{FF2B5EF4-FFF2-40B4-BE49-F238E27FC236}">
                <a16:creationId xmlns:a16="http://schemas.microsoft.com/office/drawing/2014/main" id="{12037FCD-490F-5811-5EE3-9004DC023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996" y="1581778"/>
            <a:ext cx="7924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9892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2">
            <a:extLst>
              <a:ext uri="{FF2B5EF4-FFF2-40B4-BE49-F238E27FC236}">
                <a16:creationId xmlns:a16="http://schemas.microsoft.com/office/drawing/2014/main" id="{8A1D52C1-0DF7-FA41-613B-39BC3DE8B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002" y="724371"/>
            <a:ext cx="7769888" cy="561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8432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46F1515-365E-7186-E164-84EC87D876F7}"/>
              </a:ext>
            </a:extLst>
          </p:cNvPr>
          <p:cNvSpPr>
            <a:spLocks noGrp="1"/>
          </p:cNvSpPr>
          <p:nvPr>
            <p:ph type="title"/>
          </p:nvPr>
        </p:nvSpPr>
        <p:spPr/>
        <p:txBody>
          <a:bodyPr/>
          <a:lstStyle/>
          <a:p>
            <a:r>
              <a:rPr lang="en-US" altLang="en-US" dirty="0"/>
              <a:t>MPEG Audio Filter Bank</a:t>
            </a:r>
          </a:p>
        </p:txBody>
      </p:sp>
      <p:sp>
        <p:nvSpPr>
          <p:cNvPr id="18435" name="Content Placeholder 2">
            <a:extLst>
              <a:ext uri="{FF2B5EF4-FFF2-40B4-BE49-F238E27FC236}">
                <a16:creationId xmlns:a16="http://schemas.microsoft.com/office/drawing/2014/main" id="{E9DD3971-A2A1-0609-7102-1499FE0AB4C1}"/>
              </a:ext>
            </a:extLst>
          </p:cNvPr>
          <p:cNvSpPr>
            <a:spLocks noGrp="1"/>
          </p:cNvSpPr>
          <p:nvPr>
            <p:ph idx="1"/>
          </p:nvPr>
        </p:nvSpPr>
        <p:spPr>
          <a:xfrm>
            <a:off x="766510" y="1748029"/>
            <a:ext cx="8229600" cy="4956001"/>
          </a:xfrm>
        </p:spPr>
        <p:txBody>
          <a:bodyPr/>
          <a:lstStyle/>
          <a:p>
            <a:r>
              <a:rPr lang="en-US" altLang="en-US" sz="2400" dirty="0">
                <a:solidFill>
                  <a:srgbClr val="FF0000"/>
                </a:solidFill>
              </a:rPr>
              <a:t>Filter bank</a:t>
            </a:r>
            <a:r>
              <a:rPr lang="en-US" altLang="en-US" sz="2400" dirty="0"/>
              <a:t> divides input into multiple sub-bands (32 equal frequency sub-bands)</a:t>
            </a:r>
          </a:p>
          <a:p>
            <a:endParaRPr lang="en-US" altLang="en-US" dirty="0"/>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2232151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D8BA768-3171-8EDC-8C2C-CAE02FA0C441}"/>
              </a:ext>
            </a:extLst>
          </p:cNvPr>
          <p:cNvSpPr>
            <a:spLocks noGrp="1"/>
          </p:cNvSpPr>
          <p:nvPr>
            <p:ph type="title"/>
          </p:nvPr>
        </p:nvSpPr>
        <p:spPr/>
        <p:txBody>
          <a:bodyPr/>
          <a:lstStyle/>
          <a:p>
            <a:r>
              <a:rPr lang="en-US" altLang="en-US"/>
              <a:t>MPEG Audio Psycho-acoustic Model </a:t>
            </a:r>
          </a:p>
        </p:txBody>
      </p:sp>
      <p:sp>
        <p:nvSpPr>
          <p:cNvPr id="19459" name="Content Placeholder 2">
            <a:extLst>
              <a:ext uri="{FF2B5EF4-FFF2-40B4-BE49-F238E27FC236}">
                <a16:creationId xmlns:a16="http://schemas.microsoft.com/office/drawing/2014/main" id="{26D77EB6-A2F1-2927-2EAD-949A07E0EF0F}"/>
              </a:ext>
            </a:extLst>
          </p:cNvPr>
          <p:cNvSpPr>
            <a:spLocks noGrp="1"/>
          </p:cNvSpPr>
          <p:nvPr>
            <p:ph idx="1"/>
          </p:nvPr>
        </p:nvSpPr>
        <p:spPr>
          <a:xfrm>
            <a:off x="564382" y="1659652"/>
            <a:ext cx="8229600" cy="4267200"/>
          </a:xfrm>
        </p:spPr>
        <p:txBody>
          <a:bodyPr/>
          <a:lstStyle/>
          <a:p>
            <a:r>
              <a:rPr lang="en-US" altLang="en-US" sz="2800" dirty="0"/>
              <a:t>Compresses by </a:t>
            </a:r>
            <a:r>
              <a:rPr lang="en-US" altLang="en-US" sz="2800" dirty="0">
                <a:solidFill>
                  <a:srgbClr val="FF0000"/>
                </a:solidFill>
              </a:rPr>
              <a:t>removing acoustically irrelevant parts</a:t>
            </a:r>
            <a:r>
              <a:rPr lang="en-US" altLang="en-US" sz="2800" dirty="0"/>
              <a:t> of audio signals</a:t>
            </a:r>
          </a:p>
          <a:p>
            <a:r>
              <a:rPr lang="en-US" altLang="en-US" sz="2800" dirty="0"/>
              <a:t>Takes advantage of </a:t>
            </a:r>
            <a:r>
              <a:rPr lang="en-US" altLang="en-US" sz="2800" b="1" dirty="0">
                <a:solidFill>
                  <a:srgbClr val="FF0000"/>
                </a:solidFill>
              </a:rPr>
              <a:t>human auditory systems </a:t>
            </a:r>
            <a:r>
              <a:rPr lang="en-US" altLang="en-US" sz="2800" dirty="0">
                <a:solidFill>
                  <a:srgbClr val="FF0000"/>
                </a:solidFill>
              </a:rPr>
              <a:t>inability to hear quantization noise </a:t>
            </a:r>
            <a:r>
              <a:rPr lang="en-US" altLang="en-US" sz="2800" dirty="0"/>
              <a:t>under </a:t>
            </a:r>
            <a:r>
              <a:rPr lang="en-US" altLang="en-US" sz="2800" b="1" dirty="0"/>
              <a:t>auditory masking</a:t>
            </a:r>
          </a:p>
          <a:p>
            <a:pPr lvl="1"/>
            <a:r>
              <a:rPr lang="en-US" altLang="en-US" sz="2400" dirty="0">
                <a:solidFill>
                  <a:srgbClr val="FF0000"/>
                </a:solidFill>
              </a:rPr>
              <a:t>Auditory masking</a:t>
            </a:r>
            <a:r>
              <a:rPr lang="en-US" altLang="en-US" sz="2400" dirty="0"/>
              <a:t>: occurs when ever the presence of a strong audio signal makes a temporal or spectral neighborhood of weaker audio signals imperceptible. </a:t>
            </a:r>
          </a:p>
        </p:txBody>
      </p:sp>
    </p:spTree>
    <p:extLst>
      <p:ext uri="{BB962C8B-B14F-4D97-AF65-F5344CB8AC3E}">
        <p14:creationId xmlns:p14="http://schemas.microsoft.com/office/powerpoint/2010/main" val="2985188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a:extLst>
              <a:ext uri="{FF2B5EF4-FFF2-40B4-BE49-F238E27FC236}">
                <a16:creationId xmlns:a16="http://schemas.microsoft.com/office/drawing/2014/main" id="{D9669258-1D2B-B5E3-C96F-274E705F97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73" y="340650"/>
            <a:ext cx="9144000" cy="606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9803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13760C-C1A9-DD09-B53B-80FA582201D8}"/>
              </a:ext>
            </a:extLst>
          </p:cNvPr>
          <p:cNvSpPr>
            <a:spLocks noGrp="1" noChangeArrowheads="1"/>
          </p:cNvSpPr>
          <p:nvPr>
            <p:ph type="title"/>
          </p:nvPr>
        </p:nvSpPr>
        <p:spPr/>
        <p:txBody>
          <a:bodyPr/>
          <a:lstStyle/>
          <a:p>
            <a:r>
              <a:rPr lang="en-US" altLang="en-US" dirty="0"/>
              <a:t>Loudness and Pitch </a:t>
            </a:r>
            <a:br>
              <a:rPr lang="en-US" altLang="en-US" dirty="0"/>
            </a:br>
            <a:r>
              <a:rPr lang="en-US" altLang="en-US" sz="2800" dirty="0"/>
              <a:t>(Review on Psychoacoustic Effects)</a:t>
            </a:r>
          </a:p>
        </p:txBody>
      </p:sp>
      <p:sp>
        <p:nvSpPr>
          <p:cNvPr id="21507" name="Rectangle 3">
            <a:extLst>
              <a:ext uri="{FF2B5EF4-FFF2-40B4-BE49-F238E27FC236}">
                <a16:creationId xmlns:a16="http://schemas.microsoft.com/office/drawing/2014/main" id="{2D316C65-DC63-526A-7F77-8D140CF987BF}"/>
              </a:ext>
            </a:extLst>
          </p:cNvPr>
          <p:cNvSpPr>
            <a:spLocks noGrp="1" noChangeArrowheads="1"/>
          </p:cNvSpPr>
          <p:nvPr>
            <p:ph type="body" idx="1"/>
          </p:nvPr>
        </p:nvSpPr>
        <p:spPr>
          <a:xfrm>
            <a:off x="708468" y="2008275"/>
            <a:ext cx="8534400" cy="4191000"/>
          </a:xfrm>
        </p:spPr>
        <p:txBody>
          <a:bodyPr/>
          <a:lstStyle/>
          <a:p>
            <a:r>
              <a:rPr lang="en-US" altLang="en-US" dirty="0"/>
              <a:t>More sensitive to loudness at </a:t>
            </a:r>
            <a:r>
              <a:rPr lang="en-US" altLang="en-US" b="1" dirty="0">
                <a:solidFill>
                  <a:srgbClr val="FF0000"/>
                </a:solidFill>
              </a:rPr>
              <a:t>mid frequencies</a:t>
            </a:r>
            <a:r>
              <a:rPr lang="en-US" altLang="en-US" dirty="0"/>
              <a:t> than at other frequencies</a:t>
            </a:r>
          </a:p>
          <a:p>
            <a:pPr lvl="1"/>
            <a:r>
              <a:rPr lang="en-US" altLang="en-US" dirty="0"/>
              <a:t>intermediate frequencies at [500hz, 5000hz]</a:t>
            </a:r>
          </a:p>
          <a:p>
            <a:pPr lvl="1"/>
            <a:r>
              <a:rPr lang="en-US" altLang="en-US" dirty="0"/>
              <a:t>Human hearing frequencies at [20hz,20000hz]</a:t>
            </a:r>
          </a:p>
          <a:p>
            <a:r>
              <a:rPr lang="en-US" altLang="en-US" dirty="0"/>
              <a:t>Perceived </a:t>
            </a:r>
            <a:r>
              <a:rPr lang="en-US" altLang="en-US" b="1" dirty="0"/>
              <a:t>loudness</a:t>
            </a:r>
            <a:r>
              <a:rPr lang="en-US" altLang="en-US" dirty="0"/>
              <a:t> of a sound changes based on </a:t>
            </a:r>
            <a:r>
              <a:rPr lang="en-US" altLang="en-US" b="1" dirty="0"/>
              <a:t>frequency </a:t>
            </a:r>
            <a:r>
              <a:rPr lang="en-US" altLang="en-US" dirty="0"/>
              <a:t>of that sound</a:t>
            </a:r>
          </a:p>
          <a:p>
            <a:pPr lvl="1"/>
            <a:r>
              <a:rPr lang="en-US" altLang="en-US" dirty="0"/>
              <a:t>basilar membrane reacts more to intermediate frequencies than other frequencies</a:t>
            </a:r>
          </a:p>
        </p:txBody>
      </p:sp>
    </p:spTree>
    <p:extLst>
      <p:ext uri="{BB962C8B-B14F-4D97-AF65-F5344CB8AC3E}">
        <p14:creationId xmlns:p14="http://schemas.microsoft.com/office/powerpoint/2010/main" val="2958307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a:extLst>
              <a:ext uri="{FF2B5EF4-FFF2-40B4-BE49-F238E27FC236}">
                <a16:creationId xmlns:a16="http://schemas.microsoft.com/office/drawing/2014/main" id="{451EDB7C-E5CA-1EF1-AD17-5454711EACF5}"/>
              </a:ext>
            </a:extLst>
          </p:cNvPr>
          <p:cNvSpPr>
            <a:spLocks noGrp="1"/>
          </p:cNvSpPr>
          <p:nvPr>
            <p:ph type="title"/>
          </p:nvPr>
        </p:nvSpPr>
        <p:spPr>
          <a:xfrm>
            <a:off x="1814514" y="258763"/>
            <a:ext cx="8828087" cy="1371600"/>
          </a:xfrm>
        </p:spPr>
        <p:txBody>
          <a:bodyPr/>
          <a:lstStyle/>
          <a:p>
            <a:r>
              <a:rPr lang="en-US" altLang="en-US"/>
              <a:t>Masking Effects </a:t>
            </a:r>
            <a:br>
              <a:rPr lang="en-US" altLang="en-US"/>
            </a:br>
            <a:r>
              <a:rPr lang="en-US" altLang="en-US" sz="2800"/>
              <a:t>(Review of Psychoacoustic Effects) </a:t>
            </a:r>
          </a:p>
        </p:txBody>
      </p:sp>
      <p:pic>
        <p:nvPicPr>
          <p:cNvPr id="22532" name="Picture 5" descr="Topic6">
            <a:extLst>
              <a:ext uri="{FF2B5EF4-FFF2-40B4-BE49-F238E27FC236}">
                <a16:creationId xmlns:a16="http://schemas.microsoft.com/office/drawing/2014/main" id="{A9462193-CD41-645A-7C8E-388DD0E2A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1600200"/>
            <a:ext cx="6024563"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4" descr="msotw9_temp0">
            <a:extLst>
              <a:ext uri="{FF2B5EF4-FFF2-40B4-BE49-F238E27FC236}">
                <a16:creationId xmlns:a16="http://schemas.microsoft.com/office/drawing/2014/main" id="{2345B2C6-930B-96ED-6ED6-EC0468F498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1" y="4013200"/>
            <a:ext cx="5567363"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Box 7">
            <a:extLst>
              <a:ext uri="{FF2B5EF4-FFF2-40B4-BE49-F238E27FC236}">
                <a16:creationId xmlns:a16="http://schemas.microsoft.com/office/drawing/2014/main" id="{66D0AA3F-0ECC-0B73-40EC-BDEAD1E7AFDD}"/>
              </a:ext>
            </a:extLst>
          </p:cNvPr>
          <p:cNvSpPr txBox="1">
            <a:spLocks noChangeArrowheads="1"/>
          </p:cNvSpPr>
          <p:nvPr/>
        </p:nvSpPr>
        <p:spPr bwMode="auto">
          <a:xfrm>
            <a:off x="8305800" y="2057400"/>
            <a:ext cx="2198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Frequency masking</a:t>
            </a:r>
          </a:p>
        </p:txBody>
      </p:sp>
      <p:sp>
        <p:nvSpPr>
          <p:cNvPr id="22535" name="TextBox 8">
            <a:extLst>
              <a:ext uri="{FF2B5EF4-FFF2-40B4-BE49-F238E27FC236}">
                <a16:creationId xmlns:a16="http://schemas.microsoft.com/office/drawing/2014/main" id="{A771C90D-77FD-BB65-9124-1B020885D250}"/>
              </a:ext>
            </a:extLst>
          </p:cNvPr>
          <p:cNvSpPr txBox="1">
            <a:spLocks noChangeArrowheads="1"/>
          </p:cNvSpPr>
          <p:nvPr/>
        </p:nvSpPr>
        <p:spPr bwMode="auto">
          <a:xfrm>
            <a:off x="8005763" y="4495800"/>
            <a:ext cx="212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Temporal masking </a:t>
            </a:r>
          </a:p>
        </p:txBody>
      </p:sp>
    </p:spTree>
    <p:extLst>
      <p:ext uri="{BB962C8B-B14F-4D97-AF65-F5344CB8AC3E}">
        <p14:creationId xmlns:p14="http://schemas.microsoft.com/office/powerpoint/2010/main" val="4176464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2">
            <a:extLst>
              <a:ext uri="{FF2B5EF4-FFF2-40B4-BE49-F238E27FC236}">
                <a16:creationId xmlns:a16="http://schemas.microsoft.com/office/drawing/2014/main" id="{AA6C8080-863B-329D-82FD-51168E397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440" y="222424"/>
            <a:ext cx="91440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3">
            <a:extLst>
              <a:ext uri="{FF2B5EF4-FFF2-40B4-BE49-F238E27FC236}">
                <a16:creationId xmlns:a16="http://schemas.microsoft.com/office/drawing/2014/main" id="{CD8E1B3E-A6EF-0EA3-1AB4-6876D22CA8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20" y="2975149"/>
            <a:ext cx="9144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6">
            <a:extLst>
              <a:ext uri="{FF2B5EF4-FFF2-40B4-BE49-F238E27FC236}">
                <a16:creationId xmlns:a16="http://schemas.microsoft.com/office/drawing/2014/main" id="{9F986740-9373-1BC2-754A-0667EAE4BA6D}"/>
              </a:ext>
            </a:extLst>
          </p:cNvPr>
          <p:cNvSpPr txBox="1">
            <a:spLocks noChangeArrowheads="1"/>
          </p:cNvSpPr>
          <p:nvPr/>
        </p:nvSpPr>
        <p:spPr bwMode="auto">
          <a:xfrm>
            <a:off x="828152" y="5705474"/>
            <a:ext cx="87899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MPEG/audio divides audio signal into frequency sub-bands that approximate critical </a:t>
            </a:r>
          </a:p>
          <a:p>
            <a:r>
              <a:rPr lang="en-US" altLang="en-US" dirty="0"/>
              <a:t>bands. Then we quantize each sub-band according to the audibility of quantization </a:t>
            </a:r>
          </a:p>
          <a:p>
            <a:r>
              <a:rPr lang="en-US" altLang="en-US" dirty="0"/>
              <a:t>noise within the band</a:t>
            </a:r>
          </a:p>
        </p:txBody>
      </p:sp>
    </p:spTree>
    <p:extLst>
      <p:ext uri="{BB962C8B-B14F-4D97-AF65-F5344CB8AC3E}">
        <p14:creationId xmlns:p14="http://schemas.microsoft.com/office/powerpoint/2010/main" val="3486396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807F8FDC-09E9-1D1E-D039-7D4D61E78862}"/>
              </a:ext>
            </a:extLst>
          </p:cNvPr>
          <p:cNvSpPr>
            <a:spLocks noGrp="1"/>
          </p:cNvSpPr>
          <p:nvPr>
            <p:ph type="title"/>
          </p:nvPr>
        </p:nvSpPr>
        <p:spPr>
          <a:xfrm>
            <a:off x="1981200" y="457200"/>
            <a:ext cx="8229600" cy="1066800"/>
          </a:xfrm>
        </p:spPr>
        <p:txBody>
          <a:bodyPr/>
          <a:lstStyle/>
          <a:p>
            <a:r>
              <a:rPr lang="en-US" altLang="en-US"/>
              <a:t>MPEG Audio Bit Allocation </a:t>
            </a:r>
          </a:p>
        </p:txBody>
      </p:sp>
      <p:sp>
        <p:nvSpPr>
          <p:cNvPr id="3" name="Content Placeholder 2">
            <a:extLst>
              <a:ext uri="{FF2B5EF4-FFF2-40B4-BE49-F238E27FC236}">
                <a16:creationId xmlns:a16="http://schemas.microsoft.com/office/drawing/2014/main" id="{B698ED37-5942-A826-7916-DF0E3B273A7B}"/>
              </a:ext>
            </a:extLst>
          </p:cNvPr>
          <p:cNvSpPr>
            <a:spLocks noGrp="1"/>
          </p:cNvSpPr>
          <p:nvPr>
            <p:ph idx="1"/>
          </p:nvPr>
        </p:nvSpPr>
        <p:spPr>
          <a:xfrm>
            <a:off x="864159" y="1347124"/>
            <a:ext cx="8839200" cy="4876800"/>
          </a:xfrm>
        </p:spPr>
        <p:txBody>
          <a:bodyPr>
            <a:normAutofit lnSpcReduction="10000"/>
          </a:bodyPr>
          <a:lstStyle/>
          <a:p>
            <a:pPr>
              <a:defRPr/>
            </a:pPr>
            <a:r>
              <a:rPr lang="en-US" sz="2400" dirty="0"/>
              <a:t>This process determines number of code bits allocated to each sub-band based on information from the psycho-acoustic model</a:t>
            </a:r>
          </a:p>
          <a:p>
            <a:pPr>
              <a:defRPr/>
            </a:pPr>
            <a:r>
              <a:rPr lang="en-US" sz="2400" dirty="0"/>
              <a:t>Algorithm: </a:t>
            </a:r>
          </a:p>
          <a:p>
            <a:pPr marL="914400" lvl="1" indent="-457200">
              <a:buFont typeface="+mj-lt"/>
              <a:buAutoNum type="arabicPeriod"/>
              <a:defRPr/>
            </a:pPr>
            <a:r>
              <a:rPr lang="en-US" sz="2400" dirty="0">
                <a:solidFill>
                  <a:srgbClr val="FF0000"/>
                </a:solidFill>
              </a:rPr>
              <a:t>Compute mask-to-noise ratio</a:t>
            </a:r>
            <a:r>
              <a:rPr lang="en-US" sz="2400" dirty="0"/>
              <a:t>: MNR=SNR-SMR</a:t>
            </a:r>
          </a:p>
          <a:p>
            <a:pPr marL="1314450" lvl="2" indent="-457200">
              <a:defRPr/>
            </a:pPr>
            <a:r>
              <a:rPr lang="en-US" sz="2000" dirty="0"/>
              <a:t>Standard provides tables that give estimates for SNR resulting from quantizing to a given number of </a:t>
            </a:r>
            <a:r>
              <a:rPr lang="en-US" sz="2000" dirty="0" err="1"/>
              <a:t>quantizer</a:t>
            </a:r>
            <a:r>
              <a:rPr lang="en-US" sz="2000" dirty="0"/>
              <a:t> levels </a:t>
            </a:r>
          </a:p>
          <a:p>
            <a:pPr marL="914400" lvl="1" indent="-457200">
              <a:buFont typeface="+mj-lt"/>
              <a:buAutoNum type="arabicPeriod"/>
              <a:defRPr/>
            </a:pPr>
            <a:r>
              <a:rPr lang="en-US" sz="2400" dirty="0">
                <a:solidFill>
                  <a:srgbClr val="FF0000"/>
                </a:solidFill>
              </a:rPr>
              <a:t>Get MNR for each sub-band</a:t>
            </a:r>
          </a:p>
          <a:p>
            <a:pPr marL="914400" lvl="1" indent="-457200">
              <a:buFont typeface="+mj-lt"/>
              <a:buAutoNum type="arabicPeriod"/>
              <a:defRPr/>
            </a:pPr>
            <a:r>
              <a:rPr lang="en-US" sz="2400" b="1" dirty="0">
                <a:solidFill>
                  <a:srgbClr val="FF0000"/>
                </a:solidFill>
              </a:rPr>
              <a:t>Search for sub-band </a:t>
            </a:r>
            <a:r>
              <a:rPr lang="en-US" sz="2400" b="1" dirty="0"/>
              <a:t>with the lowest MNR</a:t>
            </a:r>
          </a:p>
          <a:p>
            <a:pPr marL="914400" lvl="1" indent="-457200">
              <a:buFont typeface="+mj-lt"/>
              <a:buAutoNum type="arabicPeriod"/>
              <a:defRPr/>
            </a:pPr>
            <a:r>
              <a:rPr lang="en-US" sz="2400" dirty="0">
                <a:solidFill>
                  <a:srgbClr val="FF0000"/>
                </a:solidFill>
              </a:rPr>
              <a:t>Allocate code bits </a:t>
            </a:r>
            <a:r>
              <a:rPr lang="en-US" sz="2400" dirty="0"/>
              <a:t>to this sub-band. </a:t>
            </a:r>
          </a:p>
          <a:p>
            <a:pPr lvl="2">
              <a:defRPr/>
            </a:pPr>
            <a:r>
              <a:rPr lang="en-US" sz="2000" dirty="0"/>
              <a:t>If sub-band gets allocated more code bits than appropriate, look up new estimate of SNR and repeat step 1</a:t>
            </a:r>
          </a:p>
          <a:p>
            <a:pPr lvl="1">
              <a:defRPr/>
            </a:pPr>
            <a:endParaRPr lang="en-US" dirty="0"/>
          </a:p>
        </p:txBody>
      </p:sp>
    </p:spTree>
    <p:extLst>
      <p:ext uri="{BB962C8B-B14F-4D97-AF65-F5344CB8AC3E}">
        <p14:creationId xmlns:p14="http://schemas.microsoft.com/office/powerpoint/2010/main" val="1115654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E78B41B9-9BE9-E201-5A72-0961C076AB24}"/>
              </a:ext>
            </a:extLst>
          </p:cNvPr>
          <p:cNvSpPr>
            <a:spLocks noGrp="1"/>
          </p:cNvSpPr>
          <p:nvPr>
            <p:ph type="title"/>
          </p:nvPr>
        </p:nvSpPr>
        <p:spPr>
          <a:xfrm>
            <a:off x="1981200" y="457200"/>
            <a:ext cx="8229600" cy="838200"/>
          </a:xfrm>
        </p:spPr>
        <p:txBody>
          <a:bodyPr/>
          <a:lstStyle/>
          <a:p>
            <a:r>
              <a:rPr lang="en-US" altLang="en-US"/>
              <a:t>Audio Quality </a:t>
            </a:r>
          </a:p>
        </p:txBody>
      </p:sp>
      <p:sp>
        <p:nvSpPr>
          <p:cNvPr id="25603" name="Content Placeholder 2">
            <a:extLst>
              <a:ext uri="{FF2B5EF4-FFF2-40B4-BE49-F238E27FC236}">
                <a16:creationId xmlns:a16="http://schemas.microsoft.com/office/drawing/2014/main" id="{E7D12A29-A56C-126C-2ADA-C081119EB7B0}"/>
              </a:ext>
            </a:extLst>
          </p:cNvPr>
          <p:cNvSpPr>
            <a:spLocks noGrp="1"/>
          </p:cNvSpPr>
          <p:nvPr>
            <p:ph idx="1"/>
          </p:nvPr>
        </p:nvSpPr>
        <p:spPr>
          <a:xfrm>
            <a:off x="1533526" y="1371600"/>
            <a:ext cx="9134475" cy="3886200"/>
          </a:xfrm>
        </p:spPr>
        <p:txBody>
          <a:bodyPr>
            <a:normAutofit/>
          </a:bodyPr>
          <a:lstStyle/>
          <a:p>
            <a:r>
              <a:rPr lang="en-US" altLang="en-US" sz="2000" dirty="0">
                <a:solidFill>
                  <a:srgbClr val="FF0000"/>
                </a:solidFill>
              </a:rPr>
              <a:t>Bitrate </a:t>
            </a:r>
          </a:p>
          <a:p>
            <a:pPr lvl="1"/>
            <a:r>
              <a:rPr lang="en-US" altLang="en-US" sz="1800" dirty="0"/>
              <a:t>With too low bit rate, we get compression artifacts </a:t>
            </a:r>
          </a:p>
          <a:p>
            <a:pPr lvl="2"/>
            <a:r>
              <a:rPr lang="en-US" altLang="en-US" sz="1600" b="1" dirty="0">
                <a:solidFill>
                  <a:srgbClr val="FF0000"/>
                </a:solidFill>
              </a:rPr>
              <a:t>Ringing</a:t>
            </a:r>
          </a:p>
          <a:p>
            <a:pPr lvl="2"/>
            <a:r>
              <a:rPr lang="en-US" altLang="en-US" sz="1600" b="1" dirty="0">
                <a:solidFill>
                  <a:srgbClr val="FF0000"/>
                </a:solidFill>
              </a:rPr>
              <a:t>Pre-echo</a:t>
            </a:r>
            <a:r>
              <a:rPr lang="en-US" altLang="en-US" sz="1600" dirty="0"/>
              <a:t> – sound is heard before it occurs. It is most noticeable in impulsive sounds from percussion instruments such as cymbals</a:t>
            </a:r>
          </a:p>
          <a:p>
            <a:pPr lvl="3"/>
            <a:r>
              <a:rPr lang="en-US" altLang="en-US" sz="1400" dirty="0"/>
              <a:t>Occurs in transform-based audio compression algorithms</a:t>
            </a:r>
          </a:p>
          <a:p>
            <a:r>
              <a:rPr lang="en-US" altLang="en-US" sz="2000" dirty="0"/>
              <a:t>Quality of </a:t>
            </a:r>
            <a:r>
              <a:rPr lang="en-US" altLang="en-US" sz="2000" dirty="0">
                <a:solidFill>
                  <a:srgbClr val="FF0000"/>
                </a:solidFill>
              </a:rPr>
              <a:t>encoder and encoding parameters</a:t>
            </a:r>
          </a:p>
          <a:p>
            <a:pPr lvl="1"/>
            <a:r>
              <a:rPr lang="en-US" altLang="en-US" sz="1800" dirty="0"/>
              <a:t>Constant Bit rate encoding </a:t>
            </a:r>
          </a:p>
          <a:p>
            <a:pPr lvl="1"/>
            <a:r>
              <a:rPr lang="en-US" altLang="en-US" sz="1800" dirty="0"/>
              <a:t>Variable Bit rate encoding </a:t>
            </a:r>
          </a:p>
        </p:txBody>
      </p:sp>
    </p:spTree>
    <p:extLst>
      <p:ext uri="{BB962C8B-B14F-4D97-AF65-F5344CB8AC3E}">
        <p14:creationId xmlns:p14="http://schemas.microsoft.com/office/powerpoint/2010/main" val="3402856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A5CF-3939-9394-2EB3-9948856A3AFE}"/>
              </a:ext>
            </a:extLst>
          </p:cNvPr>
          <p:cNvSpPr>
            <a:spLocks noGrp="1"/>
          </p:cNvSpPr>
          <p:nvPr>
            <p:ph type="title"/>
          </p:nvPr>
        </p:nvSpPr>
        <p:spPr/>
        <p:txBody>
          <a:bodyPr/>
          <a:lstStyle/>
          <a:p>
            <a:r>
              <a:rPr lang="en-US" dirty="0"/>
              <a:t>MP3 (MPEG Audio Layer III)</a:t>
            </a:r>
          </a:p>
        </p:txBody>
      </p:sp>
      <p:sp>
        <p:nvSpPr>
          <p:cNvPr id="3" name="Content Placeholder 2">
            <a:extLst>
              <a:ext uri="{FF2B5EF4-FFF2-40B4-BE49-F238E27FC236}">
                <a16:creationId xmlns:a16="http://schemas.microsoft.com/office/drawing/2014/main" id="{EDB7BD38-D858-EC9E-39C3-4A7CD03B50C7}"/>
              </a:ext>
            </a:extLst>
          </p:cNvPr>
          <p:cNvSpPr>
            <a:spLocks noGrp="1"/>
          </p:cNvSpPr>
          <p:nvPr>
            <p:ph idx="1"/>
          </p:nvPr>
        </p:nvSpPr>
        <p:spPr/>
        <p:txBody>
          <a:bodyPr/>
          <a:lstStyle/>
          <a:p>
            <a:r>
              <a:rPr lang="en-US" b="0" i="0" dirty="0">
                <a:solidFill>
                  <a:srgbClr val="00B050"/>
                </a:solidFill>
                <a:effectLst/>
                <a:latin typeface="Google Sans"/>
              </a:rPr>
              <a:t>A psychoacoustic model refers to an analysis of an audio signal that determines the amount of noise masking available based on frequency and loudness.</a:t>
            </a:r>
          </a:p>
          <a:p>
            <a:endParaRPr lang="en-US" dirty="0">
              <a:solidFill>
                <a:srgbClr val="040C28"/>
              </a:solidFill>
              <a:latin typeface="Google Sans"/>
            </a:endParaRPr>
          </a:p>
          <a:p>
            <a:r>
              <a:rPr lang="en-US" dirty="0"/>
              <a:t>Uses </a:t>
            </a:r>
            <a:r>
              <a:rPr lang="en-US" dirty="0">
                <a:solidFill>
                  <a:srgbClr val="00B050"/>
                </a:solidFill>
              </a:rPr>
              <a:t>psychoacoustic models </a:t>
            </a:r>
            <a:r>
              <a:rPr lang="en-US" dirty="0"/>
              <a:t>to eliminate sounds humans cannot hear.</a:t>
            </a:r>
          </a:p>
          <a:p>
            <a:r>
              <a:rPr lang="en-US" dirty="0"/>
              <a:t>Reduces bitrate by focusing on the most important audio frequencies.</a:t>
            </a:r>
          </a:p>
          <a:p>
            <a:endParaRPr lang="en-US" dirty="0"/>
          </a:p>
          <a:p>
            <a:r>
              <a:rPr lang="en-US" dirty="0"/>
              <a:t>High compression ratio. Suitable for music and voice compression with moderate to high quality</a:t>
            </a:r>
          </a:p>
        </p:txBody>
      </p:sp>
    </p:spTree>
    <p:extLst>
      <p:ext uri="{BB962C8B-B14F-4D97-AF65-F5344CB8AC3E}">
        <p14:creationId xmlns:p14="http://schemas.microsoft.com/office/powerpoint/2010/main" val="3410716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3">
            <a:extLst>
              <a:ext uri="{FF2B5EF4-FFF2-40B4-BE49-F238E27FC236}">
                <a16:creationId xmlns:a16="http://schemas.microsoft.com/office/drawing/2014/main" id="{DB92D185-F2C3-30D0-8B1D-D12E722E3833}"/>
              </a:ext>
            </a:extLst>
          </p:cNvPr>
          <p:cNvSpPr>
            <a:spLocks noGrp="1"/>
          </p:cNvSpPr>
          <p:nvPr>
            <p:ph type="title"/>
          </p:nvPr>
        </p:nvSpPr>
        <p:spPr>
          <a:xfrm>
            <a:off x="1981200" y="304800"/>
            <a:ext cx="8229600" cy="838200"/>
          </a:xfrm>
        </p:spPr>
        <p:txBody>
          <a:bodyPr/>
          <a:lstStyle/>
          <a:p>
            <a:r>
              <a:rPr lang="en-US" altLang="en-US"/>
              <a:t>MP3 Audio Format</a:t>
            </a:r>
          </a:p>
        </p:txBody>
      </p:sp>
      <p:pic>
        <p:nvPicPr>
          <p:cNvPr id="26628" name="Picture 2" descr="http://wiki.hydrogenaudio.org/images/e/ee/Mp3filestructure.jpg">
            <a:extLst>
              <a:ext uri="{FF2B5EF4-FFF2-40B4-BE49-F238E27FC236}">
                <a16:creationId xmlns:a16="http://schemas.microsoft.com/office/drawing/2014/main" id="{ECB2A75C-316C-056F-AD17-BE0DB2126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326" y="1004888"/>
            <a:ext cx="9080500" cy="530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Rectangle 4">
            <a:extLst>
              <a:ext uri="{FF2B5EF4-FFF2-40B4-BE49-F238E27FC236}">
                <a16:creationId xmlns:a16="http://schemas.microsoft.com/office/drawing/2014/main" id="{9C14C760-B46B-FEA1-3185-124DE181743E}"/>
              </a:ext>
            </a:extLst>
          </p:cNvPr>
          <p:cNvSpPr>
            <a:spLocks noChangeArrowheads="1"/>
          </p:cNvSpPr>
          <p:nvPr/>
        </p:nvSpPr>
        <p:spPr bwMode="auto">
          <a:xfrm>
            <a:off x="1524000" y="6172200"/>
            <a:ext cx="891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t>Source: http://wiki.hydrogenaudio.org/images/e/ee/Mp3filestructure.jpg</a:t>
            </a:r>
          </a:p>
        </p:txBody>
      </p:sp>
    </p:spTree>
    <p:extLst>
      <p:ext uri="{BB962C8B-B14F-4D97-AF65-F5344CB8AC3E}">
        <p14:creationId xmlns:p14="http://schemas.microsoft.com/office/powerpoint/2010/main" val="25797787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4FCFA5E3-04DB-A9A1-BFA3-96A449B4C5BC}"/>
              </a:ext>
            </a:extLst>
          </p:cNvPr>
          <p:cNvSpPr>
            <a:spLocks noGrp="1"/>
          </p:cNvSpPr>
          <p:nvPr>
            <p:ph type="title"/>
          </p:nvPr>
        </p:nvSpPr>
        <p:spPr/>
        <p:txBody>
          <a:bodyPr/>
          <a:lstStyle/>
          <a:p>
            <a:r>
              <a:rPr lang="en-US" altLang="en-US"/>
              <a:t>MPEG Audio Comments</a:t>
            </a:r>
          </a:p>
        </p:txBody>
      </p:sp>
      <p:sp>
        <p:nvSpPr>
          <p:cNvPr id="27651" name="Content Placeholder 2">
            <a:extLst>
              <a:ext uri="{FF2B5EF4-FFF2-40B4-BE49-F238E27FC236}">
                <a16:creationId xmlns:a16="http://schemas.microsoft.com/office/drawing/2014/main" id="{E81C40A5-D432-322D-1B9B-644BF341A152}"/>
              </a:ext>
            </a:extLst>
          </p:cNvPr>
          <p:cNvSpPr>
            <a:spLocks noGrp="1"/>
          </p:cNvSpPr>
          <p:nvPr>
            <p:ph idx="1"/>
          </p:nvPr>
        </p:nvSpPr>
        <p:spPr>
          <a:xfrm>
            <a:off x="755301" y="1447800"/>
            <a:ext cx="8229600" cy="4800600"/>
          </a:xfrm>
        </p:spPr>
        <p:txBody>
          <a:bodyPr>
            <a:normAutofit lnSpcReduction="10000"/>
          </a:bodyPr>
          <a:lstStyle/>
          <a:p>
            <a:r>
              <a:rPr lang="en-US" altLang="en-US" sz="2800" dirty="0"/>
              <a:t>Precision of </a:t>
            </a:r>
            <a:r>
              <a:rPr lang="en-US" altLang="en-US" sz="2800" dirty="0">
                <a:solidFill>
                  <a:srgbClr val="FF0000"/>
                </a:solidFill>
              </a:rPr>
              <a:t>16 bits per sample </a:t>
            </a:r>
            <a:r>
              <a:rPr lang="en-US" altLang="en-US" sz="2800" dirty="0"/>
              <a:t>is needed to get good SNR ratio</a:t>
            </a:r>
          </a:p>
          <a:p>
            <a:r>
              <a:rPr lang="en-US" altLang="en-US" sz="2800" dirty="0"/>
              <a:t>Noise we are getting is </a:t>
            </a:r>
            <a:r>
              <a:rPr lang="en-US" altLang="en-US" sz="2800" dirty="0">
                <a:solidFill>
                  <a:srgbClr val="FF0000"/>
                </a:solidFill>
              </a:rPr>
              <a:t>quantization noise </a:t>
            </a:r>
            <a:r>
              <a:rPr lang="en-US" altLang="en-US" sz="2800" dirty="0"/>
              <a:t>from the digitization process</a:t>
            </a:r>
          </a:p>
          <a:p>
            <a:r>
              <a:rPr lang="en-US" altLang="en-US" sz="2800" dirty="0"/>
              <a:t>For each added bit, we get </a:t>
            </a:r>
            <a:r>
              <a:rPr lang="en-US" altLang="en-US" sz="2800" dirty="0">
                <a:solidFill>
                  <a:srgbClr val="FF0000"/>
                </a:solidFill>
              </a:rPr>
              <a:t>6dB better SNR ratio</a:t>
            </a:r>
          </a:p>
          <a:p>
            <a:r>
              <a:rPr lang="en-US" altLang="en-US" sz="2800" dirty="0">
                <a:solidFill>
                  <a:srgbClr val="FF0000"/>
                </a:solidFill>
              </a:rPr>
              <a:t>Masking effect </a:t>
            </a:r>
            <a:r>
              <a:rPr lang="en-US" altLang="en-US" sz="2800" dirty="0"/>
              <a:t>means that we can raise the noise floor around a strong sound because the noise will be masked away</a:t>
            </a:r>
          </a:p>
          <a:p>
            <a:r>
              <a:rPr lang="en-US" altLang="en-US" sz="2800" dirty="0"/>
              <a:t>Raising </a:t>
            </a:r>
            <a:r>
              <a:rPr lang="en-US" altLang="en-US" sz="2800" dirty="0">
                <a:solidFill>
                  <a:srgbClr val="FF0000"/>
                </a:solidFill>
              </a:rPr>
              <a:t>noise floor </a:t>
            </a:r>
            <a:r>
              <a:rPr lang="en-US" altLang="en-US" sz="2800" dirty="0"/>
              <a:t>is the same as using </a:t>
            </a:r>
            <a:r>
              <a:rPr lang="en-US" altLang="en-US" sz="2800" dirty="0">
                <a:solidFill>
                  <a:srgbClr val="FF0000"/>
                </a:solidFill>
              </a:rPr>
              <a:t>less bits </a:t>
            </a:r>
            <a:r>
              <a:rPr lang="en-US" altLang="en-US" sz="2800" dirty="0"/>
              <a:t>and using less bits is the same as </a:t>
            </a:r>
            <a:r>
              <a:rPr lang="en-US" altLang="en-US" sz="2800" dirty="0">
                <a:solidFill>
                  <a:srgbClr val="FF0000"/>
                </a:solidFill>
              </a:rPr>
              <a:t>compression </a:t>
            </a:r>
          </a:p>
        </p:txBody>
      </p:sp>
    </p:spTree>
    <p:extLst>
      <p:ext uri="{BB962C8B-B14F-4D97-AF65-F5344CB8AC3E}">
        <p14:creationId xmlns:p14="http://schemas.microsoft.com/office/powerpoint/2010/main" val="3372934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23676234-444B-928B-D4FB-8B2EEACE3915}"/>
              </a:ext>
            </a:extLst>
          </p:cNvPr>
          <p:cNvSpPr>
            <a:spLocks noGrp="1"/>
          </p:cNvSpPr>
          <p:nvPr>
            <p:ph type="title"/>
          </p:nvPr>
        </p:nvSpPr>
        <p:spPr/>
        <p:txBody>
          <a:bodyPr/>
          <a:lstStyle/>
          <a:p>
            <a:r>
              <a:rPr lang="en-US" altLang="en-US"/>
              <a:t>MPEG Audio – MP3</a:t>
            </a:r>
          </a:p>
        </p:txBody>
      </p:sp>
      <p:sp>
        <p:nvSpPr>
          <p:cNvPr id="36867" name="Content Placeholder 2">
            <a:extLst>
              <a:ext uri="{FF2B5EF4-FFF2-40B4-BE49-F238E27FC236}">
                <a16:creationId xmlns:a16="http://schemas.microsoft.com/office/drawing/2014/main" id="{94C61C70-3A5B-1A74-6E9C-8F029AC146D5}"/>
              </a:ext>
            </a:extLst>
          </p:cNvPr>
          <p:cNvSpPr>
            <a:spLocks noGrp="1"/>
          </p:cNvSpPr>
          <p:nvPr>
            <p:ph idx="1"/>
          </p:nvPr>
        </p:nvSpPr>
        <p:spPr/>
        <p:txBody>
          <a:bodyPr/>
          <a:lstStyle/>
          <a:p>
            <a:r>
              <a:rPr lang="en-US" altLang="en-US"/>
              <a:t>1997 – mp3.com – offering thousands of MP3s created by independent artists for free</a:t>
            </a:r>
          </a:p>
          <a:p>
            <a:r>
              <a:rPr lang="en-US" altLang="en-US"/>
              <a:t>1999 – Napster MP3 peer-to-peer file sharing</a:t>
            </a:r>
          </a:p>
          <a:p>
            <a:r>
              <a:rPr lang="en-US" altLang="en-US"/>
              <a:t>Problem: copyright infringement </a:t>
            </a:r>
          </a:p>
          <a:p>
            <a:r>
              <a:rPr lang="en-US" altLang="en-US"/>
              <a:t>Authorized services: Amazon.com, Rhapsody, Juno Records, ..</a:t>
            </a:r>
          </a:p>
        </p:txBody>
      </p:sp>
    </p:spTree>
    <p:extLst>
      <p:ext uri="{BB962C8B-B14F-4D97-AF65-F5344CB8AC3E}">
        <p14:creationId xmlns:p14="http://schemas.microsoft.com/office/powerpoint/2010/main" val="2541765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How Does Lossy Audio Compression Work?</a:t>
            </a:r>
          </a:p>
        </p:txBody>
      </p:sp>
      <p:sp>
        <p:nvSpPr>
          <p:cNvPr id="5" name="Rectangle 2">
            <a:extLst>
              <a:ext uri="{FF2B5EF4-FFF2-40B4-BE49-F238E27FC236}">
                <a16:creationId xmlns:a16="http://schemas.microsoft.com/office/drawing/2014/main" id="{D23E33E4-18D6-98E0-9FAA-64F091A8BA9B}"/>
              </a:ext>
            </a:extLst>
          </p:cNvPr>
          <p:cNvSpPr>
            <a:spLocks noGrp="1" noChangeArrowheads="1"/>
          </p:cNvSpPr>
          <p:nvPr>
            <p:ph idx="1"/>
          </p:nvPr>
        </p:nvSpPr>
        <p:spPr bwMode="auto">
          <a:xfrm>
            <a:off x="677334" y="2505670"/>
            <a:ext cx="889224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Perceptual coding: </a:t>
            </a:r>
            <a:r>
              <a:rPr kumimoji="0" lang="en-US" altLang="en-US" sz="1800" b="0" i="0" u="none" strike="noStrike" cap="none" normalizeH="0" baseline="0" dirty="0">
                <a:ln>
                  <a:noFill/>
                </a:ln>
                <a:solidFill>
                  <a:srgbClr val="00B050"/>
                </a:solidFill>
                <a:effectLst/>
                <a:latin typeface="Arial" panose="020B0604020202020204" pitchFamily="34" charset="0"/>
              </a:rPr>
              <a:t>Only keep audio data that humans can hear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Use of algorithms (e.g., MP3, AAC) to remove redundant or less important sounds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Example of human hearing limitations (high-frequency sounds) </a:t>
            </a:r>
          </a:p>
        </p:txBody>
      </p:sp>
    </p:spTree>
    <p:extLst>
      <p:ext uri="{BB962C8B-B14F-4D97-AF65-F5344CB8AC3E}">
        <p14:creationId xmlns:p14="http://schemas.microsoft.com/office/powerpoint/2010/main" val="7905450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b="1" dirty="0"/>
              <a:t>Advantages of Lossy Compression</a:t>
            </a:r>
            <a:endParaRPr lang="en-US" dirty="0"/>
          </a:p>
        </p:txBody>
      </p:sp>
      <p:sp>
        <p:nvSpPr>
          <p:cNvPr id="3" name="Content Placeholder 2">
            <a:extLst>
              <a:ext uri="{FF2B5EF4-FFF2-40B4-BE49-F238E27FC236}">
                <a16:creationId xmlns:a16="http://schemas.microsoft.com/office/drawing/2014/main" id="{A84DE812-0CF4-F5C7-89E3-FD234106EE07}"/>
              </a:ext>
            </a:extLst>
          </p:cNvPr>
          <p:cNvSpPr>
            <a:spLocks noGrp="1"/>
          </p:cNvSpPr>
          <p:nvPr>
            <p:ph idx="1"/>
          </p:nvPr>
        </p:nvSpPr>
        <p:spPr/>
        <p:txBody>
          <a:bodyPr/>
          <a:lstStyle/>
          <a:p>
            <a:pPr>
              <a:buFont typeface="Arial" panose="020B0604020202020204" pitchFamily="34" charset="0"/>
              <a:buChar char="•"/>
            </a:pPr>
            <a:r>
              <a:rPr lang="en-US" dirty="0"/>
              <a:t>Small file sizes, saving storage space</a:t>
            </a:r>
          </a:p>
          <a:p>
            <a:pPr>
              <a:buFont typeface="Arial" panose="020B0604020202020204" pitchFamily="34" charset="0"/>
              <a:buChar char="•"/>
            </a:pPr>
            <a:r>
              <a:rPr lang="en-US" dirty="0"/>
              <a:t>Faster transmission over the internet (streaming, downloading)</a:t>
            </a:r>
          </a:p>
          <a:p>
            <a:pPr>
              <a:buFont typeface="Arial" panose="020B0604020202020204" pitchFamily="34" charset="0"/>
              <a:buChar char="•"/>
            </a:pPr>
            <a:r>
              <a:rPr lang="en-US" dirty="0"/>
              <a:t>Suitable for consumer-grade audio where perfect fidelity isn't necessary</a:t>
            </a:r>
          </a:p>
          <a:p>
            <a:endParaRPr lang="en-US" dirty="0"/>
          </a:p>
        </p:txBody>
      </p:sp>
    </p:spTree>
    <p:extLst>
      <p:ext uri="{BB962C8B-B14F-4D97-AF65-F5344CB8AC3E}">
        <p14:creationId xmlns:p14="http://schemas.microsoft.com/office/powerpoint/2010/main" val="698590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1A9A-03D9-421F-ADF6-EF3FEB5125FA}"/>
              </a:ext>
            </a:extLst>
          </p:cNvPr>
          <p:cNvSpPr>
            <a:spLocks noGrp="1"/>
          </p:cNvSpPr>
          <p:nvPr>
            <p:ph type="title"/>
          </p:nvPr>
        </p:nvSpPr>
        <p:spPr/>
        <p:txBody>
          <a:bodyPr/>
          <a:lstStyle/>
          <a:p>
            <a:r>
              <a:rPr lang="en-US" dirty="0"/>
              <a:t>Applications of Lossy Compression</a:t>
            </a:r>
          </a:p>
        </p:txBody>
      </p:sp>
      <p:sp>
        <p:nvSpPr>
          <p:cNvPr id="3" name="Content Placeholder 2">
            <a:extLst>
              <a:ext uri="{FF2B5EF4-FFF2-40B4-BE49-F238E27FC236}">
                <a16:creationId xmlns:a16="http://schemas.microsoft.com/office/drawing/2014/main" id="{A84DE812-0CF4-F5C7-89E3-FD234106EE07}"/>
              </a:ext>
            </a:extLst>
          </p:cNvPr>
          <p:cNvSpPr>
            <a:spLocks noGrp="1"/>
          </p:cNvSpPr>
          <p:nvPr>
            <p:ph idx="1"/>
          </p:nvPr>
        </p:nvSpPr>
        <p:spPr/>
        <p:txBody>
          <a:bodyPr/>
          <a:lstStyle/>
          <a:p>
            <a:r>
              <a:rPr lang="en-US" dirty="0"/>
              <a:t>Music streaming (Spotify, Apple Music)</a:t>
            </a:r>
          </a:p>
          <a:p>
            <a:r>
              <a:rPr lang="en-US" dirty="0"/>
              <a:t>Podcasts</a:t>
            </a:r>
          </a:p>
          <a:p>
            <a:r>
              <a:rPr lang="en-US" dirty="0"/>
              <a:t>Audiobooks</a:t>
            </a:r>
          </a:p>
          <a:p>
            <a:r>
              <a:rPr lang="en-US" dirty="0"/>
              <a:t>Online videos (YouTube)</a:t>
            </a:r>
          </a:p>
          <a:p>
            <a:r>
              <a:rPr lang="en-US" dirty="0"/>
              <a:t>Video conferencing (Zoom, Skype)</a:t>
            </a:r>
          </a:p>
        </p:txBody>
      </p:sp>
    </p:spTree>
    <p:extLst>
      <p:ext uri="{BB962C8B-B14F-4D97-AF65-F5344CB8AC3E}">
        <p14:creationId xmlns:p14="http://schemas.microsoft.com/office/powerpoint/2010/main" val="3610470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5F9F3D9-B6CE-0129-D9B5-35D152D2538D}"/>
              </a:ext>
            </a:extLst>
          </p:cNvPr>
          <p:cNvSpPr>
            <a:spLocks noGrp="1" noChangeArrowheads="1"/>
          </p:cNvSpPr>
          <p:nvPr>
            <p:ph type="title"/>
          </p:nvPr>
        </p:nvSpPr>
        <p:spPr/>
        <p:txBody>
          <a:bodyPr/>
          <a:lstStyle/>
          <a:p>
            <a:r>
              <a:rPr lang="en-US" altLang="en-US"/>
              <a:t>Criteria for Good Standard</a:t>
            </a:r>
          </a:p>
        </p:txBody>
      </p:sp>
      <p:sp>
        <p:nvSpPr>
          <p:cNvPr id="34819" name="Rectangle 3">
            <a:extLst>
              <a:ext uri="{FF2B5EF4-FFF2-40B4-BE49-F238E27FC236}">
                <a16:creationId xmlns:a16="http://schemas.microsoft.com/office/drawing/2014/main" id="{43E75239-253D-CE84-A500-344627691262}"/>
              </a:ext>
            </a:extLst>
          </p:cNvPr>
          <p:cNvSpPr>
            <a:spLocks noGrp="1" noChangeArrowheads="1"/>
          </p:cNvSpPr>
          <p:nvPr>
            <p:ph type="body" sz="half" idx="1"/>
          </p:nvPr>
        </p:nvSpPr>
        <p:spPr/>
        <p:txBody>
          <a:bodyPr>
            <a:normAutofit lnSpcReduction="10000"/>
          </a:bodyPr>
          <a:lstStyle/>
          <a:p>
            <a:r>
              <a:rPr lang="en-US" altLang="en-US" sz="2200"/>
              <a:t>Achieve desired outcome</a:t>
            </a:r>
          </a:p>
          <a:p>
            <a:r>
              <a:rPr lang="en-US" altLang="en-US" sz="2200"/>
              <a:t>Be comprehensible</a:t>
            </a:r>
          </a:p>
          <a:p>
            <a:r>
              <a:rPr lang="en-US" altLang="en-US" sz="2200"/>
              <a:t>Allow efficient implementation</a:t>
            </a:r>
          </a:p>
          <a:p>
            <a:r>
              <a:rPr lang="en-US" altLang="en-US" sz="2200"/>
              <a:t>Support competition</a:t>
            </a:r>
          </a:p>
          <a:p>
            <a:r>
              <a:rPr lang="en-US" altLang="en-US" sz="2200"/>
              <a:t>Give benchmark tests</a:t>
            </a:r>
          </a:p>
          <a:p>
            <a:r>
              <a:rPr lang="en-US" altLang="en-US" sz="2200"/>
              <a:t>Be supported by industry</a:t>
            </a:r>
          </a:p>
          <a:p>
            <a:r>
              <a:rPr lang="en-US" altLang="en-US" sz="2200"/>
              <a:t>Be good for end users</a:t>
            </a:r>
          </a:p>
          <a:p>
            <a:r>
              <a:rPr lang="en-US" altLang="en-US" sz="2200"/>
              <a:t>….</a:t>
            </a:r>
          </a:p>
          <a:p>
            <a:endParaRPr lang="en-US" altLang="en-US" sz="2200"/>
          </a:p>
        </p:txBody>
      </p:sp>
      <p:sp>
        <p:nvSpPr>
          <p:cNvPr id="34820" name="Rectangle 4">
            <a:extLst>
              <a:ext uri="{FF2B5EF4-FFF2-40B4-BE49-F238E27FC236}">
                <a16:creationId xmlns:a16="http://schemas.microsoft.com/office/drawing/2014/main" id="{F2A355B7-D3B8-3070-47A5-065226D9D9B1}"/>
              </a:ext>
            </a:extLst>
          </p:cNvPr>
          <p:cNvSpPr>
            <a:spLocks noGrp="1" noChangeArrowheads="1"/>
          </p:cNvSpPr>
          <p:nvPr>
            <p:ph type="body" sz="half" idx="2"/>
          </p:nvPr>
        </p:nvSpPr>
        <p:spPr/>
        <p:txBody>
          <a:bodyPr/>
          <a:lstStyle/>
          <a:p>
            <a:r>
              <a:rPr lang="en-US" altLang="en-US" sz="2200"/>
              <a:t>Two models:</a:t>
            </a:r>
          </a:p>
          <a:p>
            <a:r>
              <a:rPr lang="en-US" altLang="en-US" sz="2200"/>
              <a:t>implement first, then standardize</a:t>
            </a:r>
          </a:p>
          <a:p>
            <a:r>
              <a:rPr lang="en-US" altLang="en-US" sz="2200"/>
              <a:t>standardize first, then implement</a:t>
            </a:r>
          </a:p>
        </p:txBody>
      </p:sp>
    </p:spTree>
    <p:extLst>
      <p:ext uri="{BB962C8B-B14F-4D97-AF65-F5344CB8AC3E}">
        <p14:creationId xmlns:p14="http://schemas.microsoft.com/office/powerpoint/2010/main" val="283354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B31A234D-CEE5-8636-20C2-0EC76E1FDEAF}"/>
              </a:ext>
            </a:extLst>
          </p:cNvPr>
          <p:cNvSpPr>
            <a:spLocks noGrp="1"/>
          </p:cNvSpPr>
          <p:nvPr>
            <p:ph type="title"/>
          </p:nvPr>
        </p:nvSpPr>
        <p:spPr>
          <a:xfrm>
            <a:off x="753626" y="381000"/>
            <a:ext cx="9380974" cy="1371600"/>
          </a:xfrm>
        </p:spPr>
        <p:txBody>
          <a:bodyPr/>
          <a:lstStyle/>
          <a:p>
            <a:r>
              <a:rPr lang="en-US" altLang="en-US" dirty="0"/>
              <a:t>MPEG-4 Audio </a:t>
            </a:r>
            <a:r>
              <a:rPr lang="en-US" altLang="en-US" sz="3200" dirty="0"/>
              <a:t>(Successor of MP3)</a:t>
            </a:r>
            <a:endParaRPr lang="en-US" altLang="en-US" sz="4000" dirty="0"/>
          </a:p>
        </p:txBody>
      </p:sp>
      <p:sp>
        <p:nvSpPr>
          <p:cNvPr id="38915" name="Content Placeholder 2">
            <a:extLst>
              <a:ext uri="{FF2B5EF4-FFF2-40B4-BE49-F238E27FC236}">
                <a16:creationId xmlns:a16="http://schemas.microsoft.com/office/drawing/2014/main" id="{B3C552A8-63C3-8DC2-ED54-2C6B3872C36A}"/>
              </a:ext>
            </a:extLst>
          </p:cNvPr>
          <p:cNvSpPr>
            <a:spLocks noGrp="1"/>
          </p:cNvSpPr>
          <p:nvPr>
            <p:ph idx="1"/>
          </p:nvPr>
        </p:nvSpPr>
        <p:spPr>
          <a:xfrm>
            <a:off x="1000648" y="1746738"/>
            <a:ext cx="8534400" cy="3886200"/>
          </a:xfrm>
        </p:spPr>
        <p:txBody>
          <a:bodyPr/>
          <a:lstStyle/>
          <a:p>
            <a:r>
              <a:rPr lang="en-US" altLang="en-US" dirty="0">
                <a:solidFill>
                  <a:srgbClr val="FF0000"/>
                </a:solidFill>
              </a:rPr>
              <a:t>Advanced Audio Coding (AAC) </a:t>
            </a:r>
            <a:r>
              <a:rPr lang="en-US" altLang="en-US" dirty="0"/>
              <a:t>– now part of </a:t>
            </a:r>
            <a:r>
              <a:rPr lang="en-US" altLang="en-US" dirty="0">
                <a:solidFill>
                  <a:srgbClr val="FF0000"/>
                </a:solidFill>
              </a:rPr>
              <a:t>MPEG-4 Audio</a:t>
            </a:r>
          </a:p>
          <a:p>
            <a:r>
              <a:rPr lang="en-US" altLang="en-US" dirty="0"/>
              <a:t>Inclusion of 48 full-bandwidth audio channels</a:t>
            </a:r>
          </a:p>
          <a:p>
            <a:r>
              <a:rPr lang="en-US" altLang="en-US" dirty="0"/>
              <a:t>Default audio format for iPhone, iPad, Nintendo, PlayStation, Nokia, Android, BlackBerry</a:t>
            </a:r>
          </a:p>
          <a:p>
            <a:r>
              <a:rPr lang="en-US" altLang="en-US" dirty="0"/>
              <a:t>Introduced 1997 as MPEG-2 Part 7</a:t>
            </a:r>
          </a:p>
          <a:p>
            <a:r>
              <a:rPr lang="en-US" altLang="en-US" dirty="0"/>
              <a:t>In 1999 – updated and included in MPEG-4</a:t>
            </a:r>
          </a:p>
          <a:p>
            <a:endParaRPr lang="en-US" altLang="en-US" dirty="0"/>
          </a:p>
        </p:txBody>
      </p:sp>
    </p:spTree>
    <p:extLst>
      <p:ext uri="{BB962C8B-B14F-4D97-AF65-F5344CB8AC3E}">
        <p14:creationId xmlns:p14="http://schemas.microsoft.com/office/powerpoint/2010/main" val="38338827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399A0BD3-DFD6-82AA-00DF-B87848ABD98A}"/>
              </a:ext>
            </a:extLst>
          </p:cNvPr>
          <p:cNvSpPr>
            <a:spLocks noGrp="1"/>
          </p:cNvSpPr>
          <p:nvPr>
            <p:ph type="title"/>
          </p:nvPr>
        </p:nvSpPr>
        <p:spPr/>
        <p:txBody>
          <a:bodyPr/>
          <a:lstStyle/>
          <a:p>
            <a:r>
              <a:rPr lang="en-US" altLang="en-US"/>
              <a:t>MPEG-4 Audio</a:t>
            </a:r>
          </a:p>
        </p:txBody>
      </p:sp>
      <p:sp>
        <p:nvSpPr>
          <p:cNvPr id="39939" name="Content Placeholder 2">
            <a:extLst>
              <a:ext uri="{FF2B5EF4-FFF2-40B4-BE49-F238E27FC236}">
                <a16:creationId xmlns:a16="http://schemas.microsoft.com/office/drawing/2014/main" id="{64BB4D8F-D5A6-F564-D34C-D908976E54B5}"/>
              </a:ext>
            </a:extLst>
          </p:cNvPr>
          <p:cNvSpPr>
            <a:spLocks noGrp="1"/>
          </p:cNvSpPr>
          <p:nvPr>
            <p:ph idx="1"/>
          </p:nvPr>
        </p:nvSpPr>
        <p:spPr>
          <a:xfrm>
            <a:off x="765349" y="1752600"/>
            <a:ext cx="8229600" cy="4495800"/>
          </a:xfrm>
        </p:spPr>
        <p:txBody>
          <a:bodyPr/>
          <a:lstStyle/>
          <a:p>
            <a:r>
              <a:rPr lang="en-US" altLang="en-US" dirty="0"/>
              <a:t>Bit-rate 2-64kbps</a:t>
            </a:r>
          </a:p>
          <a:p>
            <a:r>
              <a:rPr lang="en-US" altLang="en-US" dirty="0"/>
              <a:t>Scalable for variable rates</a:t>
            </a:r>
          </a:p>
          <a:p>
            <a:r>
              <a:rPr lang="en-US" altLang="en-US" dirty="0"/>
              <a:t>MPEG-4 defines set of coders</a:t>
            </a:r>
          </a:p>
          <a:p>
            <a:pPr lvl="1"/>
            <a:r>
              <a:rPr lang="en-US" altLang="en-US" sz="1800" dirty="0">
                <a:solidFill>
                  <a:srgbClr val="FF0000"/>
                </a:solidFill>
              </a:rPr>
              <a:t>Parametric Coding Techniques</a:t>
            </a:r>
            <a:r>
              <a:rPr lang="en-US" altLang="en-US" sz="1800" dirty="0"/>
              <a:t>: low bit-rate 2-6kbps, 8kHz sampling frequency</a:t>
            </a:r>
          </a:p>
          <a:p>
            <a:pPr lvl="1"/>
            <a:r>
              <a:rPr lang="en-US" altLang="en-US" sz="1800" dirty="0">
                <a:solidFill>
                  <a:srgbClr val="FF0000"/>
                </a:solidFill>
              </a:rPr>
              <a:t>Code Excited Linear Prediction</a:t>
            </a:r>
            <a:r>
              <a:rPr lang="en-US" altLang="en-US" sz="1800" dirty="0"/>
              <a:t>: medium bit-rates 6-24 kbps, 8 and 16 kHz sampling rate</a:t>
            </a:r>
          </a:p>
          <a:p>
            <a:pPr lvl="1"/>
            <a:r>
              <a:rPr lang="en-US" altLang="en-US" sz="1800" dirty="0">
                <a:solidFill>
                  <a:srgbClr val="FF0000"/>
                </a:solidFill>
              </a:rPr>
              <a:t>Time Frequency Techniques</a:t>
            </a:r>
            <a:r>
              <a:rPr lang="en-US" altLang="en-US" sz="1800" dirty="0"/>
              <a:t>: high quality audio 16 kbps and higher bit-rates, sampling rate &gt; 7 kHz </a:t>
            </a:r>
          </a:p>
        </p:txBody>
      </p:sp>
    </p:spTree>
    <p:extLst>
      <p:ext uri="{BB962C8B-B14F-4D97-AF65-F5344CB8AC3E}">
        <p14:creationId xmlns:p14="http://schemas.microsoft.com/office/powerpoint/2010/main" val="4176787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A18C1563-71AA-73AB-5811-DEBE67383042}"/>
              </a:ext>
            </a:extLst>
          </p:cNvPr>
          <p:cNvSpPr>
            <a:spLocks noGrp="1"/>
          </p:cNvSpPr>
          <p:nvPr>
            <p:ph type="title"/>
          </p:nvPr>
        </p:nvSpPr>
        <p:spPr/>
        <p:txBody>
          <a:bodyPr/>
          <a:lstStyle/>
          <a:p>
            <a:r>
              <a:rPr lang="en-US" altLang="en-US"/>
              <a:t>MPEG-4 Audio </a:t>
            </a:r>
            <a:br>
              <a:rPr lang="en-US" altLang="en-US"/>
            </a:br>
            <a:r>
              <a:rPr lang="en-US" altLang="en-US"/>
              <a:t>(AAC’s Improvements over MP3</a:t>
            </a:r>
          </a:p>
        </p:txBody>
      </p:sp>
      <p:sp>
        <p:nvSpPr>
          <p:cNvPr id="28675" name="Content Placeholder 2">
            <a:extLst>
              <a:ext uri="{FF2B5EF4-FFF2-40B4-BE49-F238E27FC236}">
                <a16:creationId xmlns:a16="http://schemas.microsoft.com/office/drawing/2014/main" id="{3AE13187-2661-BFC3-1436-4AD90B01576C}"/>
              </a:ext>
            </a:extLst>
          </p:cNvPr>
          <p:cNvSpPr>
            <a:spLocks noGrp="1"/>
          </p:cNvSpPr>
          <p:nvPr>
            <p:ph idx="1"/>
          </p:nvPr>
        </p:nvSpPr>
        <p:spPr>
          <a:xfrm>
            <a:off x="1981200" y="1981200"/>
            <a:ext cx="8229600" cy="4648200"/>
          </a:xfrm>
        </p:spPr>
        <p:txBody>
          <a:bodyPr/>
          <a:lstStyle/>
          <a:p>
            <a:r>
              <a:rPr lang="en-US" altLang="en-US"/>
              <a:t>Advanced Audio Coding in MPEG-4</a:t>
            </a:r>
          </a:p>
          <a:p>
            <a:r>
              <a:rPr lang="en-US" altLang="en-US"/>
              <a:t>More </a:t>
            </a:r>
            <a:r>
              <a:rPr lang="en-US" altLang="en-US">
                <a:solidFill>
                  <a:srgbClr val="FF0000"/>
                </a:solidFill>
              </a:rPr>
              <a:t>sample frequencies </a:t>
            </a:r>
            <a:r>
              <a:rPr lang="en-US" altLang="en-US"/>
              <a:t>(</a:t>
            </a:r>
            <a:r>
              <a:rPr lang="en-US" altLang="en-US">
                <a:solidFill>
                  <a:srgbClr val="FF0000"/>
                </a:solidFill>
              </a:rPr>
              <a:t>8-96 kHz</a:t>
            </a:r>
            <a:r>
              <a:rPr lang="en-US" altLang="en-US"/>
              <a:t>)</a:t>
            </a:r>
          </a:p>
          <a:p>
            <a:r>
              <a:rPr lang="en-US" altLang="en-US">
                <a:solidFill>
                  <a:srgbClr val="FF0000"/>
                </a:solidFill>
              </a:rPr>
              <a:t>Arbitrary bit rates</a:t>
            </a:r>
            <a:r>
              <a:rPr lang="en-US" altLang="en-US"/>
              <a:t> and variable frame length</a:t>
            </a:r>
          </a:p>
          <a:p>
            <a:r>
              <a:rPr lang="en-US" altLang="en-US"/>
              <a:t>Higher efficiency and simpler filterbank</a:t>
            </a:r>
          </a:p>
          <a:p>
            <a:pPr lvl="1"/>
            <a:r>
              <a:rPr lang="en-US" altLang="en-US"/>
              <a:t>Uses pure MDCT (</a:t>
            </a:r>
            <a:r>
              <a:rPr lang="en-US" altLang="en-US">
                <a:solidFill>
                  <a:srgbClr val="FF0000"/>
                </a:solidFill>
              </a:rPr>
              <a:t>modified discrete cosine transform</a:t>
            </a:r>
            <a:r>
              <a:rPr lang="en-US" altLang="en-US"/>
              <a:t>)</a:t>
            </a:r>
          </a:p>
          <a:p>
            <a:pPr lvl="1"/>
            <a:r>
              <a:rPr lang="en-US" altLang="en-US"/>
              <a:t>Used in Windows Media Audio</a:t>
            </a:r>
          </a:p>
          <a:p>
            <a:endParaRPr lang="en-US" altLang="en-US"/>
          </a:p>
        </p:txBody>
      </p:sp>
    </p:spTree>
    <p:extLst>
      <p:ext uri="{BB962C8B-B14F-4D97-AF65-F5344CB8AC3E}">
        <p14:creationId xmlns:p14="http://schemas.microsoft.com/office/powerpoint/2010/main" val="2575917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732407DA-9310-9C25-0CB7-5C03558B38F6}"/>
              </a:ext>
            </a:extLst>
          </p:cNvPr>
          <p:cNvSpPr>
            <a:spLocks noGrp="1"/>
          </p:cNvSpPr>
          <p:nvPr>
            <p:ph type="title"/>
          </p:nvPr>
        </p:nvSpPr>
        <p:spPr/>
        <p:txBody>
          <a:bodyPr/>
          <a:lstStyle/>
          <a:p>
            <a:r>
              <a:rPr lang="en-US" altLang="en-US"/>
              <a:t>MPEG-4 Audio </a:t>
            </a:r>
          </a:p>
        </p:txBody>
      </p:sp>
      <p:sp>
        <p:nvSpPr>
          <p:cNvPr id="29699" name="Content Placeholder 2">
            <a:extLst>
              <a:ext uri="{FF2B5EF4-FFF2-40B4-BE49-F238E27FC236}">
                <a16:creationId xmlns:a16="http://schemas.microsoft.com/office/drawing/2014/main" id="{90357892-8688-797B-68BD-05483DD70DCC}"/>
              </a:ext>
            </a:extLst>
          </p:cNvPr>
          <p:cNvSpPr>
            <a:spLocks noGrp="1"/>
          </p:cNvSpPr>
          <p:nvPr>
            <p:ph idx="1"/>
          </p:nvPr>
        </p:nvSpPr>
        <p:spPr>
          <a:xfrm>
            <a:off x="767769" y="1930400"/>
            <a:ext cx="8596668" cy="3880773"/>
          </a:xfrm>
        </p:spPr>
        <p:txBody>
          <a:bodyPr>
            <a:normAutofit/>
          </a:bodyPr>
          <a:lstStyle/>
          <a:p>
            <a:r>
              <a:rPr lang="en-US" altLang="en-US" sz="2400" dirty="0"/>
              <a:t>Variety of applications </a:t>
            </a:r>
          </a:p>
          <a:p>
            <a:pPr lvl="1"/>
            <a:r>
              <a:rPr lang="en-US" altLang="en-US" sz="2000" dirty="0"/>
              <a:t>General audio signals</a:t>
            </a:r>
          </a:p>
          <a:p>
            <a:pPr lvl="1"/>
            <a:r>
              <a:rPr lang="en-US" altLang="en-US" sz="2000" dirty="0"/>
              <a:t>Speech signals</a:t>
            </a:r>
          </a:p>
          <a:p>
            <a:pPr lvl="1"/>
            <a:r>
              <a:rPr lang="en-US" altLang="en-US" sz="2000" dirty="0"/>
              <a:t>Synthetic audio</a:t>
            </a:r>
          </a:p>
          <a:p>
            <a:pPr lvl="1"/>
            <a:r>
              <a:rPr lang="en-US" altLang="en-US" sz="2000" dirty="0"/>
              <a:t>Synthesized speech (structured audio)</a:t>
            </a:r>
            <a:endParaRPr lang="en-US" altLang="en-US" sz="2400" dirty="0"/>
          </a:p>
        </p:txBody>
      </p:sp>
    </p:spTree>
    <p:extLst>
      <p:ext uri="{BB962C8B-B14F-4D97-AF65-F5344CB8AC3E}">
        <p14:creationId xmlns:p14="http://schemas.microsoft.com/office/powerpoint/2010/main" val="22558153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98CC999-0DB1-D5CE-33B7-8481807EB257}"/>
              </a:ext>
            </a:extLst>
          </p:cNvPr>
          <p:cNvSpPr>
            <a:spLocks noGrp="1"/>
          </p:cNvSpPr>
          <p:nvPr>
            <p:ph type="title"/>
          </p:nvPr>
        </p:nvSpPr>
        <p:spPr/>
        <p:txBody>
          <a:bodyPr/>
          <a:lstStyle/>
          <a:p>
            <a:r>
              <a:rPr lang="en-US" altLang="en-US"/>
              <a:t>MPEG-4 Audio Part 3 </a:t>
            </a:r>
          </a:p>
        </p:txBody>
      </p:sp>
      <p:sp>
        <p:nvSpPr>
          <p:cNvPr id="30723" name="Content Placeholder 2">
            <a:extLst>
              <a:ext uri="{FF2B5EF4-FFF2-40B4-BE49-F238E27FC236}">
                <a16:creationId xmlns:a16="http://schemas.microsoft.com/office/drawing/2014/main" id="{4E398A34-70AF-E5BD-B9F0-A9741123B49B}"/>
              </a:ext>
            </a:extLst>
          </p:cNvPr>
          <p:cNvSpPr>
            <a:spLocks noGrp="1"/>
          </p:cNvSpPr>
          <p:nvPr>
            <p:ph idx="1"/>
          </p:nvPr>
        </p:nvSpPr>
        <p:spPr>
          <a:xfrm>
            <a:off x="916075" y="1750088"/>
            <a:ext cx="8686800" cy="3886200"/>
          </a:xfrm>
        </p:spPr>
        <p:txBody>
          <a:bodyPr/>
          <a:lstStyle/>
          <a:p>
            <a:r>
              <a:rPr lang="en-US" altLang="en-US" sz="2000" dirty="0"/>
              <a:t>Includes variety of audio coding technologies</a:t>
            </a:r>
          </a:p>
          <a:p>
            <a:pPr lvl="1"/>
            <a:r>
              <a:rPr lang="en-US" altLang="en-US" sz="1800" dirty="0">
                <a:solidFill>
                  <a:srgbClr val="FF0000"/>
                </a:solidFill>
              </a:rPr>
              <a:t>Lossy speech coding </a:t>
            </a:r>
            <a:r>
              <a:rPr lang="en-US" altLang="en-US" sz="1800" dirty="0"/>
              <a:t>(e.g., CELP)</a:t>
            </a:r>
          </a:p>
          <a:p>
            <a:pPr lvl="2"/>
            <a:r>
              <a:rPr lang="en-US" altLang="en-US" sz="1600" dirty="0"/>
              <a:t>CELP – code-excited linear prediction – speech coding </a:t>
            </a:r>
          </a:p>
          <a:p>
            <a:pPr lvl="1"/>
            <a:r>
              <a:rPr lang="en-US" altLang="en-US" sz="1800" dirty="0"/>
              <a:t>General audio coding (AAC)</a:t>
            </a:r>
          </a:p>
          <a:p>
            <a:pPr lvl="1"/>
            <a:r>
              <a:rPr lang="en-US" altLang="en-US" sz="1800" dirty="0"/>
              <a:t>Lossless audio coding</a:t>
            </a:r>
          </a:p>
          <a:p>
            <a:pPr lvl="1"/>
            <a:r>
              <a:rPr lang="en-US" altLang="en-US" sz="1800" dirty="0">
                <a:solidFill>
                  <a:srgbClr val="FF0000"/>
                </a:solidFill>
              </a:rPr>
              <a:t>Text-to-Speech interface</a:t>
            </a:r>
          </a:p>
          <a:p>
            <a:pPr lvl="1"/>
            <a:r>
              <a:rPr lang="en-US" altLang="en-US" sz="1800" dirty="0">
                <a:solidFill>
                  <a:srgbClr val="FF0000"/>
                </a:solidFill>
              </a:rPr>
              <a:t>Structured Audio </a:t>
            </a:r>
            <a:r>
              <a:rPr lang="en-US" altLang="en-US" sz="1800" dirty="0"/>
              <a:t>(e.g., MIDI)</a:t>
            </a:r>
          </a:p>
          <a:p>
            <a:pPr lvl="1"/>
            <a:endParaRPr lang="en-US" altLang="en-US" dirty="0"/>
          </a:p>
        </p:txBody>
      </p:sp>
    </p:spTree>
    <p:extLst>
      <p:ext uri="{BB962C8B-B14F-4D97-AF65-F5344CB8AC3E}">
        <p14:creationId xmlns:p14="http://schemas.microsoft.com/office/powerpoint/2010/main" val="2162479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6C8BFB3-74E9-5271-54A6-744D7ECF10D9}"/>
              </a:ext>
            </a:extLst>
          </p:cNvPr>
          <p:cNvSpPr>
            <a:spLocks noGrp="1"/>
          </p:cNvSpPr>
          <p:nvPr>
            <p:ph type="title"/>
          </p:nvPr>
        </p:nvSpPr>
        <p:spPr/>
        <p:txBody>
          <a:bodyPr/>
          <a:lstStyle/>
          <a:p>
            <a:r>
              <a:rPr lang="en-US" altLang="en-US"/>
              <a:t>MPEG-4 Part 14</a:t>
            </a:r>
          </a:p>
        </p:txBody>
      </p:sp>
      <p:sp>
        <p:nvSpPr>
          <p:cNvPr id="31747" name="Content Placeholder 2">
            <a:extLst>
              <a:ext uri="{FF2B5EF4-FFF2-40B4-BE49-F238E27FC236}">
                <a16:creationId xmlns:a16="http://schemas.microsoft.com/office/drawing/2014/main" id="{0E98F3CD-17AE-83A0-62C5-6EC2094C7E31}"/>
              </a:ext>
            </a:extLst>
          </p:cNvPr>
          <p:cNvSpPr>
            <a:spLocks noGrp="1"/>
          </p:cNvSpPr>
          <p:nvPr>
            <p:ph idx="1"/>
          </p:nvPr>
        </p:nvSpPr>
        <p:spPr>
          <a:xfrm>
            <a:off x="1828800" y="1600200"/>
            <a:ext cx="8229600" cy="3886200"/>
          </a:xfrm>
        </p:spPr>
        <p:txBody>
          <a:bodyPr/>
          <a:lstStyle/>
          <a:p>
            <a:r>
              <a:rPr lang="en-US" altLang="en-US"/>
              <a:t>Called MP4 with Extension .mp4</a:t>
            </a:r>
          </a:p>
          <a:p>
            <a:r>
              <a:rPr lang="en-US" altLang="en-US"/>
              <a:t>Multimedia </a:t>
            </a:r>
            <a:r>
              <a:rPr lang="en-US" altLang="en-US">
                <a:solidFill>
                  <a:srgbClr val="FF0000"/>
                </a:solidFill>
              </a:rPr>
              <a:t>container format</a:t>
            </a:r>
          </a:p>
          <a:p>
            <a:r>
              <a:rPr lang="en-US" altLang="en-US"/>
              <a:t>Stores digital video and audio streams and allows streaming over Internet</a:t>
            </a:r>
          </a:p>
          <a:p>
            <a:r>
              <a:rPr lang="en-US" altLang="en-US"/>
              <a:t>Container or wrapper format</a:t>
            </a:r>
          </a:p>
          <a:p>
            <a:pPr lvl="1"/>
            <a:r>
              <a:rPr lang="en-US" altLang="en-US">
                <a:solidFill>
                  <a:srgbClr val="FF0000"/>
                </a:solidFill>
              </a:rPr>
              <a:t>meta-file format </a:t>
            </a:r>
            <a:r>
              <a:rPr lang="en-US" altLang="en-US"/>
              <a:t>whose spec describes how different data elements and metadata coesit in computer file</a:t>
            </a:r>
          </a:p>
        </p:txBody>
      </p:sp>
    </p:spTree>
    <p:extLst>
      <p:ext uri="{BB962C8B-B14F-4D97-AF65-F5344CB8AC3E}">
        <p14:creationId xmlns:p14="http://schemas.microsoft.com/office/powerpoint/2010/main" val="4871901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a:extLst>
              <a:ext uri="{FF2B5EF4-FFF2-40B4-BE49-F238E27FC236}">
                <a16:creationId xmlns:a16="http://schemas.microsoft.com/office/drawing/2014/main" id="{992B8713-D3E1-AE0F-333B-5378A1C12916}"/>
              </a:ext>
            </a:extLst>
          </p:cNvPr>
          <p:cNvSpPr>
            <a:spLocks noGrp="1"/>
          </p:cNvSpPr>
          <p:nvPr>
            <p:ph type="title"/>
          </p:nvPr>
        </p:nvSpPr>
        <p:spPr/>
        <p:txBody>
          <a:bodyPr/>
          <a:lstStyle/>
          <a:p>
            <a:r>
              <a:rPr lang="en-US" altLang="en-US"/>
              <a:t>Conclusion </a:t>
            </a:r>
          </a:p>
        </p:txBody>
      </p:sp>
      <p:sp>
        <p:nvSpPr>
          <p:cNvPr id="32771" name="Content Placeholder 7">
            <a:extLst>
              <a:ext uri="{FF2B5EF4-FFF2-40B4-BE49-F238E27FC236}">
                <a16:creationId xmlns:a16="http://schemas.microsoft.com/office/drawing/2014/main" id="{F48113F7-2715-1EA7-8AE5-080FCEABC30A}"/>
              </a:ext>
            </a:extLst>
          </p:cNvPr>
          <p:cNvSpPr>
            <a:spLocks noGrp="1"/>
          </p:cNvSpPr>
          <p:nvPr>
            <p:ph idx="1"/>
          </p:nvPr>
        </p:nvSpPr>
        <p:spPr/>
        <p:txBody>
          <a:bodyPr/>
          <a:lstStyle/>
          <a:p>
            <a:r>
              <a:rPr lang="en-US" altLang="en-US"/>
              <a:t>MPEG Audio is an integral part of the MPEG standard to be considered together with video </a:t>
            </a:r>
          </a:p>
          <a:p>
            <a:r>
              <a:rPr lang="en-US" altLang="en-US"/>
              <a:t>MPEG-4 Audio represents an major extension in terms of capabilities to MPEG-1 Audio</a:t>
            </a:r>
          </a:p>
        </p:txBody>
      </p:sp>
      <p:sp>
        <p:nvSpPr>
          <p:cNvPr id="32773" name="Rectangle 1">
            <a:extLst>
              <a:ext uri="{FF2B5EF4-FFF2-40B4-BE49-F238E27FC236}">
                <a16:creationId xmlns:a16="http://schemas.microsoft.com/office/drawing/2014/main" id="{02D99A88-8403-FDD2-B9B3-0B71CE5D422D}"/>
              </a:ext>
            </a:extLst>
          </p:cNvPr>
          <p:cNvSpPr>
            <a:spLocks noChangeArrowheads="1"/>
          </p:cNvSpPr>
          <p:nvPr/>
        </p:nvSpPr>
        <p:spPr bwMode="auto">
          <a:xfrm>
            <a:off x="5891214" y="-482515"/>
            <a:ext cx="819455"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b="1"/>
              <a:t>[</a:t>
            </a:r>
            <a:r>
              <a:rPr lang="en-US" altLang="en-US" sz="900" b="1">
                <a:hlinkClick r:id="rId2" tooltip="Edit section: Notes"/>
              </a:rPr>
              <a:t>edit</a:t>
            </a:r>
            <a:r>
              <a:rPr lang="en-US" altLang="en-US" sz="900" b="1"/>
              <a:t>] Notes</a:t>
            </a:r>
          </a:p>
          <a:p>
            <a:endParaRPr lang="en-US" altLang="en-US"/>
          </a:p>
        </p:txBody>
      </p:sp>
    </p:spTree>
    <p:extLst>
      <p:ext uri="{BB962C8B-B14F-4D97-AF65-F5344CB8AC3E}">
        <p14:creationId xmlns:p14="http://schemas.microsoft.com/office/powerpoint/2010/main" val="3168724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5" name="Picture 4">
            <a:extLst>
              <a:ext uri="{FF2B5EF4-FFF2-40B4-BE49-F238E27FC236}">
                <a16:creationId xmlns:a16="http://schemas.microsoft.com/office/drawing/2014/main" id="{ECFA7744-D23A-842C-7785-CA418AD7E10F}"/>
              </a:ext>
            </a:extLst>
          </p:cNvPr>
          <p:cNvPicPr>
            <a:picLocks noChangeAspect="1"/>
          </p:cNvPicPr>
          <p:nvPr/>
        </p:nvPicPr>
        <p:blipFill>
          <a:blip r:embed="rId2"/>
          <a:stretch>
            <a:fillRect/>
          </a:stretch>
        </p:blipFill>
        <p:spPr>
          <a:xfrm>
            <a:off x="954287" y="1670591"/>
            <a:ext cx="3031362" cy="3871480"/>
          </a:xfrm>
          <a:prstGeom prst="rect">
            <a:avLst/>
          </a:prstGeom>
        </p:spPr>
      </p:pic>
      <p:sp>
        <p:nvSpPr>
          <p:cNvPr id="7" name="TextBox 6">
            <a:extLst>
              <a:ext uri="{FF2B5EF4-FFF2-40B4-BE49-F238E27FC236}">
                <a16:creationId xmlns:a16="http://schemas.microsoft.com/office/drawing/2014/main" id="{11D83A39-8077-4141-8FBF-159AF4CDB031}"/>
              </a:ext>
            </a:extLst>
          </p:cNvPr>
          <p:cNvSpPr txBox="1"/>
          <p:nvPr/>
        </p:nvSpPr>
        <p:spPr>
          <a:xfrm>
            <a:off x="954288" y="5878286"/>
            <a:ext cx="1427172" cy="369332"/>
          </a:xfrm>
          <a:prstGeom prst="rect">
            <a:avLst/>
          </a:prstGeom>
          <a:noFill/>
        </p:spPr>
        <p:txBody>
          <a:bodyPr wrap="square" rtlCol="0">
            <a:spAutoFit/>
          </a:bodyPr>
          <a:lstStyle/>
          <a:p>
            <a:r>
              <a:rPr lang="en-US" dirty="0"/>
              <a:t>Chapter 8</a:t>
            </a:r>
          </a:p>
        </p:txBody>
      </p:sp>
    </p:spTree>
    <p:extLst>
      <p:ext uri="{BB962C8B-B14F-4D97-AF65-F5344CB8AC3E}">
        <p14:creationId xmlns:p14="http://schemas.microsoft.com/office/powerpoint/2010/main" val="27069160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9744</TotalTime>
  <Words>2641</Words>
  <Application>Microsoft Office PowerPoint</Application>
  <PresentationFormat>Widescreen</PresentationFormat>
  <Paragraphs>415</Paragraphs>
  <Slides>56</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Calibri</vt:lpstr>
      <vt:lpstr>Courier New</vt:lpstr>
      <vt:lpstr>Google Sans</vt:lpstr>
      <vt:lpstr>Times New Roman</vt:lpstr>
      <vt:lpstr>Trebuchet MS</vt:lpstr>
      <vt:lpstr>Wingdings</vt:lpstr>
      <vt:lpstr>Wingdings 3</vt:lpstr>
      <vt:lpstr>Facet</vt:lpstr>
      <vt:lpstr>Multimedia Computing</vt:lpstr>
      <vt:lpstr>Content</vt:lpstr>
      <vt:lpstr>Arithmetic Coding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Lossy Compression</vt:lpstr>
      <vt:lpstr>The Rate-distortion Theory</vt:lpstr>
      <vt:lpstr>Quantization</vt:lpstr>
      <vt:lpstr>Frequence Masking</vt:lpstr>
      <vt:lpstr>Threshold of Hearing</vt:lpstr>
      <vt:lpstr>Threshold of Hearing</vt:lpstr>
      <vt:lpstr>Why Audio Compression is Needed</vt:lpstr>
      <vt:lpstr>Audio compression format</vt:lpstr>
      <vt:lpstr>Lossless audio coding</vt:lpstr>
      <vt:lpstr>Audio compression Lossy</vt:lpstr>
      <vt:lpstr>History of MPEG Audio – MP3</vt:lpstr>
      <vt:lpstr>MPEG-1 Audio</vt:lpstr>
      <vt:lpstr>MPEG-1 Audio Encoding</vt:lpstr>
      <vt:lpstr>MPEG-1 Audio Layer II </vt:lpstr>
      <vt:lpstr>MPEG-1 Audio Layer III</vt:lpstr>
      <vt:lpstr>MP3 (MPEG Audio Layer III)</vt:lpstr>
      <vt:lpstr>MP3 (MPEG Audio Layer III)</vt:lpstr>
      <vt:lpstr>MP3 (MPEG Audio Layer III)</vt:lpstr>
      <vt:lpstr>MPEG Audio Encoding Steps</vt:lpstr>
      <vt:lpstr>PowerPoint Presentation</vt:lpstr>
      <vt:lpstr>MPEG Audio Filter Bank</vt:lpstr>
      <vt:lpstr>MPEG Audio Psycho-acoustic Model </vt:lpstr>
      <vt:lpstr>PowerPoint Presentation</vt:lpstr>
      <vt:lpstr>Loudness and Pitch  (Review on Psychoacoustic Effects)</vt:lpstr>
      <vt:lpstr>Masking Effects  (Review of Psychoacoustic Effects) </vt:lpstr>
      <vt:lpstr>PowerPoint Presentation</vt:lpstr>
      <vt:lpstr>MPEG Audio Bit Allocation </vt:lpstr>
      <vt:lpstr>Audio Quality </vt:lpstr>
      <vt:lpstr>MP3 (MPEG Audio Layer III)</vt:lpstr>
      <vt:lpstr>MP3 Audio Format</vt:lpstr>
      <vt:lpstr>MPEG Audio Comments</vt:lpstr>
      <vt:lpstr>MPEG Audio – MP3</vt:lpstr>
      <vt:lpstr>How Does Lossy Audio Compression Work?</vt:lpstr>
      <vt:lpstr>Advantages of Lossy Compression</vt:lpstr>
      <vt:lpstr>Applications of Lossy Compression</vt:lpstr>
      <vt:lpstr>Criteria for Good Standard</vt:lpstr>
      <vt:lpstr>MPEG-4 Audio (Successor of MP3)</vt:lpstr>
      <vt:lpstr>MPEG-4 Audio</vt:lpstr>
      <vt:lpstr>MPEG-4 Audio  (AAC’s Improvements over MP3</vt:lpstr>
      <vt:lpstr>MPEG-4 Audio </vt:lpstr>
      <vt:lpstr>MPEG-4 Audio Part 3 </vt:lpstr>
      <vt:lpstr>MPEG-4 Part 14</vt:lpstr>
      <vt:lpstr>Conclusion </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70</cp:revision>
  <dcterms:created xsi:type="dcterms:W3CDTF">2020-01-27T14:45:02Z</dcterms:created>
  <dcterms:modified xsi:type="dcterms:W3CDTF">2026-09-21T06:38:33Z</dcterms:modified>
</cp:coreProperties>
</file>