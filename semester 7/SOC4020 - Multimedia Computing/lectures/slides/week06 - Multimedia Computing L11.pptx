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65"/>
  </p:notesMasterIdLst>
  <p:sldIdLst>
    <p:sldId id="256" r:id="rId2"/>
    <p:sldId id="341" r:id="rId3"/>
    <p:sldId id="507" r:id="rId4"/>
    <p:sldId id="508" r:id="rId5"/>
    <p:sldId id="509" r:id="rId6"/>
    <p:sldId id="502" r:id="rId7"/>
    <p:sldId id="503" r:id="rId8"/>
    <p:sldId id="504" r:id="rId9"/>
    <p:sldId id="500" r:id="rId10"/>
    <p:sldId id="501" r:id="rId11"/>
    <p:sldId id="452" r:id="rId12"/>
    <p:sldId id="453" r:id="rId13"/>
    <p:sldId id="454" r:id="rId14"/>
    <p:sldId id="455" r:id="rId15"/>
    <p:sldId id="456" r:id="rId16"/>
    <p:sldId id="457" r:id="rId17"/>
    <p:sldId id="458" r:id="rId18"/>
    <p:sldId id="459" r:id="rId19"/>
    <p:sldId id="460" r:id="rId20"/>
    <p:sldId id="461" r:id="rId21"/>
    <p:sldId id="462" r:id="rId22"/>
    <p:sldId id="463" r:id="rId23"/>
    <p:sldId id="464" r:id="rId24"/>
    <p:sldId id="465" r:id="rId25"/>
    <p:sldId id="466" r:id="rId26"/>
    <p:sldId id="467" r:id="rId27"/>
    <p:sldId id="468" r:id="rId28"/>
    <p:sldId id="469" r:id="rId29"/>
    <p:sldId id="470" r:id="rId30"/>
    <p:sldId id="471" r:id="rId31"/>
    <p:sldId id="472" r:id="rId32"/>
    <p:sldId id="473" r:id="rId33"/>
    <p:sldId id="474" r:id="rId34"/>
    <p:sldId id="475" r:id="rId35"/>
    <p:sldId id="476" r:id="rId36"/>
    <p:sldId id="477" r:id="rId37"/>
    <p:sldId id="478" r:id="rId38"/>
    <p:sldId id="479" r:id="rId39"/>
    <p:sldId id="480" r:id="rId40"/>
    <p:sldId id="481" r:id="rId41"/>
    <p:sldId id="482" r:id="rId42"/>
    <p:sldId id="483" r:id="rId43"/>
    <p:sldId id="505" r:id="rId44"/>
    <p:sldId id="506" r:id="rId45"/>
    <p:sldId id="484" r:id="rId46"/>
    <p:sldId id="485" r:id="rId47"/>
    <p:sldId id="486" r:id="rId48"/>
    <p:sldId id="487" r:id="rId49"/>
    <p:sldId id="488" r:id="rId50"/>
    <p:sldId id="489" r:id="rId51"/>
    <p:sldId id="490" r:id="rId52"/>
    <p:sldId id="491" r:id="rId53"/>
    <p:sldId id="492" r:id="rId54"/>
    <p:sldId id="493" r:id="rId55"/>
    <p:sldId id="494" r:id="rId56"/>
    <p:sldId id="495" r:id="rId57"/>
    <p:sldId id="496" r:id="rId58"/>
    <p:sldId id="497" r:id="rId59"/>
    <p:sldId id="498" r:id="rId60"/>
    <p:sldId id="499" r:id="rId61"/>
    <p:sldId id="451" r:id="rId62"/>
    <p:sldId id="299" r:id="rId63"/>
    <p:sldId id="300" r:id="rId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450" autoAdjust="0"/>
  </p:normalViewPr>
  <p:slideViewPr>
    <p:cSldViewPr snapToGrid="0">
      <p:cViewPr varScale="1">
        <p:scale>
          <a:sx n="72" d="100"/>
          <a:sy n="72" d="100"/>
        </p:scale>
        <p:origin x="107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E53E55-EC9A-434C-8BE2-CD78882C9BC0}" type="datetimeFigureOut">
              <a:rPr lang="en-US" smtClean="0"/>
              <a:t>10/10/2025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8BD2CD-5368-43DB-9451-734A67620D4E}" type="slidenum">
              <a:rPr lang="en-US" smtClean="0"/>
              <a:t>‹#›</a:t>
            </a:fld>
            <a:endParaRPr lang="en-US"/>
          </a:p>
        </p:txBody>
      </p:sp>
    </p:spTree>
    <p:extLst>
      <p:ext uri="{BB962C8B-B14F-4D97-AF65-F5344CB8AC3E}">
        <p14:creationId xmlns:p14="http://schemas.microsoft.com/office/powerpoint/2010/main" val="780344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https://setosa.io/ev/image-kernels/</a:t>
            </a:r>
          </a:p>
        </p:txBody>
      </p:sp>
      <p:sp>
        <p:nvSpPr>
          <p:cNvPr id="4" name="Slide Number Placeholder 3"/>
          <p:cNvSpPr>
            <a:spLocks noGrp="1"/>
          </p:cNvSpPr>
          <p:nvPr>
            <p:ph type="sldNum" sz="quarter" idx="5"/>
          </p:nvPr>
        </p:nvSpPr>
        <p:spPr/>
        <p:txBody>
          <a:bodyPr/>
          <a:lstStyle/>
          <a:p>
            <a:fld id="{118BD2CD-5368-43DB-9451-734A67620D4E}" type="slidenum">
              <a:rPr lang="en-US" smtClean="0"/>
              <a:t>17</a:t>
            </a:fld>
            <a:endParaRPr lang="en-US"/>
          </a:p>
        </p:txBody>
      </p:sp>
    </p:spTree>
    <p:extLst>
      <p:ext uri="{BB962C8B-B14F-4D97-AF65-F5344CB8AC3E}">
        <p14:creationId xmlns:p14="http://schemas.microsoft.com/office/powerpoint/2010/main" val="2664302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8BD2CD-5368-43DB-9451-734A67620D4E}" type="slidenum">
              <a:rPr lang="en-US" smtClean="0"/>
              <a:t>26</a:t>
            </a:fld>
            <a:endParaRPr lang="en-US"/>
          </a:p>
        </p:txBody>
      </p:sp>
    </p:spTree>
    <p:extLst>
      <p:ext uri="{BB962C8B-B14F-4D97-AF65-F5344CB8AC3E}">
        <p14:creationId xmlns:p14="http://schemas.microsoft.com/office/powerpoint/2010/main" val="2045338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59</a:t>
            </a:fld>
            <a:endParaRPr lang="en-US"/>
          </a:p>
        </p:txBody>
      </p:sp>
    </p:spTree>
    <p:extLst>
      <p:ext uri="{BB962C8B-B14F-4D97-AF65-F5344CB8AC3E}">
        <p14:creationId xmlns:p14="http://schemas.microsoft.com/office/powerpoint/2010/main" val="890548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AABCEA9-342F-49DA-8846-1F2209C1EED6}" type="slidenum">
              <a:rPr lang="en-US" smtClean="0"/>
              <a:pPr/>
              <a:t>62</a:t>
            </a:fld>
            <a:endParaRPr lang="en-US"/>
          </a:p>
        </p:txBody>
      </p:sp>
    </p:spTree>
    <p:extLst>
      <p:ext uri="{BB962C8B-B14F-4D97-AF65-F5344CB8AC3E}">
        <p14:creationId xmlns:p14="http://schemas.microsoft.com/office/powerpoint/2010/main" val="3901647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737813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505136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933787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16D2BA-BFE1-4F18-980D-42A06CD3627B}"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884533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16D2BA-BFE1-4F18-980D-42A06CD3627B}" type="datetimeFigureOut">
              <a:rPr lang="en-US" smtClean="0"/>
              <a:t>10/10/2025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583668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16D2BA-BFE1-4F18-980D-42A06CD3627B}" type="datetimeFigureOut">
              <a:rPr lang="en-US" smtClean="0"/>
              <a:t>10/10/2025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746490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16D2BA-BFE1-4F18-980D-42A06CD3627B}" type="datetimeFigureOut">
              <a:rPr lang="en-US" smtClean="0"/>
              <a:t>10/10/2025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412004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116D2BA-BFE1-4F18-980D-42A06CD3627B}"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164544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
        <p:nvSpPr>
          <p:cNvPr id="5" name="Date Placeholder 4"/>
          <p:cNvSpPr>
            <a:spLocks noGrp="1"/>
          </p:cNvSpPr>
          <p:nvPr>
            <p:ph type="dt" sz="half" idx="10"/>
          </p:nvPr>
        </p:nvSpPr>
        <p:spPr/>
        <p:txBody>
          <a:bodyPr/>
          <a:lstStyle/>
          <a:p>
            <a:fld id="{0116D2BA-BFE1-4F18-980D-42A06CD3627B}" type="datetimeFigureOut">
              <a:rPr lang="en-US" smtClean="0"/>
              <a:t>10/10/2025</a:t>
            </a:fld>
            <a:endParaRPr lang="en-US"/>
          </a:p>
        </p:txBody>
      </p:sp>
    </p:spTree>
    <p:extLst>
      <p:ext uri="{BB962C8B-B14F-4D97-AF65-F5344CB8AC3E}">
        <p14:creationId xmlns:p14="http://schemas.microsoft.com/office/powerpoint/2010/main" val="3063757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720356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286283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8186641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819422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338906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40304460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712458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116D2BA-BFE1-4F18-980D-42A06CD3627B}" type="datetimeFigureOut">
              <a:rPr lang="en-US" smtClean="0"/>
              <a:t>10/10/2025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C836B74-D967-44D7-A95F-6356689A3BC9}" type="slidenum">
              <a:rPr lang="en-US" smtClean="0"/>
              <a:t>‹#›</a:t>
            </a:fld>
            <a:endParaRPr lang="en-US"/>
          </a:p>
        </p:txBody>
      </p:sp>
    </p:spTree>
    <p:extLst>
      <p:ext uri="{BB962C8B-B14F-4D97-AF65-F5344CB8AC3E}">
        <p14:creationId xmlns:p14="http://schemas.microsoft.com/office/powerpoint/2010/main" val="7424362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inhaz.ahmed@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wmf"/><Relationship Id="rId7"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2.w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oleObject" Target="../embeddings/oleObject8.bin"/></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oleObject" Target="../embeddings/oleObject9.bin"/><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10.bin"/><Relationship Id="rId7" Type="http://schemas.openxmlformats.org/officeDocument/2006/relationships/oleObject" Target="../embeddings/oleObject11.bin"/><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image" Target="../media/image16.jpeg"/><Relationship Id="rId4" Type="http://schemas.openxmlformats.org/officeDocument/2006/relationships/image" Target="../media/image22.wmf"/><Relationship Id="rId9"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3.bin"/><Relationship Id="rId1" Type="http://schemas.openxmlformats.org/officeDocument/2006/relationships/slideLayout" Target="../slideLayouts/slideLayout2.xml"/><Relationship Id="rId5" Type="http://schemas.openxmlformats.org/officeDocument/2006/relationships/image" Target="../media/image28.wmf"/><Relationship Id="rId4" Type="http://schemas.openxmlformats.org/officeDocument/2006/relationships/oleObject" Target="../embeddings/oleObject14.bin"/></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oleObject" Target="../embeddings/oleObject15.bin"/><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image" Target="../media/image32.jpe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49.wmf"/><Relationship Id="rId18" Type="http://schemas.openxmlformats.org/officeDocument/2006/relationships/image" Target="../media/image51.wmf"/><Relationship Id="rId3" Type="http://schemas.openxmlformats.org/officeDocument/2006/relationships/image" Target="../media/image44.wmf"/><Relationship Id="rId7" Type="http://schemas.openxmlformats.org/officeDocument/2006/relationships/image" Target="../media/image46.wmf"/><Relationship Id="rId12" Type="http://schemas.openxmlformats.org/officeDocument/2006/relationships/oleObject" Target="../embeddings/oleObject26.bin"/><Relationship Id="rId17" Type="http://schemas.openxmlformats.org/officeDocument/2006/relationships/oleObject" Target="../embeddings/oleObject29.bin"/><Relationship Id="rId2" Type="http://schemas.openxmlformats.org/officeDocument/2006/relationships/oleObject" Target="../embeddings/oleObject21.bin"/><Relationship Id="rId16" Type="http://schemas.openxmlformats.org/officeDocument/2006/relationships/oleObject" Target="../embeddings/oleObject28.bin"/><Relationship Id="rId20" Type="http://schemas.openxmlformats.org/officeDocument/2006/relationships/image" Target="../media/image52.wmf"/><Relationship Id="rId1" Type="http://schemas.openxmlformats.org/officeDocument/2006/relationships/slideLayout" Target="../slideLayouts/slideLayout2.xml"/><Relationship Id="rId6" Type="http://schemas.openxmlformats.org/officeDocument/2006/relationships/oleObject" Target="../embeddings/oleObject23.bin"/><Relationship Id="rId11" Type="http://schemas.openxmlformats.org/officeDocument/2006/relationships/image" Target="../media/image48.wmf"/><Relationship Id="rId5" Type="http://schemas.openxmlformats.org/officeDocument/2006/relationships/image" Target="../media/image45.wmf"/><Relationship Id="rId15" Type="http://schemas.openxmlformats.org/officeDocument/2006/relationships/image" Target="../media/image50.wmf"/><Relationship Id="rId10" Type="http://schemas.openxmlformats.org/officeDocument/2006/relationships/oleObject" Target="../embeddings/oleObject25.bin"/><Relationship Id="rId19" Type="http://schemas.openxmlformats.org/officeDocument/2006/relationships/oleObject" Target="../embeddings/oleObject30.bin"/><Relationship Id="rId4" Type="http://schemas.openxmlformats.org/officeDocument/2006/relationships/oleObject" Target="../embeddings/oleObject22.bin"/><Relationship Id="rId9" Type="http://schemas.openxmlformats.org/officeDocument/2006/relationships/image" Target="../media/image47.wmf"/><Relationship Id="rId14" Type="http://schemas.openxmlformats.org/officeDocument/2006/relationships/oleObject" Target="../embeddings/oleObject27.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oleObject" Target="../embeddings/oleObject31.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1.png"/><Relationship Id="rId7" Type="http://schemas.openxmlformats.org/officeDocument/2006/relationships/image" Target="../media/image64.wmf"/><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oleObject" Target="../embeddings/oleObject32.bin"/><Relationship Id="rId5" Type="http://schemas.openxmlformats.org/officeDocument/2006/relationships/image" Target="../media/image63.png"/><Relationship Id="rId4" Type="http://schemas.openxmlformats.org/officeDocument/2006/relationships/image" Target="../media/image62.png"/></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71.wmf"/><Relationship Id="rId3" Type="http://schemas.openxmlformats.org/officeDocument/2006/relationships/image" Target="../media/image66.wmf"/><Relationship Id="rId7" Type="http://schemas.openxmlformats.org/officeDocument/2006/relationships/image" Target="../media/image68.wmf"/><Relationship Id="rId12" Type="http://schemas.openxmlformats.org/officeDocument/2006/relationships/oleObject" Target="../embeddings/oleObject38.bin"/><Relationship Id="rId2" Type="http://schemas.openxmlformats.org/officeDocument/2006/relationships/oleObject" Target="../embeddings/oleObject33.bin"/><Relationship Id="rId16"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oleObject" Target="../embeddings/oleObject35.bin"/><Relationship Id="rId11" Type="http://schemas.openxmlformats.org/officeDocument/2006/relationships/image" Target="../media/image70.wmf"/><Relationship Id="rId5" Type="http://schemas.openxmlformats.org/officeDocument/2006/relationships/image" Target="../media/image67.wmf"/><Relationship Id="rId15" Type="http://schemas.openxmlformats.org/officeDocument/2006/relationships/image" Target="../media/image72.wmf"/><Relationship Id="rId10" Type="http://schemas.openxmlformats.org/officeDocument/2006/relationships/oleObject" Target="../embeddings/oleObject37.bin"/><Relationship Id="rId4" Type="http://schemas.openxmlformats.org/officeDocument/2006/relationships/oleObject" Target="../embeddings/oleObject34.bin"/><Relationship Id="rId9" Type="http://schemas.openxmlformats.org/officeDocument/2006/relationships/image" Target="../media/image69.wmf"/><Relationship Id="rId14" Type="http://schemas.openxmlformats.org/officeDocument/2006/relationships/oleObject" Target="../embeddings/oleObject39.bin"/></Relationships>
</file>

<file path=ppt/slides/_rels/slide5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oleObject" Target="../embeddings/oleObject40.bin"/><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78.png"/><Relationship Id="rId2" Type="http://schemas.openxmlformats.org/officeDocument/2006/relationships/oleObject" Target="../embeddings/oleObject41.bin"/><Relationship Id="rId1" Type="http://schemas.openxmlformats.org/officeDocument/2006/relationships/slideLayout" Target="../slideLayouts/slideLayout2.xml"/><Relationship Id="rId6" Type="http://schemas.openxmlformats.org/officeDocument/2006/relationships/oleObject" Target="../embeddings/oleObject43.bin"/><Relationship Id="rId5" Type="http://schemas.openxmlformats.org/officeDocument/2006/relationships/image" Target="../media/image77.png"/><Relationship Id="rId4" Type="http://schemas.openxmlformats.org/officeDocument/2006/relationships/oleObject" Target="../embeddings/oleObject42.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oleObject" Target="../embeddings/oleObject44.bin"/><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6.wmf"/><Relationship Id="rId5" Type="http://schemas.openxmlformats.org/officeDocument/2006/relationships/oleObject" Target="../embeddings/oleObject46.bin"/><Relationship Id="rId4" Type="http://schemas.openxmlformats.org/officeDocument/2006/relationships/image" Target="../media/image85.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Multimedia Computing</a:t>
            </a:r>
            <a:endParaRPr lang="en-US" dirty="0"/>
          </a:p>
        </p:txBody>
      </p:sp>
      <p:sp>
        <p:nvSpPr>
          <p:cNvPr id="3" name="Subtitle 2"/>
          <p:cNvSpPr>
            <a:spLocks noGrp="1"/>
          </p:cNvSpPr>
          <p:nvPr>
            <p:ph type="subTitle" idx="1"/>
          </p:nvPr>
        </p:nvSpPr>
        <p:spPr/>
        <p:txBody>
          <a:bodyPr>
            <a:noAutofit/>
          </a:bodyPr>
          <a:lstStyle/>
          <a:p>
            <a:pPr algn="ctr"/>
            <a:r>
              <a:rPr lang="en-US" dirty="0"/>
              <a:t>By </a:t>
            </a:r>
          </a:p>
          <a:p>
            <a:pPr algn="ctr"/>
            <a:r>
              <a:rPr lang="en-US" dirty="0"/>
              <a:t>Minhaz Uddin Ahmed, PhD</a:t>
            </a:r>
          </a:p>
          <a:p>
            <a:pPr algn="ctr"/>
            <a:r>
              <a:rPr lang="en-US" dirty="0"/>
              <a:t>Department of Computer Engineering</a:t>
            </a:r>
          </a:p>
          <a:p>
            <a:pPr algn="ctr"/>
            <a:r>
              <a:rPr lang="en-US" err="1"/>
              <a:t>Inha</a:t>
            </a:r>
            <a:r>
              <a:rPr lang="en-US"/>
              <a:t> University Tashkent.</a:t>
            </a:r>
            <a:endParaRPr lang="en-US" dirty="0"/>
          </a:p>
          <a:p>
            <a:pPr algn="ctr"/>
            <a:r>
              <a:rPr lang="en-US" dirty="0"/>
              <a:t>Email: </a:t>
            </a:r>
            <a:r>
              <a:rPr lang="en-US" dirty="0">
                <a:hlinkClick r:id="rId2"/>
              </a:rPr>
              <a:t>minhaz.ahmed@gmail.com</a:t>
            </a:r>
            <a:endParaRPr lang="en-US" dirty="0"/>
          </a:p>
          <a:p>
            <a:pPr algn="ctr"/>
            <a:endParaRPr lang="en-US" dirty="0"/>
          </a:p>
        </p:txBody>
      </p:sp>
    </p:spTree>
    <p:extLst>
      <p:ext uri="{BB962C8B-B14F-4D97-AF65-F5344CB8AC3E}">
        <p14:creationId xmlns:p14="http://schemas.microsoft.com/office/powerpoint/2010/main" val="3760735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a:t>
            </a:r>
          </a:p>
        </p:txBody>
      </p:sp>
      <p:sp>
        <p:nvSpPr>
          <p:cNvPr id="3" name="Content Placeholder 2"/>
          <p:cNvSpPr>
            <a:spLocks noGrp="1"/>
          </p:cNvSpPr>
          <p:nvPr>
            <p:ph idx="1"/>
          </p:nvPr>
        </p:nvSpPr>
        <p:spPr>
          <a:xfrm>
            <a:off x="677334" y="1837859"/>
            <a:ext cx="8596668" cy="3880773"/>
          </a:xfrm>
        </p:spPr>
        <p:txBody>
          <a:bodyPr>
            <a:normAutofit lnSpcReduction="10000"/>
          </a:bodyPr>
          <a:lstStyle/>
          <a:p>
            <a:r>
              <a:rPr lang="en-US" dirty="0"/>
              <a:t>Chapter - 3 (Gonzalez books)</a:t>
            </a:r>
          </a:p>
          <a:p>
            <a:pPr>
              <a:lnSpc>
                <a:spcPct val="90000"/>
              </a:lnSpc>
              <a:defRPr/>
            </a:pPr>
            <a:r>
              <a:rPr lang="en-US" altLang="ko-KR" dirty="0"/>
              <a:t>Convolutions</a:t>
            </a:r>
          </a:p>
          <a:p>
            <a:pPr>
              <a:lnSpc>
                <a:spcPct val="90000"/>
              </a:lnSpc>
              <a:defRPr/>
            </a:pPr>
            <a:r>
              <a:rPr lang="en-US" altLang="ko-KR" dirty="0"/>
              <a:t>Blurring</a:t>
            </a:r>
          </a:p>
          <a:p>
            <a:pPr>
              <a:lnSpc>
                <a:spcPct val="90000"/>
              </a:lnSpc>
              <a:defRPr/>
            </a:pPr>
            <a:r>
              <a:rPr lang="en-US" altLang="ko-KR" dirty="0"/>
              <a:t>Sharpening</a:t>
            </a:r>
          </a:p>
          <a:p>
            <a:pPr>
              <a:lnSpc>
                <a:spcPct val="90000"/>
              </a:lnSpc>
              <a:defRPr/>
            </a:pPr>
            <a:r>
              <a:rPr lang="en-US" altLang="ko-KR" dirty="0"/>
              <a:t>Edge detection</a:t>
            </a:r>
          </a:p>
          <a:p>
            <a:pPr>
              <a:lnSpc>
                <a:spcPct val="90000"/>
              </a:lnSpc>
              <a:defRPr/>
            </a:pPr>
            <a:r>
              <a:rPr lang="en-US" altLang="ko-KR" dirty="0"/>
              <a:t>First order derivative</a:t>
            </a:r>
          </a:p>
          <a:p>
            <a:pPr>
              <a:lnSpc>
                <a:spcPct val="90000"/>
              </a:lnSpc>
              <a:defRPr/>
            </a:pPr>
            <a:r>
              <a:rPr lang="en-US" altLang="ko-KR" dirty="0"/>
              <a:t>Compass gradient operators</a:t>
            </a:r>
          </a:p>
          <a:p>
            <a:pPr>
              <a:lnSpc>
                <a:spcPct val="90000"/>
              </a:lnSpc>
              <a:defRPr/>
            </a:pPr>
            <a:r>
              <a:rPr lang="en-US" altLang="ko-KR" dirty="0"/>
              <a:t>Second order derivative operators</a:t>
            </a:r>
          </a:p>
          <a:p>
            <a:pPr>
              <a:lnSpc>
                <a:spcPct val="90000"/>
              </a:lnSpc>
              <a:defRPr/>
            </a:pPr>
            <a:r>
              <a:rPr lang="en-US" altLang="ko-KR" dirty="0"/>
              <a:t>Color edge detection</a:t>
            </a:r>
          </a:p>
          <a:p>
            <a:pPr>
              <a:lnSpc>
                <a:spcPct val="90000"/>
              </a:lnSpc>
              <a:defRPr/>
            </a:pPr>
            <a:r>
              <a:rPr lang="en-US" altLang="ko-KR" dirty="0"/>
              <a:t>Median filtering</a:t>
            </a:r>
          </a:p>
          <a:p>
            <a:pPr>
              <a:lnSpc>
                <a:spcPct val="90000"/>
              </a:lnSpc>
              <a:defRPr/>
            </a:pPr>
            <a:r>
              <a:rPr lang="en-US" altLang="ko-KR" dirty="0"/>
              <a:t>Minimum/Maximum filtering</a:t>
            </a:r>
          </a:p>
        </p:txBody>
      </p:sp>
    </p:spTree>
    <p:extLst>
      <p:ext uri="{BB962C8B-B14F-4D97-AF65-F5344CB8AC3E}">
        <p14:creationId xmlns:p14="http://schemas.microsoft.com/office/powerpoint/2010/main" val="152898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0C350-1B10-9ABF-3375-24609C6AC066}"/>
              </a:ext>
            </a:extLst>
          </p:cNvPr>
          <p:cNvSpPr>
            <a:spLocks noGrp="1"/>
          </p:cNvSpPr>
          <p:nvPr>
            <p:ph type="title"/>
          </p:nvPr>
        </p:nvSpPr>
        <p:spPr/>
        <p:txBody>
          <a:bodyPr/>
          <a:lstStyle/>
          <a:p>
            <a:r>
              <a:rPr lang="en-US" dirty="0"/>
              <a:t>Image mask</a:t>
            </a:r>
          </a:p>
        </p:txBody>
      </p:sp>
      <p:sp>
        <p:nvSpPr>
          <p:cNvPr id="3" name="Content Placeholder 2">
            <a:extLst>
              <a:ext uri="{FF2B5EF4-FFF2-40B4-BE49-F238E27FC236}">
                <a16:creationId xmlns:a16="http://schemas.microsoft.com/office/drawing/2014/main" id="{C8D139C6-0CDE-031A-3AE4-133B6D3D7BCB}"/>
              </a:ext>
            </a:extLst>
          </p:cNvPr>
          <p:cNvSpPr>
            <a:spLocks noGrp="1"/>
          </p:cNvSpPr>
          <p:nvPr>
            <p:ph idx="1"/>
          </p:nvPr>
        </p:nvSpPr>
        <p:spPr/>
        <p:txBody>
          <a:bodyPr/>
          <a:lstStyle/>
          <a:p>
            <a:r>
              <a:rPr lang="en-US" b="0" i="0" dirty="0">
                <a:solidFill>
                  <a:srgbClr val="000000"/>
                </a:solidFill>
                <a:effectLst/>
                <a:latin typeface="Verdana" panose="020B0604030504040204" pitchFamily="34" charset="0"/>
              </a:rPr>
              <a:t>A mask is a filter. Concept of masking is also known as spatial filtering. we just deal with the filtering operation that is performed directly on the image.</a:t>
            </a:r>
            <a:endParaRPr lang="en-US" dirty="0"/>
          </a:p>
        </p:txBody>
      </p:sp>
    </p:spTree>
    <p:extLst>
      <p:ext uri="{BB962C8B-B14F-4D97-AF65-F5344CB8AC3E}">
        <p14:creationId xmlns:p14="http://schemas.microsoft.com/office/powerpoint/2010/main" val="3615127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41B27-CA7D-B914-78E5-074E3D37CF10}"/>
              </a:ext>
            </a:extLst>
          </p:cNvPr>
          <p:cNvSpPr>
            <a:spLocks noGrp="1"/>
          </p:cNvSpPr>
          <p:nvPr>
            <p:ph type="title"/>
          </p:nvPr>
        </p:nvSpPr>
        <p:spPr/>
        <p:txBody>
          <a:bodyPr/>
          <a:lstStyle/>
          <a:p>
            <a:r>
              <a:rPr lang="en-US" dirty="0"/>
              <a:t>Filtering</a:t>
            </a:r>
          </a:p>
        </p:txBody>
      </p:sp>
      <p:sp>
        <p:nvSpPr>
          <p:cNvPr id="3" name="Content Placeholder 2">
            <a:extLst>
              <a:ext uri="{FF2B5EF4-FFF2-40B4-BE49-F238E27FC236}">
                <a16:creationId xmlns:a16="http://schemas.microsoft.com/office/drawing/2014/main" id="{0E09EB42-0D21-BC69-15DD-BFCF4410AB6C}"/>
              </a:ext>
            </a:extLst>
          </p:cNvPr>
          <p:cNvSpPr>
            <a:spLocks noGrp="1"/>
          </p:cNvSpPr>
          <p:nvPr>
            <p:ph idx="1"/>
          </p:nvPr>
        </p:nvSpPr>
        <p:spPr/>
        <p:txBody>
          <a:bodyPr/>
          <a:lstStyle/>
          <a:p>
            <a:r>
              <a:rPr lang="en-US" b="0" i="0" dirty="0">
                <a:solidFill>
                  <a:srgbClr val="000000"/>
                </a:solidFill>
                <a:effectLst/>
                <a:latin typeface="Verdana" panose="020B0604030504040204" pitchFamily="34" charset="0"/>
              </a:rPr>
              <a:t>The process of filtering is also known as convolving a mask with an image. As this process is same of convolution so filter masks are also known as convolution masks.</a:t>
            </a:r>
            <a:endParaRPr lang="en-US" dirty="0"/>
          </a:p>
        </p:txBody>
      </p:sp>
      <p:sp>
        <p:nvSpPr>
          <p:cNvPr id="5" name="TextBox 4">
            <a:extLst>
              <a:ext uri="{FF2B5EF4-FFF2-40B4-BE49-F238E27FC236}">
                <a16:creationId xmlns:a16="http://schemas.microsoft.com/office/drawing/2014/main" id="{FE3609AA-0868-FB56-FE70-15DC7636961F}"/>
              </a:ext>
            </a:extLst>
          </p:cNvPr>
          <p:cNvSpPr txBox="1"/>
          <p:nvPr/>
        </p:nvSpPr>
        <p:spPr>
          <a:xfrm>
            <a:off x="817776" y="3429000"/>
            <a:ext cx="6103854" cy="1200329"/>
          </a:xfrm>
          <a:prstGeom prst="rect">
            <a:avLst/>
          </a:prstGeom>
          <a:noFill/>
        </p:spPr>
        <p:txBody>
          <a:bodyPr wrap="square">
            <a:spAutoFit/>
          </a:bodyPr>
          <a:lstStyle/>
          <a:p>
            <a:pPr algn="l"/>
            <a:r>
              <a:rPr lang="en-US" b="0" i="0" dirty="0">
                <a:effectLst/>
                <a:latin typeface="Verdana" panose="020B0604030504040204" pitchFamily="34" charset="0"/>
              </a:rPr>
              <a:t>Types of filters</a:t>
            </a:r>
          </a:p>
          <a:p>
            <a:pPr marL="285750" indent="-285750" algn="l">
              <a:buFont typeface="Arial" panose="020B0604020202020204" pitchFamily="34" charset="0"/>
              <a:buChar char="•"/>
            </a:pPr>
            <a:endParaRPr lang="en-US" dirty="0">
              <a:latin typeface="Verdana" panose="020B0604030504040204" pitchFamily="34" charset="0"/>
            </a:endParaRPr>
          </a:p>
          <a:p>
            <a:pPr marL="285750" indent="-285750" algn="l">
              <a:buFont typeface="Arial" panose="020B0604020202020204" pitchFamily="34" charset="0"/>
              <a:buChar char="•"/>
            </a:pPr>
            <a:r>
              <a:rPr lang="en-US" b="0" i="0" dirty="0">
                <a:solidFill>
                  <a:srgbClr val="000000"/>
                </a:solidFill>
                <a:effectLst/>
                <a:latin typeface="Verdana" panose="020B0604030504040204" pitchFamily="34" charset="0"/>
              </a:rPr>
              <a:t>linear filters or smoothing filters </a:t>
            </a:r>
          </a:p>
          <a:p>
            <a:pPr marL="285750" indent="-285750" algn="l">
              <a:buFont typeface="Arial" panose="020B0604020202020204" pitchFamily="34" charset="0"/>
              <a:buChar char="•"/>
            </a:pPr>
            <a:r>
              <a:rPr lang="en-US" b="0" i="0" dirty="0">
                <a:solidFill>
                  <a:srgbClr val="000000"/>
                </a:solidFill>
                <a:effectLst/>
                <a:latin typeface="Verdana" panose="020B0604030504040204" pitchFamily="34" charset="0"/>
              </a:rPr>
              <a:t>others are called as frequency domain filters.</a:t>
            </a:r>
            <a:endParaRPr lang="en-US" b="0" i="0" dirty="0">
              <a:effectLst/>
              <a:latin typeface="Verdana" panose="020B0604030504040204" pitchFamily="34" charset="0"/>
            </a:endParaRPr>
          </a:p>
        </p:txBody>
      </p:sp>
    </p:spTree>
    <p:extLst>
      <p:ext uri="{BB962C8B-B14F-4D97-AF65-F5344CB8AC3E}">
        <p14:creationId xmlns:p14="http://schemas.microsoft.com/office/powerpoint/2010/main" val="2325938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7A463-345D-B9BE-82D2-4906C426DC5B}"/>
              </a:ext>
            </a:extLst>
          </p:cNvPr>
          <p:cNvSpPr>
            <a:spLocks noGrp="1"/>
          </p:cNvSpPr>
          <p:nvPr>
            <p:ph type="title"/>
          </p:nvPr>
        </p:nvSpPr>
        <p:spPr/>
        <p:txBody>
          <a:bodyPr/>
          <a:lstStyle/>
          <a:p>
            <a:r>
              <a:rPr lang="en-US" dirty="0"/>
              <a:t>Filtering</a:t>
            </a:r>
          </a:p>
        </p:txBody>
      </p:sp>
      <p:sp>
        <p:nvSpPr>
          <p:cNvPr id="3" name="Content Placeholder 2">
            <a:extLst>
              <a:ext uri="{FF2B5EF4-FFF2-40B4-BE49-F238E27FC236}">
                <a16:creationId xmlns:a16="http://schemas.microsoft.com/office/drawing/2014/main" id="{936412A0-C24A-A425-0FB3-B740BDEB7EB9}"/>
              </a:ext>
            </a:extLst>
          </p:cNvPr>
          <p:cNvSpPr>
            <a:spLocks noGrp="1"/>
          </p:cNvSpPr>
          <p:nvPr>
            <p:ph idx="1"/>
          </p:nvPr>
        </p:nvSpPr>
        <p:spPr/>
        <p:txBody>
          <a:bodyPr/>
          <a:lstStyle/>
          <a:p>
            <a:pPr algn="l">
              <a:buFont typeface="Arial" panose="020B0604020202020204" pitchFamily="34" charset="0"/>
              <a:buChar char="•"/>
            </a:pPr>
            <a:r>
              <a:rPr lang="en-US" b="0" i="0" dirty="0">
                <a:solidFill>
                  <a:srgbClr val="000000"/>
                </a:solidFill>
                <a:effectLst/>
                <a:latin typeface="Verdana" panose="020B0604030504040204" pitchFamily="34" charset="0"/>
              </a:rPr>
              <a:t>Filters are used for Blurring and noise reduction</a:t>
            </a:r>
          </a:p>
          <a:p>
            <a:pPr algn="l">
              <a:buFont typeface="Arial" panose="020B0604020202020204" pitchFamily="34" charset="0"/>
              <a:buChar char="•"/>
            </a:pPr>
            <a:r>
              <a:rPr lang="en-US" b="0" i="0" dirty="0">
                <a:solidFill>
                  <a:srgbClr val="000000"/>
                </a:solidFill>
                <a:effectLst/>
                <a:latin typeface="Verdana" panose="020B0604030504040204" pitchFamily="34" charset="0"/>
              </a:rPr>
              <a:t>Filters are used or edge detection and sharpness</a:t>
            </a:r>
          </a:p>
          <a:p>
            <a:endParaRPr lang="en-US" dirty="0"/>
          </a:p>
        </p:txBody>
      </p:sp>
    </p:spTree>
    <p:extLst>
      <p:ext uri="{BB962C8B-B14F-4D97-AF65-F5344CB8AC3E}">
        <p14:creationId xmlns:p14="http://schemas.microsoft.com/office/powerpoint/2010/main" val="3873791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9ED18-82BF-53FF-3E0E-8B083EF1C81C}"/>
              </a:ext>
            </a:extLst>
          </p:cNvPr>
          <p:cNvSpPr>
            <a:spLocks noGrp="1"/>
          </p:cNvSpPr>
          <p:nvPr>
            <p:ph type="title"/>
          </p:nvPr>
        </p:nvSpPr>
        <p:spPr/>
        <p:txBody>
          <a:bodyPr/>
          <a:lstStyle/>
          <a:p>
            <a:r>
              <a:rPr lang="en-US" dirty="0"/>
              <a:t>Edges</a:t>
            </a:r>
          </a:p>
        </p:txBody>
      </p:sp>
      <p:sp>
        <p:nvSpPr>
          <p:cNvPr id="3" name="Content Placeholder 2">
            <a:extLst>
              <a:ext uri="{FF2B5EF4-FFF2-40B4-BE49-F238E27FC236}">
                <a16:creationId xmlns:a16="http://schemas.microsoft.com/office/drawing/2014/main" id="{ED8D7870-072E-E231-AC18-17D81B54B459}"/>
              </a:ext>
            </a:extLst>
          </p:cNvPr>
          <p:cNvSpPr>
            <a:spLocks noGrp="1"/>
          </p:cNvSpPr>
          <p:nvPr>
            <p:ph idx="1"/>
          </p:nvPr>
        </p:nvSpPr>
        <p:spPr/>
        <p:txBody>
          <a:bodyPr/>
          <a:lstStyle/>
          <a:p>
            <a:r>
              <a:rPr lang="en-US" dirty="0"/>
              <a:t>Edges are significant local changes of intensity in a digital image. An edge can be defined as a set of connected pixels that forms a boundary between two disjoint regions. There are three types of edges: </a:t>
            </a:r>
          </a:p>
          <a:p>
            <a:endParaRPr lang="en-US" dirty="0"/>
          </a:p>
          <a:p>
            <a:r>
              <a:rPr lang="en-US" dirty="0"/>
              <a:t>Horizontal edges</a:t>
            </a:r>
          </a:p>
          <a:p>
            <a:r>
              <a:rPr lang="en-US" dirty="0"/>
              <a:t>Vertical edges</a:t>
            </a:r>
          </a:p>
          <a:p>
            <a:r>
              <a:rPr lang="en-US" dirty="0"/>
              <a:t>Diagonal edges</a:t>
            </a:r>
          </a:p>
        </p:txBody>
      </p:sp>
    </p:spTree>
    <p:extLst>
      <p:ext uri="{BB962C8B-B14F-4D97-AF65-F5344CB8AC3E}">
        <p14:creationId xmlns:p14="http://schemas.microsoft.com/office/powerpoint/2010/main" val="3760371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06B9D-A811-6353-3514-0ECF8537D967}"/>
              </a:ext>
            </a:extLst>
          </p:cNvPr>
          <p:cNvSpPr>
            <a:spLocks noGrp="1"/>
          </p:cNvSpPr>
          <p:nvPr>
            <p:ph type="title"/>
          </p:nvPr>
        </p:nvSpPr>
        <p:spPr/>
        <p:txBody>
          <a:bodyPr/>
          <a:lstStyle/>
          <a:p>
            <a:r>
              <a:rPr lang="en-US" dirty="0"/>
              <a:t>Edge detection</a:t>
            </a:r>
          </a:p>
        </p:txBody>
      </p:sp>
      <p:sp>
        <p:nvSpPr>
          <p:cNvPr id="3" name="Content Placeholder 2">
            <a:extLst>
              <a:ext uri="{FF2B5EF4-FFF2-40B4-BE49-F238E27FC236}">
                <a16:creationId xmlns:a16="http://schemas.microsoft.com/office/drawing/2014/main" id="{CBAF2462-4556-6D24-0C2A-A5967E7E6DFB}"/>
              </a:ext>
            </a:extLst>
          </p:cNvPr>
          <p:cNvSpPr>
            <a:spLocks noGrp="1"/>
          </p:cNvSpPr>
          <p:nvPr>
            <p:ph idx="1"/>
          </p:nvPr>
        </p:nvSpPr>
        <p:spPr/>
        <p:txBody>
          <a:bodyPr/>
          <a:lstStyle/>
          <a:p>
            <a:r>
              <a:rPr lang="en-US" dirty="0"/>
              <a:t>Edge Detection is a method of segmenting an image into regions of discontinuity. It is a widely used technique in digital image processing like </a:t>
            </a:r>
          </a:p>
          <a:p>
            <a:endParaRPr lang="en-US" dirty="0"/>
          </a:p>
          <a:p>
            <a:r>
              <a:rPr lang="en-US" dirty="0"/>
              <a:t>pattern recognition</a:t>
            </a:r>
          </a:p>
          <a:p>
            <a:r>
              <a:rPr lang="en-US" dirty="0"/>
              <a:t>image morphology</a:t>
            </a:r>
          </a:p>
          <a:p>
            <a:r>
              <a:rPr lang="en-US" dirty="0"/>
              <a:t>feature extraction</a:t>
            </a:r>
          </a:p>
        </p:txBody>
      </p:sp>
    </p:spTree>
    <p:extLst>
      <p:ext uri="{BB962C8B-B14F-4D97-AF65-F5344CB8AC3E}">
        <p14:creationId xmlns:p14="http://schemas.microsoft.com/office/powerpoint/2010/main" val="3503621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1605D-B6D7-38AB-5AB1-347D44CCB24C}"/>
              </a:ext>
            </a:extLst>
          </p:cNvPr>
          <p:cNvSpPr>
            <a:spLocks noGrp="1"/>
          </p:cNvSpPr>
          <p:nvPr>
            <p:ph type="title"/>
          </p:nvPr>
        </p:nvSpPr>
        <p:spPr/>
        <p:txBody>
          <a:bodyPr/>
          <a:lstStyle/>
          <a:p>
            <a:r>
              <a:rPr lang="en-US" dirty="0"/>
              <a:t>Edge detection</a:t>
            </a:r>
          </a:p>
        </p:txBody>
      </p:sp>
      <p:sp>
        <p:nvSpPr>
          <p:cNvPr id="3" name="Content Placeholder 2">
            <a:extLst>
              <a:ext uri="{FF2B5EF4-FFF2-40B4-BE49-F238E27FC236}">
                <a16:creationId xmlns:a16="http://schemas.microsoft.com/office/drawing/2014/main" id="{A8184917-D790-3439-ADB7-17133F12A083}"/>
              </a:ext>
            </a:extLst>
          </p:cNvPr>
          <p:cNvSpPr>
            <a:spLocks noGrp="1"/>
          </p:cNvSpPr>
          <p:nvPr>
            <p:ph idx="1"/>
          </p:nvPr>
        </p:nvSpPr>
        <p:spPr/>
        <p:txBody>
          <a:bodyPr/>
          <a:lstStyle/>
          <a:p>
            <a:r>
              <a:rPr lang="en-US" dirty="0">
                <a:solidFill>
                  <a:srgbClr val="00B0F0"/>
                </a:solidFill>
              </a:rPr>
              <a:t>Edge detection allows users to observe the features of an image for a significant change in the gray level</a:t>
            </a:r>
            <a:r>
              <a:rPr lang="en-US" dirty="0"/>
              <a:t>. This texture indicating the end of one region in the image and the beginning of another. It reduces the amount of data in an image and preserves the structural properties of an image. </a:t>
            </a:r>
          </a:p>
          <a:p>
            <a:endParaRPr lang="en-US" dirty="0"/>
          </a:p>
          <a:p>
            <a:r>
              <a:rPr lang="en-US" dirty="0"/>
              <a:t>Edge Detection Operators are of two types: </a:t>
            </a:r>
          </a:p>
          <a:p>
            <a:r>
              <a:rPr lang="en-US" dirty="0">
                <a:solidFill>
                  <a:srgbClr val="00B0F0"/>
                </a:solidFill>
              </a:rPr>
              <a:t>Gradient </a:t>
            </a:r>
            <a:r>
              <a:rPr lang="en-US" dirty="0"/>
              <a:t>– based operator which computes first-order derivations in a digital image like, Sobel operator, Prewitt operator, Robert operator</a:t>
            </a:r>
          </a:p>
          <a:p>
            <a:r>
              <a:rPr lang="en-US" dirty="0">
                <a:solidFill>
                  <a:srgbClr val="00B0F0"/>
                </a:solidFill>
              </a:rPr>
              <a:t>Gaussian</a:t>
            </a:r>
            <a:r>
              <a:rPr lang="en-US" dirty="0"/>
              <a:t> – based operator which computes second-order derivations in a digital image like, Canny edge detector, Laplacian of Gaussian </a:t>
            </a:r>
          </a:p>
        </p:txBody>
      </p:sp>
    </p:spTree>
    <p:extLst>
      <p:ext uri="{BB962C8B-B14F-4D97-AF65-F5344CB8AC3E}">
        <p14:creationId xmlns:p14="http://schemas.microsoft.com/office/powerpoint/2010/main" val="964603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a:t>Histogram statistics for image enhancement</a:t>
            </a:r>
            <a:br>
              <a:rPr lang="en-US" altLang="zh-TW"/>
            </a:br>
            <a:endParaRPr lang="en-US"/>
          </a:p>
        </p:txBody>
      </p:sp>
      <p:sp>
        <p:nvSpPr>
          <p:cNvPr id="6" name="Rectangle 5"/>
          <p:cNvSpPr/>
          <p:nvPr/>
        </p:nvSpPr>
        <p:spPr>
          <a:xfrm>
            <a:off x="677334" y="2089718"/>
            <a:ext cx="9825629" cy="1200329"/>
          </a:xfrm>
          <a:prstGeom prst="rect">
            <a:avLst/>
          </a:prstGeom>
        </p:spPr>
        <p:txBody>
          <a:bodyPr wrap="square">
            <a:spAutoFit/>
          </a:bodyPr>
          <a:lstStyle/>
          <a:p>
            <a:r>
              <a:rPr lang="en-US" dirty="0"/>
              <a:t>Use of histogram statistics for image enhancement</a:t>
            </a:r>
          </a:p>
          <a:p>
            <a:r>
              <a:rPr lang="en-US" dirty="0"/>
              <a:t>  </a:t>
            </a:r>
          </a:p>
          <a:p>
            <a:pPr marL="285750" indent="-285750">
              <a:buFont typeface="Arial" panose="020B0604020202020204" pitchFamily="34" charset="0"/>
              <a:buChar char="•"/>
            </a:pPr>
            <a:r>
              <a:rPr lang="en-US" dirty="0"/>
              <a:t>     denotes a discrete random variable</a:t>
            </a:r>
          </a:p>
          <a:p>
            <a:pPr marL="285750" indent="-285750">
              <a:buFont typeface="Arial" panose="020B0604020202020204" pitchFamily="34" charset="0"/>
              <a:buChar char="•"/>
            </a:pPr>
            <a:r>
              <a:rPr lang="en-US" dirty="0"/>
              <a:t>         denotes the normalized histogram component corresponding to the </a:t>
            </a:r>
            <a:r>
              <a:rPr lang="en-US" dirty="0" err="1"/>
              <a:t>ith</a:t>
            </a:r>
            <a:r>
              <a:rPr lang="en-US" dirty="0"/>
              <a:t> value of </a:t>
            </a:r>
          </a:p>
        </p:txBody>
      </p:sp>
      <p:graphicFrame>
        <p:nvGraphicFramePr>
          <p:cNvPr id="7" name="Object 6"/>
          <p:cNvGraphicFramePr>
            <a:graphicFrameLocks noChangeAspect="1"/>
          </p:cNvGraphicFramePr>
          <p:nvPr>
            <p:extLst>
              <p:ext uri="{D42A27DB-BD31-4B8C-83A1-F6EECF244321}">
                <p14:modId xmlns:p14="http://schemas.microsoft.com/office/powerpoint/2010/main" val="1695352433"/>
              </p:ext>
            </p:extLst>
          </p:nvPr>
        </p:nvGraphicFramePr>
        <p:xfrm>
          <a:off x="802765" y="2652539"/>
          <a:ext cx="290512" cy="323850"/>
        </p:xfrm>
        <a:graphic>
          <a:graphicData uri="http://schemas.openxmlformats.org/presentationml/2006/ole">
            <mc:AlternateContent xmlns:mc="http://schemas.openxmlformats.org/markup-compatibility/2006">
              <mc:Choice xmlns:v="urn:schemas-microsoft-com:vml" Requires="v">
                <p:oleObj name="方程式" r:id="rId2" imgW="114102" imgH="126780" progId="Equation.3">
                  <p:embed/>
                </p:oleObj>
              </mc:Choice>
              <mc:Fallback>
                <p:oleObj name="方程式" r:id="rId2" imgW="114102" imgH="12678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765" y="2652539"/>
                        <a:ext cx="290512"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4"/>
          <p:cNvGraphicFramePr>
            <a:graphicFrameLocks noChangeAspect="1"/>
          </p:cNvGraphicFramePr>
          <p:nvPr>
            <p:extLst>
              <p:ext uri="{D42A27DB-BD31-4B8C-83A1-F6EECF244321}">
                <p14:modId xmlns:p14="http://schemas.microsoft.com/office/powerpoint/2010/main" val="3394916093"/>
              </p:ext>
            </p:extLst>
          </p:nvPr>
        </p:nvGraphicFramePr>
        <p:xfrm>
          <a:off x="767271" y="2854185"/>
          <a:ext cx="652011" cy="435862"/>
        </p:xfrm>
        <a:graphic>
          <a:graphicData uri="http://schemas.openxmlformats.org/presentationml/2006/ole">
            <mc:AlternateContent xmlns:mc="http://schemas.openxmlformats.org/markup-compatibility/2006">
              <mc:Choice xmlns:v="urn:schemas-microsoft-com:vml" Requires="v">
                <p:oleObj name="方程式" r:id="rId4" imgW="342751" imgH="228501" progId="Equation.3">
                  <p:embed/>
                </p:oleObj>
              </mc:Choice>
              <mc:Fallback>
                <p:oleObj name="方程式" r:id="rId4" imgW="342751" imgH="228501"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7271" y="2854185"/>
                        <a:ext cx="652011" cy="435862"/>
                      </a:xfrm>
                      <a:prstGeom prst="rect">
                        <a:avLst/>
                      </a:prstGeom>
                      <a:noFill/>
                      <a:ln>
                        <a:noFill/>
                      </a:ln>
                      <a:effec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738381652"/>
              </p:ext>
            </p:extLst>
          </p:nvPr>
        </p:nvGraphicFramePr>
        <p:xfrm>
          <a:off x="9879291" y="2966197"/>
          <a:ext cx="363623" cy="323850"/>
        </p:xfrm>
        <a:graphic>
          <a:graphicData uri="http://schemas.openxmlformats.org/presentationml/2006/ole">
            <mc:AlternateContent xmlns:mc="http://schemas.openxmlformats.org/markup-compatibility/2006">
              <mc:Choice xmlns:v="urn:schemas-microsoft-com:vml" Requires="v">
                <p:oleObj name="方程式" r:id="rId2" imgW="114102" imgH="126780" progId="Equation.3">
                  <p:embed/>
                </p:oleObj>
              </mc:Choice>
              <mc:Fallback>
                <p:oleObj name="方程式" r:id="rId2" imgW="114102" imgH="12678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79291" y="2966197"/>
                        <a:ext cx="363623" cy="323850"/>
                      </a:xfrm>
                      <a:prstGeom prst="rect">
                        <a:avLst/>
                      </a:prstGeom>
                      <a:noFill/>
                      <a:ln>
                        <a:noFill/>
                      </a:ln>
                      <a:effectLst/>
                    </p:spPr>
                  </p:pic>
                </p:oleObj>
              </mc:Fallback>
            </mc:AlternateContent>
          </a:graphicData>
        </a:graphic>
      </p:graphicFrame>
      <p:graphicFrame>
        <p:nvGraphicFramePr>
          <p:cNvPr id="10" name="Object 7"/>
          <p:cNvGraphicFramePr>
            <a:graphicFrameLocks noChangeAspect="1"/>
          </p:cNvGraphicFramePr>
          <p:nvPr>
            <p:extLst>
              <p:ext uri="{D42A27DB-BD31-4B8C-83A1-F6EECF244321}">
                <p14:modId xmlns:p14="http://schemas.microsoft.com/office/powerpoint/2010/main" val="3136433332"/>
              </p:ext>
            </p:extLst>
          </p:nvPr>
        </p:nvGraphicFramePr>
        <p:xfrm>
          <a:off x="4157871" y="3644714"/>
          <a:ext cx="2227263" cy="1101725"/>
        </p:xfrm>
        <a:graphic>
          <a:graphicData uri="http://schemas.openxmlformats.org/presentationml/2006/ole">
            <mc:AlternateContent xmlns:mc="http://schemas.openxmlformats.org/markup-compatibility/2006">
              <mc:Choice xmlns:v="urn:schemas-microsoft-com:vml" Requires="v">
                <p:oleObj name="方程式" r:id="rId6" imgW="876300" imgH="431800" progId="Equation.3">
                  <p:embed/>
                </p:oleObj>
              </mc:Choice>
              <mc:Fallback>
                <p:oleObj name="方程式" r:id="rId6" imgW="876300" imgH="4318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57871" y="3644714"/>
                        <a:ext cx="2227263" cy="110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TextBox 10"/>
          <p:cNvSpPr txBox="1"/>
          <p:nvPr/>
        </p:nvSpPr>
        <p:spPr>
          <a:xfrm>
            <a:off x="2358187" y="3962400"/>
            <a:ext cx="1353670" cy="369332"/>
          </a:xfrm>
          <a:prstGeom prst="rect">
            <a:avLst/>
          </a:prstGeom>
          <a:noFill/>
        </p:spPr>
        <p:txBody>
          <a:bodyPr wrap="square" rtlCol="0">
            <a:spAutoFit/>
          </a:bodyPr>
          <a:lstStyle/>
          <a:p>
            <a:pPr marL="285750" indent="-285750">
              <a:buFont typeface="Arial" panose="020B0604020202020204" pitchFamily="34" charset="0"/>
              <a:buChar char="•"/>
            </a:pPr>
            <a:r>
              <a:rPr lang="en-US"/>
              <a:t>Mean</a:t>
            </a:r>
          </a:p>
        </p:txBody>
      </p:sp>
    </p:spTree>
    <p:extLst>
      <p:ext uri="{BB962C8B-B14F-4D97-AF65-F5344CB8AC3E}">
        <p14:creationId xmlns:p14="http://schemas.microsoft.com/office/powerpoint/2010/main" val="1738095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605184" cy="1320800"/>
          </a:xfrm>
        </p:spPr>
        <p:txBody>
          <a:bodyPr/>
          <a:lstStyle/>
          <a:p>
            <a:r>
              <a:rPr lang="en-US" altLang="zh-TW"/>
              <a:t>Histogram statistics for image enhancement</a:t>
            </a:r>
            <a:endParaRPr lang="en-US"/>
          </a:p>
        </p:txBody>
      </p:sp>
      <p:sp>
        <p:nvSpPr>
          <p:cNvPr id="4" name="Content Placeholder 2"/>
          <p:cNvSpPr>
            <a:spLocks noGrp="1"/>
          </p:cNvSpPr>
          <p:nvPr>
            <p:ph idx="1"/>
          </p:nvPr>
        </p:nvSpPr>
        <p:spPr>
          <a:xfrm>
            <a:off x="354605" y="4220112"/>
            <a:ext cx="9927913" cy="1771051"/>
          </a:xfrm>
        </p:spPr>
        <p:txBody>
          <a:bodyPr/>
          <a:lstStyle/>
          <a:p>
            <a:pPr lvl="1"/>
            <a:endParaRPr lang="en-US" altLang="zh-TW" dirty="0"/>
          </a:p>
          <a:p>
            <a:pPr lvl="1"/>
            <a:r>
              <a:rPr lang="en-US" altLang="zh-TW" dirty="0"/>
              <a:t>Global enhancement: The global mean and variance are measured over an entire image</a:t>
            </a:r>
          </a:p>
          <a:p>
            <a:pPr lvl="1"/>
            <a:r>
              <a:rPr lang="en-US" altLang="zh-TW" dirty="0"/>
              <a:t>Local enhancement: The local mean and variance are used as the basis for making changes</a:t>
            </a:r>
          </a:p>
          <a:p>
            <a:endParaRPr lang="en-US" dirty="0"/>
          </a:p>
        </p:txBody>
      </p:sp>
      <p:sp>
        <p:nvSpPr>
          <p:cNvPr id="5" name="Rectangle 4"/>
          <p:cNvSpPr/>
          <p:nvPr/>
        </p:nvSpPr>
        <p:spPr>
          <a:xfrm>
            <a:off x="1181902" y="2397329"/>
            <a:ext cx="2658100" cy="369332"/>
          </a:xfrm>
          <a:prstGeom prst="rect">
            <a:avLst/>
          </a:prstGeom>
        </p:spPr>
        <p:txBody>
          <a:bodyPr wrap="none">
            <a:spAutoFit/>
          </a:bodyPr>
          <a:lstStyle/>
          <a:p>
            <a:pPr marL="742950" lvl="1" indent="-285750">
              <a:buFont typeface="Arial" panose="020B0604020202020204" pitchFamily="34" charset="0"/>
              <a:buChar char="•"/>
            </a:pPr>
            <a:r>
              <a:rPr lang="en-US" altLang="zh-TW"/>
              <a:t>The nth moment</a:t>
            </a:r>
          </a:p>
        </p:txBody>
      </p:sp>
      <p:sp>
        <p:nvSpPr>
          <p:cNvPr id="6" name="Rectangle 5"/>
          <p:cNvSpPr/>
          <p:nvPr/>
        </p:nvSpPr>
        <p:spPr>
          <a:xfrm>
            <a:off x="1258333" y="3602922"/>
            <a:ext cx="3025187" cy="369332"/>
          </a:xfrm>
          <a:prstGeom prst="rect">
            <a:avLst/>
          </a:prstGeom>
        </p:spPr>
        <p:txBody>
          <a:bodyPr wrap="none">
            <a:spAutoFit/>
          </a:bodyPr>
          <a:lstStyle/>
          <a:p>
            <a:pPr marL="742950" lvl="1" indent="-285750">
              <a:buFont typeface="Arial" panose="020B0604020202020204" pitchFamily="34" charset="0"/>
              <a:buChar char="•"/>
            </a:pPr>
            <a:r>
              <a:rPr lang="en-US" altLang="zh-TW"/>
              <a:t>The second moment</a:t>
            </a:r>
          </a:p>
        </p:txBody>
      </p:sp>
      <p:graphicFrame>
        <p:nvGraphicFramePr>
          <p:cNvPr id="7" name="Object 4"/>
          <p:cNvGraphicFramePr>
            <a:graphicFrameLocks noChangeAspect="1"/>
          </p:cNvGraphicFramePr>
          <p:nvPr>
            <p:extLst>
              <p:ext uri="{D42A27DB-BD31-4B8C-83A1-F6EECF244321}">
                <p14:modId xmlns:p14="http://schemas.microsoft.com/office/powerpoint/2010/main" val="482876057"/>
              </p:ext>
            </p:extLst>
          </p:nvPr>
        </p:nvGraphicFramePr>
        <p:xfrm>
          <a:off x="4540109" y="2155802"/>
          <a:ext cx="3622301" cy="1030277"/>
        </p:xfrm>
        <a:graphic>
          <a:graphicData uri="http://schemas.openxmlformats.org/presentationml/2006/ole">
            <mc:AlternateContent xmlns:mc="http://schemas.openxmlformats.org/markup-compatibility/2006">
              <mc:Choice xmlns:v="urn:schemas-microsoft-com:vml" Requires="v">
                <p:oleObj name="方程式" r:id="rId2" imgW="1524000" imgH="431800" progId="Equation.3">
                  <p:embed/>
                </p:oleObj>
              </mc:Choice>
              <mc:Fallback>
                <p:oleObj name="方程式" r:id="rId2" imgW="1524000" imgH="431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0109" y="2155802"/>
                        <a:ext cx="3622301" cy="1030277"/>
                      </a:xfrm>
                      <a:prstGeom prst="rect">
                        <a:avLst/>
                      </a:prstGeom>
                      <a:noFill/>
                      <a:ln>
                        <a:noFill/>
                      </a:ln>
                      <a:effectLst/>
                    </p:spPr>
                  </p:pic>
                </p:oleObj>
              </mc:Fallback>
            </mc:AlternateContent>
          </a:graphicData>
        </a:graphic>
      </p:graphicFrame>
      <p:graphicFrame>
        <p:nvGraphicFramePr>
          <p:cNvPr id="8" name="Object 5"/>
          <p:cNvGraphicFramePr>
            <a:graphicFrameLocks noChangeAspect="1"/>
          </p:cNvGraphicFramePr>
          <p:nvPr>
            <p:extLst>
              <p:ext uri="{D42A27DB-BD31-4B8C-83A1-F6EECF244321}">
                <p14:modId xmlns:p14="http://schemas.microsoft.com/office/powerpoint/2010/main" val="75336139"/>
              </p:ext>
            </p:extLst>
          </p:nvPr>
        </p:nvGraphicFramePr>
        <p:xfrm>
          <a:off x="4907569" y="3392879"/>
          <a:ext cx="3254841" cy="925762"/>
        </p:xfrm>
        <a:graphic>
          <a:graphicData uri="http://schemas.openxmlformats.org/presentationml/2006/ole">
            <mc:AlternateContent xmlns:mc="http://schemas.openxmlformats.org/markup-compatibility/2006">
              <mc:Choice xmlns:v="urn:schemas-microsoft-com:vml" Requires="v">
                <p:oleObj name="方程式" r:id="rId4" imgW="1524000" imgH="431800" progId="Equation.3">
                  <p:embed/>
                </p:oleObj>
              </mc:Choice>
              <mc:Fallback>
                <p:oleObj name="方程式" r:id="rId4" imgW="1524000" imgH="431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07569" y="3392879"/>
                        <a:ext cx="3254841" cy="92576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751490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ko-KR"/>
              <a:t>Convolution</a:t>
            </a:r>
          </a:p>
        </p:txBody>
      </p:sp>
      <p:sp>
        <p:nvSpPr>
          <p:cNvPr id="22531" name="Rectangle 3"/>
          <p:cNvSpPr>
            <a:spLocks noGrp="1" noChangeArrowheads="1"/>
          </p:cNvSpPr>
          <p:nvPr>
            <p:ph idx="1"/>
          </p:nvPr>
        </p:nvSpPr>
        <p:spPr>
          <a:xfrm>
            <a:off x="677334" y="1347124"/>
            <a:ext cx="9789459" cy="4876800"/>
          </a:xfrm>
        </p:spPr>
        <p:txBody>
          <a:bodyPr rtlCol="0">
            <a:normAutofit fontScale="92500" lnSpcReduction="10000"/>
          </a:bodyPr>
          <a:lstStyle/>
          <a:p>
            <a:pPr lvl="1">
              <a:lnSpc>
                <a:spcPct val="90000"/>
              </a:lnSpc>
              <a:buNone/>
              <a:defRPr/>
            </a:pPr>
            <a:endParaRPr lang="en-US" altLang="ko-KR" dirty="0">
              <a:solidFill>
                <a:srgbClr val="000066"/>
              </a:solidFill>
            </a:endParaRPr>
          </a:p>
          <a:p>
            <a:pPr>
              <a:lnSpc>
                <a:spcPct val="90000"/>
              </a:lnSpc>
              <a:defRPr/>
            </a:pPr>
            <a:r>
              <a:rPr lang="en-US" altLang="ko-KR" sz="2500" dirty="0"/>
              <a:t>Convolution (Mathematical formulation)</a:t>
            </a:r>
          </a:p>
          <a:p>
            <a:pPr>
              <a:lnSpc>
                <a:spcPct val="90000"/>
              </a:lnSpc>
              <a:defRPr/>
            </a:pPr>
            <a:endParaRPr lang="en-US" altLang="ko-KR" sz="2000" dirty="0">
              <a:latin typeface="Book Antiqua" pitchFamily="18" charset="0"/>
            </a:endParaRPr>
          </a:p>
          <a:p>
            <a:pPr lvl="1">
              <a:lnSpc>
                <a:spcPct val="90000"/>
              </a:lnSpc>
              <a:defRPr/>
            </a:pPr>
            <a:endParaRPr lang="en-US" altLang="ko-KR" sz="1800" dirty="0">
              <a:latin typeface="Book Antiqua" pitchFamily="18" charset="0"/>
            </a:endParaRPr>
          </a:p>
          <a:p>
            <a:pPr lvl="1">
              <a:lnSpc>
                <a:spcPct val="90000"/>
              </a:lnSpc>
              <a:defRPr/>
            </a:pPr>
            <a:endParaRPr lang="en-US" altLang="ko-KR" sz="1800" dirty="0">
              <a:latin typeface="Book Antiqua" pitchFamily="18" charset="0"/>
            </a:endParaRPr>
          </a:p>
          <a:p>
            <a:pPr lvl="1">
              <a:lnSpc>
                <a:spcPct val="90000"/>
              </a:lnSpc>
              <a:defRPr/>
            </a:pPr>
            <a:endParaRPr lang="en-US" altLang="ko-KR" sz="1800" dirty="0">
              <a:latin typeface="Book Antiqua" pitchFamily="18" charset="0"/>
            </a:endParaRPr>
          </a:p>
          <a:p>
            <a:pPr>
              <a:lnSpc>
                <a:spcPct val="90000"/>
              </a:lnSpc>
              <a:defRPr/>
            </a:pPr>
            <a:r>
              <a:rPr lang="en-US" altLang="ko-KR" sz="2500" dirty="0"/>
              <a:t>Discrete Convolution</a:t>
            </a:r>
            <a:endParaRPr lang="en-US" altLang="ko-KR" sz="2500" dirty="0">
              <a:latin typeface="Book Antiqua" pitchFamily="18" charset="0"/>
            </a:endParaRPr>
          </a:p>
          <a:p>
            <a:pPr lvl="1">
              <a:lnSpc>
                <a:spcPct val="90000"/>
              </a:lnSpc>
              <a:defRPr/>
            </a:pPr>
            <a:r>
              <a:rPr lang="en-US" altLang="ko-KR" sz="1800" dirty="0">
                <a:latin typeface="Book Antiqua" pitchFamily="18" charset="0"/>
              </a:rPr>
              <a:t>A convolution is merely a weighted sum of pixels in the neighborhood of the source pixel. </a:t>
            </a:r>
          </a:p>
          <a:p>
            <a:pPr lvl="1">
              <a:lnSpc>
                <a:spcPct val="90000"/>
              </a:lnSpc>
              <a:defRPr/>
            </a:pPr>
            <a:r>
              <a:rPr lang="en-US" altLang="ko-KR" sz="1800" dirty="0">
                <a:latin typeface="Book Antiqua" pitchFamily="18" charset="0"/>
              </a:rPr>
              <a:t>The weights are determined by a small matrix called the </a:t>
            </a:r>
            <a:r>
              <a:rPr lang="en-US" altLang="ko-KR" sz="1800" dirty="0">
                <a:solidFill>
                  <a:schemeClr val="hlink"/>
                </a:solidFill>
                <a:latin typeface="Book Antiqua" pitchFamily="18" charset="0"/>
              </a:rPr>
              <a:t>convolution mask</a:t>
            </a:r>
            <a:r>
              <a:rPr lang="en-US" altLang="ko-KR" sz="1800" dirty="0">
                <a:latin typeface="Book Antiqua" pitchFamily="18" charset="0"/>
              </a:rPr>
              <a:t> or </a:t>
            </a:r>
            <a:r>
              <a:rPr lang="en-US" altLang="ko-KR" sz="1800" dirty="0">
                <a:solidFill>
                  <a:schemeClr val="hlink"/>
                </a:solidFill>
                <a:latin typeface="Book Antiqua" pitchFamily="18" charset="0"/>
              </a:rPr>
              <a:t>convolution kernel</a:t>
            </a:r>
            <a:r>
              <a:rPr lang="en-US" altLang="ko-KR" sz="1800" dirty="0">
                <a:latin typeface="Book Antiqua" pitchFamily="18" charset="0"/>
              </a:rPr>
              <a:t>. </a:t>
            </a:r>
          </a:p>
          <a:p>
            <a:pPr lvl="1">
              <a:lnSpc>
                <a:spcPct val="90000"/>
              </a:lnSpc>
              <a:defRPr/>
            </a:pPr>
            <a:r>
              <a:rPr lang="en-US" altLang="ko-KR" sz="1800" dirty="0">
                <a:latin typeface="Book Antiqua" pitchFamily="18" charset="0"/>
              </a:rPr>
              <a:t>The new pixel value is computed by multiplying each pixel value in the neighborhood with the corresponding weight in the convolution mask and summing these products.</a:t>
            </a:r>
          </a:p>
          <a:p>
            <a:pPr lvl="1">
              <a:lnSpc>
                <a:spcPct val="90000"/>
              </a:lnSpc>
              <a:defRPr/>
            </a:pPr>
            <a:r>
              <a:rPr lang="en-US" altLang="ko-KR" sz="1800" dirty="0">
                <a:solidFill>
                  <a:srgbClr val="00B0F0"/>
                </a:solidFill>
                <a:latin typeface="Book Antiqua" pitchFamily="18" charset="0"/>
              </a:rPr>
              <a:t>The location of the center corresponds to the location of the output pixel</a:t>
            </a:r>
          </a:p>
          <a:p>
            <a:pPr lvl="1">
              <a:lnSpc>
                <a:spcPct val="90000"/>
              </a:lnSpc>
              <a:defRPr/>
            </a:pPr>
            <a:r>
              <a:rPr lang="en-US" altLang="ko-KR" sz="1800" dirty="0">
                <a:solidFill>
                  <a:srgbClr val="000066"/>
                </a:solidFill>
              </a:rPr>
              <a:t>Image smoothing, edge detection, and other effects.</a:t>
            </a:r>
          </a:p>
        </p:txBody>
      </p:sp>
      <p:graphicFrame>
        <p:nvGraphicFramePr>
          <p:cNvPr id="5126" name="Object 1024"/>
          <p:cNvGraphicFramePr>
            <a:graphicFrameLocks noChangeAspect="1"/>
          </p:cNvGraphicFramePr>
          <p:nvPr/>
        </p:nvGraphicFramePr>
        <p:xfrm>
          <a:off x="3124201" y="2133600"/>
          <a:ext cx="5788025" cy="1200150"/>
        </p:xfrm>
        <a:graphic>
          <a:graphicData uri="http://schemas.openxmlformats.org/presentationml/2006/ole">
            <mc:AlternateContent xmlns:mc="http://schemas.openxmlformats.org/markup-compatibility/2006">
              <mc:Choice xmlns:v="urn:schemas-microsoft-com:vml" Requires="v">
                <p:oleObj name="Equation" r:id="rId2" imgW="3797300" imgH="787400" progId="Equation.3">
                  <p:embed/>
                </p:oleObj>
              </mc:Choice>
              <mc:Fallback>
                <p:oleObj name="Equation" r:id="rId2" imgW="3797300" imgH="787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1" y="2133600"/>
                        <a:ext cx="5788025" cy="1200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84115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050"/>
          <p:cNvSpPr>
            <a:spLocks noGrp="1" noChangeArrowheads="1"/>
          </p:cNvSpPr>
          <p:nvPr>
            <p:ph type="title"/>
          </p:nvPr>
        </p:nvSpPr>
        <p:spPr/>
        <p:txBody>
          <a:bodyPr/>
          <a:lstStyle/>
          <a:p>
            <a:pPr eaLnBrk="1" hangingPunct="1"/>
            <a:r>
              <a:rPr lang="en-US" altLang="ko-KR"/>
              <a:t>1D Convolution</a:t>
            </a:r>
          </a:p>
        </p:txBody>
      </p:sp>
      <p:sp>
        <p:nvSpPr>
          <p:cNvPr id="6147" name="Rectangle 2051"/>
          <p:cNvSpPr>
            <a:spLocks noGrp="1" noChangeArrowheads="1"/>
          </p:cNvSpPr>
          <p:nvPr>
            <p:ph idx="1"/>
          </p:nvPr>
        </p:nvSpPr>
        <p:spPr>
          <a:xfrm>
            <a:off x="740087" y="2045494"/>
            <a:ext cx="8596668" cy="3880773"/>
          </a:xfrm>
        </p:spPr>
        <p:txBody>
          <a:bodyPr/>
          <a:lstStyle/>
          <a:p>
            <a:pPr eaLnBrk="1" hangingPunct="1">
              <a:buClr>
                <a:srgbClr val="A50021"/>
              </a:buClr>
              <a:buSzPct val="75000"/>
              <a:buFont typeface="Wingdings" panose="05000000000000000000" pitchFamily="2" charset="2"/>
              <a:buChar char="n"/>
            </a:pPr>
            <a:r>
              <a:rPr lang="en-US" altLang="ko-KR" dirty="0"/>
              <a:t>1D Convolution</a:t>
            </a:r>
          </a:p>
          <a:p>
            <a:pPr lvl="1" eaLnBrk="1" hangingPunct="1">
              <a:buClr>
                <a:schemeClr val="accent2"/>
              </a:buClr>
              <a:buSzPct val="75000"/>
              <a:buFont typeface="Wingdings" panose="05000000000000000000" pitchFamily="2" charset="2"/>
              <a:buChar char="n"/>
            </a:pPr>
            <a:r>
              <a:rPr lang="en-US" altLang="ko-KR" dirty="0">
                <a:latin typeface="Arial" panose="020B0604020202020204" pitchFamily="34" charset="0"/>
              </a:rPr>
              <a:t>Convolution is very important to understand image processing</a:t>
            </a:r>
          </a:p>
          <a:p>
            <a:pPr lvl="1" eaLnBrk="1" hangingPunct="1">
              <a:buClr>
                <a:schemeClr val="accent2"/>
              </a:buClr>
              <a:buSzPct val="75000"/>
              <a:buFont typeface="Wingdings" panose="05000000000000000000" pitchFamily="2" charset="2"/>
              <a:buChar char="n"/>
            </a:pPr>
            <a:r>
              <a:rPr lang="en-US" altLang="ko-KR" dirty="0">
                <a:latin typeface="Arial" panose="020B0604020202020204" pitchFamily="34" charset="0"/>
              </a:rPr>
              <a:t>A basic operation of linear systems theory</a:t>
            </a:r>
          </a:p>
          <a:p>
            <a:pPr lvl="1" eaLnBrk="1" hangingPunct="1">
              <a:buClr>
                <a:schemeClr val="accent2"/>
              </a:buClr>
              <a:buSzPct val="75000"/>
              <a:buFont typeface="Wingdings" panose="05000000000000000000" pitchFamily="2" charset="2"/>
              <a:buChar char="n"/>
            </a:pPr>
            <a:r>
              <a:rPr lang="en-US" altLang="ko-KR" dirty="0">
                <a:latin typeface="Arial" panose="020B0604020202020204" pitchFamily="34" charset="0"/>
              </a:rPr>
              <a:t> Convolution of two function f(x) and g(x)</a:t>
            </a:r>
          </a:p>
          <a:p>
            <a:pPr lvl="1" eaLnBrk="1" hangingPunct="1">
              <a:buClr>
                <a:schemeClr val="accent2"/>
              </a:buClr>
              <a:buSzPct val="75000"/>
              <a:buFont typeface="Wingdings" panose="05000000000000000000" pitchFamily="2" charset="2"/>
              <a:buChar char="n"/>
            </a:pPr>
            <a:endParaRPr lang="en-US" altLang="ko-KR" dirty="0">
              <a:latin typeface="Arial" panose="020B0604020202020204" pitchFamily="34" charset="0"/>
            </a:endParaRPr>
          </a:p>
          <a:p>
            <a:pPr lvl="1" eaLnBrk="1" hangingPunct="1">
              <a:buClr>
                <a:schemeClr val="accent2"/>
              </a:buClr>
              <a:buSzPct val="75000"/>
              <a:buFont typeface="Wingdings" panose="05000000000000000000" pitchFamily="2" charset="2"/>
              <a:buChar char="n"/>
            </a:pPr>
            <a:endParaRPr lang="en-US" altLang="ko-KR" dirty="0">
              <a:latin typeface="Arial" panose="020B0604020202020204" pitchFamily="34" charset="0"/>
            </a:endParaRPr>
          </a:p>
          <a:p>
            <a:pPr lvl="1" eaLnBrk="1" hangingPunct="1">
              <a:buClr>
                <a:schemeClr val="accent2"/>
              </a:buClr>
              <a:buSzPct val="75000"/>
              <a:buFont typeface="Wingdings" panose="05000000000000000000" pitchFamily="2" charset="2"/>
              <a:buChar char="n"/>
            </a:pPr>
            <a:r>
              <a:rPr lang="en-US" altLang="ko-KR" dirty="0">
                <a:latin typeface="Arial" panose="020B0604020202020204" pitchFamily="34" charset="0"/>
              </a:rPr>
              <a:t>Intuitively, one function is swept past (1D) or rubbed over (2D) the other.</a:t>
            </a:r>
          </a:p>
          <a:p>
            <a:pPr eaLnBrk="1" hangingPunct="1"/>
            <a:endParaRPr lang="en-US" altLang="ko-KR" dirty="0"/>
          </a:p>
        </p:txBody>
      </p:sp>
      <p:graphicFrame>
        <p:nvGraphicFramePr>
          <p:cNvPr id="6150" name="Object 2048"/>
          <p:cNvGraphicFramePr>
            <a:graphicFrameLocks noChangeAspect="1"/>
          </p:cNvGraphicFramePr>
          <p:nvPr>
            <p:extLst>
              <p:ext uri="{D42A27DB-BD31-4B8C-83A1-F6EECF244321}">
                <p14:modId xmlns:p14="http://schemas.microsoft.com/office/powerpoint/2010/main" val="1741517931"/>
              </p:ext>
            </p:extLst>
          </p:nvPr>
        </p:nvGraphicFramePr>
        <p:xfrm>
          <a:off x="2391990" y="3666378"/>
          <a:ext cx="4343400" cy="685800"/>
        </p:xfrm>
        <a:graphic>
          <a:graphicData uri="http://schemas.openxmlformats.org/presentationml/2006/ole">
            <mc:AlternateContent xmlns:mc="http://schemas.openxmlformats.org/markup-compatibility/2006">
              <mc:Choice xmlns:v="urn:schemas-microsoft-com:vml" Requires="v">
                <p:oleObj name="수식" r:id="rId2" imgW="2095500" imgH="330200" progId="Equation.3">
                  <p:embed/>
                </p:oleObj>
              </mc:Choice>
              <mc:Fallback>
                <p:oleObj name="수식" r:id="rId2" imgW="2095500" imgH="330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1990" y="3666378"/>
                        <a:ext cx="43434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74187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a:spLocks noGrp="1"/>
          </p:cNvSpPr>
          <p:nvPr>
            <p:ph type="ftr" sz="quarter" idx="11"/>
          </p:nvPr>
        </p:nvSpPr>
        <p:spPr/>
        <p:txBody>
          <a:bodyPr/>
          <a:lstStyle/>
          <a:p>
            <a:pPr>
              <a:defRPr/>
            </a:pPr>
            <a:r>
              <a:rPr lang="en-US" altLang="ko-KR"/>
              <a:t>Area processes</a:t>
            </a:r>
          </a:p>
        </p:txBody>
      </p:sp>
      <p:sp>
        <p:nvSpPr>
          <p:cNvPr id="9" name="灯片编号占位符 4"/>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fld id="{343E0C58-ADA7-48C3-8C81-F12B02CC0978}" type="slidenum">
              <a:rPr lang="en-US" altLang="ko-KR" sz="1200">
                <a:solidFill>
                  <a:srgbClr val="898989"/>
                </a:solidFill>
              </a:rPr>
              <a:pPr eaLnBrk="1" hangingPunct="1"/>
              <a:t>13</a:t>
            </a:fld>
            <a:endParaRPr lang="en-US" altLang="ko-KR" sz="1200">
              <a:solidFill>
                <a:srgbClr val="898989"/>
              </a:solidFill>
            </a:endParaRPr>
          </a:p>
        </p:txBody>
      </p:sp>
      <p:grpSp>
        <p:nvGrpSpPr>
          <p:cNvPr id="7173" name="Group 4"/>
          <p:cNvGrpSpPr>
            <a:grpSpLocks/>
          </p:cNvGrpSpPr>
          <p:nvPr/>
        </p:nvGrpSpPr>
        <p:grpSpPr bwMode="auto">
          <a:xfrm>
            <a:off x="506626" y="735184"/>
            <a:ext cx="5715000" cy="5573993"/>
            <a:chOff x="576" y="576"/>
            <a:chExt cx="2640" cy="3264"/>
          </a:xfrm>
        </p:grpSpPr>
        <p:pic>
          <p:nvPicPr>
            <p:cNvPr id="7175" name="Picture 5" descr="3-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6" y="1392"/>
              <a:ext cx="2640" cy="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6" name="Picture 6" descr="3-11_A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 y="576"/>
              <a:ext cx="2640"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7174" name="Object 0"/>
          <p:cNvGraphicFramePr>
            <a:graphicFrameLocks noChangeAspect="1"/>
          </p:cNvGraphicFramePr>
          <p:nvPr>
            <p:extLst>
              <p:ext uri="{D42A27DB-BD31-4B8C-83A1-F6EECF244321}">
                <p14:modId xmlns:p14="http://schemas.microsoft.com/office/powerpoint/2010/main" val="3454433139"/>
              </p:ext>
            </p:extLst>
          </p:nvPr>
        </p:nvGraphicFramePr>
        <p:xfrm>
          <a:off x="6096000" y="2759868"/>
          <a:ext cx="4191000" cy="1338263"/>
        </p:xfrm>
        <a:graphic>
          <a:graphicData uri="http://schemas.openxmlformats.org/presentationml/2006/ole">
            <mc:AlternateContent xmlns:mc="http://schemas.openxmlformats.org/markup-compatibility/2006">
              <mc:Choice xmlns:v="urn:schemas-microsoft-com:vml" Requires="v">
                <p:oleObj name="수식" r:id="rId4" imgW="2336800" imgH="711200" progId="Equation.3">
                  <p:embed/>
                </p:oleObj>
              </mc:Choice>
              <mc:Fallback>
                <p:oleObj name="수식" r:id="rId4" imgW="2336800" imgH="711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2759868"/>
                        <a:ext cx="4191000" cy="1338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056337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ko-KR" sz="3800"/>
              <a:t>Convolution</a:t>
            </a:r>
          </a:p>
        </p:txBody>
      </p:sp>
      <p:sp>
        <p:nvSpPr>
          <p:cNvPr id="9" name="矩形 8"/>
          <p:cNvSpPr/>
          <p:nvPr/>
        </p:nvSpPr>
        <p:spPr>
          <a:xfrm>
            <a:off x="5310188" y="6072188"/>
            <a:ext cx="1928812" cy="2857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pic>
        <p:nvPicPr>
          <p:cNvPr id="2" name="Picture 1"/>
          <p:cNvPicPr>
            <a:picLocks noChangeAspect="1"/>
          </p:cNvPicPr>
          <p:nvPr/>
        </p:nvPicPr>
        <p:blipFill>
          <a:blip r:embed="rId2"/>
          <a:stretch>
            <a:fillRect/>
          </a:stretch>
        </p:blipFill>
        <p:spPr>
          <a:xfrm>
            <a:off x="1825694" y="1376363"/>
            <a:ext cx="5413306" cy="4838700"/>
          </a:xfrm>
          <a:prstGeom prst="rect">
            <a:avLst/>
          </a:prstGeom>
        </p:spPr>
      </p:pic>
    </p:spTree>
    <p:extLst>
      <p:ext uri="{BB962C8B-B14F-4D97-AF65-F5344CB8AC3E}">
        <p14:creationId xmlns:p14="http://schemas.microsoft.com/office/powerpoint/2010/main" val="19616023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77334" y="277906"/>
            <a:ext cx="8596668" cy="1320800"/>
          </a:xfrm>
        </p:spPr>
        <p:txBody>
          <a:bodyPr/>
          <a:lstStyle/>
          <a:p>
            <a:pPr eaLnBrk="1" hangingPunct="1"/>
            <a:r>
              <a:rPr lang="en-US" altLang="ko-KR" sz="3800"/>
              <a:t>Convolution</a:t>
            </a:r>
          </a:p>
        </p:txBody>
      </p:sp>
      <p:sp>
        <p:nvSpPr>
          <p:cNvPr id="9221" name="Rectangle 3"/>
          <p:cNvSpPr>
            <a:spLocks noChangeArrowheads="1"/>
          </p:cNvSpPr>
          <p:nvPr/>
        </p:nvSpPr>
        <p:spPr bwMode="auto">
          <a:xfrm>
            <a:off x="1366044" y="1166243"/>
            <a:ext cx="8335963"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latinLnBrk="0" hangingPunct="1">
              <a:spcBef>
                <a:spcPct val="20000"/>
              </a:spcBef>
              <a:buClr>
                <a:schemeClr val="folHlink"/>
              </a:buClr>
              <a:buSzPct val="60000"/>
              <a:buFont typeface="Wingdings" panose="05000000000000000000" pitchFamily="2" charset="2"/>
              <a:buChar char="q"/>
            </a:pPr>
            <a:r>
              <a:rPr kumimoji="0" lang="en-US" altLang="ko-KR" sz="2200" b="1">
                <a:solidFill>
                  <a:srgbClr val="CC9900"/>
                </a:solidFill>
              </a:rPr>
              <a:t>How to treat image borders for convolution ?</a:t>
            </a:r>
            <a:endParaRPr kumimoji="0" lang="en-US" altLang="ko-KR" sz="1800" b="1">
              <a:solidFill>
                <a:schemeClr val="tx2"/>
              </a:solidFill>
            </a:endParaRPr>
          </a:p>
          <a:p>
            <a:pPr lvl="1" eaLnBrk="1" latinLnBrk="0" hangingPunct="1">
              <a:spcBef>
                <a:spcPct val="20000"/>
              </a:spcBef>
              <a:buClr>
                <a:schemeClr val="folHlink"/>
              </a:buClr>
              <a:buSzPct val="50000"/>
              <a:buFont typeface="Wingdings" panose="05000000000000000000" pitchFamily="2" charset="2"/>
              <a:buChar char="n"/>
            </a:pPr>
            <a:r>
              <a:rPr kumimoji="0" lang="en-US" altLang="ko-KR" sz="1400" b="1"/>
              <a:t>Zero-padding: treat the empty cells in the convolution window as zeros.</a:t>
            </a:r>
          </a:p>
          <a:p>
            <a:pPr lvl="1" eaLnBrk="1" latinLnBrk="0" hangingPunct="1">
              <a:spcBef>
                <a:spcPct val="20000"/>
              </a:spcBef>
              <a:buClr>
                <a:schemeClr val="folHlink"/>
              </a:buClr>
              <a:buSzPct val="50000"/>
              <a:buFont typeface="Wingdings" panose="05000000000000000000" pitchFamily="2" charset="2"/>
              <a:buChar char="n"/>
            </a:pPr>
            <a:r>
              <a:rPr kumimoji="0" lang="en-US" altLang="ko-KR" sz="1400" b="1"/>
              <a:t>Start convolving at the first position where window doesn’t overlap the image.</a:t>
            </a:r>
          </a:p>
          <a:p>
            <a:pPr lvl="2" eaLnBrk="1" latinLnBrk="0" hangingPunct="1">
              <a:spcBef>
                <a:spcPct val="20000"/>
              </a:spcBef>
              <a:buClr>
                <a:schemeClr val="folHlink"/>
              </a:buClr>
              <a:buSzPct val="50000"/>
              <a:buFont typeface="Wingdings" panose="05000000000000000000" pitchFamily="2" charset="2"/>
              <a:buChar char="n"/>
            </a:pPr>
            <a:r>
              <a:rPr kumimoji="0" lang="en-US" altLang="ko-KR" sz="1400" b="1"/>
              <a:t>Ex. Start comvolving at (1,1) instead of (0,0) with 3 x 3 convolution mask.</a:t>
            </a:r>
          </a:p>
          <a:p>
            <a:pPr lvl="1" eaLnBrk="1" latinLnBrk="0" hangingPunct="1">
              <a:spcBef>
                <a:spcPct val="20000"/>
              </a:spcBef>
              <a:buClr>
                <a:schemeClr val="folHlink"/>
              </a:buClr>
              <a:buSzPct val="50000"/>
              <a:buFont typeface="Wingdings" panose="05000000000000000000" pitchFamily="2" charset="2"/>
              <a:buChar char="n"/>
            </a:pPr>
            <a:r>
              <a:rPr kumimoji="0" lang="en-US" altLang="ko-KR" sz="1400" b="1"/>
              <a:t>Duplication of the edges</a:t>
            </a:r>
          </a:p>
          <a:p>
            <a:pPr lvl="2" eaLnBrk="1" latinLnBrk="0" hangingPunct="1">
              <a:spcBef>
                <a:spcPct val="20000"/>
              </a:spcBef>
              <a:buClr>
                <a:schemeClr val="folHlink"/>
              </a:buClr>
              <a:buSzPct val="50000"/>
              <a:buFont typeface="Wingdings" panose="05000000000000000000" pitchFamily="2" charset="2"/>
              <a:buChar char="n"/>
            </a:pPr>
            <a:r>
              <a:rPr kumimoji="0" lang="en-US" altLang="ko-KR" sz="1400" b="1"/>
              <a:t>Ex. Copy the top row, the left side, the right side, and the bottom of the image.</a:t>
            </a:r>
          </a:p>
          <a:p>
            <a:pPr lvl="3" eaLnBrk="1" latinLnBrk="0" hangingPunct="1">
              <a:spcBef>
                <a:spcPct val="20000"/>
              </a:spcBef>
              <a:buClr>
                <a:schemeClr val="folHlink"/>
              </a:buClr>
              <a:buSzPct val="50000"/>
              <a:buFont typeface="Wingdings" panose="05000000000000000000" pitchFamily="2" charset="2"/>
              <a:buChar char="n"/>
            </a:pPr>
            <a:endParaRPr kumimoji="0" lang="en-US" altLang="ko-KR" sz="1400" b="1"/>
          </a:p>
          <a:p>
            <a:pPr lvl="1" eaLnBrk="1" latinLnBrk="0" hangingPunct="1">
              <a:spcBef>
                <a:spcPct val="20000"/>
              </a:spcBef>
              <a:buClr>
                <a:schemeClr val="folHlink"/>
              </a:buClr>
              <a:buSzPct val="50000"/>
              <a:buFont typeface="Wingdings" panose="05000000000000000000" pitchFamily="2" charset="2"/>
              <a:buChar char="n"/>
            </a:pPr>
            <a:r>
              <a:rPr kumimoji="0" lang="en-US" altLang="ko-KR" sz="1400" b="1">
                <a:latin typeface="Book Antiqua" panose="02040602050305030304" pitchFamily="18" charset="0"/>
              </a:rPr>
              <a:t>Wrap-around</a:t>
            </a:r>
          </a:p>
        </p:txBody>
      </p:sp>
      <p:pic>
        <p:nvPicPr>
          <p:cNvPr id="9222" name="Picture 4" descr="3-2(mod)"/>
          <p:cNvPicPr>
            <a:picLocks noChangeAspect="1" noChangeArrowheads="1"/>
          </p:cNvPicPr>
          <p:nvPr/>
        </p:nvPicPr>
        <p:blipFill rotWithShape="1">
          <a:blip r:embed="rId2">
            <a:extLst>
              <a:ext uri="{28A0092B-C50C-407E-A947-70E740481C1C}">
                <a14:useLocalDpi xmlns:a14="http://schemas.microsoft.com/office/drawing/2010/main" val="0"/>
              </a:ext>
            </a:extLst>
          </a:blip>
          <a:srcRect l="1" r="-413" b="9195"/>
          <a:stretch/>
        </p:blipFill>
        <p:spPr bwMode="auto">
          <a:xfrm>
            <a:off x="3457342" y="3452719"/>
            <a:ext cx="2145599" cy="2042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Picture 5" descr="3-3(mod)"/>
          <p:cNvPicPr>
            <a:picLocks noChangeAspect="1" noChangeArrowheads="1"/>
          </p:cNvPicPr>
          <p:nvPr/>
        </p:nvPicPr>
        <p:blipFill rotWithShape="1">
          <a:blip r:embed="rId3">
            <a:extLst>
              <a:ext uri="{28A0092B-C50C-407E-A947-70E740481C1C}">
                <a14:useLocalDpi xmlns:a14="http://schemas.microsoft.com/office/drawing/2010/main" val="0"/>
              </a:ext>
            </a:extLst>
          </a:blip>
          <a:srcRect r="-46" b="5402"/>
          <a:stretch/>
        </p:blipFill>
        <p:spPr bwMode="auto">
          <a:xfrm>
            <a:off x="6427834" y="3277483"/>
            <a:ext cx="2634877" cy="2401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3631407" y="5715002"/>
            <a:ext cx="1785937" cy="357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sz="1200" dirty="0"/>
              <a:t>Duplication of the edges</a:t>
            </a:r>
            <a:endParaRPr lang="ko-KR" altLang="en-US" sz="1200" dirty="0"/>
          </a:p>
        </p:txBody>
      </p:sp>
      <p:sp>
        <p:nvSpPr>
          <p:cNvPr id="9" name="矩形 8"/>
          <p:cNvSpPr/>
          <p:nvPr/>
        </p:nvSpPr>
        <p:spPr>
          <a:xfrm>
            <a:off x="6808479" y="5737412"/>
            <a:ext cx="2071687" cy="357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sz="1200" dirty="0"/>
              <a:t>Wrap-around </a:t>
            </a:r>
            <a:endParaRPr lang="ko-KR" altLang="en-US" sz="1200" dirty="0"/>
          </a:p>
        </p:txBody>
      </p:sp>
    </p:spTree>
    <p:extLst>
      <p:ext uri="{BB962C8B-B14F-4D97-AF65-F5344CB8AC3E}">
        <p14:creationId xmlns:p14="http://schemas.microsoft.com/office/powerpoint/2010/main" val="1757211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2209800" y="304800"/>
            <a:ext cx="7772400" cy="533400"/>
          </a:xfrm>
        </p:spPr>
        <p:txBody>
          <a:bodyPr rtlCol="0">
            <a:normAutofit fontScale="90000"/>
          </a:bodyPr>
          <a:lstStyle/>
          <a:p>
            <a:pPr>
              <a:defRPr/>
            </a:pPr>
            <a:r>
              <a:rPr lang="en-US" altLang="ko-KR"/>
              <a:t>Blurring</a:t>
            </a:r>
          </a:p>
        </p:txBody>
      </p:sp>
      <p:sp>
        <p:nvSpPr>
          <p:cNvPr id="10243" name="Rectangle 3"/>
          <p:cNvSpPr>
            <a:spLocks noGrp="1" noChangeArrowheads="1"/>
          </p:cNvSpPr>
          <p:nvPr>
            <p:ph idx="1"/>
          </p:nvPr>
        </p:nvSpPr>
        <p:spPr>
          <a:xfrm>
            <a:off x="1524000" y="914400"/>
            <a:ext cx="9144000" cy="5181600"/>
          </a:xfrm>
        </p:spPr>
        <p:txBody>
          <a:bodyPr/>
          <a:lstStyle/>
          <a:p>
            <a:pPr eaLnBrk="1" hangingPunct="1"/>
            <a:r>
              <a:rPr lang="en-US" altLang="ko-KR" dirty="0"/>
              <a:t>Blurring</a:t>
            </a:r>
          </a:p>
          <a:p>
            <a:pPr lvl="1" eaLnBrk="1" hangingPunct="1"/>
            <a:r>
              <a:rPr lang="en-US" altLang="ko-KR" dirty="0">
                <a:solidFill>
                  <a:srgbClr val="FF0000"/>
                </a:solidFill>
                <a:latin typeface="Book Antiqua" panose="02040602050305030304" pitchFamily="18" charset="0"/>
              </a:rPr>
              <a:t>Blurring</a:t>
            </a:r>
            <a:r>
              <a:rPr lang="en-US" altLang="ko-KR" dirty="0">
                <a:latin typeface="Book Antiqua" panose="02040602050305030304" pitchFamily="18" charset="0"/>
              </a:rPr>
              <a:t> (</a:t>
            </a:r>
            <a:r>
              <a:rPr lang="en-US" altLang="ko-KR" dirty="0">
                <a:solidFill>
                  <a:srgbClr val="FF0000"/>
                </a:solidFill>
                <a:latin typeface="Book Antiqua" panose="02040602050305030304" pitchFamily="18" charset="0"/>
              </a:rPr>
              <a:t>low-pass spatial filtering)</a:t>
            </a:r>
            <a:endParaRPr lang="en-US" altLang="ko-KR" dirty="0">
              <a:latin typeface="Book Antiqua" panose="02040602050305030304" pitchFamily="18" charset="0"/>
            </a:endParaRPr>
          </a:p>
          <a:p>
            <a:pPr lvl="2" eaLnBrk="1" hangingPunct="1"/>
            <a:r>
              <a:rPr lang="en-US" altLang="ko-KR" dirty="0">
                <a:latin typeface="Book Antiqua" panose="02040602050305030304" pitchFamily="18" charset="0"/>
              </a:rPr>
              <a:t>Removes the finer details of an image. </a:t>
            </a:r>
          </a:p>
          <a:p>
            <a:pPr lvl="2" eaLnBrk="1" hangingPunct="1"/>
            <a:r>
              <a:rPr lang="en-US" altLang="ko-KR" dirty="0">
                <a:latin typeface="Book Antiqua" panose="02040602050305030304" pitchFamily="18" charset="0"/>
              </a:rPr>
              <a:t>Can be accomplished through convolution</a:t>
            </a:r>
            <a:r>
              <a:rPr lang="en-US" altLang="ko-KR" u="sng" dirty="0">
                <a:latin typeface="Book Antiqua" panose="02040602050305030304" pitchFamily="18" charset="0"/>
              </a:rPr>
              <a:t>.</a:t>
            </a:r>
            <a:r>
              <a:rPr lang="en-US" altLang="ko-KR" dirty="0">
                <a:latin typeface="Book Antiqua" panose="02040602050305030304" pitchFamily="18" charset="0"/>
              </a:rPr>
              <a:t> </a:t>
            </a:r>
          </a:p>
          <a:p>
            <a:pPr lvl="1" eaLnBrk="1" hangingPunct="1"/>
            <a:r>
              <a:rPr lang="en-US" altLang="ko-KR" dirty="0">
                <a:latin typeface="Book Antiqua" panose="02040602050305030304" pitchFamily="18" charset="0"/>
              </a:rPr>
              <a:t>One common blurring mask</a:t>
            </a:r>
          </a:p>
          <a:p>
            <a:pPr lvl="2" eaLnBrk="1" hangingPunct="1"/>
            <a:r>
              <a:rPr lang="en-US" altLang="ko-KR" dirty="0">
                <a:latin typeface="Book Antiqua" panose="02040602050305030304" pitchFamily="18" charset="0"/>
              </a:rPr>
              <a:t> all convolution coefficients are equal.</a:t>
            </a:r>
          </a:p>
          <a:p>
            <a:pPr lvl="2" eaLnBrk="1" hangingPunct="1"/>
            <a:r>
              <a:rPr lang="en-US" altLang="ko-KR" dirty="0">
                <a:latin typeface="Book Antiqua" panose="02040602050305030304" pitchFamily="18" charset="0"/>
              </a:rPr>
              <a:t> In a 3 X 3 mask, all the elements equal 1/9, </a:t>
            </a:r>
          </a:p>
          <a:p>
            <a:pPr lvl="2" eaLnBrk="1" hangingPunct="1"/>
            <a:r>
              <a:rPr lang="en-US" altLang="ko-KR" dirty="0">
                <a:latin typeface="Book Antiqua" panose="02040602050305030304" pitchFamily="18" charset="0"/>
              </a:rPr>
              <a:t> In a 5 X 5 mask, all elements equal 1/25.</a:t>
            </a:r>
          </a:p>
          <a:p>
            <a:pPr lvl="2" eaLnBrk="1" hangingPunct="1"/>
            <a:r>
              <a:rPr lang="en-US" altLang="ko-KR" dirty="0">
                <a:latin typeface="Book Antiqua" panose="02040602050305030304" pitchFamily="18" charset="0"/>
              </a:rPr>
              <a:t>The bigger the mask, the greater the blurring effect.                   </a:t>
            </a:r>
          </a:p>
          <a:p>
            <a:pPr lvl="1" eaLnBrk="1" hangingPunct="1">
              <a:buFont typeface="Wingdings" panose="05000000000000000000" pitchFamily="2" charset="2"/>
              <a:buNone/>
            </a:pPr>
            <a:r>
              <a:rPr lang="en-US" altLang="ko-KR" dirty="0">
                <a:latin typeface="Book Antiqua" panose="02040602050305030304" pitchFamily="18" charset="0"/>
              </a:rPr>
              <a:t>                  3 X 3 MASK                    5 X 5 MASK </a:t>
            </a:r>
            <a:endParaRPr lang="en-US" altLang="ko-KR" dirty="0"/>
          </a:p>
          <a:p>
            <a:pPr lvl="1" eaLnBrk="1" hangingPunct="1">
              <a:buFont typeface="Wingdings" panose="05000000000000000000" pitchFamily="2" charset="2"/>
              <a:buNone/>
            </a:pPr>
            <a:endParaRPr lang="en-US" altLang="ko-KR" dirty="0"/>
          </a:p>
          <a:p>
            <a:pPr lvl="1" eaLnBrk="1" hangingPunct="1"/>
            <a:endParaRPr lang="en-US" altLang="ko-KR" dirty="0"/>
          </a:p>
          <a:p>
            <a:pPr lvl="1" eaLnBrk="1" hangingPunct="1"/>
            <a:endParaRPr lang="en-US" altLang="ko-KR" dirty="0"/>
          </a:p>
        </p:txBody>
      </p:sp>
      <p:sp>
        <p:nvSpPr>
          <p:cNvPr id="11" name="灯片编号占位符 4"/>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fld id="{05E8599D-1FE3-4C2B-A007-09F959905210}" type="slidenum">
              <a:rPr lang="en-US" altLang="ko-KR" sz="1200">
                <a:solidFill>
                  <a:srgbClr val="898989"/>
                </a:solidFill>
              </a:rPr>
              <a:pPr eaLnBrk="1" hangingPunct="1"/>
              <a:t>16</a:t>
            </a:fld>
            <a:endParaRPr lang="en-US" altLang="ko-KR" sz="1200">
              <a:solidFill>
                <a:srgbClr val="898989"/>
              </a:solidFill>
            </a:endParaRPr>
          </a:p>
        </p:txBody>
      </p:sp>
      <p:sp>
        <p:nvSpPr>
          <p:cNvPr id="10246" name="Rectangle 4"/>
          <p:cNvSpPr>
            <a:spLocks noChangeArrowheads="1"/>
          </p:cNvSpPr>
          <p:nvPr/>
        </p:nvSpPr>
        <p:spPr bwMode="auto">
          <a:xfrm>
            <a:off x="1412875" y="1203326"/>
            <a:ext cx="914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endParaRPr lang="en-US" altLang="ko-KR"/>
          </a:p>
          <a:p>
            <a:pPr lvl="1" latinLnBrk="0"/>
            <a:endParaRPr lang="en-US" altLang="ko-KR"/>
          </a:p>
        </p:txBody>
      </p:sp>
      <p:sp>
        <p:nvSpPr>
          <p:cNvPr id="10247" name="Rectangle 5"/>
          <p:cNvSpPr>
            <a:spLocks noChangeArrowheads="1"/>
          </p:cNvSpPr>
          <p:nvPr/>
        </p:nvSpPr>
        <p:spPr bwMode="auto">
          <a:xfrm>
            <a:off x="1412875" y="4832351"/>
            <a:ext cx="914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endParaRPr lang="en-US" altLang="ko-KR"/>
          </a:p>
          <a:p>
            <a:pPr latinLnBrk="0"/>
            <a:endParaRPr lang="en-US" altLang="ko-KR"/>
          </a:p>
        </p:txBody>
      </p:sp>
      <p:pic>
        <p:nvPicPr>
          <p:cNvPr id="10248" name="Picture 6" descr="blurring_htm_eqn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6877" y="4746420"/>
            <a:ext cx="1749425"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9" name="Rectangle 7"/>
          <p:cNvSpPr>
            <a:spLocks noChangeArrowheads="1"/>
          </p:cNvSpPr>
          <p:nvPr/>
        </p:nvSpPr>
        <p:spPr bwMode="auto">
          <a:xfrm>
            <a:off x="1412875" y="1455739"/>
            <a:ext cx="914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endParaRPr lang="en-US" altLang="ko-KR"/>
          </a:p>
          <a:p>
            <a:pPr lvl="1" latinLnBrk="0"/>
            <a:endParaRPr lang="en-US" altLang="ko-KR"/>
          </a:p>
        </p:txBody>
      </p:sp>
      <p:sp>
        <p:nvSpPr>
          <p:cNvPr id="10250" name="Rectangle 8"/>
          <p:cNvSpPr>
            <a:spLocks noChangeArrowheads="1"/>
          </p:cNvSpPr>
          <p:nvPr/>
        </p:nvSpPr>
        <p:spPr bwMode="auto">
          <a:xfrm>
            <a:off x="1381125" y="4572001"/>
            <a:ext cx="914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endParaRPr lang="en-US" altLang="ko-KR"/>
          </a:p>
          <a:p>
            <a:pPr latinLnBrk="0"/>
            <a:endParaRPr lang="en-US" altLang="ko-KR"/>
          </a:p>
        </p:txBody>
      </p:sp>
      <p:pic>
        <p:nvPicPr>
          <p:cNvPr id="10251" name="Picture 9" descr="blurring_htm_eq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6159" y="4812301"/>
            <a:ext cx="1371600"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3681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ko-KR"/>
              <a:t>Blurring</a:t>
            </a:r>
          </a:p>
        </p:txBody>
      </p:sp>
      <p:sp>
        <p:nvSpPr>
          <p:cNvPr id="12" name="灯片编号占位符 4"/>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fld id="{18DCAB5D-447F-42CE-B858-67DD1729D7FE}" type="slidenum">
              <a:rPr lang="en-US" altLang="ko-KR" sz="1200">
                <a:solidFill>
                  <a:srgbClr val="898989"/>
                </a:solidFill>
              </a:rPr>
              <a:pPr eaLnBrk="1" hangingPunct="1"/>
              <a:t>17</a:t>
            </a:fld>
            <a:endParaRPr lang="en-US" altLang="ko-KR" sz="1200">
              <a:solidFill>
                <a:srgbClr val="898989"/>
              </a:solidFill>
            </a:endParaRPr>
          </a:p>
        </p:txBody>
      </p:sp>
      <p:pic>
        <p:nvPicPr>
          <p:cNvPr id="11269" name="Picture 3" descr="bedrehem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776" y="1111250"/>
            <a:ext cx="3228975" cy="245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4" descr="3x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1250" y="1111250"/>
            <a:ext cx="3221038" cy="244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1" name="Picture 5" descr="5x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1775" y="3983039"/>
            <a:ext cx="3240088"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2" name="Picture 6" descr="7x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10300" y="3976688"/>
            <a:ext cx="3227388" cy="245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3" name="Text Box 7"/>
          <p:cNvSpPr txBox="1">
            <a:spLocks noChangeArrowheads="1"/>
          </p:cNvSpPr>
          <p:nvPr/>
        </p:nvSpPr>
        <p:spPr bwMode="auto">
          <a:xfrm>
            <a:off x="3563938" y="3479801"/>
            <a:ext cx="1733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latinLnBrk="0" hangingPunct="1"/>
            <a:r>
              <a:rPr lang="en-US" altLang="ko-KR" sz="1800" b="1">
                <a:latin typeface="굴림" panose="020B0600000101010101" pitchFamily="34" charset="-127"/>
              </a:rPr>
              <a:t>Original Image</a:t>
            </a:r>
            <a:endParaRPr lang="en-US" altLang="ko-KR" sz="1800" b="1">
              <a:cs typeface="Arial" panose="020B0604020202020204" pitchFamily="34" charset="0"/>
            </a:endParaRPr>
          </a:p>
        </p:txBody>
      </p:sp>
      <p:sp>
        <p:nvSpPr>
          <p:cNvPr id="11274" name="Text Box 8"/>
          <p:cNvSpPr txBox="1">
            <a:spLocks noChangeArrowheads="1"/>
          </p:cNvSpPr>
          <p:nvPr/>
        </p:nvSpPr>
        <p:spPr bwMode="auto">
          <a:xfrm>
            <a:off x="7208839" y="3489326"/>
            <a:ext cx="14684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latinLnBrk="0" hangingPunct="1"/>
            <a:r>
              <a:rPr lang="en-US" altLang="ko-KR" sz="1800" b="1">
                <a:latin typeface="굴림" panose="020B0600000101010101" pitchFamily="34" charset="-127"/>
              </a:rPr>
              <a:t>3X3 blurring</a:t>
            </a:r>
            <a:endParaRPr lang="en-US" altLang="ko-KR" sz="1800" b="1">
              <a:cs typeface="Arial" panose="020B0604020202020204" pitchFamily="34" charset="0"/>
            </a:endParaRPr>
          </a:p>
        </p:txBody>
      </p:sp>
      <p:sp>
        <p:nvSpPr>
          <p:cNvPr id="11275" name="Text Box 9"/>
          <p:cNvSpPr txBox="1">
            <a:spLocks noChangeArrowheads="1"/>
          </p:cNvSpPr>
          <p:nvPr/>
        </p:nvSpPr>
        <p:spPr bwMode="auto">
          <a:xfrm>
            <a:off x="7275514" y="6367463"/>
            <a:ext cx="15255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latinLnBrk="0" hangingPunct="1"/>
            <a:r>
              <a:rPr lang="en-US" altLang="ko-KR" sz="1800" b="1">
                <a:latin typeface="굴림" panose="020B0600000101010101" pitchFamily="34" charset="-127"/>
              </a:rPr>
              <a:t>7X7 blurring</a:t>
            </a:r>
            <a:endParaRPr lang="en-US" altLang="ko-KR" sz="1800" b="1">
              <a:cs typeface="Arial" panose="020B0604020202020204" pitchFamily="34" charset="0"/>
            </a:endParaRPr>
          </a:p>
        </p:txBody>
      </p:sp>
      <p:sp>
        <p:nvSpPr>
          <p:cNvPr id="11276" name="Text Box 10"/>
          <p:cNvSpPr txBox="1">
            <a:spLocks noChangeArrowheads="1"/>
          </p:cNvSpPr>
          <p:nvPr/>
        </p:nvSpPr>
        <p:spPr bwMode="auto">
          <a:xfrm>
            <a:off x="3808414" y="6376988"/>
            <a:ext cx="15255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latinLnBrk="0" hangingPunct="1"/>
            <a:r>
              <a:rPr lang="en-US" altLang="ko-KR" sz="1800" b="1">
                <a:latin typeface="굴림" panose="020B0600000101010101" pitchFamily="34" charset="-127"/>
              </a:rPr>
              <a:t>5X5 blurring</a:t>
            </a:r>
            <a:endParaRPr lang="en-US" altLang="ko-KR" sz="1800" b="1">
              <a:cs typeface="Arial" panose="020B0604020202020204" pitchFamily="34" charset="0"/>
            </a:endParaRPr>
          </a:p>
        </p:txBody>
      </p:sp>
    </p:spTree>
    <p:extLst>
      <p:ext uri="{BB962C8B-B14F-4D97-AF65-F5344CB8AC3E}">
        <p14:creationId xmlns:p14="http://schemas.microsoft.com/office/powerpoint/2010/main" val="3421433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209800" y="0"/>
            <a:ext cx="7772400" cy="1143000"/>
          </a:xfrm>
        </p:spPr>
        <p:txBody>
          <a:bodyPr/>
          <a:lstStyle/>
          <a:p>
            <a:pPr eaLnBrk="1" hangingPunct="1"/>
            <a:r>
              <a:rPr lang="en-US" altLang="ko-KR"/>
              <a:t>Blurring Example</a:t>
            </a:r>
          </a:p>
        </p:txBody>
      </p:sp>
      <p:graphicFrame>
        <p:nvGraphicFramePr>
          <p:cNvPr id="12293" name="Object 3"/>
          <p:cNvGraphicFramePr>
            <a:graphicFrameLocks noChangeAspect="1"/>
          </p:cNvGraphicFramePr>
          <p:nvPr>
            <p:extLst>
              <p:ext uri="{D42A27DB-BD31-4B8C-83A1-F6EECF244321}">
                <p14:modId xmlns:p14="http://schemas.microsoft.com/office/powerpoint/2010/main" val="2664345170"/>
              </p:ext>
            </p:extLst>
          </p:nvPr>
        </p:nvGraphicFramePr>
        <p:xfrm>
          <a:off x="1620275" y="708852"/>
          <a:ext cx="6366535" cy="5182902"/>
        </p:xfrm>
        <a:graphic>
          <a:graphicData uri="http://schemas.openxmlformats.org/presentationml/2006/ole">
            <mc:AlternateContent xmlns:mc="http://schemas.openxmlformats.org/markup-compatibility/2006">
              <mc:Choice xmlns:v="urn:schemas-microsoft-com:vml" Requires="v">
                <p:oleObj name="비트맵 이미지" r:id="rId2" imgW="6304762" imgH="5133333" progId="Paint.Picture">
                  <p:embed/>
                </p:oleObj>
              </mc:Choice>
              <mc:Fallback>
                <p:oleObj name="비트맵 이미지" r:id="rId2" imgW="6304762" imgH="5133333"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0275" y="708852"/>
                        <a:ext cx="6366535" cy="518290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1977920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ko-KR" sz="3200"/>
              <a:t>Gaussian Smoothing Filters for Burring</a:t>
            </a:r>
          </a:p>
        </p:txBody>
      </p:sp>
      <p:sp>
        <p:nvSpPr>
          <p:cNvPr id="13315" name="Rectangle 3"/>
          <p:cNvSpPr>
            <a:spLocks noGrp="1" noChangeArrowheads="1"/>
          </p:cNvSpPr>
          <p:nvPr>
            <p:ph idx="1"/>
          </p:nvPr>
        </p:nvSpPr>
        <p:spPr>
          <a:xfrm>
            <a:off x="665163" y="1117600"/>
            <a:ext cx="8535988" cy="5181600"/>
          </a:xfrm>
        </p:spPr>
        <p:txBody>
          <a:bodyPr/>
          <a:lstStyle/>
          <a:p>
            <a:pPr eaLnBrk="1" hangingPunct="1">
              <a:lnSpc>
                <a:spcPct val="80000"/>
              </a:lnSpc>
            </a:pPr>
            <a:r>
              <a:rPr lang="en-US" altLang="ko-KR" dirty="0">
                <a:latin typeface="Book Antiqua" panose="02040602050305030304" pitchFamily="18" charset="0"/>
              </a:rPr>
              <a:t>Gaussian smoothing filters &amp; mask approximation </a:t>
            </a:r>
          </a:p>
          <a:p>
            <a:pPr lvl="1" eaLnBrk="1" hangingPunct="1">
              <a:lnSpc>
                <a:spcPct val="80000"/>
              </a:lnSpc>
            </a:pPr>
            <a:endParaRPr lang="en-US" altLang="ko-KR" b="1" dirty="0">
              <a:latin typeface="Book Antiqua" panose="02040602050305030304" pitchFamily="18" charset="0"/>
            </a:endParaRPr>
          </a:p>
          <a:p>
            <a:pPr lvl="1" eaLnBrk="1" hangingPunct="1"/>
            <a:endParaRPr lang="en-US" altLang="ko-KR" b="1" dirty="0">
              <a:latin typeface="Book Antiqua" panose="02040602050305030304" pitchFamily="18" charset="0"/>
            </a:endParaRPr>
          </a:p>
          <a:p>
            <a:pPr lvl="1" eaLnBrk="1" hangingPunct="1"/>
            <a:endParaRPr lang="en-US" altLang="ko-KR" b="1" dirty="0">
              <a:latin typeface="Book Antiqua" panose="02040602050305030304" pitchFamily="18" charset="0"/>
            </a:endParaRPr>
          </a:p>
          <a:p>
            <a:pPr lvl="1" eaLnBrk="1" hangingPunct="1">
              <a:lnSpc>
                <a:spcPct val="70000"/>
              </a:lnSpc>
              <a:buFont typeface="Arial" panose="020B0604020202020204" pitchFamily="34" charset="0"/>
              <a:buNone/>
            </a:pPr>
            <a:r>
              <a:rPr lang="en-US" altLang="ko-KR" dirty="0">
                <a:latin typeface="Book Antiqua" panose="02040602050305030304" pitchFamily="18" charset="0"/>
              </a:rPr>
              <a:t>    </a:t>
            </a:r>
          </a:p>
          <a:p>
            <a:pPr lvl="1" eaLnBrk="1" hangingPunct="1">
              <a:lnSpc>
                <a:spcPct val="70000"/>
              </a:lnSpc>
              <a:buFont typeface="Arial" panose="020B0604020202020204" pitchFamily="34" charset="0"/>
              <a:buNone/>
            </a:pPr>
            <a:endParaRPr lang="en-US" altLang="ko-KR" sz="2400" dirty="0">
              <a:latin typeface="Book Antiqua" panose="02040602050305030304" pitchFamily="18" charset="0"/>
            </a:endParaRPr>
          </a:p>
          <a:p>
            <a:pPr lvl="1" eaLnBrk="1" hangingPunct="1">
              <a:lnSpc>
                <a:spcPct val="70000"/>
              </a:lnSpc>
              <a:buFont typeface="Arial" panose="020B0604020202020204" pitchFamily="34" charset="0"/>
              <a:buNone/>
            </a:pPr>
            <a:r>
              <a:rPr lang="en-US" altLang="ko-KR" sz="2400" dirty="0">
                <a:latin typeface="Book Antiqua" panose="02040602050305030304" pitchFamily="18" charset="0"/>
              </a:rPr>
              <a:t>       controls the effective </a:t>
            </a:r>
            <a:r>
              <a:rPr lang="en-US" altLang="ko-KR" sz="2400">
                <a:latin typeface="Book Antiqua" panose="02040602050305030304" pitchFamily="18" charset="0"/>
              </a:rPr>
              <a:t>spread &amp; </a:t>
            </a:r>
            <a:r>
              <a:rPr lang="en-US" altLang="ko-KR" sz="2400" dirty="0">
                <a:latin typeface="Book Antiqua" panose="02040602050305030304" pitchFamily="18" charset="0"/>
              </a:rPr>
              <a:t>size of the mask.</a:t>
            </a:r>
          </a:p>
        </p:txBody>
      </p:sp>
      <p:sp>
        <p:nvSpPr>
          <p:cNvPr id="13" name="灯片编号占位符 4"/>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fld id="{D4A5DD57-194C-4511-B9A8-1CAB3C499BD9}" type="slidenum">
              <a:rPr lang="en-US" altLang="ko-KR" sz="1200">
                <a:solidFill>
                  <a:srgbClr val="898989"/>
                </a:solidFill>
              </a:rPr>
              <a:pPr eaLnBrk="1" hangingPunct="1"/>
              <a:t>19</a:t>
            </a:fld>
            <a:endParaRPr lang="en-US" altLang="ko-KR" sz="1200">
              <a:solidFill>
                <a:srgbClr val="898989"/>
              </a:solidFill>
            </a:endParaRPr>
          </a:p>
        </p:txBody>
      </p:sp>
      <p:pic>
        <p:nvPicPr>
          <p:cNvPr id="13318" name="Picture 4" descr="gaussian_htm_eqn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4457" y="1695783"/>
            <a:ext cx="1997075"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319" name="Object 5"/>
          <p:cNvGraphicFramePr>
            <a:graphicFrameLocks noChangeAspect="1"/>
          </p:cNvGraphicFramePr>
          <p:nvPr>
            <p:extLst>
              <p:ext uri="{D42A27DB-BD31-4B8C-83A1-F6EECF244321}">
                <p14:modId xmlns:p14="http://schemas.microsoft.com/office/powerpoint/2010/main" val="2397787018"/>
              </p:ext>
            </p:extLst>
          </p:nvPr>
        </p:nvGraphicFramePr>
        <p:xfrm>
          <a:off x="5493485" y="1616243"/>
          <a:ext cx="1216025" cy="1141412"/>
        </p:xfrm>
        <a:graphic>
          <a:graphicData uri="http://schemas.openxmlformats.org/presentationml/2006/ole">
            <mc:AlternateContent xmlns:mc="http://schemas.openxmlformats.org/markup-compatibility/2006">
              <mc:Choice xmlns:v="urn:schemas-microsoft-com:vml" Requires="v">
                <p:oleObj name="Equation" r:id="rId3" imgW="1257300" imgH="711200" progId="Equation.3">
                  <p:embed/>
                </p:oleObj>
              </mc:Choice>
              <mc:Fallback>
                <p:oleObj name="Equation" r:id="rId3" imgW="1257300" imgH="711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3485" y="1616243"/>
                        <a:ext cx="1216025" cy="1141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3320" name="Picture 6" descr="bedrehem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2665" y="3900156"/>
            <a:ext cx="3228975" cy="245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1" name="Text Box 7"/>
          <p:cNvSpPr txBox="1">
            <a:spLocks noChangeArrowheads="1"/>
          </p:cNvSpPr>
          <p:nvPr/>
        </p:nvSpPr>
        <p:spPr bwMode="auto">
          <a:xfrm>
            <a:off x="3176058" y="6354743"/>
            <a:ext cx="173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latinLnBrk="0" hangingPunct="1"/>
            <a:r>
              <a:rPr lang="en-US" altLang="ko-KR" sz="1800" b="1">
                <a:latin typeface="굴림" panose="020B0600000101010101" pitchFamily="34" charset="-127"/>
              </a:rPr>
              <a:t>Original Image</a:t>
            </a:r>
            <a:endParaRPr lang="en-US" altLang="ko-KR" sz="1800" b="1">
              <a:cs typeface="Arial" panose="020B0604020202020204" pitchFamily="34" charset="0"/>
            </a:endParaRPr>
          </a:p>
        </p:txBody>
      </p:sp>
      <p:sp>
        <p:nvSpPr>
          <p:cNvPr id="13322" name="Text Box 8"/>
          <p:cNvSpPr txBox="1">
            <a:spLocks noChangeArrowheads="1"/>
          </p:cNvSpPr>
          <p:nvPr/>
        </p:nvSpPr>
        <p:spPr bwMode="auto">
          <a:xfrm>
            <a:off x="6367929" y="6354743"/>
            <a:ext cx="20653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latinLnBrk="0" hangingPunct="1"/>
            <a:r>
              <a:rPr lang="en-US" altLang="ko-KR" sz="1800" b="1">
                <a:latin typeface="굴림" panose="020B0600000101010101" pitchFamily="34" charset="-127"/>
              </a:rPr>
              <a:t>Gaussian Filtering</a:t>
            </a:r>
            <a:endParaRPr lang="en-US" altLang="ko-KR" sz="1800" b="1">
              <a:cs typeface="Arial" panose="020B0604020202020204" pitchFamily="34" charset="0"/>
            </a:endParaRPr>
          </a:p>
        </p:txBody>
      </p:sp>
      <p:pic>
        <p:nvPicPr>
          <p:cNvPr id="13323" name="Picture 9" descr="gaussia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19818" y="3879456"/>
            <a:ext cx="3230563" cy="245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325" name="Object 11"/>
          <p:cNvGraphicFramePr>
            <a:graphicFrameLocks noChangeAspect="1"/>
          </p:cNvGraphicFramePr>
          <p:nvPr>
            <p:extLst>
              <p:ext uri="{D42A27DB-BD31-4B8C-83A1-F6EECF244321}">
                <p14:modId xmlns:p14="http://schemas.microsoft.com/office/powerpoint/2010/main" val="4122704911"/>
              </p:ext>
            </p:extLst>
          </p:nvPr>
        </p:nvGraphicFramePr>
        <p:xfrm>
          <a:off x="1323695" y="3213847"/>
          <a:ext cx="304800" cy="279400"/>
        </p:xfrm>
        <a:graphic>
          <a:graphicData uri="http://schemas.openxmlformats.org/presentationml/2006/ole">
            <mc:AlternateContent xmlns:mc="http://schemas.openxmlformats.org/markup-compatibility/2006">
              <mc:Choice xmlns:v="urn:schemas-microsoft-com:vml" Requires="v">
                <p:oleObj name="Equation" r:id="rId7" imgW="152334" imgH="139639" progId="Equation.3">
                  <p:embed/>
                </p:oleObj>
              </mc:Choice>
              <mc:Fallback>
                <p:oleObj name="Equation" r:id="rId7" imgW="152334" imgH="139639"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23695" y="3213847"/>
                        <a:ext cx="3048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 name="Picture 1"/>
          <p:cNvPicPr>
            <a:picLocks noChangeAspect="1"/>
          </p:cNvPicPr>
          <p:nvPr/>
        </p:nvPicPr>
        <p:blipFill>
          <a:blip r:embed="rId9"/>
          <a:stretch>
            <a:fillRect/>
          </a:stretch>
        </p:blipFill>
        <p:spPr>
          <a:xfrm>
            <a:off x="8326288" y="1254003"/>
            <a:ext cx="3199373" cy="2521859"/>
          </a:xfrm>
          <a:prstGeom prst="rect">
            <a:avLst/>
          </a:prstGeom>
        </p:spPr>
      </p:pic>
    </p:spTree>
    <p:extLst>
      <p:ext uri="{BB962C8B-B14F-4D97-AF65-F5344CB8AC3E}">
        <p14:creationId xmlns:p14="http://schemas.microsoft.com/office/powerpoint/2010/main" val="3661403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ko-KR"/>
              <a:t>Sharpening</a:t>
            </a:r>
          </a:p>
        </p:txBody>
      </p:sp>
      <p:sp>
        <p:nvSpPr>
          <p:cNvPr id="14339" name="Rectangle 3"/>
          <p:cNvSpPr>
            <a:spLocks noGrp="1" noChangeArrowheads="1"/>
          </p:cNvSpPr>
          <p:nvPr>
            <p:ph idx="1"/>
          </p:nvPr>
        </p:nvSpPr>
        <p:spPr>
          <a:xfrm>
            <a:off x="677334" y="1783516"/>
            <a:ext cx="8596668" cy="3880773"/>
          </a:xfrm>
        </p:spPr>
        <p:txBody>
          <a:bodyPr/>
          <a:lstStyle/>
          <a:p>
            <a:pPr eaLnBrk="1" hangingPunct="1"/>
            <a:r>
              <a:rPr lang="en-US" altLang="ko-KR" dirty="0"/>
              <a:t>Sharpening</a:t>
            </a:r>
          </a:p>
          <a:p>
            <a:pPr lvl="1" eaLnBrk="1" hangingPunct="1"/>
            <a:r>
              <a:rPr lang="en-US" altLang="ko-KR" dirty="0">
                <a:latin typeface="Book Antiqua" panose="02040602050305030304" pitchFamily="18" charset="0"/>
              </a:rPr>
              <a:t>Sharpening has the opposite affect of blurring. </a:t>
            </a:r>
          </a:p>
          <a:p>
            <a:pPr lvl="1" eaLnBrk="1" hangingPunct="1"/>
            <a:r>
              <a:rPr lang="en-US" altLang="ko-KR" dirty="0">
                <a:latin typeface="Book Antiqua" panose="02040602050305030304" pitchFamily="18" charset="0"/>
              </a:rPr>
              <a:t>Sharpening, also referred to as crispening, emphasizes the details in an image. </a:t>
            </a:r>
          </a:p>
          <a:p>
            <a:pPr lvl="1" eaLnBrk="1" hangingPunct="1"/>
            <a:r>
              <a:rPr lang="en-US" altLang="ko-KR" dirty="0">
                <a:latin typeface="Book Antiqua" panose="02040602050305030304" pitchFamily="18" charset="0"/>
              </a:rPr>
              <a:t>Sharpening an image will increase its contrast.</a:t>
            </a:r>
          </a:p>
          <a:p>
            <a:pPr lvl="1" eaLnBrk="1" hangingPunct="1"/>
            <a:r>
              <a:rPr lang="en-US" altLang="ko-KR" dirty="0">
                <a:latin typeface="Book Antiqua" panose="02040602050305030304" pitchFamily="18" charset="0"/>
              </a:rPr>
              <a:t>Some sharpening mask:</a:t>
            </a:r>
            <a:endParaRPr lang="en-US" altLang="ko-KR" dirty="0"/>
          </a:p>
          <a:p>
            <a:pPr eaLnBrk="1" hangingPunct="1"/>
            <a:endParaRPr lang="en-US" altLang="ko-KR" dirty="0"/>
          </a:p>
        </p:txBody>
      </p:sp>
      <p:graphicFrame>
        <p:nvGraphicFramePr>
          <p:cNvPr id="14342" name="Object 2048"/>
          <p:cNvGraphicFramePr>
            <a:graphicFrameLocks noChangeAspect="1"/>
          </p:cNvGraphicFramePr>
          <p:nvPr>
            <p:extLst>
              <p:ext uri="{D42A27DB-BD31-4B8C-83A1-F6EECF244321}">
                <p14:modId xmlns:p14="http://schemas.microsoft.com/office/powerpoint/2010/main" val="3988312919"/>
              </p:ext>
            </p:extLst>
          </p:nvPr>
        </p:nvGraphicFramePr>
        <p:xfrm>
          <a:off x="2019818" y="4035232"/>
          <a:ext cx="4267200" cy="1495425"/>
        </p:xfrm>
        <a:graphic>
          <a:graphicData uri="http://schemas.openxmlformats.org/presentationml/2006/ole">
            <mc:AlternateContent xmlns:mc="http://schemas.openxmlformats.org/markup-compatibility/2006">
              <mc:Choice xmlns:v="urn:schemas-microsoft-com:vml" Requires="v">
                <p:oleObj name="Equation" r:id="rId2" imgW="3302000" imgH="711200" progId="Equation.3">
                  <p:embed/>
                </p:oleObj>
              </mc:Choice>
              <mc:Fallback>
                <p:oleObj name="Equation" r:id="rId2" imgW="3302000" imgH="711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9818" y="4035232"/>
                        <a:ext cx="4267200" cy="1495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57489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ko-KR"/>
              <a:t>Sharpening(Cont</a:t>
            </a:r>
            <a:r>
              <a:rPr lang="en-US" altLang="ko-KR">
                <a:latin typeface="Times New Roman" panose="02020603050405020304" pitchFamily="18" charset="0"/>
              </a:rPr>
              <a:t>’</a:t>
            </a:r>
            <a:r>
              <a:rPr lang="en-US" altLang="ko-KR"/>
              <a:t>d)</a:t>
            </a:r>
          </a:p>
        </p:txBody>
      </p:sp>
      <p:sp>
        <p:nvSpPr>
          <p:cNvPr id="33795" name="Rectangle 3"/>
          <p:cNvSpPr>
            <a:spLocks noGrp="1" noChangeArrowheads="1"/>
          </p:cNvSpPr>
          <p:nvPr>
            <p:ph idx="1"/>
          </p:nvPr>
        </p:nvSpPr>
        <p:spPr/>
        <p:txBody>
          <a:bodyPr rtlCol="0">
            <a:normAutofit fontScale="70000" lnSpcReduction="20000"/>
          </a:bodyPr>
          <a:lstStyle/>
          <a:p>
            <a:pPr>
              <a:lnSpc>
                <a:spcPct val="90000"/>
              </a:lnSpc>
              <a:defRPr/>
            </a:pPr>
            <a:r>
              <a:rPr lang="en-US" altLang="ko-KR" sz="2400" dirty="0"/>
              <a:t>High pass Filter</a:t>
            </a:r>
          </a:p>
          <a:p>
            <a:pPr lvl="1">
              <a:lnSpc>
                <a:spcPct val="90000"/>
              </a:lnSpc>
              <a:defRPr/>
            </a:pPr>
            <a:r>
              <a:rPr lang="en-US" altLang="ko-KR" sz="2000" dirty="0">
                <a:latin typeface="Book Antiqua" pitchFamily="18" charset="0"/>
              </a:rPr>
              <a:t>Sharpening an image with the high filter.</a:t>
            </a:r>
          </a:p>
          <a:p>
            <a:pPr lvl="2">
              <a:lnSpc>
                <a:spcPct val="90000"/>
              </a:lnSpc>
              <a:defRPr/>
            </a:pPr>
            <a:r>
              <a:rPr lang="en-US" altLang="ko-KR" sz="1800" dirty="0">
                <a:latin typeface="Book Antiqua" pitchFamily="18" charset="0"/>
              </a:rPr>
              <a:t> A high pass filter will remove the low frequency components and show only high detail.</a:t>
            </a:r>
          </a:p>
          <a:p>
            <a:pPr lvl="2">
              <a:lnSpc>
                <a:spcPct val="90000"/>
              </a:lnSpc>
              <a:defRPr/>
            </a:pPr>
            <a:r>
              <a:rPr lang="en-US" altLang="ko-KR" sz="1800" dirty="0">
                <a:latin typeface="Book Antiqua" pitchFamily="18" charset="0"/>
              </a:rPr>
              <a:t>A common high pass filter mask: </a:t>
            </a:r>
          </a:p>
          <a:p>
            <a:pPr lvl="1">
              <a:lnSpc>
                <a:spcPct val="90000"/>
              </a:lnSpc>
              <a:defRPr/>
            </a:pPr>
            <a:endParaRPr lang="en-US" altLang="ko-KR" sz="2000" dirty="0">
              <a:latin typeface="Book Antiqua" pitchFamily="18" charset="0"/>
            </a:endParaRPr>
          </a:p>
          <a:p>
            <a:pPr lvl="1">
              <a:lnSpc>
                <a:spcPct val="90000"/>
              </a:lnSpc>
              <a:defRPr/>
            </a:pPr>
            <a:endParaRPr lang="en-US" altLang="ko-KR" sz="1200" dirty="0">
              <a:latin typeface="Book Antiqua" pitchFamily="18" charset="0"/>
            </a:endParaRPr>
          </a:p>
          <a:p>
            <a:pPr lvl="1">
              <a:lnSpc>
                <a:spcPct val="90000"/>
              </a:lnSpc>
              <a:defRPr/>
            </a:pPr>
            <a:endParaRPr lang="en-US" altLang="ko-KR" sz="2000" dirty="0">
              <a:latin typeface="Book Antiqua" pitchFamily="18" charset="0"/>
            </a:endParaRPr>
          </a:p>
          <a:p>
            <a:pPr>
              <a:lnSpc>
                <a:spcPct val="90000"/>
              </a:lnSpc>
              <a:defRPr/>
            </a:pPr>
            <a:r>
              <a:rPr lang="en-US" altLang="ko-KR" sz="2400" dirty="0" err="1">
                <a:latin typeface="Book Antiqua" pitchFamily="18" charset="0"/>
              </a:rPr>
              <a:t>Unsharp</a:t>
            </a:r>
            <a:r>
              <a:rPr lang="en-US" altLang="ko-KR" sz="2400" dirty="0">
                <a:latin typeface="Book Antiqua" pitchFamily="18" charset="0"/>
              </a:rPr>
              <a:t> masking : another method of </a:t>
            </a:r>
            <a:r>
              <a:rPr lang="en-US" altLang="ko-KR" sz="2400" dirty="0" err="1">
                <a:latin typeface="Book Antiqua" pitchFamily="18" charset="0"/>
              </a:rPr>
              <a:t>highpass</a:t>
            </a:r>
            <a:r>
              <a:rPr lang="en-US" altLang="ko-KR" sz="2400" dirty="0">
                <a:latin typeface="Book Antiqua" pitchFamily="18" charset="0"/>
              </a:rPr>
              <a:t> filtering </a:t>
            </a:r>
          </a:p>
          <a:p>
            <a:pPr lvl="1">
              <a:lnSpc>
                <a:spcPct val="90000"/>
              </a:lnSpc>
              <a:defRPr/>
            </a:pPr>
            <a:r>
              <a:rPr lang="en-US" altLang="ko-KR" sz="2000" dirty="0">
                <a:latin typeface="Book Antiqua" pitchFamily="18" charset="0"/>
              </a:rPr>
              <a:t>Subtract a </a:t>
            </a:r>
            <a:r>
              <a:rPr lang="en-US" altLang="ko-KR" sz="2000" dirty="0" err="1">
                <a:latin typeface="Book Antiqua" pitchFamily="18" charset="0"/>
              </a:rPr>
              <a:t>lowpass</a:t>
            </a:r>
            <a:r>
              <a:rPr lang="en-US" altLang="ko-KR" sz="2000" dirty="0">
                <a:latin typeface="Book Antiqua" pitchFamily="18" charset="0"/>
              </a:rPr>
              <a:t> filtered image from its original.</a:t>
            </a:r>
          </a:p>
          <a:p>
            <a:pPr>
              <a:lnSpc>
                <a:spcPct val="90000"/>
              </a:lnSpc>
              <a:defRPr/>
            </a:pPr>
            <a:r>
              <a:rPr lang="en-US" altLang="ko-KR" sz="2400" dirty="0">
                <a:latin typeface="Book Antiqua" pitchFamily="18" charset="0"/>
              </a:rPr>
              <a:t>High-boost filtering:</a:t>
            </a:r>
          </a:p>
          <a:p>
            <a:pPr lvl="1">
              <a:lnSpc>
                <a:spcPct val="90000"/>
              </a:lnSpc>
              <a:buNone/>
              <a:defRPr/>
            </a:pPr>
            <a:r>
              <a:rPr lang="en-US" altLang="ko-KR" sz="2000" dirty="0">
                <a:latin typeface="Book Antiqua" pitchFamily="18" charset="0"/>
              </a:rPr>
              <a:t>High - Boost =  </a:t>
            </a:r>
            <a:r>
              <a:rPr lang="en-US" altLang="ko-KR" sz="2000" dirty="0">
                <a:latin typeface="Book Antiqua" pitchFamily="18" charset="0"/>
                <a:sym typeface="Symbol" pitchFamily="18" charset="2"/>
              </a:rPr>
              <a:t></a:t>
            </a:r>
            <a:r>
              <a:rPr lang="en-US" altLang="ko-KR" sz="2000" dirty="0">
                <a:latin typeface="Book Antiqua" pitchFamily="18" charset="0"/>
              </a:rPr>
              <a:t>Original - </a:t>
            </a:r>
            <a:r>
              <a:rPr lang="en-US" altLang="ko-KR" sz="2000" dirty="0" err="1">
                <a:latin typeface="Book Antiqua" pitchFamily="18" charset="0"/>
              </a:rPr>
              <a:t>Lowpass</a:t>
            </a:r>
            <a:r>
              <a:rPr lang="en-US" altLang="ko-KR" sz="2000" dirty="0">
                <a:latin typeface="Book Antiqua" pitchFamily="18" charset="0"/>
              </a:rPr>
              <a:t> </a:t>
            </a:r>
          </a:p>
          <a:p>
            <a:pPr lvl="1">
              <a:lnSpc>
                <a:spcPct val="90000"/>
              </a:lnSpc>
              <a:buNone/>
              <a:defRPr/>
            </a:pPr>
            <a:r>
              <a:rPr lang="en-US" altLang="ko-KR" sz="2000" dirty="0">
                <a:latin typeface="Book Antiqua" pitchFamily="18" charset="0"/>
                <a:sym typeface="Symbol" pitchFamily="18" charset="2"/>
              </a:rPr>
              <a:t>When  = 1, the result is </a:t>
            </a:r>
            <a:r>
              <a:rPr lang="en-US" altLang="ko-KR" sz="2000" dirty="0" err="1">
                <a:latin typeface="Book Antiqua" pitchFamily="18" charset="0"/>
                <a:sym typeface="Symbol" pitchFamily="18" charset="2"/>
              </a:rPr>
              <a:t>highpass</a:t>
            </a:r>
            <a:r>
              <a:rPr lang="en-US" altLang="ko-KR" sz="2000" dirty="0">
                <a:latin typeface="Book Antiqua" pitchFamily="18" charset="0"/>
                <a:sym typeface="Symbol" pitchFamily="18" charset="2"/>
              </a:rPr>
              <a:t> filter.</a:t>
            </a:r>
          </a:p>
          <a:p>
            <a:pPr lvl="1">
              <a:lnSpc>
                <a:spcPct val="90000"/>
              </a:lnSpc>
              <a:buNone/>
              <a:defRPr/>
            </a:pPr>
            <a:r>
              <a:rPr lang="en-US" altLang="ko-KR" sz="2000" dirty="0">
                <a:latin typeface="Book Antiqua" pitchFamily="18" charset="0"/>
                <a:sym typeface="Symbol" pitchFamily="18" charset="2"/>
              </a:rPr>
              <a:t>When  &gt; 1, the effect is to restore low frequency</a:t>
            </a:r>
          </a:p>
          <a:p>
            <a:pPr lvl="1">
              <a:lnSpc>
                <a:spcPct val="90000"/>
              </a:lnSpc>
              <a:buNone/>
              <a:defRPr/>
            </a:pPr>
            <a:r>
              <a:rPr lang="en-US" altLang="ko-KR" sz="2000" dirty="0">
                <a:latin typeface="Book Antiqua" pitchFamily="18" charset="0"/>
                <a:sym typeface="Symbol" pitchFamily="18" charset="2"/>
              </a:rPr>
              <a:t>Component.</a:t>
            </a:r>
          </a:p>
        </p:txBody>
      </p:sp>
      <p:graphicFrame>
        <p:nvGraphicFramePr>
          <p:cNvPr id="15366" name="Object 1024"/>
          <p:cNvGraphicFramePr>
            <a:graphicFrameLocks noChangeAspect="1"/>
          </p:cNvGraphicFramePr>
          <p:nvPr>
            <p:extLst>
              <p:ext uri="{D42A27DB-BD31-4B8C-83A1-F6EECF244321}">
                <p14:modId xmlns:p14="http://schemas.microsoft.com/office/powerpoint/2010/main" val="233928812"/>
              </p:ext>
            </p:extLst>
          </p:nvPr>
        </p:nvGraphicFramePr>
        <p:xfrm>
          <a:off x="8590663" y="2741053"/>
          <a:ext cx="1676400" cy="1190625"/>
        </p:xfrm>
        <a:graphic>
          <a:graphicData uri="http://schemas.openxmlformats.org/presentationml/2006/ole">
            <mc:AlternateContent xmlns:mc="http://schemas.openxmlformats.org/markup-compatibility/2006">
              <mc:Choice xmlns:v="urn:schemas-microsoft-com:vml" Requires="v">
                <p:oleObj name="Equation" r:id="rId2" imgW="1447800" imgH="711200" progId="Equation.3">
                  <p:embed/>
                </p:oleObj>
              </mc:Choice>
              <mc:Fallback>
                <p:oleObj name="Equation" r:id="rId2" imgW="1447800" imgH="711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0663" y="2741053"/>
                        <a:ext cx="1676400"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7" name="Object 1025"/>
          <p:cNvGraphicFramePr>
            <a:graphicFrameLocks noChangeAspect="1"/>
          </p:cNvGraphicFramePr>
          <p:nvPr/>
        </p:nvGraphicFramePr>
        <p:xfrm>
          <a:off x="8040689" y="4724401"/>
          <a:ext cx="2414587" cy="1266825"/>
        </p:xfrm>
        <a:graphic>
          <a:graphicData uri="http://schemas.openxmlformats.org/presentationml/2006/ole">
            <mc:AlternateContent xmlns:mc="http://schemas.openxmlformats.org/markup-compatibility/2006">
              <mc:Choice xmlns:v="urn:schemas-microsoft-com:vml" Requires="v">
                <p:oleObj name="Equation" r:id="rId4" imgW="2247900" imgH="711200" progId="Equation.3">
                  <p:embed/>
                </p:oleObj>
              </mc:Choice>
              <mc:Fallback>
                <p:oleObj name="Equation" r:id="rId4" imgW="2247900" imgH="711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40689" y="4724401"/>
                        <a:ext cx="2414587" cy="1266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57430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209800" y="0"/>
            <a:ext cx="7772400" cy="1143000"/>
          </a:xfrm>
        </p:spPr>
        <p:txBody>
          <a:bodyPr>
            <a:normAutofit/>
          </a:bodyPr>
          <a:lstStyle/>
          <a:p>
            <a:pPr eaLnBrk="1" hangingPunct="1"/>
            <a:r>
              <a:rPr lang="en-US" altLang="ko-KR" sz="3200"/>
              <a:t>Sharpening Example</a:t>
            </a:r>
          </a:p>
        </p:txBody>
      </p:sp>
      <p:grpSp>
        <p:nvGrpSpPr>
          <p:cNvPr id="16390" name="Group 4"/>
          <p:cNvGrpSpPr>
            <a:grpSpLocks/>
          </p:cNvGrpSpPr>
          <p:nvPr/>
        </p:nvGrpSpPr>
        <p:grpSpPr bwMode="auto">
          <a:xfrm>
            <a:off x="2074303" y="626308"/>
            <a:ext cx="6858000" cy="5638950"/>
            <a:chOff x="197" y="211"/>
            <a:chExt cx="4320" cy="3470"/>
          </a:xfrm>
        </p:grpSpPr>
        <p:graphicFrame>
          <p:nvGraphicFramePr>
            <p:cNvPr id="16391" name="Object 5"/>
            <p:cNvGraphicFramePr>
              <a:graphicFrameLocks noChangeAspect="1"/>
            </p:cNvGraphicFramePr>
            <p:nvPr>
              <p:extLst>
                <p:ext uri="{D42A27DB-BD31-4B8C-83A1-F6EECF244321}">
                  <p14:modId xmlns:p14="http://schemas.microsoft.com/office/powerpoint/2010/main" val="722737378"/>
                </p:ext>
              </p:extLst>
            </p:nvPr>
          </p:nvGraphicFramePr>
          <p:xfrm>
            <a:off x="197" y="211"/>
            <a:ext cx="4320" cy="3445"/>
          </p:xfrm>
          <a:graphic>
            <a:graphicData uri="http://schemas.openxmlformats.org/presentationml/2006/ole">
              <mc:AlternateContent xmlns:mc="http://schemas.openxmlformats.org/markup-compatibility/2006">
                <mc:Choice xmlns:v="urn:schemas-microsoft-com:vml" Requires="v">
                  <p:oleObj name="비트맵 이미지" r:id="rId2" imgW="7621064" imgH="6076190" progId="Paint.Picture">
                    <p:embed/>
                  </p:oleObj>
                </mc:Choice>
                <mc:Fallback>
                  <p:oleObj name="비트맵 이미지" r:id="rId2" imgW="7621064" imgH="6076190"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 y="211"/>
                          <a:ext cx="4320" cy="3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2" name="Text Box 6"/>
            <p:cNvSpPr txBox="1">
              <a:spLocks noChangeArrowheads="1"/>
            </p:cNvSpPr>
            <p:nvPr/>
          </p:nvSpPr>
          <p:spPr bwMode="auto">
            <a:xfrm>
              <a:off x="2827" y="3518"/>
              <a:ext cx="158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100">
                  <a:latin typeface="굴림" panose="020B0600000101010101" pitchFamily="34" charset="-127"/>
                </a:rPr>
                <a:t>(c) Sharpened image of 3 X 3 mask</a:t>
              </a:r>
            </a:p>
          </p:txBody>
        </p:sp>
        <p:sp>
          <p:nvSpPr>
            <p:cNvPr id="16393" name="Text Box 7"/>
            <p:cNvSpPr txBox="1">
              <a:spLocks noChangeArrowheads="1"/>
            </p:cNvSpPr>
            <p:nvPr/>
          </p:nvSpPr>
          <p:spPr bwMode="auto">
            <a:xfrm>
              <a:off x="1734" y="1876"/>
              <a:ext cx="85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100">
                  <a:latin typeface="굴림" panose="020B0600000101010101" pitchFamily="34" charset="-127"/>
                </a:rPr>
                <a:t>(a) Original image</a:t>
              </a:r>
            </a:p>
          </p:txBody>
        </p:sp>
        <p:sp>
          <p:nvSpPr>
            <p:cNvPr id="16394" name="Text Box 8"/>
            <p:cNvSpPr txBox="1">
              <a:spLocks noChangeArrowheads="1"/>
            </p:cNvSpPr>
            <p:nvPr/>
          </p:nvSpPr>
          <p:spPr bwMode="auto">
            <a:xfrm>
              <a:off x="627" y="3521"/>
              <a:ext cx="158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100">
                  <a:latin typeface="굴림" panose="020B0600000101010101" pitchFamily="34" charset="-127"/>
                </a:rPr>
                <a:t>(b) Sharpened image of 3 X 3 mask</a:t>
              </a:r>
            </a:p>
          </p:txBody>
        </p:sp>
      </p:grpSp>
    </p:spTree>
    <p:extLst>
      <p:ext uri="{BB962C8B-B14F-4D97-AF65-F5344CB8AC3E}">
        <p14:creationId xmlns:p14="http://schemas.microsoft.com/office/powerpoint/2010/main" val="1190630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2209800" y="152400"/>
            <a:ext cx="7772400" cy="493059"/>
          </a:xfrm>
        </p:spPr>
        <p:txBody>
          <a:bodyPr rtlCol="0">
            <a:normAutofit fontScale="90000"/>
          </a:bodyPr>
          <a:lstStyle/>
          <a:p>
            <a:pPr>
              <a:defRPr/>
            </a:pPr>
            <a:r>
              <a:rPr lang="en-US" altLang="ko-KR" sz="3200"/>
              <a:t>Color Sharpening &amp; Blurring Example</a:t>
            </a:r>
          </a:p>
        </p:txBody>
      </p:sp>
      <p:sp>
        <p:nvSpPr>
          <p:cNvPr id="9" name="灯片编号占位符 4"/>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fld id="{4FEC55C3-361F-440A-903D-AF6F740B3303}" type="slidenum">
              <a:rPr lang="en-US" altLang="ko-KR" sz="1200">
                <a:solidFill>
                  <a:srgbClr val="898989"/>
                </a:solidFill>
              </a:rPr>
              <a:pPr eaLnBrk="1" hangingPunct="1"/>
              <a:t>23</a:t>
            </a:fld>
            <a:endParaRPr lang="en-US" altLang="ko-KR" sz="1200">
              <a:solidFill>
                <a:srgbClr val="898989"/>
              </a:solidFill>
            </a:endParaRPr>
          </a:p>
        </p:txBody>
      </p:sp>
      <p:grpSp>
        <p:nvGrpSpPr>
          <p:cNvPr id="17413" name="Group 3"/>
          <p:cNvGrpSpPr>
            <a:grpSpLocks/>
          </p:cNvGrpSpPr>
          <p:nvPr/>
        </p:nvGrpSpPr>
        <p:grpSpPr bwMode="auto">
          <a:xfrm>
            <a:off x="2303463" y="974725"/>
            <a:ext cx="6629400" cy="5432425"/>
            <a:chOff x="491" y="523"/>
            <a:chExt cx="4176" cy="3422"/>
          </a:xfrm>
        </p:grpSpPr>
        <p:graphicFrame>
          <p:nvGraphicFramePr>
            <p:cNvPr id="17414" name="Object 4"/>
            <p:cNvGraphicFramePr>
              <a:graphicFrameLocks noChangeAspect="1"/>
            </p:cNvGraphicFramePr>
            <p:nvPr>
              <p:extLst>
                <p:ext uri="{D42A27DB-BD31-4B8C-83A1-F6EECF244321}">
                  <p14:modId xmlns:p14="http://schemas.microsoft.com/office/powerpoint/2010/main" val="685349797"/>
                </p:ext>
              </p:extLst>
            </p:nvPr>
          </p:nvGraphicFramePr>
          <p:xfrm>
            <a:off x="491" y="523"/>
            <a:ext cx="4176" cy="3393"/>
          </p:xfrm>
          <a:graphic>
            <a:graphicData uri="http://schemas.openxmlformats.org/presentationml/2006/ole">
              <mc:AlternateContent xmlns:mc="http://schemas.openxmlformats.org/markup-compatibility/2006">
                <mc:Choice xmlns:v="urn:schemas-microsoft-com:vml" Requires="v">
                  <p:oleObj name="비트맵 이미지" r:id="rId2" imgW="7571429" imgH="6114286" progId="Paint.Picture">
                    <p:embed/>
                  </p:oleObj>
                </mc:Choice>
                <mc:Fallback>
                  <p:oleObj name="비트맵 이미지" r:id="rId2" imgW="7571429" imgH="6114286"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 y="523"/>
                          <a:ext cx="4176" cy="3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15" name="Text Box 5"/>
            <p:cNvSpPr txBox="1">
              <a:spLocks noChangeArrowheads="1"/>
            </p:cNvSpPr>
            <p:nvPr/>
          </p:nvSpPr>
          <p:spPr bwMode="auto">
            <a:xfrm>
              <a:off x="2082" y="2156"/>
              <a:ext cx="85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100">
                  <a:latin typeface="굴림" panose="020B0600000101010101" pitchFamily="34" charset="-127"/>
                </a:rPr>
                <a:t>(a) Original image</a:t>
              </a:r>
            </a:p>
          </p:txBody>
        </p:sp>
        <p:sp>
          <p:nvSpPr>
            <p:cNvPr id="17416" name="Text Box 6"/>
            <p:cNvSpPr txBox="1">
              <a:spLocks noChangeArrowheads="1"/>
            </p:cNvSpPr>
            <p:nvPr/>
          </p:nvSpPr>
          <p:spPr bwMode="auto">
            <a:xfrm>
              <a:off x="827" y="3770"/>
              <a:ext cx="98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100">
                  <a:latin typeface="굴림" panose="020B0600000101010101" pitchFamily="34" charset="-127"/>
                </a:rPr>
                <a:t>(b) Sharpened image</a:t>
              </a:r>
            </a:p>
          </p:txBody>
        </p:sp>
        <p:sp>
          <p:nvSpPr>
            <p:cNvPr id="17417" name="Text Box 7"/>
            <p:cNvSpPr txBox="1">
              <a:spLocks noChangeArrowheads="1"/>
            </p:cNvSpPr>
            <p:nvPr/>
          </p:nvSpPr>
          <p:spPr bwMode="auto">
            <a:xfrm>
              <a:off x="3122" y="3780"/>
              <a:ext cx="83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100">
                  <a:latin typeface="굴림" panose="020B0600000101010101" pitchFamily="34" charset="-127"/>
                </a:rPr>
                <a:t>(c) Blurred image</a:t>
              </a:r>
            </a:p>
          </p:txBody>
        </p:sp>
      </p:grpSp>
    </p:spTree>
    <p:extLst>
      <p:ext uri="{BB962C8B-B14F-4D97-AF65-F5344CB8AC3E}">
        <p14:creationId xmlns:p14="http://schemas.microsoft.com/office/powerpoint/2010/main" val="29074891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ko-KR"/>
              <a:t>High-boost filtering</a:t>
            </a:r>
          </a:p>
        </p:txBody>
      </p:sp>
      <p:sp>
        <p:nvSpPr>
          <p:cNvPr id="18435" name="Rectangle 3"/>
          <p:cNvSpPr>
            <a:spLocks noGrp="1" noChangeArrowheads="1"/>
          </p:cNvSpPr>
          <p:nvPr>
            <p:ph idx="1"/>
          </p:nvPr>
        </p:nvSpPr>
        <p:spPr>
          <a:xfrm>
            <a:off x="605617" y="1930400"/>
            <a:ext cx="8596668" cy="3880773"/>
          </a:xfrm>
        </p:spPr>
        <p:txBody>
          <a:bodyPr>
            <a:normAutofit fontScale="92500" lnSpcReduction="20000"/>
          </a:bodyPr>
          <a:lstStyle/>
          <a:p>
            <a:pPr lvl="1" eaLnBrk="1" hangingPunct="1"/>
            <a:r>
              <a:rPr lang="en-US" altLang="ko-KR" sz="2000" dirty="0">
                <a:latin typeface="Book Antiqua" panose="02040602050305030304" pitchFamily="18" charset="0"/>
              </a:rPr>
              <a:t>High-boost filtering(high-frequency emphasis filter):</a:t>
            </a:r>
          </a:p>
          <a:p>
            <a:pPr lvl="1" eaLnBrk="1" hangingPunct="1">
              <a:buFont typeface="Wingdings" panose="05000000000000000000" pitchFamily="2" charset="2"/>
              <a:buNone/>
            </a:pPr>
            <a:r>
              <a:rPr lang="en-US" altLang="ko-KR" sz="2000" dirty="0">
                <a:latin typeface="Book Antiqua" panose="02040602050305030304" pitchFamily="18" charset="0"/>
              </a:rPr>
              <a:t>		High - Boost =  </a:t>
            </a:r>
            <a:r>
              <a:rPr lang="en-US" altLang="ko-KR" sz="2000" dirty="0">
                <a:latin typeface="Book Antiqua" panose="02040602050305030304" pitchFamily="18" charset="0"/>
                <a:sym typeface="Symbol" panose="05050102010706020507" pitchFamily="18" charset="2"/>
              </a:rPr>
              <a:t></a:t>
            </a:r>
            <a:r>
              <a:rPr lang="en-US" altLang="ko-KR" sz="2000" dirty="0">
                <a:latin typeface="Book Antiqua" panose="02040602050305030304" pitchFamily="18" charset="0"/>
              </a:rPr>
              <a:t>Original - Lowpass </a:t>
            </a:r>
          </a:p>
          <a:p>
            <a:pPr lvl="1" eaLnBrk="1" hangingPunct="1">
              <a:buFont typeface="Wingdings" panose="05000000000000000000" pitchFamily="2" charset="2"/>
              <a:buNone/>
            </a:pPr>
            <a:r>
              <a:rPr lang="en-US" altLang="ko-KR" sz="2000" dirty="0">
                <a:latin typeface="Book Antiqua" panose="02040602050305030304" pitchFamily="18" charset="0"/>
                <a:sym typeface="Symbol" panose="05050102010706020507" pitchFamily="18" charset="2"/>
              </a:rPr>
              <a:t>		When  = 1, the result is high pass filter.</a:t>
            </a:r>
          </a:p>
          <a:p>
            <a:pPr lvl="1" eaLnBrk="1" hangingPunct="1">
              <a:buFont typeface="Wingdings" panose="05000000000000000000" pitchFamily="2" charset="2"/>
              <a:buNone/>
            </a:pPr>
            <a:r>
              <a:rPr lang="en-US" altLang="ko-KR" sz="2000" dirty="0">
                <a:latin typeface="Book Antiqua" panose="02040602050305030304" pitchFamily="18" charset="0"/>
                <a:sym typeface="Symbol" panose="05050102010706020507" pitchFamily="18" charset="2"/>
              </a:rPr>
              <a:t>		When  &gt; 1, the effect is to restore low</a:t>
            </a:r>
          </a:p>
          <a:p>
            <a:pPr lvl="1" eaLnBrk="1" hangingPunct="1">
              <a:buFont typeface="Wingdings" panose="05000000000000000000" pitchFamily="2" charset="2"/>
              <a:buNone/>
            </a:pPr>
            <a:r>
              <a:rPr lang="en-US" altLang="ko-KR" sz="2000" dirty="0">
                <a:latin typeface="Book Antiqua" panose="02040602050305030304" pitchFamily="18" charset="0"/>
                <a:sym typeface="Symbol" panose="05050102010706020507" pitchFamily="18" charset="2"/>
              </a:rPr>
              <a:t>       frequency component</a:t>
            </a:r>
          </a:p>
          <a:p>
            <a:pPr lvl="1" eaLnBrk="1" hangingPunct="1">
              <a:buFont typeface="Wingdings" panose="05000000000000000000" pitchFamily="2" charset="2"/>
              <a:buNone/>
            </a:pPr>
            <a:endParaRPr lang="en-US" altLang="ko-KR" sz="2000" dirty="0">
              <a:latin typeface="Book Antiqua" panose="02040602050305030304" pitchFamily="18" charset="0"/>
              <a:sym typeface="Symbol" panose="05050102010706020507" pitchFamily="18" charset="2"/>
            </a:endParaRPr>
          </a:p>
          <a:p>
            <a:pPr lvl="1" eaLnBrk="1" hangingPunct="1"/>
            <a:r>
              <a:rPr lang="en-US" altLang="ko-KR" sz="2000" dirty="0">
                <a:latin typeface="Book Antiqua" panose="02040602050305030304" pitchFamily="18" charset="0"/>
                <a:sym typeface="Symbol" panose="05050102010706020507" pitchFamily="18" charset="2"/>
              </a:rPr>
              <a:t>The effect of high-boost filtering:</a:t>
            </a:r>
          </a:p>
          <a:p>
            <a:pPr lvl="2" eaLnBrk="1" hangingPunct="1"/>
            <a:r>
              <a:rPr lang="en-US" altLang="ko-KR" sz="1800" dirty="0">
                <a:latin typeface="Book Antiqua" panose="02040602050305030304" pitchFamily="18" charset="0"/>
                <a:sym typeface="Symbol" panose="05050102010706020507" pitchFamily="18" charset="2"/>
              </a:rPr>
              <a:t>Retains more of original image’s background</a:t>
            </a:r>
          </a:p>
          <a:p>
            <a:pPr lvl="2" eaLnBrk="1" hangingPunct="1"/>
            <a:r>
              <a:rPr lang="en-US" altLang="ko-KR" sz="1800" dirty="0">
                <a:latin typeface="Book Antiqua" panose="02040602050305030304" pitchFamily="18" charset="0"/>
                <a:sym typeface="Symbol" panose="05050102010706020507" pitchFamily="18" charset="2"/>
              </a:rPr>
              <a:t>As   increases, the overall image gets lighter.</a:t>
            </a:r>
          </a:p>
          <a:p>
            <a:pPr lvl="2" eaLnBrk="1" hangingPunct="1"/>
            <a:r>
              <a:rPr lang="en-US" altLang="ko-KR" sz="1800" dirty="0">
                <a:latin typeface="Book Antiqua" panose="02040602050305030304" pitchFamily="18" charset="0"/>
                <a:sym typeface="Symbol" panose="05050102010706020507" pitchFamily="18" charset="2"/>
              </a:rPr>
              <a:t>Looks more like the original image, with a relative degree of edge enhancement.</a:t>
            </a:r>
          </a:p>
          <a:p>
            <a:pPr lvl="2" eaLnBrk="1" hangingPunct="1"/>
            <a:endParaRPr lang="en-US" altLang="ko-KR" sz="1800" dirty="0">
              <a:latin typeface="Book Antiqua" panose="02040602050305030304" pitchFamily="18" charset="0"/>
              <a:sym typeface="Symbol" panose="05050102010706020507" pitchFamily="18" charset="2"/>
            </a:endParaRPr>
          </a:p>
        </p:txBody>
      </p:sp>
      <p:graphicFrame>
        <p:nvGraphicFramePr>
          <p:cNvPr id="18438" name="Object 1024"/>
          <p:cNvGraphicFramePr>
            <a:graphicFrameLocks noChangeAspect="1"/>
          </p:cNvGraphicFramePr>
          <p:nvPr>
            <p:extLst>
              <p:ext uri="{D42A27DB-BD31-4B8C-83A1-F6EECF244321}">
                <p14:modId xmlns:p14="http://schemas.microsoft.com/office/powerpoint/2010/main" val="3254545945"/>
              </p:ext>
            </p:extLst>
          </p:nvPr>
        </p:nvGraphicFramePr>
        <p:xfrm>
          <a:off x="6974946" y="2305673"/>
          <a:ext cx="2655981" cy="1266825"/>
        </p:xfrm>
        <a:graphic>
          <a:graphicData uri="http://schemas.openxmlformats.org/presentationml/2006/ole">
            <mc:AlternateContent xmlns:mc="http://schemas.openxmlformats.org/markup-compatibility/2006">
              <mc:Choice xmlns:v="urn:schemas-microsoft-com:vml" Requires="v">
                <p:oleObj name="Equation" r:id="rId2" imgW="2247900" imgH="711200" progId="Equation.3">
                  <p:embed/>
                </p:oleObj>
              </mc:Choice>
              <mc:Fallback>
                <p:oleObj name="Equation" r:id="rId2" imgW="2247900" imgH="711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4946" y="2305673"/>
                        <a:ext cx="2655981" cy="126682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178882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2209800" y="304800"/>
            <a:ext cx="3581400" cy="685800"/>
          </a:xfrm>
        </p:spPr>
        <p:txBody>
          <a:bodyPr rtlCol="0">
            <a:normAutofit/>
          </a:bodyPr>
          <a:lstStyle/>
          <a:p>
            <a:pPr>
              <a:defRPr/>
            </a:pPr>
            <a:r>
              <a:rPr lang="en-US" altLang="ko-KR"/>
              <a:t>Sharpening</a:t>
            </a:r>
          </a:p>
        </p:txBody>
      </p:sp>
      <p:sp>
        <p:nvSpPr>
          <p:cNvPr id="12" name="页脚占位符 3"/>
          <p:cNvSpPr>
            <a:spLocks noGrp="1"/>
          </p:cNvSpPr>
          <p:nvPr>
            <p:ph type="ftr" sz="quarter" idx="11"/>
          </p:nvPr>
        </p:nvSpPr>
        <p:spPr/>
        <p:txBody>
          <a:bodyPr/>
          <a:lstStyle/>
          <a:p>
            <a:pPr>
              <a:defRPr/>
            </a:pPr>
            <a:r>
              <a:rPr lang="en-US" altLang="ko-KR"/>
              <a:t>Area processes</a:t>
            </a:r>
          </a:p>
        </p:txBody>
      </p:sp>
      <p:sp>
        <p:nvSpPr>
          <p:cNvPr id="13" name="灯片编号占位符 4"/>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fld id="{C3125312-EB32-4A33-862B-F4DDBF158002}" type="slidenum">
              <a:rPr lang="en-US" altLang="ko-KR" sz="1200">
                <a:solidFill>
                  <a:srgbClr val="898989"/>
                </a:solidFill>
              </a:rPr>
              <a:pPr eaLnBrk="1" hangingPunct="1"/>
              <a:t>25</a:t>
            </a:fld>
            <a:endParaRPr lang="en-US" altLang="ko-KR" sz="1200">
              <a:solidFill>
                <a:srgbClr val="898989"/>
              </a:solidFill>
            </a:endParaRPr>
          </a:p>
        </p:txBody>
      </p:sp>
      <p:grpSp>
        <p:nvGrpSpPr>
          <p:cNvPr id="19461" name="Group 11"/>
          <p:cNvGrpSpPr>
            <a:grpSpLocks/>
          </p:cNvGrpSpPr>
          <p:nvPr/>
        </p:nvGrpSpPr>
        <p:grpSpPr bwMode="auto">
          <a:xfrm>
            <a:off x="677333" y="451512"/>
            <a:ext cx="8067681" cy="6273207"/>
            <a:chOff x="786" y="688"/>
            <a:chExt cx="4236" cy="3556"/>
          </a:xfrm>
        </p:grpSpPr>
        <p:pic>
          <p:nvPicPr>
            <p:cNvPr id="19462" name="Picture 3" descr="bedrehem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 y="700"/>
              <a:ext cx="2034" cy="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Text Box 4"/>
            <p:cNvSpPr txBox="1">
              <a:spLocks noChangeArrowheads="1"/>
            </p:cNvSpPr>
            <p:nvPr/>
          </p:nvSpPr>
          <p:spPr bwMode="auto">
            <a:xfrm>
              <a:off x="1393" y="2192"/>
              <a:ext cx="87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latinLnBrk="0" hangingPunct="1"/>
              <a:r>
                <a:rPr lang="en-US" altLang="ko-KR" sz="1800" b="1">
                  <a:latin typeface="굴림" panose="020B0600000101010101" pitchFamily="34" charset="-127"/>
                </a:rPr>
                <a:t>Original Image</a:t>
              </a:r>
              <a:endParaRPr lang="en-US" altLang="ko-KR" sz="1800" b="1">
                <a:cs typeface="Arial" panose="020B0604020202020204" pitchFamily="34" charset="0"/>
              </a:endParaRPr>
            </a:p>
          </p:txBody>
        </p:sp>
        <p:sp>
          <p:nvSpPr>
            <p:cNvPr id="19464" name="Text Box 5"/>
            <p:cNvSpPr txBox="1">
              <a:spLocks noChangeArrowheads="1"/>
            </p:cNvSpPr>
            <p:nvPr/>
          </p:nvSpPr>
          <p:spPr bwMode="auto">
            <a:xfrm>
              <a:off x="3692" y="2198"/>
              <a:ext cx="70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latinLnBrk="0" hangingPunct="1"/>
              <a:r>
                <a:rPr lang="en-US" altLang="ko-KR" sz="1800" b="1">
                  <a:latin typeface="굴림" panose="020B0600000101010101" pitchFamily="34" charset="-127"/>
                </a:rPr>
                <a:t>Sharpening</a:t>
              </a:r>
              <a:endParaRPr lang="en-US" altLang="ko-KR" sz="1800" b="1">
                <a:cs typeface="Arial" panose="020B0604020202020204" pitchFamily="34" charset="0"/>
              </a:endParaRPr>
            </a:p>
          </p:txBody>
        </p:sp>
        <p:sp>
          <p:nvSpPr>
            <p:cNvPr id="19465" name="Text Box 6"/>
            <p:cNvSpPr txBox="1">
              <a:spLocks noChangeArrowheads="1"/>
            </p:cNvSpPr>
            <p:nvPr/>
          </p:nvSpPr>
          <p:spPr bwMode="auto">
            <a:xfrm>
              <a:off x="3326" y="4018"/>
              <a:ext cx="1435"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latinLnBrk="0" hangingPunct="1"/>
              <a:r>
                <a:rPr kumimoji="0" lang="en-US" altLang="ko-KR" sz="2200" b="1">
                  <a:latin typeface="Book Antiqua" panose="02040602050305030304" pitchFamily="18" charset="0"/>
                  <a:sym typeface="궁서체" panose="02030609000101010101" pitchFamily="49" charset="-127"/>
                </a:rPr>
                <a:t></a:t>
              </a:r>
              <a:r>
                <a:rPr lang="en-US" altLang="ko-KR" sz="1800" b="1">
                  <a:latin typeface="굴림" panose="020B0600000101010101" pitchFamily="34" charset="-127"/>
                </a:rPr>
                <a:t> =1.2 High-boost</a:t>
              </a:r>
            </a:p>
          </p:txBody>
        </p:sp>
        <p:sp>
          <p:nvSpPr>
            <p:cNvPr id="19466" name="Text Box 7"/>
            <p:cNvSpPr txBox="1">
              <a:spLocks noChangeArrowheads="1"/>
            </p:cNvSpPr>
            <p:nvPr/>
          </p:nvSpPr>
          <p:spPr bwMode="auto">
            <a:xfrm>
              <a:off x="1439" y="4017"/>
              <a:ext cx="96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latinLnBrk="0" hangingPunct="1"/>
              <a:r>
                <a:rPr lang="en-US" altLang="ko-KR" sz="1800" b="1">
                  <a:latin typeface="굴림" panose="020B0600000101010101" pitchFamily="34" charset="-127"/>
                </a:rPr>
                <a:t>Highpass</a:t>
              </a:r>
              <a:endParaRPr lang="en-US" altLang="ko-KR" sz="1800" b="1">
                <a:cs typeface="Arial" panose="020B0604020202020204" pitchFamily="34" charset="0"/>
              </a:endParaRPr>
            </a:p>
          </p:txBody>
        </p:sp>
        <p:pic>
          <p:nvPicPr>
            <p:cNvPr id="19467" name="Picture 8" descr="shar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0" y="688"/>
              <a:ext cx="2058" cy="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8" name="Picture 9" descr="highpas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 y="2500"/>
              <a:ext cx="2045" cy="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9" name="Picture 10" descr="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6" y="2488"/>
              <a:ext cx="2076" cy="1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42345606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677333" y="179294"/>
            <a:ext cx="9673297" cy="1143000"/>
          </a:xfrm>
        </p:spPr>
        <p:txBody>
          <a:bodyPr rtlCol="0">
            <a:normAutofit/>
          </a:bodyPr>
          <a:lstStyle/>
          <a:p>
            <a:pPr>
              <a:defRPr/>
            </a:pPr>
            <a:r>
              <a:rPr lang="en-US" altLang="ko-KR" sz="3200" dirty="0"/>
              <a:t>High pass filter &amp; High-boost filter Example</a:t>
            </a:r>
          </a:p>
        </p:txBody>
      </p:sp>
      <p:grpSp>
        <p:nvGrpSpPr>
          <p:cNvPr id="20485" name="Group 3"/>
          <p:cNvGrpSpPr>
            <a:grpSpLocks/>
          </p:cNvGrpSpPr>
          <p:nvPr/>
        </p:nvGrpSpPr>
        <p:grpSpPr bwMode="auto">
          <a:xfrm>
            <a:off x="677175" y="894940"/>
            <a:ext cx="9353292" cy="5397909"/>
            <a:chOff x="-579" y="177"/>
            <a:chExt cx="6575" cy="3892"/>
          </a:xfrm>
        </p:grpSpPr>
        <p:graphicFrame>
          <p:nvGraphicFramePr>
            <p:cNvPr id="20486" name="Object 4"/>
            <p:cNvGraphicFramePr>
              <a:graphicFrameLocks noChangeAspect="1"/>
            </p:cNvGraphicFramePr>
            <p:nvPr>
              <p:extLst>
                <p:ext uri="{D42A27DB-BD31-4B8C-83A1-F6EECF244321}">
                  <p14:modId xmlns:p14="http://schemas.microsoft.com/office/powerpoint/2010/main" val="1656190312"/>
                </p:ext>
              </p:extLst>
            </p:nvPr>
          </p:nvGraphicFramePr>
          <p:xfrm>
            <a:off x="-579" y="177"/>
            <a:ext cx="4867" cy="3892"/>
          </p:xfrm>
          <a:graphic>
            <a:graphicData uri="http://schemas.openxmlformats.org/presentationml/2006/ole">
              <mc:AlternateContent xmlns:mc="http://schemas.openxmlformats.org/markup-compatibility/2006">
                <mc:Choice xmlns:v="urn:schemas-microsoft-com:vml" Requires="v">
                  <p:oleObj name="비트맵 이미지" r:id="rId3" imgW="7621064" imgH="6095238" progId="Paint.Picture">
                    <p:embed/>
                  </p:oleObj>
                </mc:Choice>
                <mc:Fallback>
                  <p:oleObj name="비트맵 이미지" r:id="rId3" imgW="7621064" imgH="6095238"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 y="177"/>
                          <a:ext cx="4867" cy="3892"/>
                        </a:xfrm>
                        <a:prstGeom prst="rect">
                          <a:avLst/>
                        </a:prstGeom>
                        <a:noFill/>
                        <a:ln>
                          <a:noFill/>
                        </a:ln>
                        <a:effectLst/>
                      </p:spPr>
                    </p:pic>
                  </p:oleObj>
                </mc:Fallback>
              </mc:AlternateContent>
            </a:graphicData>
          </a:graphic>
        </p:graphicFrame>
        <p:sp>
          <p:nvSpPr>
            <p:cNvPr id="20487" name="Text Box 5"/>
            <p:cNvSpPr txBox="1">
              <a:spLocks noChangeArrowheads="1"/>
            </p:cNvSpPr>
            <p:nvPr/>
          </p:nvSpPr>
          <p:spPr bwMode="auto">
            <a:xfrm>
              <a:off x="4646" y="3537"/>
              <a:ext cx="135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100" dirty="0">
                  <a:latin typeface="굴림" panose="020B0600000101010101" pitchFamily="34" charset="-127"/>
                </a:rPr>
                <a:t>(d) High-boost filtered </a:t>
              </a:r>
              <a:r>
                <a:rPr lang="en-US" altLang="ko-KR" sz="1100" dirty="0">
                  <a:latin typeface="굴림" panose="020B0600000101010101" pitchFamily="34" charset="-127"/>
                  <a:sym typeface="궁서체" panose="02030609000101010101" pitchFamily="49" charset="-127"/>
                </a:rPr>
                <a:t>=1.7</a:t>
              </a:r>
              <a:endParaRPr lang="en-US" altLang="ko-KR" sz="1100" dirty="0">
                <a:latin typeface="굴림" panose="020B0600000101010101" pitchFamily="34" charset="-127"/>
              </a:endParaRPr>
            </a:p>
          </p:txBody>
        </p:sp>
        <p:sp>
          <p:nvSpPr>
            <p:cNvPr id="20488" name="Text Box 6"/>
            <p:cNvSpPr txBox="1">
              <a:spLocks noChangeArrowheads="1"/>
            </p:cNvSpPr>
            <p:nvPr/>
          </p:nvSpPr>
          <p:spPr bwMode="auto">
            <a:xfrm>
              <a:off x="130" y="1707"/>
              <a:ext cx="87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100" dirty="0">
                  <a:latin typeface="굴림" panose="020B0600000101010101" pitchFamily="34" charset="-127"/>
                </a:rPr>
                <a:t>(a) Original image</a:t>
              </a:r>
            </a:p>
          </p:txBody>
        </p:sp>
        <p:sp>
          <p:nvSpPr>
            <p:cNvPr id="20489" name="Text Box 7"/>
            <p:cNvSpPr txBox="1">
              <a:spLocks noChangeArrowheads="1"/>
            </p:cNvSpPr>
            <p:nvPr/>
          </p:nvSpPr>
          <p:spPr bwMode="auto">
            <a:xfrm>
              <a:off x="4804" y="1625"/>
              <a:ext cx="103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100" dirty="0">
                  <a:latin typeface="굴림" panose="020B0600000101010101" pitchFamily="34" charset="-127"/>
                </a:rPr>
                <a:t>(b) High-pass filtered</a:t>
              </a:r>
            </a:p>
          </p:txBody>
        </p:sp>
        <p:sp>
          <p:nvSpPr>
            <p:cNvPr id="20490" name="Text Box 8"/>
            <p:cNvSpPr txBox="1">
              <a:spLocks noChangeArrowheads="1"/>
            </p:cNvSpPr>
            <p:nvPr/>
          </p:nvSpPr>
          <p:spPr bwMode="auto">
            <a:xfrm>
              <a:off x="130" y="3454"/>
              <a:ext cx="1347"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100" dirty="0">
                  <a:latin typeface="굴림" panose="020B0600000101010101" pitchFamily="34" charset="-127"/>
                </a:rPr>
                <a:t>(c) High-boost filtered </a:t>
              </a:r>
              <a:r>
                <a:rPr lang="en-US" altLang="ko-KR" sz="1100" dirty="0">
                  <a:latin typeface="굴림" panose="020B0600000101010101" pitchFamily="34" charset="-127"/>
                  <a:sym typeface="궁서체" panose="02030609000101010101" pitchFamily="49" charset="-127"/>
                </a:rPr>
                <a:t>=1.2</a:t>
              </a:r>
            </a:p>
          </p:txBody>
        </p:sp>
      </p:grpSp>
    </p:spTree>
    <p:extLst>
      <p:ext uri="{BB962C8B-B14F-4D97-AF65-F5344CB8AC3E}">
        <p14:creationId xmlns:p14="http://schemas.microsoft.com/office/powerpoint/2010/main" val="4096425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ko-KR" b="1">
                <a:solidFill>
                  <a:schemeClr val="tx2"/>
                </a:solidFill>
              </a:rPr>
              <a:t>Detection of discontinuities</a:t>
            </a:r>
          </a:p>
        </p:txBody>
      </p:sp>
      <p:sp>
        <p:nvSpPr>
          <p:cNvPr id="21507" name="Rectangle 3"/>
          <p:cNvSpPr>
            <a:spLocks noGrp="1" noChangeArrowheads="1"/>
          </p:cNvSpPr>
          <p:nvPr>
            <p:ph idx="1"/>
          </p:nvPr>
        </p:nvSpPr>
        <p:spPr>
          <a:xfrm>
            <a:off x="1992312" y="1557338"/>
            <a:ext cx="9186675" cy="4525962"/>
          </a:xfrm>
        </p:spPr>
        <p:txBody>
          <a:bodyPr/>
          <a:lstStyle/>
          <a:p>
            <a:pPr eaLnBrk="1" hangingPunct="1"/>
            <a:r>
              <a:rPr lang="en-US" altLang="ko-KR"/>
              <a:t>Three types of discontinuities: points, lines, edges</a:t>
            </a:r>
          </a:p>
          <a:p>
            <a:pPr eaLnBrk="1" hangingPunct="1"/>
            <a:r>
              <a:rPr lang="en-US" altLang="ko-KR"/>
              <a:t>Point detection:</a:t>
            </a:r>
          </a:p>
          <a:p>
            <a:pPr lvl="1" eaLnBrk="1" hangingPunct="1"/>
            <a:r>
              <a:rPr lang="en-US" altLang="ko-KR"/>
              <a:t>A point has been detected at the location at which the mask is centered if |R| &gt;T</a:t>
            </a:r>
          </a:p>
          <a:p>
            <a:pPr lvl="2" eaLnBrk="1" hangingPunct="1"/>
            <a:r>
              <a:rPr lang="en-US" altLang="ko-KR"/>
              <a:t>Where T is a nonnegative threshold</a:t>
            </a:r>
          </a:p>
          <a:p>
            <a:pPr lvl="2" eaLnBrk="1" hangingPunct="1"/>
            <a:r>
              <a:rPr lang="en-US" altLang="ko-KR"/>
              <a:t> R = </a:t>
            </a:r>
          </a:p>
          <a:p>
            <a:pPr lvl="2" eaLnBrk="1" hangingPunct="1">
              <a:buFont typeface="Wingdings" panose="05000000000000000000" pitchFamily="2" charset="2"/>
              <a:buNone/>
            </a:pPr>
            <a:endParaRPr lang="en-US" altLang="ko-KR"/>
          </a:p>
        </p:txBody>
      </p:sp>
      <p:graphicFrame>
        <p:nvGraphicFramePr>
          <p:cNvPr id="88111" name="Group 47"/>
          <p:cNvGraphicFramePr>
            <a:graphicFrameLocks noGrp="1"/>
          </p:cNvGraphicFramePr>
          <p:nvPr>
            <p:extLst>
              <p:ext uri="{D42A27DB-BD31-4B8C-83A1-F6EECF244321}">
                <p14:modId xmlns:p14="http://schemas.microsoft.com/office/powerpoint/2010/main" val="3263011446"/>
              </p:ext>
            </p:extLst>
          </p:nvPr>
        </p:nvGraphicFramePr>
        <p:xfrm>
          <a:off x="5583019" y="3878626"/>
          <a:ext cx="1828800" cy="20193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tblGrid>
              <a:tr h="769707">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dirty="0">
                          <a:ln>
                            <a:noFill/>
                          </a:ln>
                          <a:solidFill>
                            <a:schemeClr val="tx1"/>
                          </a:solidFill>
                          <a:effectLst/>
                          <a:latin typeface="굴림" pitchFamily="50" charset="-127"/>
                          <a:ea typeface="굴림" pitchFamily="50" charset="-127"/>
                        </a:rPr>
                        <a:t>M</a:t>
                      </a:r>
                      <a:r>
                        <a:rPr kumimoji="1" lang="en-US" altLang="ko-KR" sz="2400" b="0" i="0" u="none" strike="noStrike" cap="none" normalizeH="0" baseline="-25000" dirty="0">
                          <a:ln>
                            <a:noFill/>
                          </a:ln>
                          <a:solidFill>
                            <a:schemeClr val="tx1"/>
                          </a:solidFill>
                          <a:effectLst/>
                          <a:latin typeface="굴림" pitchFamily="50" charset="-127"/>
                          <a:ea typeface="굴림" pitchFamily="50" charset="-127"/>
                        </a:rPr>
                        <a:t>1</a:t>
                      </a:r>
                      <a:r>
                        <a:rPr kumimoji="1" lang="en-US" altLang="ko-KR" sz="2400" b="0" i="0" u="none" strike="noStrike" cap="none" normalizeH="0" baseline="0" dirty="0">
                          <a:ln>
                            <a:noFill/>
                          </a:ln>
                          <a:solidFill>
                            <a:schemeClr val="tx1"/>
                          </a:solidFill>
                          <a:effectLst/>
                          <a:latin typeface="굴림" pitchFamily="50" charset="-127"/>
                          <a:ea typeface="굴림" pitchFamily="50" charset="-127"/>
                        </a:rPr>
                        <a:t> </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a:ln>
                            <a:noFill/>
                          </a:ln>
                          <a:solidFill>
                            <a:schemeClr val="tx1"/>
                          </a:solidFill>
                          <a:effectLst/>
                          <a:latin typeface="굴림" pitchFamily="50" charset="-127"/>
                          <a:ea typeface="굴림" pitchFamily="50" charset="-127"/>
                        </a:rPr>
                        <a:t>M</a:t>
                      </a:r>
                      <a:r>
                        <a:rPr kumimoji="1" lang="en-US" altLang="ko-KR" sz="2400" b="0" i="0" u="none" strike="noStrike" cap="none" normalizeH="0" baseline="-25000">
                          <a:ln>
                            <a:noFill/>
                          </a:ln>
                          <a:solidFill>
                            <a:schemeClr val="tx1"/>
                          </a:solidFill>
                          <a:effectLst/>
                          <a:latin typeface="굴림" pitchFamily="50" charset="-127"/>
                          <a:ea typeface="굴림" pitchFamily="50" charset="-127"/>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a:ln>
                            <a:noFill/>
                          </a:ln>
                          <a:solidFill>
                            <a:schemeClr val="tx1"/>
                          </a:solidFill>
                          <a:effectLst/>
                          <a:latin typeface="굴림" pitchFamily="50" charset="-127"/>
                          <a:ea typeface="굴림" pitchFamily="50" charset="-127"/>
                        </a:rPr>
                        <a:t>M</a:t>
                      </a:r>
                      <a:r>
                        <a:rPr kumimoji="1" lang="en-US" altLang="ko-KR" sz="2400" b="0" i="0" u="none" strike="noStrike" cap="none" normalizeH="0" baseline="-25000">
                          <a:ln>
                            <a:noFill/>
                          </a:ln>
                          <a:solidFill>
                            <a:schemeClr val="tx1"/>
                          </a:solidFill>
                          <a:effectLst/>
                          <a:latin typeface="굴림" pitchFamily="50" charset="-127"/>
                          <a:ea typeface="굴림" pitchFamily="50" charset="-127"/>
                        </a:rPr>
                        <a:t>3</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5590">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a:ln>
                            <a:noFill/>
                          </a:ln>
                          <a:solidFill>
                            <a:schemeClr val="tx1"/>
                          </a:solidFill>
                          <a:effectLst/>
                          <a:latin typeface="굴림" pitchFamily="50" charset="-127"/>
                          <a:ea typeface="굴림" pitchFamily="50" charset="-127"/>
                        </a:rPr>
                        <a:t>M</a:t>
                      </a:r>
                      <a:r>
                        <a:rPr kumimoji="1" lang="en-US" altLang="ko-KR" sz="2400" b="0" i="0" u="none" strike="noStrike" cap="none" normalizeH="0" baseline="-25000">
                          <a:ln>
                            <a:noFill/>
                          </a:ln>
                          <a:solidFill>
                            <a:schemeClr val="tx1"/>
                          </a:solidFill>
                          <a:effectLst/>
                          <a:latin typeface="굴림" pitchFamily="50" charset="-127"/>
                          <a:ea typeface="굴림" pitchFamily="50" charset="-127"/>
                        </a:rPr>
                        <a:t>4</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a:ln>
                            <a:noFill/>
                          </a:ln>
                          <a:solidFill>
                            <a:schemeClr val="tx1"/>
                          </a:solidFill>
                          <a:effectLst/>
                          <a:latin typeface="굴림" pitchFamily="50" charset="-127"/>
                          <a:ea typeface="굴림" pitchFamily="50" charset="-127"/>
                        </a:rPr>
                        <a:t>M</a:t>
                      </a:r>
                      <a:r>
                        <a:rPr kumimoji="1" lang="en-US" altLang="ko-KR" sz="2400" b="0" i="0" u="none" strike="noStrike" cap="none" normalizeH="0" baseline="-25000">
                          <a:ln>
                            <a:noFill/>
                          </a:ln>
                          <a:solidFill>
                            <a:schemeClr val="tx1"/>
                          </a:solidFill>
                          <a:effectLst/>
                          <a:latin typeface="굴림" pitchFamily="50" charset="-127"/>
                          <a:ea typeface="굴림" pitchFamily="50" charset="-127"/>
                        </a:rPr>
                        <a:t>5</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dirty="0">
                          <a:ln>
                            <a:noFill/>
                          </a:ln>
                          <a:solidFill>
                            <a:schemeClr val="tx1"/>
                          </a:solidFill>
                          <a:effectLst/>
                          <a:latin typeface="굴림" pitchFamily="50" charset="-127"/>
                          <a:ea typeface="굴림" pitchFamily="50" charset="-127"/>
                        </a:rPr>
                        <a:t>M</a:t>
                      </a:r>
                      <a:r>
                        <a:rPr kumimoji="1" lang="en-US" altLang="ko-KR" sz="2400" b="0" i="0" u="none" strike="noStrike" cap="none" normalizeH="0" baseline="-25000" dirty="0">
                          <a:ln>
                            <a:noFill/>
                          </a:ln>
                          <a:solidFill>
                            <a:schemeClr val="tx1"/>
                          </a:solidFill>
                          <a:effectLst/>
                          <a:latin typeface="굴림" pitchFamily="50" charset="-127"/>
                          <a:ea typeface="굴림" pitchFamily="50" charset="-127"/>
                        </a:rPr>
                        <a:t>6</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4003">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a:ln>
                            <a:noFill/>
                          </a:ln>
                          <a:solidFill>
                            <a:schemeClr val="tx1"/>
                          </a:solidFill>
                          <a:effectLst/>
                          <a:latin typeface="굴림" pitchFamily="50" charset="-127"/>
                          <a:ea typeface="굴림" pitchFamily="50" charset="-127"/>
                        </a:rPr>
                        <a:t>M</a:t>
                      </a:r>
                      <a:r>
                        <a:rPr kumimoji="1" lang="en-US" altLang="ko-KR" sz="2400" b="0" i="0" u="none" strike="noStrike" cap="none" normalizeH="0" baseline="-25000">
                          <a:ln>
                            <a:noFill/>
                          </a:ln>
                          <a:solidFill>
                            <a:schemeClr val="tx1"/>
                          </a:solidFill>
                          <a:effectLst/>
                          <a:latin typeface="굴림" pitchFamily="50" charset="-127"/>
                          <a:ea typeface="굴림" pitchFamily="50" charset="-127"/>
                        </a:rPr>
                        <a:t>7</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a:ln>
                            <a:noFill/>
                          </a:ln>
                          <a:solidFill>
                            <a:schemeClr val="tx1"/>
                          </a:solidFill>
                          <a:effectLst/>
                          <a:latin typeface="굴림" pitchFamily="50" charset="-127"/>
                          <a:ea typeface="굴림" pitchFamily="50" charset="-127"/>
                        </a:rPr>
                        <a:t>M</a:t>
                      </a:r>
                      <a:r>
                        <a:rPr kumimoji="1" lang="en-US" altLang="ko-KR" sz="2400" b="0" i="0" u="none" strike="noStrike" cap="none" normalizeH="0" baseline="-25000">
                          <a:ln>
                            <a:noFill/>
                          </a:ln>
                          <a:solidFill>
                            <a:schemeClr val="tx1"/>
                          </a:solidFill>
                          <a:effectLst/>
                          <a:latin typeface="굴림" pitchFamily="50" charset="-127"/>
                          <a:ea typeface="굴림" pitchFamily="50" charset="-127"/>
                        </a:rPr>
                        <a:t>8</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dirty="0">
                          <a:ln>
                            <a:noFill/>
                          </a:ln>
                          <a:solidFill>
                            <a:schemeClr val="tx1"/>
                          </a:solidFill>
                          <a:effectLst/>
                          <a:latin typeface="굴림" pitchFamily="50" charset="-127"/>
                          <a:ea typeface="굴림" pitchFamily="50" charset="-127"/>
                        </a:rPr>
                        <a:t>M</a:t>
                      </a:r>
                      <a:r>
                        <a:rPr kumimoji="1" lang="en-US" altLang="ko-KR" sz="2400" b="0" i="0" u="none" strike="noStrike" cap="none" normalizeH="0" baseline="-25000" dirty="0">
                          <a:ln>
                            <a:noFill/>
                          </a:ln>
                          <a:solidFill>
                            <a:schemeClr val="tx1"/>
                          </a:solidFill>
                          <a:effectLst/>
                          <a:latin typeface="굴림" pitchFamily="50" charset="-127"/>
                          <a:ea typeface="굴림" pitchFamily="50" charset="-127"/>
                        </a:rPr>
                        <a:t>9</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1528" name="Object 0"/>
          <p:cNvGraphicFramePr>
            <a:graphicFrameLocks noChangeAspect="1"/>
          </p:cNvGraphicFramePr>
          <p:nvPr>
            <p:extLst>
              <p:ext uri="{D42A27DB-BD31-4B8C-83A1-F6EECF244321}">
                <p14:modId xmlns:p14="http://schemas.microsoft.com/office/powerpoint/2010/main" val="3416845050"/>
              </p:ext>
            </p:extLst>
          </p:nvPr>
        </p:nvGraphicFramePr>
        <p:xfrm>
          <a:off x="3666752" y="3022175"/>
          <a:ext cx="1828800" cy="457200"/>
        </p:xfrm>
        <a:graphic>
          <a:graphicData uri="http://schemas.openxmlformats.org/presentationml/2006/ole">
            <mc:AlternateContent xmlns:mc="http://schemas.openxmlformats.org/markup-compatibility/2006">
              <mc:Choice xmlns:v="urn:schemas-microsoft-com:vml" Requires="v">
                <p:oleObj name="Equation" r:id="rId2" imgW="647700" imgH="292100" progId="Equation.3">
                  <p:embed/>
                </p:oleObj>
              </mc:Choice>
              <mc:Fallback>
                <p:oleObj name="Equation" r:id="rId2" imgW="647700" imgH="2921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6752" y="3022175"/>
                        <a:ext cx="1828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06" name="Group 42"/>
          <p:cNvGraphicFramePr>
            <a:graphicFrameLocks noGrp="1"/>
          </p:cNvGraphicFramePr>
          <p:nvPr>
            <p:extLst>
              <p:ext uri="{D42A27DB-BD31-4B8C-83A1-F6EECF244321}">
                <p14:modId xmlns:p14="http://schemas.microsoft.com/office/powerpoint/2010/main" val="1929210620"/>
              </p:ext>
            </p:extLst>
          </p:nvPr>
        </p:nvGraphicFramePr>
        <p:xfrm>
          <a:off x="3254656" y="3907760"/>
          <a:ext cx="1828800" cy="1981202"/>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tblGrid>
              <a:tr h="696914">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dirty="0">
                          <a:ln>
                            <a:noFill/>
                          </a:ln>
                          <a:solidFill>
                            <a:schemeClr val="tx1"/>
                          </a:solidFill>
                          <a:effectLst/>
                          <a:latin typeface="굴림" pitchFamily="50" charset="-127"/>
                          <a:ea typeface="굴림" pitchFamily="50" charset="-127"/>
                        </a:rPr>
                        <a:t>Z</a:t>
                      </a:r>
                      <a:r>
                        <a:rPr kumimoji="1" lang="en-US" altLang="ko-KR" sz="2400" b="0" i="0" u="none" strike="noStrike" cap="none" normalizeH="0" baseline="-25000" dirty="0">
                          <a:ln>
                            <a:noFill/>
                          </a:ln>
                          <a:solidFill>
                            <a:schemeClr val="tx1"/>
                          </a:solidFill>
                          <a:effectLst/>
                          <a:latin typeface="굴림" pitchFamily="50" charset="-127"/>
                          <a:ea typeface="굴림" pitchFamily="50" charset="-127"/>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dirty="0">
                          <a:ln>
                            <a:noFill/>
                          </a:ln>
                          <a:solidFill>
                            <a:schemeClr val="tx1"/>
                          </a:solidFill>
                          <a:effectLst/>
                          <a:latin typeface="굴림" pitchFamily="50" charset="-127"/>
                          <a:ea typeface="굴림" pitchFamily="50" charset="-127"/>
                        </a:rPr>
                        <a:t>Z</a:t>
                      </a:r>
                      <a:r>
                        <a:rPr kumimoji="1" lang="en-US" altLang="ko-KR" sz="2400" b="0" i="0" u="none" strike="noStrike" cap="none" normalizeH="0" baseline="-25000" dirty="0">
                          <a:ln>
                            <a:noFill/>
                          </a:ln>
                          <a:solidFill>
                            <a:schemeClr val="tx1"/>
                          </a:solidFill>
                          <a:effectLst/>
                          <a:latin typeface="굴림" pitchFamily="50" charset="-127"/>
                          <a:ea typeface="굴림" pitchFamily="50" charset="-127"/>
                        </a:rPr>
                        <a:t>2</a:t>
                      </a:r>
                      <a:endParaRPr kumimoji="1" lang="en-US" altLang="ko-KR" sz="2400" b="0" i="0" u="none" strike="noStrike" cap="none" normalizeH="0" baseline="0" dirty="0">
                        <a:ln>
                          <a:noFill/>
                        </a:ln>
                        <a:solidFill>
                          <a:schemeClr val="tx1"/>
                        </a:solidFill>
                        <a:effectLst/>
                        <a:latin typeface="굴림" pitchFamily="50" charset="-127"/>
                        <a:ea typeface="굴림" pitchFamily="50" charset="-127"/>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a:ln>
                            <a:noFill/>
                          </a:ln>
                          <a:solidFill>
                            <a:schemeClr val="tx1"/>
                          </a:solidFill>
                          <a:effectLst/>
                          <a:latin typeface="굴림" pitchFamily="50" charset="-127"/>
                          <a:ea typeface="굴림" pitchFamily="50" charset="-127"/>
                        </a:rPr>
                        <a:t>Z</a:t>
                      </a:r>
                      <a:r>
                        <a:rPr kumimoji="1" lang="en-US" altLang="ko-KR" sz="2400" b="0" i="0" u="none" strike="noStrike" cap="none" normalizeH="0" baseline="-25000">
                          <a:ln>
                            <a:noFill/>
                          </a:ln>
                          <a:solidFill>
                            <a:schemeClr val="tx1"/>
                          </a:solidFill>
                          <a:effectLst/>
                          <a:latin typeface="굴림" pitchFamily="50" charset="-127"/>
                          <a:ea typeface="굴림" pitchFamily="50" charset="-127"/>
                        </a:rPr>
                        <a:t>3</a:t>
                      </a:r>
                      <a:endParaRPr kumimoji="1" lang="en-US" altLang="ko-KR" sz="2400" b="0" i="0" u="none" strike="noStrike" cap="none" normalizeH="0" baseline="0">
                        <a:ln>
                          <a:noFill/>
                        </a:ln>
                        <a:solidFill>
                          <a:schemeClr val="tx1"/>
                        </a:solidFill>
                        <a:effectLst/>
                        <a:latin typeface="굴림" pitchFamily="50" charset="-127"/>
                        <a:ea typeface="굴림" pitchFamily="50" charset="-127"/>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1663">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a:ln>
                            <a:noFill/>
                          </a:ln>
                          <a:solidFill>
                            <a:schemeClr val="tx1"/>
                          </a:solidFill>
                          <a:effectLst/>
                          <a:latin typeface="굴림" pitchFamily="50" charset="-127"/>
                          <a:ea typeface="굴림" pitchFamily="50" charset="-127"/>
                        </a:rPr>
                        <a:t>Z</a:t>
                      </a:r>
                      <a:r>
                        <a:rPr kumimoji="1" lang="en-US" altLang="ko-KR" sz="2400" b="0" i="0" u="none" strike="noStrike" cap="none" normalizeH="0" baseline="-25000">
                          <a:ln>
                            <a:noFill/>
                          </a:ln>
                          <a:solidFill>
                            <a:schemeClr val="tx1"/>
                          </a:solidFill>
                          <a:effectLst/>
                          <a:latin typeface="굴림" pitchFamily="50" charset="-127"/>
                          <a:ea typeface="굴림" pitchFamily="50" charset="-127"/>
                        </a:rPr>
                        <a:t>4</a:t>
                      </a:r>
                      <a:r>
                        <a:rPr kumimoji="1" lang="en-US" altLang="ko-KR" sz="2400" b="0" i="0" u="none" strike="noStrike" cap="none" normalizeH="0" baseline="0">
                          <a:ln>
                            <a:noFill/>
                          </a:ln>
                          <a:solidFill>
                            <a:schemeClr val="tx1"/>
                          </a:solidFill>
                          <a:effectLst/>
                          <a:latin typeface="굴림" pitchFamily="50" charset="-127"/>
                          <a:ea typeface="굴림" pitchFamily="50" charset="-127"/>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a:ln>
                            <a:noFill/>
                          </a:ln>
                          <a:solidFill>
                            <a:schemeClr val="tx1"/>
                          </a:solidFill>
                          <a:effectLst/>
                          <a:latin typeface="굴림" pitchFamily="50" charset="-127"/>
                          <a:ea typeface="굴림" pitchFamily="50" charset="-127"/>
                        </a:rPr>
                        <a:t>Z</a:t>
                      </a:r>
                      <a:r>
                        <a:rPr kumimoji="1" lang="en-US" altLang="ko-KR" sz="2400" b="0" i="0" u="none" strike="noStrike" cap="none" normalizeH="0" baseline="-25000">
                          <a:ln>
                            <a:noFill/>
                          </a:ln>
                          <a:solidFill>
                            <a:schemeClr val="tx1"/>
                          </a:solidFill>
                          <a:effectLst/>
                          <a:latin typeface="굴림" pitchFamily="50" charset="-127"/>
                          <a:ea typeface="굴림" pitchFamily="50" charset="-127"/>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a:ln>
                            <a:noFill/>
                          </a:ln>
                          <a:solidFill>
                            <a:schemeClr val="tx1"/>
                          </a:solidFill>
                          <a:effectLst/>
                          <a:latin typeface="굴림" pitchFamily="50" charset="-127"/>
                          <a:ea typeface="굴림" pitchFamily="50" charset="-127"/>
                        </a:rPr>
                        <a:t>Z</a:t>
                      </a:r>
                      <a:r>
                        <a:rPr kumimoji="1" lang="en-US" altLang="ko-KR" sz="2400" b="0" i="0" u="none" strike="noStrike" cap="none" normalizeH="0" baseline="-25000">
                          <a:ln>
                            <a:noFill/>
                          </a:ln>
                          <a:solidFill>
                            <a:schemeClr val="tx1"/>
                          </a:solidFill>
                          <a:effectLst/>
                          <a:latin typeface="굴림" pitchFamily="50" charset="-127"/>
                          <a:ea typeface="굴림" pitchFamily="50" charset="-127"/>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82625">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a:ln>
                            <a:noFill/>
                          </a:ln>
                          <a:solidFill>
                            <a:schemeClr val="tx1"/>
                          </a:solidFill>
                          <a:effectLst/>
                          <a:latin typeface="굴림" pitchFamily="50" charset="-127"/>
                          <a:ea typeface="굴림" pitchFamily="50" charset="-127"/>
                        </a:rPr>
                        <a:t>Z</a:t>
                      </a:r>
                      <a:r>
                        <a:rPr kumimoji="1" lang="en-US" altLang="ko-KR" sz="2400" b="0" i="0" u="none" strike="noStrike" cap="none" normalizeH="0" baseline="-25000">
                          <a:ln>
                            <a:noFill/>
                          </a:ln>
                          <a:solidFill>
                            <a:schemeClr val="tx1"/>
                          </a:solidFill>
                          <a:effectLst/>
                          <a:latin typeface="굴림" pitchFamily="50" charset="-127"/>
                          <a:ea typeface="굴림" pitchFamily="50" charset="-127"/>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a:ln>
                            <a:noFill/>
                          </a:ln>
                          <a:solidFill>
                            <a:schemeClr val="tx1"/>
                          </a:solidFill>
                          <a:effectLst/>
                          <a:latin typeface="굴림" pitchFamily="50" charset="-127"/>
                          <a:ea typeface="굴림" pitchFamily="50" charset="-127"/>
                        </a:rPr>
                        <a:t>Z</a:t>
                      </a:r>
                      <a:r>
                        <a:rPr kumimoji="1" lang="en-US" altLang="ko-KR" sz="2400" b="0" i="0" u="none" strike="noStrike" cap="none" normalizeH="0" baseline="-25000">
                          <a:ln>
                            <a:noFill/>
                          </a:ln>
                          <a:solidFill>
                            <a:schemeClr val="tx1"/>
                          </a:solidFill>
                          <a:effectLst/>
                          <a:latin typeface="굴림" pitchFamily="50" charset="-127"/>
                          <a:ea typeface="굴림" pitchFamily="50" charset="-127"/>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rgbClr val="008000"/>
                        </a:buClr>
                        <a:buSzPct val="90000"/>
                        <a:buFont typeface="Wingdings" pitchFamily="2" charset="2"/>
                        <a:buNone/>
                        <a:tabLst/>
                      </a:pPr>
                      <a:r>
                        <a:rPr kumimoji="1" lang="en-US" altLang="ko-KR" sz="2400" b="0" i="0" u="none" strike="noStrike" cap="none" normalizeH="0" baseline="0" dirty="0">
                          <a:ln>
                            <a:noFill/>
                          </a:ln>
                          <a:solidFill>
                            <a:schemeClr val="tx1"/>
                          </a:solidFill>
                          <a:effectLst/>
                          <a:latin typeface="굴림" pitchFamily="50" charset="-127"/>
                          <a:ea typeface="굴림" pitchFamily="50" charset="-127"/>
                        </a:rPr>
                        <a:t>Z</a:t>
                      </a:r>
                      <a:r>
                        <a:rPr kumimoji="1" lang="en-US" altLang="ko-KR" sz="2400" b="0" i="0" u="none" strike="noStrike" cap="none" normalizeH="0" baseline="-25000" dirty="0">
                          <a:ln>
                            <a:noFill/>
                          </a:ln>
                          <a:solidFill>
                            <a:schemeClr val="tx1"/>
                          </a:solidFill>
                          <a:effectLst/>
                          <a:latin typeface="굴림" pitchFamily="50" charset="-127"/>
                          <a:ea typeface="굴림" pitchFamily="50" charset="-127"/>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871196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ko-KR"/>
              <a:t>Detection of discontinuities</a:t>
            </a:r>
          </a:p>
        </p:txBody>
      </p:sp>
      <p:sp>
        <p:nvSpPr>
          <p:cNvPr id="22531" name="Rectangle 3"/>
          <p:cNvSpPr>
            <a:spLocks noGrp="1" noChangeArrowheads="1"/>
          </p:cNvSpPr>
          <p:nvPr>
            <p:ph idx="1"/>
          </p:nvPr>
        </p:nvSpPr>
        <p:spPr>
          <a:xfrm>
            <a:off x="1524000" y="1219200"/>
            <a:ext cx="9144000" cy="3200400"/>
          </a:xfrm>
        </p:spPr>
        <p:txBody>
          <a:bodyPr/>
          <a:lstStyle/>
          <a:p>
            <a:pPr eaLnBrk="1" hangingPunct="1"/>
            <a:r>
              <a:rPr lang="en-US" altLang="ko-KR" sz="2000"/>
              <a:t>A </a:t>
            </a:r>
            <a:r>
              <a:rPr lang="en-US" altLang="ko-KR" sz="2000">
                <a:solidFill>
                  <a:schemeClr val="tx2"/>
                </a:solidFill>
              </a:rPr>
              <a:t>mask</a:t>
            </a:r>
            <a:r>
              <a:rPr lang="en-US" altLang="ko-KR" sz="2000"/>
              <a:t> used for detecting isolated points different from a constant background </a:t>
            </a:r>
          </a:p>
          <a:p>
            <a:pPr eaLnBrk="1" hangingPunct="1"/>
            <a:endParaRPr lang="en-US" altLang="ko-KR" sz="2000"/>
          </a:p>
          <a:p>
            <a:pPr eaLnBrk="1" hangingPunct="1"/>
            <a:endParaRPr lang="en-US" altLang="ko-KR" sz="2000"/>
          </a:p>
          <a:p>
            <a:pPr eaLnBrk="1" hangingPunct="1"/>
            <a:endParaRPr lang="en-US" altLang="ko-KR" sz="2000"/>
          </a:p>
          <a:p>
            <a:pPr eaLnBrk="1" hangingPunct="1">
              <a:buFont typeface="Wingdings" panose="05000000000000000000" pitchFamily="2" charset="2"/>
              <a:buNone/>
            </a:pPr>
            <a:endParaRPr lang="en-US" altLang="ko-KR" sz="2000"/>
          </a:p>
          <a:p>
            <a:pPr eaLnBrk="1" hangingPunct="1"/>
            <a:r>
              <a:rPr lang="en-US" altLang="ko-KR"/>
              <a:t> </a:t>
            </a:r>
            <a:r>
              <a:rPr lang="en-US" altLang="ko-KR" sz="2000"/>
              <a:t>Line masks for line detection</a:t>
            </a:r>
          </a:p>
          <a:p>
            <a:pPr lvl="2" eaLnBrk="1" hangingPunct="1">
              <a:buFont typeface="Wingdings" panose="05000000000000000000" pitchFamily="2" charset="2"/>
              <a:buNone/>
            </a:pPr>
            <a:r>
              <a:rPr lang="en-US" altLang="ko-KR"/>
              <a:t>		</a:t>
            </a:r>
          </a:p>
          <a:p>
            <a:pPr eaLnBrk="1" hangingPunct="1"/>
            <a:endParaRPr lang="en-US" altLang="ko-KR" sz="2000"/>
          </a:p>
        </p:txBody>
      </p:sp>
      <p:pic>
        <p:nvPicPr>
          <p:cNvPr id="22534" name="Picture 4" descr="input1-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174" y="4089400"/>
            <a:ext cx="4419600" cy="20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5" name="Picture 5" descr="input1-00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0700" y="3956843"/>
            <a:ext cx="4648200" cy="214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6" name="Text Box 6"/>
          <p:cNvSpPr txBox="1">
            <a:spLocks noChangeArrowheads="1"/>
          </p:cNvSpPr>
          <p:nvPr/>
        </p:nvSpPr>
        <p:spPr bwMode="auto">
          <a:xfrm>
            <a:off x="3962400" y="6477000"/>
            <a:ext cx="3962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spcBef>
                <a:spcPct val="50000"/>
              </a:spcBef>
            </a:pPr>
            <a:endParaRPr lang="ko-KR" altLang="ko-KR" sz="1200"/>
          </a:p>
        </p:txBody>
      </p:sp>
      <p:pic>
        <p:nvPicPr>
          <p:cNvPr id="22537" name="Picture 8" descr="input4-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5718" y="1768476"/>
            <a:ext cx="1752600" cy="1720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17143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ko-KR" b="1">
                <a:solidFill>
                  <a:schemeClr val="tx2"/>
                </a:solidFill>
              </a:rPr>
              <a:t>Edge Detection</a:t>
            </a:r>
          </a:p>
        </p:txBody>
      </p:sp>
      <p:sp>
        <p:nvSpPr>
          <p:cNvPr id="90115" name="Rectangle 3"/>
          <p:cNvSpPr>
            <a:spLocks noGrp="1" noChangeArrowheads="1"/>
          </p:cNvSpPr>
          <p:nvPr>
            <p:ph idx="1"/>
          </p:nvPr>
        </p:nvSpPr>
        <p:spPr>
          <a:xfrm>
            <a:off x="0" y="1730284"/>
            <a:ext cx="9802407" cy="3880773"/>
          </a:xfrm>
        </p:spPr>
        <p:txBody>
          <a:bodyPr rtlCol="0">
            <a:normAutofit/>
          </a:bodyPr>
          <a:lstStyle/>
          <a:p>
            <a:pPr lvl="1">
              <a:defRPr/>
            </a:pPr>
            <a:r>
              <a:rPr lang="en-US" altLang="ko-KR" sz="1800" dirty="0"/>
              <a:t>Isolated points and thin lines are not frequent occurrences in most practical applications. </a:t>
            </a:r>
          </a:p>
          <a:p>
            <a:pPr lvl="1">
              <a:defRPr/>
            </a:pPr>
            <a:r>
              <a:rPr lang="en-US" altLang="ko-KR" sz="1800"/>
              <a:t>The </a:t>
            </a:r>
            <a:r>
              <a:rPr lang="en-US" altLang="ko-KR" sz="1800" dirty="0"/>
              <a:t>most common approach for detecting meaningful discontinuities in gray level.</a:t>
            </a:r>
          </a:p>
          <a:p>
            <a:pPr lvl="1">
              <a:defRPr/>
            </a:pPr>
            <a:r>
              <a:rPr lang="en-US" altLang="ko-KR" sz="1800" dirty="0"/>
              <a:t>Edge: the boundary between two regions with relatively distinct gray-level properties.</a:t>
            </a:r>
          </a:p>
          <a:p>
            <a:pPr lvl="2">
              <a:defRPr/>
            </a:pPr>
            <a:r>
              <a:rPr lang="en-US" altLang="ko-KR" sz="1800" dirty="0"/>
              <a:t>Assume that the regions in question are sufficiently homogeneous s. t. the transition between two regions are determined on the basis of gray-level discontinuities alone.</a:t>
            </a:r>
          </a:p>
          <a:p>
            <a:pPr lvl="1">
              <a:defRPr/>
            </a:pPr>
            <a:r>
              <a:rPr lang="en-US" altLang="ko-KR" sz="1800" dirty="0"/>
              <a:t>The idea underlying most edge-detection techniques</a:t>
            </a:r>
          </a:p>
          <a:p>
            <a:pPr lvl="2">
              <a:defRPr/>
            </a:pPr>
            <a:r>
              <a:rPr lang="en-US" altLang="ko-KR" sz="1800" dirty="0"/>
              <a:t>The computation of a local derivative.</a:t>
            </a:r>
          </a:p>
          <a:p>
            <a:pPr lvl="2">
              <a:buNone/>
              <a:defRPr/>
            </a:pPr>
            <a:endParaRPr lang="en-US" altLang="ko-KR" dirty="0"/>
          </a:p>
          <a:p>
            <a:pPr>
              <a:defRPr/>
            </a:pPr>
            <a:endParaRPr lang="en-US" altLang="ko-KR" dirty="0"/>
          </a:p>
        </p:txBody>
      </p:sp>
    </p:spTree>
    <p:extLst>
      <p:ext uri="{BB962C8B-B14F-4D97-AF65-F5344CB8AC3E}">
        <p14:creationId xmlns:p14="http://schemas.microsoft.com/office/powerpoint/2010/main" val="3858356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6"/>
          <p:cNvSpPr>
            <a:spLocks noGrp="1" noChangeArrowheads="1"/>
          </p:cNvSpPr>
          <p:nvPr>
            <p:ph type="title"/>
          </p:nvPr>
        </p:nvSpPr>
        <p:spPr/>
        <p:txBody>
          <a:bodyPr/>
          <a:lstStyle/>
          <a:p>
            <a:pPr eaLnBrk="1" hangingPunct="1"/>
            <a:r>
              <a:rPr lang="en-US" altLang="ko-KR"/>
              <a:t>Edge Detection</a:t>
            </a:r>
          </a:p>
        </p:txBody>
      </p:sp>
      <p:pic>
        <p:nvPicPr>
          <p:cNvPr id="24581" name="Picture 1027" descr="zero1(mo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1434" y="1270000"/>
            <a:ext cx="5043488" cy="562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8724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81815" y="515376"/>
            <a:ext cx="8596668" cy="1320800"/>
          </a:xfrm>
        </p:spPr>
        <p:txBody>
          <a:bodyPr/>
          <a:lstStyle/>
          <a:p>
            <a:pPr eaLnBrk="1" hangingPunct="1"/>
            <a:r>
              <a:rPr lang="en-US" altLang="ko-KR"/>
              <a:t>Edge Detection</a:t>
            </a:r>
          </a:p>
        </p:txBody>
      </p:sp>
      <p:sp>
        <p:nvSpPr>
          <p:cNvPr id="35843" name="Rectangle 3"/>
          <p:cNvSpPr>
            <a:spLocks noGrp="1" noChangeArrowheads="1"/>
          </p:cNvSpPr>
          <p:nvPr>
            <p:ph idx="1"/>
          </p:nvPr>
        </p:nvSpPr>
        <p:spPr>
          <a:xfrm>
            <a:off x="574824" y="2011165"/>
            <a:ext cx="8596668" cy="4299988"/>
          </a:xfrm>
        </p:spPr>
        <p:txBody>
          <a:bodyPr rtlCol="0">
            <a:normAutofit fontScale="77500" lnSpcReduction="20000"/>
          </a:bodyPr>
          <a:lstStyle/>
          <a:p>
            <a:pPr marL="419100" indent="-419100">
              <a:lnSpc>
                <a:spcPct val="90000"/>
              </a:lnSpc>
              <a:defRPr/>
            </a:pPr>
            <a:r>
              <a:rPr lang="en-US" altLang="ko-KR" sz="2400" dirty="0"/>
              <a:t>Edge Detection</a:t>
            </a:r>
          </a:p>
          <a:p>
            <a:pPr marL="800100" lvl="1" indent="-342900">
              <a:lnSpc>
                <a:spcPct val="90000"/>
              </a:lnSpc>
              <a:defRPr/>
            </a:pPr>
            <a:r>
              <a:rPr lang="en-US" altLang="ko-KR" sz="2000" dirty="0">
                <a:latin typeface="Book Antiqua" pitchFamily="18" charset="0"/>
              </a:rPr>
              <a:t>The edges of an image: hold much of the information in that image. </a:t>
            </a:r>
          </a:p>
          <a:p>
            <a:pPr marL="1219200" lvl="2" indent="-304800">
              <a:lnSpc>
                <a:spcPct val="90000"/>
              </a:lnSpc>
              <a:defRPr/>
            </a:pPr>
            <a:r>
              <a:rPr lang="en-US" altLang="ko-KR" sz="1800" dirty="0">
                <a:latin typeface="Book Antiqua" pitchFamily="18" charset="0"/>
              </a:rPr>
              <a:t>The edges tell where </a:t>
            </a:r>
            <a:r>
              <a:rPr lang="en-US" altLang="ko-KR" sz="1800" dirty="0">
                <a:solidFill>
                  <a:schemeClr val="tx2"/>
                </a:solidFill>
                <a:latin typeface="Book Antiqua" pitchFamily="18" charset="0"/>
              </a:rPr>
              <a:t>objects are, their shape and size, and something about their texture</a:t>
            </a:r>
            <a:r>
              <a:rPr lang="en-US" altLang="ko-KR" sz="1800" dirty="0">
                <a:latin typeface="Book Antiqua" pitchFamily="18" charset="0"/>
              </a:rPr>
              <a:t>. </a:t>
            </a:r>
          </a:p>
          <a:p>
            <a:pPr marL="1219200" lvl="2" indent="-304800">
              <a:lnSpc>
                <a:spcPct val="90000"/>
              </a:lnSpc>
              <a:defRPr/>
            </a:pPr>
            <a:r>
              <a:rPr lang="en-US" altLang="ko-KR" sz="1800" dirty="0">
                <a:latin typeface="Book Antiqua" pitchFamily="18" charset="0"/>
              </a:rPr>
              <a:t>An edge is where the intensity of an image move </a:t>
            </a:r>
            <a:r>
              <a:rPr lang="en-US" altLang="ko-KR" sz="1800" dirty="0">
                <a:solidFill>
                  <a:schemeClr val="tx2"/>
                </a:solidFill>
                <a:latin typeface="Book Antiqua" pitchFamily="18" charset="0"/>
              </a:rPr>
              <a:t>from a low value to a high value or vice versa</a:t>
            </a:r>
            <a:r>
              <a:rPr lang="en-US" altLang="ko-KR" sz="1800" dirty="0">
                <a:latin typeface="Book Antiqua" pitchFamily="18" charset="0"/>
              </a:rPr>
              <a:t>. </a:t>
            </a:r>
          </a:p>
          <a:p>
            <a:pPr marL="419100" indent="-419100">
              <a:lnSpc>
                <a:spcPct val="90000"/>
              </a:lnSpc>
              <a:defRPr/>
            </a:pPr>
            <a:endParaRPr lang="en-US" altLang="ko-KR" sz="2400" dirty="0">
              <a:latin typeface="Book Antiqua" pitchFamily="18" charset="0"/>
            </a:endParaRPr>
          </a:p>
          <a:p>
            <a:pPr marL="419100" indent="-419100">
              <a:lnSpc>
                <a:spcPct val="90000"/>
              </a:lnSpc>
              <a:defRPr/>
            </a:pPr>
            <a:endParaRPr lang="en-US" altLang="ko-KR" sz="2400" dirty="0">
              <a:latin typeface="Book Antiqua" pitchFamily="18" charset="0"/>
            </a:endParaRPr>
          </a:p>
          <a:p>
            <a:pPr marL="800100" lvl="1" indent="-342900">
              <a:lnSpc>
                <a:spcPct val="90000"/>
              </a:lnSpc>
              <a:buNone/>
              <a:defRPr/>
            </a:pPr>
            <a:r>
              <a:rPr lang="en-US" altLang="ko-KR" sz="2000" dirty="0">
                <a:latin typeface="Book Antiqua" pitchFamily="18" charset="0"/>
              </a:rPr>
              <a:t>        </a:t>
            </a:r>
          </a:p>
          <a:p>
            <a:pPr marL="800100" lvl="1" indent="-342900">
              <a:lnSpc>
                <a:spcPct val="90000"/>
              </a:lnSpc>
              <a:buNone/>
              <a:defRPr/>
            </a:pPr>
            <a:r>
              <a:rPr lang="en-US" altLang="ko-KR" sz="2000" dirty="0">
                <a:latin typeface="Book Antiqua" pitchFamily="18" charset="0"/>
              </a:rPr>
              <a:t>         </a:t>
            </a:r>
            <a:r>
              <a:rPr lang="en-US" altLang="ko-KR" sz="2000" dirty="0"/>
              <a:t>roof edge             line edge        step edge                       ramp edge</a:t>
            </a:r>
            <a:endParaRPr lang="en-US" altLang="ko-KR" sz="900" dirty="0">
              <a:latin typeface="Book Antiqua" pitchFamily="18" charset="0"/>
            </a:endParaRPr>
          </a:p>
          <a:p>
            <a:pPr marL="1219200" lvl="2" indent="-304800">
              <a:lnSpc>
                <a:spcPct val="90000"/>
              </a:lnSpc>
              <a:defRPr/>
            </a:pPr>
            <a:r>
              <a:rPr lang="en-US" altLang="ko-KR" sz="1800" dirty="0">
                <a:latin typeface="Book Antiqua" pitchFamily="18" charset="0"/>
              </a:rPr>
              <a:t>Infinite number of edge orientations, widths and shapes.</a:t>
            </a:r>
          </a:p>
          <a:p>
            <a:pPr marL="1219200" lvl="2" indent="-304800">
              <a:lnSpc>
                <a:spcPct val="90000"/>
              </a:lnSpc>
              <a:defRPr/>
            </a:pPr>
            <a:endParaRPr lang="en-US" altLang="ko-KR" sz="1800" dirty="0">
              <a:latin typeface="Book Antiqua" pitchFamily="18" charset="0"/>
            </a:endParaRPr>
          </a:p>
          <a:p>
            <a:pPr marL="800100" lvl="1" indent="-342900">
              <a:lnSpc>
                <a:spcPct val="90000"/>
              </a:lnSpc>
              <a:defRPr/>
            </a:pPr>
            <a:r>
              <a:rPr lang="en-US" altLang="ko-KR" sz="2000" dirty="0">
                <a:latin typeface="Book Antiqua" pitchFamily="18" charset="0"/>
              </a:rPr>
              <a:t>The edge detection can be used in many applications. </a:t>
            </a:r>
          </a:p>
          <a:p>
            <a:pPr marL="1219200" lvl="2" indent="-304800">
              <a:lnSpc>
                <a:spcPct val="90000"/>
              </a:lnSpc>
              <a:defRPr/>
            </a:pPr>
            <a:r>
              <a:rPr lang="en-US" altLang="ko-KR" sz="1800" dirty="0">
                <a:solidFill>
                  <a:schemeClr val="tx2"/>
                </a:solidFill>
                <a:latin typeface="Book Antiqua" pitchFamily="18" charset="0"/>
              </a:rPr>
              <a:t>Image segmentation : Image segmentation: a field of image analysis, is used to group pixels into regions to determine an image's composition</a:t>
            </a:r>
          </a:p>
          <a:p>
            <a:pPr marL="1219200" lvl="2" indent="-304800">
              <a:lnSpc>
                <a:spcPct val="90000"/>
              </a:lnSpc>
              <a:defRPr/>
            </a:pPr>
            <a:r>
              <a:rPr lang="en-US" altLang="ko-KR" sz="1800" dirty="0">
                <a:solidFill>
                  <a:schemeClr val="tx2"/>
                </a:solidFill>
                <a:latin typeface="Book Antiqua" pitchFamily="18" charset="0"/>
              </a:rPr>
              <a:t>Image registration : aligns two images that may have been acquired at separate times or from different sensors.</a:t>
            </a:r>
            <a:r>
              <a:rPr lang="en-US" altLang="ko-KR" sz="1800" dirty="0">
                <a:latin typeface="Book Antiqua" pitchFamily="18" charset="0"/>
              </a:rPr>
              <a:t>  </a:t>
            </a:r>
            <a:endParaRPr lang="en-US" altLang="ko-KR" sz="1800" dirty="0"/>
          </a:p>
          <a:p>
            <a:pPr marL="800100" lvl="1" indent="-342900">
              <a:lnSpc>
                <a:spcPct val="90000"/>
              </a:lnSpc>
              <a:defRPr/>
            </a:pPr>
            <a:endParaRPr lang="en-US" altLang="ko-KR" sz="2000" dirty="0"/>
          </a:p>
        </p:txBody>
      </p:sp>
      <p:sp>
        <p:nvSpPr>
          <p:cNvPr id="25606" name="Line 4"/>
          <p:cNvSpPr>
            <a:spLocks noChangeShapeType="1"/>
          </p:cNvSpPr>
          <p:nvPr/>
        </p:nvSpPr>
        <p:spPr bwMode="auto">
          <a:xfrm flipV="1">
            <a:off x="1413621" y="3434609"/>
            <a:ext cx="495300" cy="4953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5607" name="Line 5"/>
          <p:cNvSpPr>
            <a:spLocks noChangeShapeType="1"/>
          </p:cNvSpPr>
          <p:nvPr/>
        </p:nvSpPr>
        <p:spPr bwMode="auto">
          <a:xfrm flipH="1" flipV="1">
            <a:off x="1918447" y="3415560"/>
            <a:ext cx="485775" cy="485775"/>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5608" name="Line 6"/>
          <p:cNvSpPr>
            <a:spLocks noChangeShapeType="1"/>
          </p:cNvSpPr>
          <p:nvPr/>
        </p:nvSpPr>
        <p:spPr bwMode="auto">
          <a:xfrm>
            <a:off x="2946026" y="3985935"/>
            <a:ext cx="371475"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5609" name="Line 7"/>
          <p:cNvSpPr>
            <a:spLocks noChangeShapeType="1"/>
          </p:cNvSpPr>
          <p:nvPr/>
        </p:nvSpPr>
        <p:spPr bwMode="auto">
          <a:xfrm flipV="1">
            <a:off x="3317500" y="3462061"/>
            <a:ext cx="0" cy="523875"/>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5610" name="Line 8"/>
          <p:cNvSpPr>
            <a:spLocks noChangeShapeType="1"/>
          </p:cNvSpPr>
          <p:nvPr/>
        </p:nvSpPr>
        <p:spPr bwMode="auto">
          <a:xfrm flipV="1">
            <a:off x="3536575" y="3462061"/>
            <a:ext cx="0" cy="523875"/>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5611" name="Line 9"/>
          <p:cNvSpPr>
            <a:spLocks noChangeShapeType="1"/>
          </p:cNvSpPr>
          <p:nvPr/>
        </p:nvSpPr>
        <p:spPr bwMode="auto">
          <a:xfrm>
            <a:off x="3555626" y="3985935"/>
            <a:ext cx="371475"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5612" name="Line 10"/>
          <p:cNvSpPr>
            <a:spLocks noChangeShapeType="1"/>
          </p:cNvSpPr>
          <p:nvPr/>
        </p:nvSpPr>
        <p:spPr bwMode="auto">
          <a:xfrm>
            <a:off x="3308536" y="3453660"/>
            <a:ext cx="228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5613" name="Line 11"/>
          <p:cNvSpPr>
            <a:spLocks noChangeShapeType="1"/>
          </p:cNvSpPr>
          <p:nvPr/>
        </p:nvSpPr>
        <p:spPr bwMode="auto">
          <a:xfrm>
            <a:off x="4296896" y="3987055"/>
            <a:ext cx="371475"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5614" name="Line 12"/>
          <p:cNvSpPr>
            <a:spLocks noChangeShapeType="1"/>
          </p:cNvSpPr>
          <p:nvPr/>
        </p:nvSpPr>
        <p:spPr bwMode="auto">
          <a:xfrm flipV="1">
            <a:off x="4677895" y="3472706"/>
            <a:ext cx="0" cy="523875"/>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5615" name="Line 13"/>
          <p:cNvSpPr>
            <a:spLocks noChangeShapeType="1"/>
          </p:cNvSpPr>
          <p:nvPr/>
        </p:nvSpPr>
        <p:spPr bwMode="auto">
          <a:xfrm>
            <a:off x="4687421" y="3482230"/>
            <a:ext cx="371475"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5616" name="Line 14"/>
          <p:cNvSpPr>
            <a:spLocks noChangeShapeType="1"/>
          </p:cNvSpPr>
          <p:nvPr/>
        </p:nvSpPr>
        <p:spPr bwMode="auto">
          <a:xfrm>
            <a:off x="6882653" y="3411635"/>
            <a:ext cx="371475"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5617" name="Line 15"/>
          <p:cNvSpPr>
            <a:spLocks noChangeShapeType="1"/>
          </p:cNvSpPr>
          <p:nvPr/>
        </p:nvSpPr>
        <p:spPr bwMode="auto">
          <a:xfrm>
            <a:off x="6273053" y="3925985"/>
            <a:ext cx="371475"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5618" name="Line 16"/>
          <p:cNvSpPr>
            <a:spLocks noChangeShapeType="1"/>
          </p:cNvSpPr>
          <p:nvPr/>
        </p:nvSpPr>
        <p:spPr bwMode="auto">
          <a:xfrm flipH="1">
            <a:off x="6654053" y="3411636"/>
            <a:ext cx="238125" cy="523875"/>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30440952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ko-KR"/>
              <a:t>Edge Detection</a:t>
            </a:r>
          </a:p>
        </p:txBody>
      </p:sp>
      <p:sp>
        <p:nvSpPr>
          <p:cNvPr id="26627" name="Rectangle 3"/>
          <p:cNvSpPr>
            <a:spLocks noGrp="1" noChangeArrowheads="1"/>
          </p:cNvSpPr>
          <p:nvPr>
            <p:ph idx="1"/>
          </p:nvPr>
        </p:nvSpPr>
        <p:spPr>
          <a:xfrm>
            <a:off x="820769" y="1960282"/>
            <a:ext cx="8596668" cy="3880773"/>
          </a:xfrm>
        </p:spPr>
        <p:txBody>
          <a:bodyPr/>
          <a:lstStyle/>
          <a:p>
            <a:pPr eaLnBrk="1" hangingPunct="1">
              <a:buFont typeface="Wingdings" panose="05000000000000000000" pitchFamily="2" charset="2"/>
              <a:buNone/>
            </a:pPr>
            <a:r>
              <a:rPr lang="en-US" altLang="ko-KR" dirty="0"/>
              <a:t>The edges of an image hold much of the information in that image</a:t>
            </a:r>
          </a:p>
          <a:p>
            <a:pPr eaLnBrk="1" hangingPunct="1">
              <a:buFont typeface="Wingdings" panose="05000000000000000000" pitchFamily="2" charset="2"/>
              <a:buNone/>
            </a:pPr>
            <a:r>
              <a:rPr lang="en-US" altLang="ko-KR" dirty="0"/>
              <a:t>The edges tell </a:t>
            </a:r>
          </a:p>
          <a:p>
            <a:pPr eaLnBrk="1" hangingPunct="1">
              <a:buFont typeface="Wingdings" panose="05000000000000000000" pitchFamily="2" charset="2"/>
              <a:buChar char="Ø"/>
            </a:pPr>
            <a:r>
              <a:rPr lang="en-US" altLang="ko-KR" dirty="0"/>
              <a:t>   where objects are</a:t>
            </a:r>
          </a:p>
          <a:p>
            <a:pPr eaLnBrk="1" hangingPunct="1">
              <a:buFont typeface="Wingdings" panose="05000000000000000000" pitchFamily="2" charset="2"/>
              <a:buChar char="Ø"/>
            </a:pPr>
            <a:r>
              <a:rPr lang="en-US" altLang="ko-KR" dirty="0"/>
              <a:t>   their shape and size </a:t>
            </a:r>
          </a:p>
          <a:p>
            <a:pPr eaLnBrk="1" hangingPunct="1">
              <a:buFont typeface="Wingdings" panose="05000000000000000000" pitchFamily="2" charset="2"/>
              <a:buChar char="Ø"/>
            </a:pPr>
            <a:r>
              <a:rPr lang="en-US" altLang="ko-KR" dirty="0"/>
              <a:t>   something about their texture</a:t>
            </a:r>
          </a:p>
        </p:txBody>
      </p:sp>
    </p:spTree>
    <p:extLst>
      <p:ext uri="{BB962C8B-B14F-4D97-AF65-F5344CB8AC3E}">
        <p14:creationId xmlns:p14="http://schemas.microsoft.com/office/powerpoint/2010/main" val="30996289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ko-KR"/>
              <a:t>Edge Detection</a:t>
            </a:r>
          </a:p>
        </p:txBody>
      </p:sp>
      <p:sp>
        <p:nvSpPr>
          <p:cNvPr id="36867" name="Rectangle 3"/>
          <p:cNvSpPr>
            <a:spLocks noGrp="1" noChangeArrowheads="1"/>
          </p:cNvSpPr>
          <p:nvPr>
            <p:ph idx="1"/>
          </p:nvPr>
        </p:nvSpPr>
        <p:spPr>
          <a:xfrm>
            <a:off x="578722" y="1748212"/>
            <a:ext cx="10017560" cy="4663221"/>
          </a:xfrm>
        </p:spPr>
        <p:txBody>
          <a:bodyPr rtlCol="0">
            <a:normAutofit/>
          </a:bodyPr>
          <a:lstStyle/>
          <a:p>
            <a:pPr>
              <a:defRPr/>
            </a:pPr>
            <a:r>
              <a:rPr lang="en-US" altLang="ko-KR" sz="2400" dirty="0">
                <a:latin typeface="Book Antiqua" pitchFamily="18" charset="0"/>
              </a:rPr>
              <a:t>Edge detection techniques </a:t>
            </a:r>
          </a:p>
          <a:p>
            <a:pPr lvl="1">
              <a:defRPr/>
            </a:pPr>
            <a:r>
              <a:rPr lang="en-US" altLang="ko-KR" sz="1800" dirty="0">
                <a:latin typeface="Book Antiqua" pitchFamily="18" charset="0"/>
              </a:rPr>
              <a:t>Homogeneity operator</a:t>
            </a:r>
          </a:p>
          <a:p>
            <a:pPr lvl="2">
              <a:defRPr/>
            </a:pPr>
            <a:r>
              <a:rPr lang="en-US" altLang="ko-KR" sz="1800" dirty="0">
                <a:latin typeface="Book Antiqua" pitchFamily="18" charset="0"/>
              </a:rPr>
              <a:t>The simplest and quickest edge detectors determine the maximum value from a series of pixel subtractions.</a:t>
            </a:r>
          </a:p>
          <a:p>
            <a:pPr lvl="2">
              <a:defRPr/>
            </a:pPr>
            <a:r>
              <a:rPr lang="en-US" altLang="ko-KR" sz="1800" dirty="0">
                <a:latin typeface="Book Antiqua" pitchFamily="18" charset="0"/>
              </a:rPr>
              <a:t> Subtracts each 8 surrounding pixels from the center pixel of a 3 X 3 window.</a:t>
            </a:r>
          </a:p>
          <a:p>
            <a:pPr lvl="2">
              <a:defRPr/>
            </a:pPr>
            <a:r>
              <a:rPr lang="en-US" altLang="ko-KR" sz="1800" dirty="0">
                <a:latin typeface="Book Antiqua" pitchFamily="18" charset="0"/>
              </a:rPr>
              <a:t> The output  is the maximum of the absolute value of each difference.</a:t>
            </a:r>
          </a:p>
          <a:p>
            <a:pPr lvl="2">
              <a:buNone/>
              <a:defRPr/>
            </a:pPr>
            <a:endParaRPr lang="en-US" altLang="ko-KR" sz="1200" dirty="0">
              <a:latin typeface="Book Antiqua" pitchFamily="18" charset="0"/>
            </a:endParaRPr>
          </a:p>
          <a:p>
            <a:pPr lvl="2">
              <a:buNone/>
              <a:defRPr/>
            </a:pPr>
            <a:endParaRPr lang="en-US" altLang="ko-KR" dirty="0">
              <a:latin typeface="Book Antiqua" pitchFamily="18" charset="0"/>
            </a:endParaRPr>
          </a:p>
          <a:p>
            <a:pPr lvl="1">
              <a:spcBef>
                <a:spcPct val="0"/>
              </a:spcBef>
              <a:defRPr/>
            </a:pPr>
            <a:r>
              <a:rPr lang="en-US" altLang="ko-KR" dirty="0">
                <a:latin typeface="Book Antiqua" pitchFamily="18" charset="0"/>
              </a:rPr>
              <a:t>Difference operator</a:t>
            </a:r>
          </a:p>
          <a:p>
            <a:pPr lvl="2">
              <a:spcBef>
                <a:spcPct val="0"/>
              </a:spcBef>
              <a:buFont typeface="Wingdings" pitchFamily="2" charset="2"/>
              <a:buChar char="§"/>
              <a:defRPr/>
            </a:pPr>
            <a:r>
              <a:rPr lang="en-US" altLang="ko-KR" sz="2000" dirty="0">
                <a:latin typeface="Book Antiqua" pitchFamily="18" charset="0"/>
              </a:rPr>
              <a:t>Similar to the homogeneity operator is the difference edge detector.</a:t>
            </a:r>
          </a:p>
          <a:p>
            <a:pPr lvl="2">
              <a:spcBef>
                <a:spcPct val="0"/>
              </a:spcBef>
              <a:buFont typeface="Wingdings" pitchFamily="2" charset="2"/>
              <a:buChar char="§"/>
              <a:defRPr/>
            </a:pPr>
            <a:r>
              <a:rPr lang="en-US" altLang="ko-KR" sz="2000" dirty="0">
                <a:latin typeface="Book Antiqua" pitchFamily="18" charset="0"/>
              </a:rPr>
              <a:t>It operates more quickly because it requires four subtractions per pixel as opposed to the  eight needed by the homogeneity operator.</a:t>
            </a:r>
          </a:p>
        </p:txBody>
      </p:sp>
    </p:spTree>
    <p:extLst>
      <p:ext uri="{BB962C8B-B14F-4D97-AF65-F5344CB8AC3E}">
        <p14:creationId xmlns:p14="http://schemas.microsoft.com/office/powerpoint/2010/main" val="29263807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280599" y="600635"/>
            <a:ext cx="3726625" cy="914400"/>
          </a:xfrm>
        </p:spPr>
        <p:txBody>
          <a:bodyPr rtlCol="0">
            <a:normAutofit/>
          </a:bodyPr>
          <a:lstStyle/>
          <a:p>
            <a:pPr>
              <a:defRPr/>
            </a:pPr>
            <a:r>
              <a:rPr lang="en-US" altLang="ko-KR" dirty="0"/>
              <a:t>Edge Detection</a:t>
            </a:r>
          </a:p>
        </p:txBody>
      </p:sp>
      <p:sp>
        <p:nvSpPr>
          <p:cNvPr id="8" name="矩形 7"/>
          <p:cNvSpPr/>
          <p:nvPr/>
        </p:nvSpPr>
        <p:spPr>
          <a:xfrm>
            <a:off x="677334" y="3790581"/>
            <a:ext cx="2214562" cy="2857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9" name="矩形 8"/>
          <p:cNvSpPr/>
          <p:nvPr/>
        </p:nvSpPr>
        <p:spPr>
          <a:xfrm>
            <a:off x="6238876" y="6215063"/>
            <a:ext cx="1928813" cy="2857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pic>
        <p:nvPicPr>
          <p:cNvPr id="2" name="Picture 1"/>
          <p:cNvPicPr>
            <a:picLocks noChangeAspect="1"/>
          </p:cNvPicPr>
          <p:nvPr/>
        </p:nvPicPr>
        <p:blipFill>
          <a:blip r:embed="rId2"/>
          <a:stretch>
            <a:fillRect/>
          </a:stretch>
        </p:blipFill>
        <p:spPr>
          <a:xfrm>
            <a:off x="2391775" y="1166574"/>
            <a:ext cx="5638371" cy="2672127"/>
          </a:xfrm>
          <a:prstGeom prst="rect">
            <a:avLst/>
          </a:prstGeom>
        </p:spPr>
      </p:pic>
      <p:pic>
        <p:nvPicPr>
          <p:cNvPr id="3" name="Picture 2"/>
          <p:cNvPicPr>
            <a:picLocks noChangeAspect="1"/>
          </p:cNvPicPr>
          <p:nvPr/>
        </p:nvPicPr>
        <p:blipFill>
          <a:blip r:embed="rId3"/>
          <a:stretch>
            <a:fillRect/>
          </a:stretch>
        </p:blipFill>
        <p:spPr>
          <a:xfrm>
            <a:off x="2143910" y="3928414"/>
            <a:ext cx="6134100" cy="2423463"/>
          </a:xfrm>
          <a:prstGeom prst="rect">
            <a:avLst/>
          </a:prstGeom>
        </p:spPr>
      </p:pic>
    </p:spTree>
    <p:extLst>
      <p:ext uri="{BB962C8B-B14F-4D97-AF65-F5344CB8AC3E}">
        <p14:creationId xmlns:p14="http://schemas.microsoft.com/office/powerpoint/2010/main" val="3321151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ko-KR"/>
              <a:t>Edge Detection</a:t>
            </a:r>
          </a:p>
        </p:txBody>
      </p:sp>
      <p:sp>
        <p:nvSpPr>
          <p:cNvPr id="29699" name="Text Box 6"/>
          <p:cNvSpPr>
            <a:spLocks noGrp="1" noChangeArrowheads="1"/>
          </p:cNvSpPr>
          <p:nvPr>
            <p:ph idx="1"/>
          </p:nvPr>
        </p:nvSpPr>
        <p:spPr/>
        <p:txBody>
          <a:bodyPr/>
          <a:lstStyle/>
          <a:p>
            <a:pPr algn="ctr" eaLnBrk="1" hangingPunct="1">
              <a:spcBef>
                <a:spcPct val="50000"/>
              </a:spcBef>
              <a:buFontTx/>
              <a:buNone/>
            </a:pPr>
            <a:r>
              <a:rPr lang="en-US" altLang="ko-KR" sz="1200"/>
              <a:t>. </a:t>
            </a:r>
          </a:p>
        </p:txBody>
      </p:sp>
      <p:sp>
        <p:nvSpPr>
          <p:cNvPr id="7" name="灯片编号占位符 4"/>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fld id="{F2E7CCAC-7446-4EB7-9444-524D313830DC}" type="slidenum">
              <a:rPr lang="en-US" altLang="ko-KR" sz="1200">
                <a:solidFill>
                  <a:srgbClr val="898989"/>
                </a:solidFill>
              </a:rPr>
              <a:pPr eaLnBrk="1" hangingPunct="1"/>
              <a:t>35</a:t>
            </a:fld>
            <a:endParaRPr lang="en-US" altLang="ko-KR" sz="1200">
              <a:solidFill>
                <a:srgbClr val="898989"/>
              </a:solidFill>
            </a:endParaRPr>
          </a:p>
        </p:txBody>
      </p:sp>
      <p:pic>
        <p:nvPicPr>
          <p:cNvPr id="29702" name="Picture 4" descr="input1-0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5025" y="1428750"/>
            <a:ext cx="6618288" cy="4199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3" name="Text Box 7"/>
          <p:cNvSpPr txBox="1">
            <a:spLocks noChangeArrowheads="1"/>
          </p:cNvSpPr>
          <p:nvPr/>
        </p:nvSpPr>
        <p:spPr bwMode="auto">
          <a:xfrm>
            <a:off x="1245025" y="5760156"/>
            <a:ext cx="719991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50000"/>
              </a:spcBef>
            </a:pPr>
            <a:r>
              <a:rPr lang="en-US" altLang="ko-KR" sz="1200" dirty="0">
                <a:latin typeface="굴림" panose="020B0600000101010101" pitchFamily="34" charset="-127"/>
              </a:rPr>
              <a:t>Fig. 3.14 (a) Original image, (b) edge map of homogeneity operator, and </a:t>
            </a:r>
            <a:r>
              <a:rPr lang="en-US" altLang="ko-KR" sz="1200" dirty="0"/>
              <a:t>©</a:t>
            </a:r>
            <a:r>
              <a:rPr lang="en-US" altLang="ko-KR" sz="1200" dirty="0">
                <a:latin typeface="굴림" panose="020B0600000101010101" pitchFamily="34" charset="-127"/>
              </a:rPr>
              <a:t> difference operator.</a:t>
            </a:r>
          </a:p>
          <a:p>
            <a:pPr eaLnBrk="1" hangingPunct="1"/>
            <a:endParaRPr lang="en-US" altLang="ko-KR" dirty="0"/>
          </a:p>
        </p:txBody>
      </p:sp>
    </p:spTree>
    <p:extLst>
      <p:ext uri="{BB962C8B-B14F-4D97-AF65-F5344CB8AC3E}">
        <p14:creationId xmlns:p14="http://schemas.microsoft.com/office/powerpoint/2010/main" val="21504075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ko-KR"/>
              <a:t>Edge Detection </a:t>
            </a:r>
          </a:p>
        </p:txBody>
      </p:sp>
      <p:graphicFrame>
        <p:nvGraphicFramePr>
          <p:cNvPr id="30725" name="Object 3"/>
          <p:cNvGraphicFramePr>
            <a:graphicFrameLocks noChangeAspect="1"/>
          </p:cNvGraphicFramePr>
          <p:nvPr>
            <p:extLst>
              <p:ext uri="{D42A27DB-BD31-4B8C-83A1-F6EECF244321}">
                <p14:modId xmlns:p14="http://schemas.microsoft.com/office/powerpoint/2010/main" val="2228700360"/>
              </p:ext>
            </p:extLst>
          </p:nvPr>
        </p:nvGraphicFramePr>
        <p:xfrm>
          <a:off x="818561" y="2108200"/>
          <a:ext cx="8991600" cy="2895600"/>
        </p:xfrm>
        <a:graphic>
          <a:graphicData uri="http://schemas.openxmlformats.org/presentationml/2006/ole">
            <mc:AlternateContent xmlns:mc="http://schemas.openxmlformats.org/markup-compatibility/2006">
              <mc:Choice xmlns:v="urn:schemas-microsoft-com:vml" Requires="v">
                <p:oleObj name="비트맵 이미지" r:id="rId2" imgW="11317280" imgH="2980952" progId="Paint.Picture">
                  <p:embed/>
                </p:oleObj>
              </mc:Choice>
              <mc:Fallback>
                <p:oleObj name="비트맵 이미지" r:id="rId2" imgW="11317280" imgH="2980952"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561" y="2108200"/>
                        <a:ext cx="89916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26" name="Text Box 4"/>
          <p:cNvSpPr txBox="1">
            <a:spLocks noChangeArrowheads="1"/>
          </p:cNvSpPr>
          <p:nvPr/>
        </p:nvSpPr>
        <p:spPr bwMode="auto">
          <a:xfrm>
            <a:off x="1015377" y="5247943"/>
            <a:ext cx="1460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200" dirty="0">
                <a:latin typeface="굴림" panose="020B0600000101010101" pitchFamily="34" charset="-127"/>
              </a:rPr>
              <a:t>(a) Original image</a:t>
            </a:r>
          </a:p>
        </p:txBody>
      </p:sp>
      <p:sp>
        <p:nvSpPr>
          <p:cNvPr id="30727" name="Text Box 5"/>
          <p:cNvSpPr txBox="1">
            <a:spLocks noChangeArrowheads="1"/>
          </p:cNvSpPr>
          <p:nvPr/>
        </p:nvSpPr>
        <p:spPr bwMode="auto">
          <a:xfrm>
            <a:off x="3790361" y="5235729"/>
            <a:ext cx="3048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200" dirty="0">
                <a:latin typeface="굴림" panose="020B0600000101010101" pitchFamily="34" charset="-127"/>
              </a:rPr>
              <a:t>(b) Edge map of homogeneity operator</a:t>
            </a:r>
          </a:p>
        </p:txBody>
      </p:sp>
      <p:sp>
        <p:nvSpPr>
          <p:cNvPr id="30728" name="Text Box 6"/>
          <p:cNvSpPr txBox="1">
            <a:spLocks noChangeArrowheads="1"/>
          </p:cNvSpPr>
          <p:nvPr/>
        </p:nvSpPr>
        <p:spPr bwMode="auto">
          <a:xfrm>
            <a:off x="7322751" y="5204662"/>
            <a:ext cx="18192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200" dirty="0">
                <a:latin typeface="굴림" panose="020B0600000101010101" pitchFamily="34" charset="-127"/>
              </a:rPr>
              <a:t>(c) Difference operator</a:t>
            </a:r>
          </a:p>
        </p:txBody>
      </p:sp>
    </p:spTree>
    <p:extLst>
      <p:ext uri="{BB962C8B-B14F-4D97-AF65-F5344CB8AC3E}">
        <p14:creationId xmlns:p14="http://schemas.microsoft.com/office/powerpoint/2010/main" val="24620569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77334" y="609600"/>
            <a:ext cx="8596668" cy="789912"/>
          </a:xfrm>
        </p:spPr>
        <p:txBody>
          <a:bodyPr/>
          <a:lstStyle/>
          <a:p>
            <a:pPr eaLnBrk="1" hangingPunct="1"/>
            <a:r>
              <a:rPr lang="en-US" altLang="ko-KR" dirty="0"/>
              <a:t>Derivative Operator</a:t>
            </a:r>
          </a:p>
        </p:txBody>
      </p:sp>
      <p:sp>
        <p:nvSpPr>
          <p:cNvPr id="31747" name="Rectangle 3"/>
          <p:cNvSpPr>
            <a:spLocks noGrp="1" noChangeArrowheads="1"/>
          </p:cNvSpPr>
          <p:nvPr>
            <p:ph idx="1"/>
          </p:nvPr>
        </p:nvSpPr>
        <p:spPr>
          <a:xfrm>
            <a:off x="585378" y="1542132"/>
            <a:ext cx="8596668" cy="3880773"/>
          </a:xfrm>
        </p:spPr>
        <p:txBody>
          <a:bodyPr/>
          <a:lstStyle/>
          <a:p>
            <a:pPr eaLnBrk="1" hangingPunct="1"/>
            <a:r>
              <a:rPr lang="en-US" altLang="ko-KR" dirty="0"/>
              <a:t>First Derivative Operator</a:t>
            </a:r>
          </a:p>
        </p:txBody>
      </p:sp>
      <p:sp>
        <p:nvSpPr>
          <p:cNvPr id="20" name="灯片编号占位符 4"/>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fld id="{4B53896F-834C-4A11-AB59-EF3F8DCE5D6B}" type="slidenum">
              <a:rPr lang="en-US" altLang="ko-KR" sz="1200">
                <a:solidFill>
                  <a:srgbClr val="898989"/>
                </a:solidFill>
              </a:rPr>
              <a:pPr eaLnBrk="1" hangingPunct="1"/>
              <a:t>37</a:t>
            </a:fld>
            <a:endParaRPr lang="en-US" altLang="ko-KR" sz="1200">
              <a:solidFill>
                <a:srgbClr val="898989"/>
              </a:solidFill>
            </a:endParaRPr>
          </a:p>
        </p:txBody>
      </p:sp>
      <p:grpSp>
        <p:nvGrpSpPr>
          <p:cNvPr id="31750" name="Group 18"/>
          <p:cNvGrpSpPr>
            <a:grpSpLocks/>
          </p:cNvGrpSpPr>
          <p:nvPr/>
        </p:nvGrpSpPr>
        <p:grpSpPr bwMode="auto">
          <a:xfrm>
            <a:off x="1575549" y="2035830"/>
            <a:ext cx="7947025" cy="4486275"/>
            <a:chOff x="370" y="1099"/>
            <a:chExt cx="5006" cy="2871"/>
          </a:xfrm>
        </p:grpSpPr>
        <p:graphicFrame>
          <p:nvGraphicFramePr>
            <p:cNvPr id="31751" name="Object 4"/>
            <p:cNvGraphicFramePr>
              <a:graphicFrameLocks noChangeAspect="1"/>
            </p:cNvGraphicFramePr>
            <p:nvPr/>
          </p:nvGraphicFramePr>
          <p:xfrm>
            <a:off x="1074" y="2163"/>
            <a:ext cx="1726" cy="782"/>
          </p:xfrm>
          <a:graphic>
            <a:graphicData uri="http://schemas.openxmlformats.org/presentationml/2006/ole">
              <mc:AlternateContent xmlns:mc="http://schemas.openxmlformats.org/markup-compatibility/2006">
                <mc:Choice xmlns:v="urn:schemas-microsoft-com:vml" Requires="v">
                  <p:oleObj name="Equation" r:id="rId2" imgW="2603500" imgH="711200" progId="Equation.3">
                    <p:embed/>
                  </p:oleObj>
                </mc:Choice>
                <mc:Fallback>
                  <p:oleObj name="Equation" r:id="rId2" imgW="2603500" imgH="711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4" y="2163"/>
                          <a:ext cx="1726" cy="7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2" name="Object 5"/>
            <p:cNvGraphicFramePr>
              <a:graphicFrameLocks noChangeAspect="1"/>
            </p:cNvGraphicFramePr>
            <p:nvPr/>
          </p:nvGraphicFramePr>
          <p:xfrm>
            <a:off x="1081" y="3100"/>
            <a:ext cx="1714" cy="805"/>
          </p:xfrm>
          <a:graphic>
            <a:graphicData uri="http://schemas.openxmlformats.org/presentationml/2006/ole">
              <mc:AlternateContent xmlns:mc="http://schemas.openxmlformats.org/markup-compatibility/2006">
                <mc:Choice xmlns:v="urn:schemas-microsoft-com:vml" Requires="v">
                  <p:oleObj name="Equation" r:id="rId4" imgW="2514600" imgH="711200" progId="Equation.3">
                    <p:embed/>
                  </p:oleObj>
                </mc:Choice>
                <mc:Fallback>
                  <p:oleObj name="Equation" r:id="rId4" imgW="2514600" imgH="711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1" y="3100"/>
                          <a:ext cx="1714" cy="8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3" name="Object 6"/>
            <p:cNvGraphicFramePr>
              <a:graphicFrameLocks noChangeAspect="1"/>
            </p:cNvGraphicFramePr>
            <p:nvPr/>
          </p:nvGraphicFramePr>
          <p:xfrm>
            <a:off x="3609" y="2198"/>
            <a:ext cx="1699" cy="771"/>
          </p:xfrm>
          <a:graphic>
            <a:graphicData uri="http://schemas.openxmlformats.org/presentationml/2006/ole">
              <mc:AlternateContent xmlns:mc="http://schemas.openxmlformats.org/markup-compatibility/2006">
                <mc:Choice xmlns:v="urn:schemas-microsoft-com:vml" Requires="v">
                  <p:oleObj name="Equation" r:id="rId6" imgW="2603500" imgH="711200" progId="Equation.3">
                    <p:embed/>
                  </p:oleObj>
                </mc:Choice>
                <mc:Fallback>
                  <p:oleObj name="Equation" r:id="rId6" imgW="2603500" imgH="711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9" y="2198"/>
                          <a:ext cx="1699" cy="7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4" name="Object 7"/>
            <p:cNvGraphicFramePr>
              <a:graphicFrameLocks noChangeAspect="1"/>
            </p:cNvGraphicFramePr>
            <p:nvPr/>
          </p:nvGraphicFramePr>
          <p:xfrm>
            <a:off x="3643" y="3202"/>
            <a:ext cx="1733" cy="768"/>
          </p:xfrm>
          <a:graphic>
            <a:graphicData uri="http://schemas.openxmlformats.org/presentationml/2006/ole">
              <mc:AlternateContent xmlns:mc="http://schemas.openxmlformats.org/markup-compatibility/2006">
                <mc:Choice xmlns:v="urn:schemas-microsoft-com:vml" Requires="v">
                  <p:oleObj name="Equation" r:id="rId8" imgW="2857500" imgH="762000" progId="Equation.3">
                    <p:embed/>
                  </p:oleObj>
                </mc:Choice>
                <mc:Fallback>
                  <p:oleObj name="Equation" r:id="rId8" imgW="2857500" imgH="7620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43" y="3202"/>
                          <a:ext cx="1733" cy="7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5" name="Text Box 8"/>
            <p:cNvSpPr txBox="1">
              <a:spLocks noChangeArrowheads="1"/>
            </p:cNvSpPr>
            <p:nvPr/>
          </p:nvSpPr>
          <p:spPr bwMode="auto">
            <a:xfrm>
              <a:off x="370" y="2316"/>
              <a:ext cx="633"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latinLnBrk="0" hangingPunct="1"/>
              <a:r>
                <a:rPr lang="en-US" altLang="ko-KR" sz="1800">
                  <a:cs typeface="Arial" panose="020B0604020202020204" pitchFamily="34" charset="0"/>
                </a:rPr>
                <a:t>Roberts</a:t>
              </a:r>
            </a:p>
            <a:p>
              <a:pPr eaLnBrk="1" latinLnBrk="0" hangingPunct="1"/>
              <a:r>
                <a:rPr lang="en-US" altLang="ko-KR" sz="1800">
                  <a:cs typeface="Arial" panose="020B0604020202020204" pitchFamily="34" charset="0"/>
                </a:rPr>
                <a:t>Operator</a:t>
              </a:r>
            </a:p>
          </p:txBody>
        </p:sp>
        <p:sp>
          <p:nvSpPr>
            <p:cNvPr id="31756" name="Text Box 9"/>
            <p:cNvSpPr txBox="1">
              <a:spLocks noChangeArrowheads="1"/>
            </p:cNvSpPr>
            <p:nvPr/>
          </p:nvSpPr>
          <p:spPr bwMode="auto">
            <a:xfrm>
              <a:off x="376" y="3264"/>
              <a:ext cx="633"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latinLnBrk="0" hangingPunct="1"/>
              <a:r>
                <a:rPr lang="en-US" altLang="ko-KR" sz="1800">
                  <a:cs typeface="Arial" panose="020B0604020202020204" pitchFamily="34" charset="0"/>
                </a:rPr>
                <a:t>Prewitt</a:t>
              </a:r>
            </a:p>
            <a:p>
              <a:pPr eaLnBrk="1" latinLnBrk="0" hangingPunct="1"/>
              <a:r>
                <a:rPr lang="en-US" altLang="ko-KR" sz="1800">
                  <a:cs typeface="Arial" panose="020B0604020202020204" pitchFamily="34" charset="0"/>
                </a:rPr>
                <a:t>Operator</a:t>
              </a:r>
            </a:p>
          </p:txBody>
        </p:sp>
        <p:sp>
          <p:nvSpPr>
            <p:cNvPr id="31757" name="Text Box 10"/>
            <p:cNvSpPr txBox="1">
              <a:spLocks noChangeArrowheads="1"/>
            </p:cNvSpPr>
            <p:nvPr/>
          </p:nvSpPr>
          <p:spPr bwMode="auto">
            <a:xfrm>
              <a:off x="2998" y="2316"/>
              <a:ext cx="633"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latinLnBrk="0" hangingPunct="1"/>
              <a:r>
                <a:rPr lang="en-US" altLang="ko-KR" sz="1800">
                  <a:cs typeface="Arial" panose="020B0604020202020204" pitchFamily="34" charset="0"/>
                </a:rPr>
                <a:t>Sobel</a:t>
              </a:r>
            </a:p>
            <a:p>
              <a:pPr eaLnBrk="1" latinLnBrk="0" hangingPunct="1"/>
              <a:r>
                <a:rPr lang="en-US" altLang="ko-KR" sz="1800">
                  <a:cs typeface="Arial" panose="020B0604020202020204" pitchFamily="34" charset="0"/>
                </a:rPr>
                <a:t>Operator</a:t>
              </a:r>
            </a:p>
          </p:txBody>
        </p:sp>
        <p:sp>
          <p:nvSpPr>
            <p:cNvPr id="31758" name="Text Box 11"/>
            <p:cNvSpPr txBox="1">
              <a:spLocks noChangeArrowheads="1"/>
            </p:cNvSpPr>
            <p:nvPr/>
          </p:nvSpPr>
          <p:spPr bwMode="auto">
            <a:xfrm>
              <a:off x="2962" y="3258"/>
              <a:ext cx="706"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latinLnBrk="0" hangingPunct="1"/>
              <a:r>
                <a:rPr lang="en-US" altLang="ko-KR" sz="1800">
                  <a:cs typeface="Arial" panose="020B0604020202020204" pitchFamily="34" charset="0"/>
                </a:rPr>
                <a:t>Frei-Chen</a:t>
              </a:r>
            </a:p>
            <a:p>
              <a:pPr eaLnBrk="1" latinLnBrk="0" hangingPunct="1"/>
              <a:r>
                <a:rPr lang="en-US" altLang="ko-KR" sz="1800">
                  <a:cs typeface="Arial" panose="020B0604020202020204" pitchFamily="34" charset="0"/>
                </a:rPr>
                <a:t>Operator</a:t>
              </a:r>
            </a:p>
          </p:txBody>
        </p:sp>
        <p:graphicFrame>
          <p:nvGraphicFramePr>
            <p:cNvPr id="31759" name="Object 12"/>
            <p:cNvGraphicFramePr>
              <a:graphicFrameLocks noChangeAspect="1"/>
            </p:cNvGraphicFramePr>
            <p:nvPr/>
          </p:nvGraphicFramePr>
          <p:xfrm>
            <a:off x="756" y="1099"/>
            <a:ext cx="2075" cy="773"/>
          </p:xfrm>
          <a:graphic>
            <a:graphicData uri="http://schemas.openxmlformats.org/presentationml/2006/ole">
              <mc:AlternateContent xmlns:mc="http://schemas.openxmlformats.org/markup-compatibility/2006">
                <mc:Choice xmlns:v="urn:schemas-microsoft-com:vml" Requires="v">
                  <p:oleObj name="Equation" r:id="rId10" imgW="2044700" imgH="762000" progId="Equation.3">
                    <p:embed/>
                  </p:oleObj>
                </mc:Choice>
                <mc:Fallback>
                  <p:oleObj name="Equation" r:id="rId10" imgW="2044700" imgH="7620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6" y="1099"/>
                          <a:ext cx="2075" cy="7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0" name="Object 13"/>
            <p:cNvGraphicFramePr>
              <a:graphicFrameLocks noChangeAspect="1"/>
            </p:cNvGraphicFramePr>
            <p:nvPr/>
          </p:nvGraphicFramePr>
          <p:xfrm>
            <a:off x="1344" y="1928"/>
            <a:ext cx="232" cy="232"/>
          </p:xfrm>
          <a:graphic>
            <a:graphicData uri="http://schemas.openxmlformats.org/presentationml/2006/ole">
              <mc:AlternateContent xmlns:mc="http://schemas.openxmlformats.org/markup-compatibility/2006">
                <mc:Choice xmlns:v="urn:schemas-microsoft-com:vml" Requires="v">
                  <p:oleObj name="Equation" r:id="rId12" imgW="228600" imgH="228600" progId="Equation.3">
                    <p:embed/>
                  </p:oleObj>
                </mc:Choice>
                <mc:Fallback>
                  <p:oleObj name="Equation" r:id="rId12" imgW="228600" imgH="2286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44" y="1928"/>
                          <a:ext cx="232"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1" name="Object 14"/>
            <p:cNvGraphicFramePr>
              <a:graphicFrameLocks noChangeAspect="1"/>
            </p:cNvGraphicFramePr>
            <p:nvPr/>
          </p:nvGraphicFramePr>
          <p:xfrm>
            <a:off x="2304" y="1963"/>
            <a:ext cx="232" cy="245"/>
          </p:xfrm>
          <a:graphic>
            <a:graphicData uri="http://schemas.openxmlformats.org/presentationml/2006/ole">
              <mc:AlternateContent xmlns:mc="http://schemas.openxmlformats.org/markup-compatibility/2006">
                <mc:Choice xmlns:v="urn:schemas-microsoft-com:vml" Requires="v">
                  <p:oleObj name="Equation" r:id="rId14" imgW="228600" imgH="241300" progId="Equation.3">
                    <p:embed/>
                  </p:oleObj>
                </mc:Choice>
                <mc:Fallback>
                  <p:oleObj name="Equation" r:id="rId14" imgW="228600" imgH="2413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04" y="1963"/>
                          <a:ext cx="232" cy="2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2" name="Object 15"/>
            <p:cNvGraphicFramePr>
              <a:graphicFrameLocks noChangeAspect="1"/>
            </p:cNvGraphicFramePr>
            <p:nvPr/>
          </p:nvGraphicFramePr>
          <p:xfrm>
            <a:off x="3862" y="1976"/>
            <a:ext cx="232" cy="232"/>
          </p:xfrm>
          <a:graphic>
            <a:graphicData uri="http://schemas.openxmlformats.org/presentationml/2006/ole">
              <mc:AlternateContent xmlns:mc="http://schemas.openxmlformats.org/markup-compatibility/2006">
                <mc:Choice xmlns:v="urn:schemas-microsoft-com:vml" Requires="v">
                  <p:oleObj name="Equation" r:id="rId16" imgW="228600" imgH="228600" progId="Equation.3">
                    <p:embed/>
                  </p:oleObj>
                </mc:Choice>
                <mc:Fallback>
                  <p:oleObj name="Equation" r:id="rId16" imgW="228600" imgH="2286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62" y="1976"/>
                          <a:ext cx="232"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3" name="Object 16"/>
            <p:cNvGraphicFramePr>
              <a:graphicFrameLocks noChangeAspect="1"/>
            </p:cNvGraphicFramePr>
            <p:nvPr/>
          </p:nvGraphicFramePr>
          <p:xfrm>
            <a:off x="4852" y="1963"/>
            <a:ext cx="232" cy="245"/>
          </p:xfrm>
          <a:graphic>
            <a:graphicData uri="http://schemas.openxmlformats.org/presentationml/2006/ole">
              <mc:AlternateContent xmlns:mc="http://schemas.openxmlformats.org/markup-compatibility/2006">
                <mc:Choice xmlns:v="urn:schemas-microsoft-com:vml" Requires="v">
                  <p:oleObj name="Equation" r:id="rId17" imgW="228600" imgH="241300" progId="Equation.3">
                    <p:embed/>
                  </p:oleObj>
                </mc:Choice>
                <mc:Fallback>
                  <p:oleObj name="Equation" r:id="rId17" imgW="228600" imgH="24130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52" y="1963"/>
                          <a:ext cx="232" cy="2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4" name="Object 17"/>
            <p:cNvGraphicFramePr>
              <a:graphicFrameLocks noChangeAspect="1"/>
            </p:cNvGraphicFramePr>
            <p:nvPr/>
          </p:nvGraphicFramePr>
          <p:xfrm>
            <a:off x="3360" y="1216"/>
            <a:ext cx="1172" cy="464"/>
          </p:xfrm>
          <a:graphic>
            <a:graphicData uri="http://schemas.openxmlformats.org/presentationml/2006/ole">
              <mc:AlternateContent xmlns:mc="http://schemas.openxmlformats.org/markup-compatibility/2006">
                <mc:Choice xmlns:v="urn:schemas-microsoft-com:vml" Requires="v">
                  <p:oleObj name="Equation" r:id="rId19" imgW="1155700" imgH="457200" progId="Equation.3">
                    <p:embed/>
                  </p:oleObj>
                </mc:Choice>
                <mc:Fallback>
                  <p:oleObj name="Equation" r:id="rId19" imgW="1155700" imgH="4572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360" y="1216"/>
                          <a:ext cx="1172" cy="4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21369803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ko-KR"/>
              <a:t>Derivative Operator</a:t>
            </a:r>
          </a:p>
        </p:txBody>
      </p:sp>
      <p:sp>
        <p:nvSpPr>
          <p:cNvPr id="84995" name="Rectangle 3"/>
          <p:cNvSpPr>
            <a:spLocks noGrp="1" noChangeArrowheads="1"/>
          </p:cNvSpPr>
          <p:nvPr>
            <p:ph idx="1"/>
          </p:nvPr>
        </p:nvSpPr>
        <p:spPr>
          <a:xfrm>
            <a:off x="677334" y="1802001"/>
            <a:ext cx="8596668" cy="3880773"/>
          </a:xfrm>
        </p:spPr>
        <p:txBody>
          <a:bodyPr rtlCol="0">
            <a:normAutofit/>
          </a:bodyPr>
          <a:lstStyle/>
          <a:p>
            <a:pPr>
              <a:defRPr/>
            </a:pPr>
            <a:r>
              <a:rPr lang="en-US" altLang="ko-KR"/>
              <a:t>Roberts operator</a:t>
            </a:r>
          </a:p>
          <a:p>
            <a:pPr lvl="1">
              <a:defRPr/>
            </a:pPr>
            <a:r>
              <a:rPr lang="en-US" altLang="ko-KR"/>
              <a:t>Smaller effective area than the other masks</a:t>
            </a:r>
          </a:p>
          <a:p>
            <a:pPr lvl="1">
              <a:defRPr/>
            </a:pPr>
            <a:r>
              <a:rPr lang="en-US" altLang="ko-KR"/>
              <a:t>More susceptible to noise</a:t>
            </a:r>
          </a:p>
          <a:p>
            <a:pPr>
              <a:defRPr/>
            </a:pPr>
            <a:r>
              <a:rPr lang="en-US" altLang="ko-KR"/>
              <a:t>Sobel operator</a:t>
            </a:r>
          </a:p>
          <a:p>
            <a:pPr lvl="1">
              <a:defRPr/>
            </a:pPr>
            <a:r>
              <a:rPr lang="en-US" altLang="ko-KR"/>
              <a:t>More sensitive to diagonal edges than vertical and horizontal edges.</a:t>
            </a:r>
          </a:p>
          <a:p>
            <a:pPr>
              <a:defRPr/>
            </a:pPr>
            <a:r>
              <a:rPr lang="en-US" altLang="ko-KR"/>
              <a:t>Prewitt operator</a:t>
            </a:r>
          </a:p>
          <a:p>
            <a:pPr lvl="1">
              <a:defRPr/>
            </a:pPr>
            <a:r>
              <a:rPr lang="en-US" altLang="ko-KR"/>
              <a:t>More sensitive to vertical and horizontal edges than diagonal edges</a:t>
            </a:r>
          </a:p>
        </p:txBody>
      </p:sp>
    </p:spTree>
    <p:extLst>
      <p:ext uri="{BB962C8B-B14F-4D97-AF65-F5344CB8AC3E}">
        <p14:creationId xmlns:p14="http://schemas.microsoft.com/office/powerpoint/2010/main" val="6774575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ko-KR"/>
              <a:t>Derivative Operator</a:t>
            </a:r>
          </a:p>
        </p:txBody>
      </p:sp>
      <p:pic>
        <p:nvPicPr>
          <p:cNvPr id="33798" name="Picture 4" descr="input1-0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7106" y="1556592"/>
            <a:ext cx="6798732" cy="4484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9" name="Text Box 5"/>
          <p:cNvSpPr txBox="1">
            <a:spLocks noChangeArrowheads="1"/>
          </p:cNvSpPr>
          <p:nvPr/>
        </p:nvSpPr>
        <p:spPr bwMode="auto">
          <a:xfrm>
            <a:off x="3505200" y="6248400"/>
            <a:ext cx="434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50000"/>
              </a:spcBef>
            </a:pPr>
            <a:r>
              <a:rPr lang="en-US" altLang="ko-KR" sz="1200">
                <a:latin typeface="굴림" panose="020B0600000101010101" pitchFamily="34" charset="-127"/>
              </a:rPr>
              <a:t> Fig. 3.17 (a) Original image, (b) Hr convolved, (c) Hc convolved, and (d) composite.</a:t>
            </a:r>
          </a:p>
        </p:txBody>
      </p:sp>
    </p:spTree>
    <p:extLst>
      <p:ext uri="{BB962C8B-B14F-4D97-AF65-F5344CB8AC3E}">
        <p14:creationId xmlns:p14="http://schemas.microsoft.com/office/powerpoint/2010/main" val="32205143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ko-KR"/>
              <a:t>Derivative Operator</a:t>
            </a:r>
          </a:p>
        </p:txBody>
      </p:sp>
      <p:pic>
        <p:nvPicPr>
          <p:cNvPr id="34819" name="Picture 4" descr="input1-00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27044" y="1824687"/>
            <a:ext cx="7769052" cy="3098800"/>
          </a:xfrm>
          <a:noFill/>
        </p:spPr>
      </p:pic>
      <p:sp>
        <p:nvSpPr>
          <p:cNvPr id="34822" name="Text Box 5"/>
          <p:cNvSpPr txBox="1">
            <a:spLocks noChangeArrowheads="1"/>
          </p:cNvSpPr>
          <p:nvPr/>
        </p:nvSpPr>
        <p:spPr bwMode="auto">
          <a:xfrm>
            <a:off x="2505075" y="4923487"/>
            <a:ext cx="464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50000"/>
              </a:spcBef>
            </a:pPr>
            <a:r>
              <a:rPr lang="en-US" altLang="ko-KR" sz="1200" dirty="0">
                <a:latin typeface="굴림" panose="020B0600000101010101" pitchFamily="34" charset="-127"/>
              </a:rPr>
              <a:t>Fig. 3.18 (a) Original image, (b) processed with the Roberts operator, and 9c) processed with the Prewitt operator.</a:t>
            </a:r>
          </a:p>
        </p:txBody>
      </p:sp>
    </p:spTree>
    <p:extLst>
      <p:ext uri="{BB962C8B-B14F-4D97-AF65-F5344CB8AC3E}">
        <p14:creationId xmlns:p14="http://schemas.microsoft.com/office/powerpoint/2010/main" val="42672723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ko-KR"/>
              <a:t>Compass Gradient Operator</a:t>
            </a:r>
          </a:p>
        </p:txBody>
      </p:sp>
      <p:sp>
        <p:nvSpPr>
          <p:cNvPr id="50179" name="Rectangle 3"/>
          <p:cNvSpPr>
            <a:spLocks noGrp="1" noChangeArrowheads="1"/>
          </p:cNvSpPr>
          <p:nvPr>
            <p:ph idx="1"/>
          </p:nvPr>
        </p:nvSpPr>
        <p:spPr>
          <a:xfrm>
            <a:off x="677334" y="1667530"/>
            <a:ext cx="8596668" cy="3880773"/>
          </a:xfrm>
        </p:spPr>
        <p:txBody>
          <a:bodyPr rtlCol="0">
            <a:normAutofit/>
          </a:bodyPr>
          <a:lstStyle/>
          <a:p>
            <a:pPr>
              <a:defRPr/>
            </a:pPr>
            <a:r>
              <a:rPr lang="en-US" altLang="ko-KR"/>
              <a:t>Compass Gradient Operator</a:t>
            </a:r>
          </a:p>
          <a:p>
            <a:pPr lvl="1">
              <a:defRPr/>
            </a:pPr>
            <a:r>
              <a:rPr lang="en-US" altLang="ko-KR"/>
              <a:t>Find edges in eight different orientations.</a:t>
            </a:r>
          </a:p>
          <a:p>
            <a:pPr lvl="1">
              <a:defRPr/>
            </a:pPr>
            <a:r>
              <a:rPr lang="en-US" altLang="ko-KR"/>
              <a:t>Convolve an image with eight different masks.</a:t>
            </a:r>
          </a:p>
          <a:p>
            <a:pPr lvl="1">
              <a:defRPr/>
            </a:pPr>
            <a:r>
              <a:rPr lang="en-US" altLang="ko-KR"/>
              <a:t>Prewitt, Kirsh, Robinson 3-level, Robinson 5-level</a:t>
            </a:r>
          </a:p>
          <a:p>
            <a:pPr lvl="1">
              <a:defRPr/>
            </a:pPr>
            <a:endParaRPr lang="en-US" altLang="ko-KR"/>
          </a:p>
          <a:p>
            <a:pPr>
              <a:defRPr/>
            </a:pPr>
            <a:r>
              <a:rPr lang="en-US" altLang="ko-KR"/>
              <a:t>The effects of convolution</a:t>
            </a:r>
          </a:p>
          <a:p>
            <a:pPr lvl="1">
              <a:defRPr/>
            </a:pPr>
            <a:r>
              <a:rPr lang="en-US" altLang="ko-KR"/>
              <a:t>Smaller masks are sensitive to noise</a:t>
            </a:r>
          </a:p>
          <a:p>
            <a:pPr lvl="1">
              <a:defRPr/>
            </a:pPr>
            <a:r>
              <a:rPr lang="en-US" altLang="ko-KR"/>
              <a:t>Larger masks cannot resolve fine detail, and also</a:t>
            </a:r>
          </a:p>
          <a:p>
            <a:pPr lvl="2">
              <a:defRPr/>
            </a:pPr>
            <a:r>
              <a:rPr lang="en-US" altLang="ko-KR"/>
              <a:t>Requires more computations.</a:t>
            </a:r>
          </a:p>
        </p:txBody>
      </p:sp>
    </p:spTree>
    <p:extLst>
      <p:ext uri="{BB962C8B-B14F-4D97-AF65-F5344CB8AC3E}">
        <p14:creationId xmlns:p14="http://schemas.microsoft.com/office/powerpoint/2010/main" val="16753099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p:cNvSpPr>
            <a:spLocks noGrp="1" noChangeArrowheads="1"/>
          </p:cNvSpPr>
          <p:nvPr>
            <p:ph type="title"/>
          </p:nvPr>
        </p:nvSpPr>
        <p:spPr>
          <a:xfrm>
            <a:off x="548125" y="172278"/>
            <a:ext cx="8596668" cy="1320800"/>
          </a:xfrm>
        </p:spPr>
        <p:txBody>
          <a:bodyPr/>
          <a:lstStyle/>
          <a:p>
            <a:pPr eaLnBrk="1" hangingPunct="1"/>
            <a:r>
              <a:rPr lang="en-US" altLang="ko-KR" dirty="0"/>
              <a:t>Compass Gradient Operator</a:t>
            </a:r>
          </a:p>
        </p:txBody>
      </p:sp>
      <p:pic>
        <p:nvPicPr>
          <p:cNvPr id="36867" name="Picture 1029" descr="input1-005-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2738213" y="2160588"/>
            <a:ext cx="4475612" cy="3881437"/>
          </a:xfrm>
          <a:noFill/>
        </p:spPr>
      </p:pic>
      <p:pic>
        <p:nvPicPr>
          <p:cNvPr id="36870" name="Picture 1028" descr="input1-0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1063" y="832678"/>
            <a:ext cx="373380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35915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0F8C3-0AEB-EAFD-FA5A-0D478F036BB7}"/>
              </a:ext>
            </a:extLst>
          </p:cNvPr>
          <p:cNvSpPr>
            <a:spLocks noGrp="1"/>
          </p:cNvSpPr>
          <p:nvPr>
            <p:ph type="title"/>
          </p:nvPr>
        </p:nvSpPr>
        <p:spPr/>
        <p:txBody>
          <a:bodyPr/>
          <a:lstStyle/>
          <a:p>
            <a:r>
              <a:rPr lang="en-US" dirty="0"/>
              <a:t>Sobel Operator</a:t>
            </a:r>
          </a:p>
        </p:txBody>
      </p:sp>
      <p:sp>
        <p:nvSpPr>
          <p:cNvPr id="7" name="Content Placeholder 6">
            <a:extLst>
              <a:ext uri="{FF2B5EF4-FFF2-40B4-BE49-F238E27FC236}">
                <a16:creationId xmlns:a16="http://schemas.microsoft.com/office/drawing/2014/main" id="{39957AC6-6DB6-0EC2-16CA-BAA9A40734CF}"/>
              </a:ext>
            </a:extLst>
          </p:cNvPr>
          <p:cNvSpPr>
            <a:spLocks noGrp="1"/>
          </p:cNvSpPr>
          <p:nvPr>
            <p:ph idx="1"/>
          </p:nvPr>
        </p:nvSpPr>
        <p:spPr/>
        <p:txBody>
          <a:bodyPr/>
          <a:lstStyle/>
          <a:p>
            <a:pPr algn="just"/>
            <a:r>
              <a:rPr lang="en-US" dirty="0"/>
              <a:t>Sobel Operator: It is a discrete differentiation operator. It computes the gradient approximation of image intensity function for image edge detection. At the pixels of an image, the Sobel operator produces either the normal to a vector or the corresponding gradient vector. It uses two 3 x 3 kernels or masks which are convolved with the input image to calculate the vertical and horizontal derivative approximations respectively </a:t>
            </a:r>
          </a:p>
        </p:txBody>
      </p:sp>
      <p:pic>
        <p:nvPicPr>
          <p:cNvPr id="9" name="Picture 8">
            <a:extLst>
              <a:ext uri="{FF2B5EF4-FFF2-40B4-BE49-F238E27FC236}">
                <a16:creationId xmlns:a16="http://schemas.microsoft.com/office/drawing/2014/main" id="{0E23E5B5-1E07-37E8-6B53-CD053921553C}"/>
              </a:ext>
            </a:extLst>
          </p:cNvPr>
          <p:cNvPicPr>
            <a:picLocks noChangeAspect="1"/>
          </p:cNvPicPr>
          <p:nvPr/>
        </p:nvPicPr>
        <p:blipFill>
          <a:blip r:embed="rId2"/>
          <a:stretch>
            <a:fillRect/>
          </a:stretch>
        </p:blipFill>
        <p:spPr>
          <a:xfrm>
            <a:off x="1732790" y="4512313"/>
            <a:ext cx="5492495" cy="936379"/>
          </a:xfrm>
          <a:prstGeom prst="rect">
            <a:avLst/>
          </a:prstGeom>
        </p:spPr>
      </p:pic>
    </p:spTree>
    <p:extLst>
      <p:ext uri="{BB962C8B-B14F-4D97-AF65-F5344CB8AC3E}">
        <p14:creationId xmlns:p14="http://schemas.microsoft.com/office/powerpoint/2010/main" val="19791170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1067D-64F1-A9F4-D67C-5CEA7C5B45B4}"/>
              </a:ext>
            </a:extLst>
          </p:cNvPr>
          <p:cNvSpPr>
            <a:spLocks noGrp="1"/>
          </p:cNvSpPr>
          <p:nvPr>
            <p:ph type="title"/>
          </p:nvPr>
        </p:nvSpPr>
        <p:spPr/>
        <p:txBody>
          <a:bodyPr/>
          <a:lstStyle/>
          <a:p>
            <a:r>
              <a:rPr lang="en-US" dirty="0"/>
              <a:t>Sobel operator</a:t>
            </a:r>
          </a:p>
        </p:txBody>
      </p:sp>
      <p:sp>
        <p:nvSpPr>
          <p:cNvPr id="3" name="Content Placeholder 2">
            <a:extLst>
              <a:ext uri="{FF2B5EF4-FFF2-40B4-BE49-F238E27FC236}">
                <a16:creationId xmlns:a16="http://schemas.microsoft.com/office/drawing/2014/main" id="{3E6D5341-5A05-8109-40C2-6531802A2DFE}"/>
              </a:ext>
            </a:extLst>
          </p:cNvPr>
          <p:cNvSpPr>
            <a:spLocks noGrp="1"/>
          </p:cNvSpPr>
          <p:nvPr>
            <p:ph idx="1"/>
          </p:nvPr>
        </p:nvSpPr>
        <p:spPr>
          <a:xfrm>
            <a:off x="677334" y="1930400"/>
            <a:ext cx="8596668" cy="3880773"/>
          </a:xfrm>
        </p:spPr>
        <p:txBody>
          <a:bodyPr>
            <a:normAutofit/>
          </a:bodyPr>
          <a:lstStyle/>
          <a:p>
            <a:pPr marL="0" indent="0">
              <a:buNone/>
            </a:pPr>
            <a:r>
              <a:rPr lang="en-US" dirty="0"/>
              <a:t>Advantages: </a:t>
            </a:r>
          </a:p>
          <a:p>
            <a:r>
              <a:rPr lang="en-US" dirty="0"/>
              <a:t>Simple and time efficient computation</a:t>
            </a:r>
          </a:p>
          <a:p>
            <a:r>
              <a:rPr lang="en-US" dirty="0"/>
              <a:t>Very easy at searching for smooth edges</a:t>
            </a:r>
          </a:p>
          <a:p>
            <a:endParaRPr lang="en-US" dirty="0"/>
          </a:p>
          <a:p>
            <a:pPr marL="0" indent="0">
              <a:buNone/>
            </a:pPr>
            <a:r>
              <a:rPr lang="en-US" dirty="0"/>
              <a:t>Limitations:  </a:t>
            </a:r>
          </a:p>
          <a:p>
            <a:r>
              <a:rPr lang="en-US" dirty="0"/>
              <a:t>Diagonal direction points are not preserved always</a:t>
            </a:r>
          </a:p>
          <a:p>
            <a:r>
              <a:rPr lang="en-US" dirty="0"/>
              <a:t>Highly sensitive to noise</a:t>
            </a:r>
          </a:p>
          <a:p>
            <a:r>
              <a:rPr lang="en-US" dirty="0"/>
              <a:t>Not very accurate in edge detection</a:t>
            </a:r>
          </a:p>
          <a:p>
            <a:r>
              <a:rPr lang="en-US" dirty="0"/>
              <a:t>Detect with thick and rough edges does not give appropriate results</a:t>
            </a:r>
          </a:p>
        </p:txBody>
      </p:sp>
    </p:spTree>
    <p:extLst>
      <p:ext uri="{BB962C8B-B14F-4D97-AF65-F5344CB8AC3E}">
        <p14:creationId xmlns:p14="http://schemas.microsoft.com/office/powerpoint/2010/main" val="5424312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2209800" y="228600"/>
            <a:ext cx="7886700" cy="609600"/>
          </a:xfrm>
        </p:spPr>
        <p:txBody>
          <a:bodyPr rtlCol="0">
            <a:normAutofit fontScale="90000"/>
          </a:bodyPr>
          <a:lstStyle/>
          <a:p>
            <a:pPr>
              <a:defRPr/>
            </a:pPr>
            <a:r>
              <a:rPr lang="en-US" altLang="ko-KR"/>
              <a:t>Second Order Derivative Operator</a:t>
            </a:r>
          </a:p>
        </p:txBody>
      </p:sp>
      <p:sp>
        <p:nvSpPr>
          <p:cNvPr id="48131" name="Rectangle 3"/>
          <p:cNvSpPr>
            <a:spLocks noGrp="1" noChangeArrowheads="1"/>
          </p:cNvSpPr>
          <p:nvPr>
            <p:ph idx="1"/>
          </p:nvPr>
        </p:nvSpPr>
        <p:spPr/>
        <p:txBody>
          <a:bodyPr rtlCol="0">
            <a:normAutofit/>
          </a:bodyPr>
          <a:lstStyle/>
          <a:p>
            <a:pPr>
              <a:defRPr/>
            </a:pPr>
            <a:r>
              <a:rPr lang="en-US" altLang="ko-KR" dirty="0"/>
              <a:t>Second Derivative Operator: </a:t>
            </a:r>
          </a:p>
          <a:p>
            <a:pPr lvl="1">
              <a:defRPr/>
            </a:pPr>
            <a:r>
              <a:rPr lang="en-US" altLang="ko-KR" dirty="0"/>
              <a:t>Better edge localization</a:t>
            </a:r>
          </a:p>
          <a:p>
            <a:pPr lvl="1">
              <a:defRPr/>
            </a:pPr>
            <a:r>
              <a:rPr lang="en-US" altLang="ko-KR" dirty="0" err="1"/>
              <a:t>Laplacian</a:t>
            </a:r>
            <a:r>
              <a:rPr lang="en-US" altLang="ko-KR" dirty="0"/>
              <a:t> Operator</a:t>
            </a:r>
          </a:p>
          <a:p>
            <a:pPr lvl="1">
              <a:defRPr/>
            </a:pPr>
            <a:r>
              <a:rPr lang="en-US" altLang="ko-KR" dirty="0"/>
              <a:t>The resulting image exhibits a sign change at image edges =&gt; Zero crossing</a:t>
            </a:r>
          </a:p>
          <a:p>
            <a:pPr lvl="1">
              <a:defRPr/>
            </a:pPr>
            <a:endParaRPr lang="en-US" altLang="ko-KR" dirty="0"/>
          </a:p>
          <a:p>
            <a:pPr>
              <a:defRPr/>
            </a:pPr>
            <a:r>
              <a:rPr lang="en-US" altLang="ko-KR" dirty="0"/>
              <a:t>Disadvantage of </a:t>
            </a:r>
            <a:r>
              <a:rPr lang="en-US" altLang="ko-KR" dirty="0" err="1"/>
              <a:t>Laplacian</a:t>
            </a:r>
            <a:endParaRPr lang="en-US" altLang="ko-KR" dirty="0"/>
          </a:p>
          <a:p>
            <a:pPr lvl="1">
              <a:defRPr/>
            </a:pPr>
            <a:r>
              <a:rPr lang="en-US" altLang="ko-KR" dirty="0"/>
              <a:t>Typically unacceptably sensitive to noise.</a:t>
            </a:r>
          </a:p>
          <a:p>
            <a:pPr lvl="1">
              <a:defRPr/>
            </a:pPr>
            <a:r>
              <a:rPr lang="en-US" altLang="ko-KR" dirty="0"/>
              <a:t>Produce double edges</a:t>
            </a:r>
          </a:p>
          <a:p>
            <a:pPr lvl="1">
              <a:defRPr/>
            </a:pPr>
            <a:r>
              <a:rPr lang="en-US" altLang="ko-KR" dirty="0"/>
              <a:t>Unable to detect edge direction</a:t>
            </a:r>
          </a:p>
          <a:p>
            <a:pPr lvl="1">
              <a:defRPr/>
            </a:pPr>
            <a:endParaRPr lang="en-US" altLang="ko-KR" dirty="0"/>
          </a:p>
          <a:p>
            <a:pPr lvl="1">
              <a:defRPr/>
            </a:pPr>
            <a:endParaRPr lang="en-US" altLang="ko-KR" dirty="0"/>
          </a:p>
          <a:p>
            <a:pPr lvl="1">
              <a:defRPr/>
            </a:pPr>
            <a:endParaRPr lang="en-US" altLang="ko-KR" dirty="0"/>
          </a:p>
          <a:p>
            <a:pPr lvl="1">
              <a:defRPr/>
            </a:pPr>
            <a:endParaRPr lang="en-US" altLang="ko-KR" dirty="0"/>
          </a:p>
          <a:p>
            <a:pPr lvl="1">
              <a:defRPr/>
            </a:pPr>
            <a:endParaRPr lang="en-US" altLang="ko-KR" dirty="0"/>
          </a:p>
        </p:txBody>
      </p:sp>
      <p:graphicFrame>
        <p:nvGraphicFramePr>
          <p:cNvPr id="37894" name="Object 4"/>
          <p:cNvGraphicFramePr>
            <a:graphicFrameLocks noChangeAspect="1"/>
          </p:cNvGraphicFramePr>
          <p:nvPr>
            <p:extLst>
              <p:ext uri="{D42A27DB-BD31-4B8C-83A1-F6EECF244321}">
                <p14:modId xmlns:p14="http://schemas.microsoft.com/office/powerpoint/2010/main" val="288581024"/>
              </p:ext>
            </p:extLst>
          </p:nvPr>
        </p:nvGraphicFramePr>
        <p:xfrm>
          <a:off x="5383026" y="1895197"/>
          <a:ext cx="2938462" cy="1400175"/>
        </p:xfrm>
        <a:graphic>
          <a:graphicData uri="http://schemas.openxmlformats.org/presentationml/2006/ole">
            <mc:AlternateContent xmlns:mc="http://schemas.openxmlformats.org/markup-compatibility/2006">
              <mc:Choice xmlns:v="urn:schemas-microsoft-com:vml" Requires="v">
                <p:oleObj name="Equation" r:id="rId2" imgW="2476500" imgH="711200" progId="Equation.3">
                  <p:embed/>
                </p:oleObj>
              </mc:Choice>
              <mc:Fallback>
                <p:oleObj name="Equation" r:id="rId2" imgW="2476500" imgH="711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3026" y="1895197"/>
                        <a:ext cx="2938462" cy="1400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739996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ko-KR"/>
              <a:t>Zero Crossing  Detection</a:t>
            </a:r>
          </a:p>
        </p:txBody>
      </p:sp>
      <p:sp>
        <p:nvSpPr>
          <p:cNvPr id="92163" name="Rectangle 3"/>
          <p:cNvSpPr>
            <a:spLocks noGrp="1" noChangeArrowheads="1"/>
          </p:cNvSpPr>
          <p:nvPr>
            <p:ph idx="1"/>
          </p:nvPr>
        </p:nvSpPr>
        <p:spPr>
          <a:xfrm>
            <a:off x="677333" y="1733107"/>
            <a:ext cx="8945131" cy="5050465"/>
          </a:xfrm>
        </p:spPr>
        <p:txBody>
          <a:bodyPr rtlCol="0">
            <a:normAutofit/>
          </a:bodyPr>
          <a:lstStyle/>
          <a:p>
            <a:pPr lvl="1">
              <a:defRPr/>
            </a:pPr>
            <a:r>
              <a:rPr lang="en-US" altLang="ko-KR" dirty="0"/>
              <a:t>Zero Crossing offers an alternative in case when edges are blurry or a high noise content is present.</a:t>
            </a:r>
          </a:p>
          <a:p>
            <a:pPr lvl="1">
              <a:defRPr/>
            </a:pPr>
            <a:r>
              <a:rPr lang="en-US" altLang="ko-KR" dirty="0"/>
              <a:t>At ZC, generate the output pixels for the edge map.</a:t>
            </a:r>
          </a:p>
          <a:p>
            <a:pPr lvl="1">
              <a:defRPr/>
            </a:pPr>
            <a:r>
              <a:rPr lang="en-US" altLang="ko-KR" dirty="0"/>
              <a:t>Zero Crossing  Detection</a:t>
            </a:r>
          </a:p>
          <a:p>
            <a:pPr lvl="1">
              <a:defRPr/>
            </a:pPr>
            <a:endParaRPr lang="en-US" altLang="ko-KR" dirty="0"/>
          </a:p>
          <a:p>
            <a:pPr lvl="2">
              <a:buNone/>
              <a:defRPr/>
            </a:pPr>
            <a:r>
              <a:rPr lang="en-US" altLang="ko-KR" sz="2000" dirty="0"/>
              <a:t>for(</a:t>
            </a:r>
            <a:r>
              <a:rPr lang="en-US" altLang="ko-KR" sz="2000" dirty="0" err="1"/>
              <a:t>i</a:t>
            </a:r>
            <a:r>
              <a:rPr lang="en-US" altLang="ko-KR" sz="2000" dirty="0"/>
              <a:t>=0; </a:t>
            </a:r>
            <a:r>
              <a:rPr lang="en-US" altLang="ko-KR" sz="2000" dirty="0" err="1"/>
              <a:t>i</a:t>
            </a:r>
            <a:r>
              <a:rPr lang="en-US" altLang="ko-KR" sz="2000" dirty="0"/>
              <a:t>&lt;(cols * (rows-1)); </a:t>
            </a:r>
            <a:r>
              <a:rPr lang="en-US" altLang="ko-KR" sz="2000" dirty="0" err="1"/>
              <a:t>i</a:t>
            </a:r>
            <a:r>
              <a:rPr lang="en-US" altLang="ko-KR" sz="2000" dirty="0"/>
              <a:t>++)</a:t>
            </a:r>
          </a:p>
          <a:p>
            <a:pPr lvl="2">
              <a:buNone/>
              <a:defRPr/>
            </a:pPr>
            <a:r>
              <a:rPr lang="en-US" altLang="ko-KR" sz="2000" dirty="0"/>
              <a:t>if((image[</a:t>
            </a:r>
            <a:r>
              <a:rPr lang="en-US" altLang="ko-KR" sz="2000" dirty="0" err="1"/>
              <a:t>i</a:t>
            </a:r>
            <a:r>
              <a:rPr lang="en-US" altLang="ko-KR" sz="2000" dirty="0"/>
              <a:t>] &lt; 0) &amp;&amp; ((image[i+1] &gt;= 0 || (image[</a:t>
            </a:r>
            <a:r>
              <a:rPr lang="en-US" altLang="ko-KR" sz="2000" dirty="0" err="1"/>
              <a:t>i+cols</a:t>
            </a:r>
            <a:r>
              <a:rPr lang="en-US" altLang="ko-KR" sz="2000" dirty="0"/>
              <a:t>] &gt;=0)))</a:t>
            </a:r>
          </a:p>
          <a:p>
            <a:pPr lvl="2">
              <a:buNone/>
              <a:defRPr/>
            </a:pPr>
            <a:r>
              <a:rPr lang="en-US" altLang="ko-KR" sz="2000" dirty="0"/>
              <a:t>   </a:t>
            </a:r>
            <a:r>
              <a:rPr lang="en-US" altLang="ko-KR" sz="2000" dirty="0" err="1"/>
              <a:t>out_buffer</a:t>
            </a:r>
            <a:r>
              <a:rPr lang="en-US" altLang="ko-KR" sz="2000" dirty="0"/>
              <a:t>[</a:t>
            </a:r>
            <a:r>
              <a:rPr lang="en-US" altLang="ko-KR" sz="2000" dirty="0" err="1"/>
              <a:t>i</a:t>
            </a:r>
            <a:r>
              <a:rPr lang="en-US" altLang="ko-KR" sz="2000" dirty="0"/>
              <a:t>] = 255; /* Must check both Horizontal and vertical</a:t>
            </a:r>
          </a:p>
          <a:p>
            <a:pPr lvl="2">
              <a:buNone/>
              <a:defRPr/>
            </a:pPr>
            <a:r>
              <a:rPr lang="en-US" altLang="ko-KR" sz="2000" dirty="0"/>
              <a:t>else if((image[</a:t>
            </a:r>
            <a:r>
              <a:rPr lang="en-US" altLang="ko-KR" sz="2000" dirty="0" err="1"/>
              <a:t>i</a:t>
            </a:r>
            <a:r>
              <a:rPr lang="en-US" altLang="ko-KR" sz="2000" dirty="0"/>
              <a:t>] &gt; 0) &amp;&amp; ((image[i+1] &lt;= 0 || (image[</a:t>
            </a:r>
            <a:r>
              <a:rPr lang="en-US" altLang="ko-KR" sz="2000" dirty="0" err="1"/>
              <a:t>i+cols</a:t>
            </a:r>
            <a:r>
              <a:rPr lang="en-US" altLang="ko-KR" sz="2000" dirty="0"/>
              <a:t>] &lt;=0)))</a:t>
            </a:r>
          </a:p>
          <a:p>
            <a:pPr lvl="2">
              <a:buNone/>
              <a:defRPr/>
            </a:pPr>
            <a:r>
              <a:rPr lang="en-US" altLang="ko-KR" sz="2000" dirty="0"/>
              <a:t>   </a:t>
            </a:r>
            <a:r>
              <a:rPr lang="en-US" altLang="ko-KR" sz="2000" dirty="0" err="1"/>
              <a:t>out_buffer</a:t>
            </a:r>
            <a:r>
              <a:rPr lang="en-US" altLang="ko-KR" sz="2000" dirty="0"/>
              <a:t>[</a:t>
            </a:r>
            <a:r>
              <a:rPr lang="en-US" altLang="ko-KR" sz="2000" dirty="0" err="1"/>
              <a:t>i</a:t>
            </a:r>
            <a:r>
              <a:rPr lang="en-US" altLang="ko-KR" sz="2000" dirty="0"/>
              <a:t>] = 255;</a:t>
            </a:r>
          </a:p>
          <a:p>
            <a:pPr lvl="2">
              <a:buNone/>
              <a:defRPr/>
            </a:pPr>
            <a:r>
              <a:rPr lang="en-US" altLang="ko-KR" sz="2000" dirty="0"/>
              <a:t>else </a:t>
            </a:r>
          </a:p>
          <a:p>
            <a:pPr lvl="2">
              <a:buNone/>
              <a:defRPr/>
            </a:pPr>
            <a:r>
              <a:rPr lang="en-US" altLang="ko-KR" sz="2000" dirty="0"/>
              <a:t>   </a:t>
            </a:r>
            <a:r>
              <a:rPr lang="en-US" altLang="ko-KR" sz="2000" dirty="0" err="1"/>
              <a:t>out_buffer</a:t>
            </a:r>
            <a:r>
              <a:rPr lang="en-US" altLang="ko-KR" sz="2000" dirty="0"/>
              <a:t>[</a:t>
            </a:r>
            <a:r>
              <a:rPr lang="en-US" altLang="ko-KR" sz="2000" dirty="0" err="1"/>
              <a:t>i</a:t>
            </a:r>
            <a:r>
              <a:rPr lang="en-US" altLang="ko-KR" sz="2000" dirty="0"/>
              <a:t>] = 0;</a:t>
            </a:r>
          </a:p>
          <a:p>
            <a:pPr>
              <a:defRPr/>
            </a:pPr>
            <a:endParaRPr lang="en-US" altLang="ko-KR" dirty="0"/>
          </a:p>
        </p:txBody>
      </p:sp>
    </p:spTree>
    <p:extLst>
      <p:ext uri="{BB962C8B-B14F-4D97-AF65-F5344CB8AC3E}">
        <p14:creationId xmlns:p14="http://schemas.microsoft.com/office/powerpoint/2010/main" val="27263673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ko-KR"/>
              <a:t>Zero Crossing  Detection</a:t>
            </a:r>
          </a:p>
        </p:txBody>
      </p:sp>
      <p:sp>
        <p:nvSpPr>
          <p:cNvPr id="39939" name="Rectangle 3"/>
          <p:cNvSpPr>
            <a:spLocks noGrp="1" noChangeArrowheads="1"/>
          </p:cNvSpPr>
          <p:nvPr>
            <p:ph idx="1"/>
          </p:nvPr>
        </p:nvSpPr>
        <p:spPr>
          <a:xfrm>
            <a:off x="758016" y="1685459"/>
            <a:ext cx="8596668" cy="3880773"/>
          </a:xfrm>
        </p:spPr>
        <p:txBody>
          <a:bodyPr/>
          <a:lstStyle/>
          <a:p>
            <a:pPr eaLnBrk="1" hangingPunct="1"/>
            <a:r>
              <a:rPr lang="en-US" altLang="ko-KR" sz="2400" dirty="0"/>
              <a:t>Simple zero-crossing </a:t>
            </a:r>
          </a:p>
          <a:p>
            <a:pPr lvl="1" eaLnBrk="1" hangingPunct="1"/>
            <a:r>
              <a:rPr lang="en-US" altLang="ko-KR" sz="2400" dirty="0"/>
              <a:t>may indicate more edges than desired.</a:t>
            </a:r>
          </a:p>
          <a:p>
            <a:pPr lvl="1" eaLnBrk="1" hangingPunct="1"/>
            <a:r>
              <a:rPr lang="en-US" altLang="ko-KR" sz="2400" dirty="0"/>
              <a:t>A method of determining ZC with threshold:</a:t>
            </a:r>
          </a:p>
          <a:p>
            <a:pPr lvl="2" eaLnBrk="1" hangingPunct="1"/>
            <a:r>
              <a:rPr lang="en-US" altLang="ko-KR" dirty="0"/>
              <a:t>Must use threshold to determine the magnitude of the edge to mask .</a:t>
            </a:r>
          </a:p>
          <a:p>
            <a:pPr lvl="2" eaLnBrk="1" hangingPunct="1"/>
            <a:r>
              <a:rPr lang="en-US" altLang="ko-KR" dirty="0"/>
              <a:t> Pass a 3x3 window; determine the difference between the maximum and minimum; An edge is present if the difference exceeds the threshold.</a:t>
            </a:r>
          </a:p>
          <a:p>
            <a:pPr lvl="2" eaLnBrk="1" hangingPunct="1"/>
            <a:endParaRPr lang="en-US" altLang="ko-KR" dirty="0"/>
          </a:p>
          <a:p>
            <a:pPr eaLnBrk="1" hangingPunct="1"/>
            <a:endParaRPr lang="en-US" altLang="ko-KR" dirty="0"/>
          </a:p>
          <a:p>
            <a:pPr eaLnBrk="1" hangingPunct="1"/>
            <a:endParaRPr lang="en-US" altLang="ko-KR" dirty="0"/>
          </a:p>
        </p:txBody>
      </p:sp>
      <p:pic>
        <p:nvPicPr>
          <p:cNvPr id="39942" name="Picture 4" descr="input1-0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4294" y="4275035"/>
            <a:ext cx="6580188" cy="152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3" name="Text Box 5"/>
          <p:cNvSpPr txBox="1">
            <a:spLocks noChangeArrowheads="1"/>
          </p:cNvSpPr>
          <p:nvPr/>
        </p:nvSpPr>
        <p:spPr bwMode="auto">
          <a:xfrm>
            <a:off x="2936035" y="5781573"/>
            <a:ext cx="4724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50000"/>
              </a:spcBef>
            </a:pPr>
            <a:r>
              <a:rPr lang="en-US" altLang="ko-KR" sz="1200">
                <a:latin typeface="굴림" panose="020B0600000101010101" pitchFamily="34" charset="-127"/>
              </a:rPr>
              <a:t> Fig. 3.20  Different thresholds (a) 20, (b) 48, and (c) 72.</a:t>
            </a:r>
          </a:p>
        </p:txBody>
      </p:sp>
    </p:spTree>
    <p:extLst>
      <p:ext uri="{BB962C8B-B14F-4D97-AF65-F5344CB8AC3E}">
        <p14:creationId xmlns:p14="http://schemas.microsoft.com/office/powerpoint/2010/main" val="14658383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ko-KR"/>
              <a:t>LoG(Laplacian of Gaussian)</a:t>
            </a:r>
          </a:p>
        </p:txBody>
      </p:sp>
      <p:sp>
        <p:nvSpPr>
          <p:cNvPr id="40963" name="Rectangle 3"/>
          <p:cNvSpPr>
            <a:spLocks noGrp="1" noChangeArrowheads="1"/>
          </p:cNvSpPr>
          <p:nvPr>
            <p:ph idx="1"/>
          </p:nvPr>
        </p:nvSpPr>
        <p:spPr>
          <a:xfrm>
            <a:off x="583496" y="1545559"/>
            <a:ext cx="8596668" cy="3880773"/>
          </a:xfrm>
        </p:spPr>
        <p:txBody>
          <a:bodyPr/>
          <a:lstStyle/>
          <a:p>
            <a:pPr eaLnBrk="1" hangingPunct="1"/>
            <a:r>
              <a:rPr lang="en-US" altLang="ko-KR" dirty="0" err="1"/>
              <a:t>LoG</a:t>
            </a:r>
            <a:r>
              <a:rPr lang="en-US" altLang="ko-KR" dirty="0"/>
              <a:t>(</a:t>
            </a:r>
            <a:r>
              <a:rPr lang="en-US" altLang="ko-KR" dirty="0" err="1"/>
              <a:t>Laplacian</a:t>
            </a:r>
            <a:r>
              <a:rPr lang="en-US" altLang="ko-KR" dirty="0"/>
              <a:t> of Gaussian)</a:t>
            </a:r>
          </a:p>
          <a:p>
            <a:pPr lvl="2" eaLnBrk="1" hangingPunct="1"/>
            <a:r>
              <a:rPr lang="en-US" altLang="ko-KR" dirty="0"/>
              <a:t> A second order derivative edge detector less susceptible to noise</a:t>
            </a:r>
          </a:p>
          <a:p>
            <a:pPr lvl="2" eaLnBrk="1" hangingPunct="1"/>
            <a:r>
              <a:rPr lang="en-US" altLang="ko-KR" dirty="0"/>
              <a:t> Gaussian smoothing  before applying </a:t>
            </a:r>
            <a:r>
              <a:rPr lang="en-US" altLang="ko-KR" dirty="0" err="1"/>
              <a:t>Laplacian</a:t>
            </a:r>
            <a:endParaRPr lang="en-US" altLang="ko-KR" dirty="0"/>
          </a:p>
          <a:p>
            <a:pPr lvl="1" eaLnBrk="1" hangingPunct="1">
              <a:buFont typeface="Wingdings" panose="05000000000000000000" pitchFamily="2" charset="2"/>
              <a:buNone/>
            </a:pPr>
            <a:endParaRPr lang="en-US" altLang="ko-KR" dirty="0"/>
          </a:p>
          <a:p>
            <a:pPr lvl="1" eaLnBrk="1" hangingPunct="1"/>
            <a:endParaRPr lang="en-US" altLang="ko-KR" dirty="0"/>
          </a:p>
        </p:txBody>
      </p:sp>
      <p:grpSp>
        <p:nvGrpSpPr>
          <p:cNvPr id="40967" name="Group 14"/>
          <p:cNvGrpSpPr>
            <a:grpSpLocks/>
          </p:cNvGrpSpPr>
          <p:nvPr/>
        </p:nvGrpSpPr>
        <p:grpSpPr bwMode="auto">
          <a:xfrm>
            <a:off x="5558675" y="3708868"/>
            <a:ext cx="3470100" cy="2934821"/>
            <a:chOff x="3430" y="1895"/>
            <a:chExt cx="2224" cy="2281"/>
          </a:xfrm>
        </p:grpSpPr>
        <p:pic>
          <p:nvPicPr>
            <p:cNvPr id="40970" name="Picture 5" descr="wdg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5" y="1895"/>
              <a:ext cx="922" cy="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1" name="Picture 6" descr="wdg4log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5" y="1907"/>
              <a:ext cx="922" cy="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2" name="Picture 7" descr="fce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3" y="2892"/>
              <a:ext cx="922" cy="1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3" name="Picture 8" descr="fce2log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9" y="2892"/>
              <a:ext cx="922" cy="1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4" name="Text Box 9"/>
            <p:cNvSpPr txBox="1">
              <a:spLocks noChangeArrowheads="1"/>
            </p:cNvSpPr>
            <p:nvPr/>
          </p:nvSpPr>
          <p:spPr bwMode="auto">
            <a:xfrm>
              <a:off x="3430" y="2568"/>
              <a:ext cx="1036"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latinLnBrk="0" hangingPunct="1"/>
              <a:r>
                <a:rPr lang="en-US" altLang="ko-KR" sz="1200" b="1">
                  <a:latin typeface="굴림" panose="020B0600000101010101" pitchFamily="34" charset="-127"/>
                </a:rPr>
                <a:t>Imput Image</a:t>
              </a:r>
              <a:endParaRPr lang="en-US" altLang="ko-KR" sz="1200">
                <a:latin typeface="굴림" panose="020B0600000101010101" pitchFamily="34" charset="-127"/>
              </a:endParaRPr>
            </a:p>
          </p:txBody>
        </p:sp>
        <p:sp>
          <p:nvSpPr>
            <p:cNvPr id="40975" name="Text Box 10"/>
            <p:cNvSpPr txBox="1">
              <a:spLocks noChangeArrowheads="1"/>
            </p:cNvSpPr>
            <p:nvPr/>
          </p:nvSpPr>
          <p:spPr bwMode="auto">
            <a:xfrm>
              <a:off x="4612" y="2568"/>
              <a:ext cx="103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latinLnBrk="0" hangingPunct="1"/>
              <a:r>
                <a:rPr lang="en-US" altLang="ko-KR" sz="1200" b="1">
                  <a:latin typeface="굴림" panose="020B0600000101010101" pitchFamily="34" charset="-127"/>
                  <a:sym typeface="Symbol" panose="05050102010706020507" pitchFamily="18" charset="2"/>
                </a:rPr>
                <a:t>7X7,  </a:t>
              </a:r>
              <a:r>
                <a:rPr lang="en-US" altLang="ko-KR" sz="1400" b="1">
                  <a:latin typeface="굴림" panose="020B0600000101010101" pitchFamily="34" charset="-127"/>
                  <a:sym typeface="Symbol" panose="05050102010706020507" pitchFamily="18" charset="2"/>
                </a:rPr>
                <a:t></a:t>
              </a:r>
              <a:r>
                <a:rPr lang="en-US" altLang="ko-KR" sz="1200" b="1">
                  <a:latin typeface="굴림" panose="020B0600000101010101" pitchFamily="34" charset="-127"/>
                  <a:sym typeface="Symbol" panose="05050102010706020507" pitchFamily="18" charset="2"/>
                </a:rPr>
                <a:t>=1.0</a:t>
              </a:r>
            </a:p>
          </p:txBody>
        </p:sp>
        <p:sp>
          <p:nvSpPr>
            <p:cNvPr id="40976" name="Text Box 11"/>
            <p:cNvSpPr txBox="1">
              <a:spLocks noChangeArrowheads="1"/>
            </p:cNvSpPr>
            <p:nvPr/>
          </p:nvSpPr>
          <p:spPr bwMode="auto">
            <a:xfrm>
              <a:off x="3436" y="3990"/>
              <a:ext cx="1036"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latinLnBrk="0" hangingPunct="1"/>
              <a:r>
                <a:rPr lang="en-US" altLang="ko-KR" sz="1200" b="1">
                  <a:latin typeface="굴림" panose="020B0600000101010101" pitchFamily="34" charset="-127"/>
                </a:rPr>
                <a:t>Input Image</a:t>
              </a:r>
              <a:endParaRPr lang="en-US" altLang="ko-KR" sz="1200">
                <a:latin typeface="굴림" panose="020B0600000101010101" pitchFamily="34" charset="-127"/>
              </a:endParaRPr>
            </a:p>
          </p:txBody>
        </p:sp>
        <p:sp>
          <p:nvSpPr>
            <p:cNvPr id="40977" name="Text Box 12"/>
            <p:cNvSpPr txBox="1">
              <a:spLocks noChangeArrowheads="1"/>
            </p:cNvSpPr>
            <p:nvPr/>
          </p:nvSpPr>
          <p:spPr bwMode="auto">
            <a:xfrm>
              <a:off x="4618" y="3972"/>
              <a:ext cx="103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latinLnBrk="0" hangingPunct="1"/>
              <a:r>
                <a:rPr lang="en-US" altLang="ko-KR" sz="1200" b="1">
                  <a:latin typeface="굴림" panose="020B0600000101010101" pitchFamily="34" charset="-127"/>
                  <a:sym typeface="Symbol" panose="05050102010706020507" pitchFamily="18" charset="2"/>
                </a:rPr>
                <a:t>7X7,  </a:t>
              </a:r>
              <a:r>
                <a:rPr lang="en-US" altLang="ko-KR" sz="1400" b="1">
                  <a:latin typeface="굴림" panose="020B0600000101010101" pitchFamily="34" charset="-127"/>
                  <a:sym typeface="Symbol" panose="05050102010706020507" pitchFamily="18" charset="2"/>
                </a:rPr>
                <a:t></a:t>
              </a:r>
              <a:r>
                <a:rPr lang="en-US" altLang="ko-KR" sz="1200" b="1">
                  <a:latin typeface="굴림" panose="020B0600000101010101" pitchFamily="34" charset="-127"/>
                  <a:sym typeface="Symbol" panose="05050102010706020507" pitchFamily="18" charset="2"/>
                </a:rPr>
                <a:t>=1.0</a:t>
              </a:r>
            </a:p>
          </p:txBody>
        </p:sp>
      </p:grpSp>
      <p:graphicFrame>
        <p:nvGraphicFramePr>
          <p:cNvPr id="40968" name="Object 0"/>
          <p:cNvGraphicFramePr>
            <a:graphicFrameLocks noChangeAspect="1"/>
          </p:cNvGraphicFramePr>
          <p:nvPr>
            <p:extLst>
              <p:ext uri="{D42A27DB-BD31-4B8C-83A1-F6EECF244321}">
                <p14:modId xmlns:p14="http://schemas.microsoft.com/office/powerpoint/2010/main" val="1441339121"/>
              </p:ext>
            </p:extLst>
          </p:nvPr>
        </p:nvGraphicFramePr>
        <p:xfrm>
          <a:off x="1013013" y="2715027"/>
          <a:ext cx="8516470" cy="967478"/>
        </p:xfrm>
        <a:graphic>
          <a:graphicData uri="http://schemas.openxmlformats.org/presentationml/2006/ole">
            <mc:AlternateContent xmlns:mc="http://schemas.openxmlformats.org/markup-compatibility/2006">
              <mc:Choice xmlns:v="urn:schemas-microsoft-com:vml" Requires="v">
                <p:oleObj name="Equation" r:id="rId6" imgW="2590800" imgH="558800" progId="Equation.3">
                  <p:embed/>
                </p:oleObj>
              </mc:Choice>
              <mc:Fallback>
                <p:oleObj name="Equation" r:id="rId6" imgW="2590800" imgH="5588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3013" y="2715027"/>
                        <a:ext cx="8516470" cy="967478"/>
                      </a:xfrm>
                      <a:prstGeom prst="rect">
                        <a:avLst/>
                      </a:prstGeom>
                      <a:noFill/>
                      <a:ln>
                        <a:noFill/>
                      </a:ln>
                    </p:spPr>
                  </p:pic>
                </p:oleObj>
              </mc:Fallback>
            </mc:AlternateContent>
          </a:graphicData>
        </a:graphic>
      </p:graphicFrame>
      <p:sp>
        <p:nvSpPr>
          <p:cNvPr id="18" name="矩形 17"/>
          <p:cNvSpPr/>
          <p:nvPr/>
        </p:nvSpPr>
        <p:spPr>
          <a:xfrm>
            <a:off x="3810000" y="6429376"/>
            <a:ext cx="2357438" cy="2143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pic>
        <p:nvPicPr>
          <p:cNvPr id="2" name="Picture 1"/>
          <p:cNvPicPr>
            <a:picLocks noChangeAspect="1"/>
          </p:cNvPicPr>
          <p:nvPr/>
        </p:nvPicPr>
        <p:blipFill>
          <a:blip r:embed="rId8"/>
          <a:stretch>
            <a:fillRect/>
          </a:stretch>
        </p:blipFill>
        <p:spPr>
          <a:xfrm>
            <a:off x="1253708" y="3545682"/>
            <a:ext cx="3914775" cy="2990850"/>
          </a:xfrm>
          <a:prstGeom prst="rect">
            <a:avLst/>
          </a:prstGeom>
        </p:spPr>
      </p:pic>
    </p:spTree>
    <p:extLst>
      <p:ext uri="{BB962C8B-B14F-4D97-AF65-F5344CB8AC3E}">
        <p14:creationId xmlns:p14="http://schemas.microsoft.com/office/powerpoint/2010/main" val="1531418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ko-KR"/>
              <a:t>DoG(Difference of Gaussians)</a:t>
            </a:r>
          </a:p>
        </p:txBody>
      </p:sp>
      <p:sp>
        <p:nvSpPr>
          <p:cNvPr id="41987" name="Rectangle 3"/>
          <p:cNvSpPr>
            <a:spLocks noGrp="1" noChangeArrowheads="1"/>
          </p:cNvSpPr>
          <p:nvPr>
            <p:ph idx="1"/>
          </p:nvPr>
        </p:nvSpPr>
        <p:spPr>
          <a:xfrm>
            <a:off x="361063" y="1238251"/>
            <a:ext cx="9401502" cy="4525963"/>
          </a:xfrm>
        </p:spPr>
        <p:txBody>
          <a:bodyPr/>
          <a:lstStyle/>
          <a:p>
            <a:pPr eaLnBrk="1" hangingPunct="1">
              <a:lnSpc>
                <a:spcPct val="80000"/>
              </a:lnSpc>
            </a:pPr>
            <a:r>
              <a:rPr lang="en-US" altLang="ko-KR" dirty="0" err="1"/>
              <a:t>DoG</a:t>
            </a:r>
            <a:r>
              <a:rPr lang="en-US" altLang="ko-KR" dirty="0"/>
              <a:t>(Difference of Gaussians)</a:t>
            </a:r>
          </a:p>
          <a:p>
            <a:pPr lvl="2" eaLnBrk="1" hangingPunct="1">
              <a:lnSpc>
                <a:spcPct val="80000"/>
              </a:lnSpc>
            </a:pPr>
            <a:r>
              <a:rPr lang="en-US" altLang="ko-KR" sz="2000" dirty="0"/>
              <a:t>Approximation of </a:t>
            </a:r>
            <a:r>
              <a:rPr lang="en-US" altLang="ko-KR" sz="2000" dirty="0" err="1"/>
              <a:t>LoG</a:t>
            </a:r>
            <a:r>
              <a:rPr lang="en-US" altLang="ko-KR" sz="2000" dirty="0"/>
              <a:t> (Cf. Heavy computation requirements of the </a:t>
            </a:r>
            <a:r>
              <a:rPr lang="en-US" altLang="ko-KR" sz="2000" dirty="0" err="1"/>
              <a:t>LoG</a:t>
            </a:r>
            <a:r>
              <a:rPr lang="en-US" altLang="ko-KR" sz="2000" dirty="0"/>
              <a:t>)</a:t>
            </a:r>
          </a:p>
          <a:p>
            <a:pPr lvl="2" eaLnBrk="1" hangingPunct="1">
              <a:lnSpc>
                <a:spcPct val="80000"/>
              </a:lnSpc>
            </a:pPr>
            <a:r>
              <a:rPr lang="en-US" altLang="ko-KR" sz="2000" dirty="0"/>
              <a:t> The ratio                 results in a good approximation of </a:t>
            </a:r>
            <a:r>
              <a:rPr lang="en-US" altLang="ko-KR" sz="2000" dirty="0" err="1"/>
              <a:t>LoG</a:t>
            </a:r>
            <a:endParaRPr lang="en-US" altLang="ko-KR" sz="2000" dirty="0"/>
          </a:p>
          <a:p>
            <a:pPr lvl="3" eaLnBrk="1" hangingPunct="1">
              <a:lnSpc>
                <a:spcPct val="80000"/>
              </a:lnSpc>
            </a:pPr>
            <a:r>
              <a:rPr lang="en-US" altLang="ko-KR" dirty="0" err="1"/>
              <a:t>LoG</a:t>
            </a:r>
            <a:r>
              <a:rPr lang="en-US" altLang="ko-KR" dirty="0"/>
              <a:t> (                                )  vs. </a:t>
            </a:r>
            <a:r>
              <a:rPr lang="en-US" altLang="ko-KR" dirty="0" err="1"/>
              <a:t>DoG</a:t>
            </a:r>
            <a:r>
              <a:rPr lang="en-US" altLang="ko-KR" dirty="0"/>
              <a:t> (                                          )</a:t>
            </a:r>
          </a:p>
          <a:p>
            <a:pPr lvl="2" eaLnBrk="1" hangingPunct="1">
              <a:lnSpc>
                <a:spcPct val="80000"/>
              </a:lnSpc>
            </a:pPr>
            <a:r>
              <a:rPr lang="en-US" altLang="ko-KR" sz="2000" dirty="0"/>
              <a:t>Can specify the width of edges to detect by varying    and     .</a:t>
            </a:r>
          </a:p>
          <a:p>
            <a:pPr lvl="2" eaLnBrk="1" hangingPunct="1">
              <a:lnSpc>
                <a:spcPct val="80000"/>
              </a:lnSpc>
            </a:pPr>
            <a:r>
              <a:rPr lang="en-US" altLang="ko-KR" sz="2000" dirty="0"/>
              <a:t>The 9x9 mask will detect wider edges than 7x7 mask.</a:t>
            </a:r>
          </a:p>
        </p:txBody>
      </p:sp>
      <p:sp>
        <p:nvSpPr>
          <p:cNvPr id="15" name="灯片编号占位符 4"/>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fld id="{DCD9DB0A-8491-4A65-9923-A276B06B5652}" type="slidenum">
              <a:rPr lang="en-US" altLang="ko-KR" sz="1200">
                <a:solidFill>
                  <a:srgbClr val="898989"/>
                </a:solidFill>
              </a:rPr>
              <a:pPr eaLnBrk="1" hangingPunct="1"/>
              <a:t>49</a:t>
            </a:fld>
            <a:endParaRPr lang="en-US" altLang="ko-KR" sz="1200">
              <a:solidFill>
                <a:srgbClr val="898989"/>
              </a:solidFill>
            </a:endParaRPr>
          </a:p>
        </p:txBody>
      </p:sp>
      <p:graphicFrame>
        <p:nvGraphicFramePr>
          <p:cNvPr id="41991" name="Object 6"/>
          <p:cNvGraphicFramePr>
            <a:graphicFrameLocks noChangeAspect="1"/>
          </p:cNvGraphicFramePr>
          <p:nvPr>
            <p:extLst>
              <p:ext uri="{D42A27DB-BD31-4B8C-83A1-F6EECF244321}">
                <p14:modId xmlns:p14="http://schemas.microsoft.com/office/powerpoint/2010/main" val="2379997009"/>
              </p:ext>
            </p:extLst>
          </p:nvPr>
        </p:nvGraphicFramePr>
        <p:xfrm>
          <a:off x="7489951" y="2822575"/>
          <a:ext cx="276225" cy="334963"/>
        </p:xfrm>
        <a:graphic>
          <a:graphicData uri="http://schemas.openxmlformats.org/presentationml/2006/ole">
            <mc:AlternateContent xmlns:mc="http://schemas.openxmlformats.org/markup-compatibility/2006">
              <mc:Choice xmlns:v="urn:schemas-microsoft-com:vml" Requires="v">
                <p:oleObj name="Equation" r:id="rId2" imgW="177569" imgH="215619" progId="Equation.3">
                  <p:embed/>
                </p:oleObj>
              </mc:Choice>
              <mc:Fallback>
                <p:oleObj name="Equation" r:id="rId2" imgW="177569" imgH="215619"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9951" y="2822575"/>
                        <a:ext cx="276225" cy="33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2" name="Object 7"/>
          <p:cNvGraphicFramePr>
            <a:graphicFrameLocks noChangeAspect="1"/>
          </p:cNvGraphicFramePr>
          <p:nvPr>
            <p:extLst>
              <p:ext uri="{D42A27DB-BD31-4B8C-83A1-F6EECF244321}">
                <p14:modId xmlns:p14="http://schemas.microsoft.com/office/powerpoint/2010/main" val="90168655"/>
              </p:ext>
            </p:extLst>
          </p:nvPr>
        </p:nvGraphicFramePr>
        <p:xfrm>
          <a:off x="8239125" y="2828272"/>
          <a:ext cx="296862" cy="334963"/>
        </p:xfrm>
        <a:graphic>
          <a:graphicData uri="http://schemas.openxmlformats.org/presentationml/2006/ole">
            <mc:AlternateContent xmlns:mc="http://schemas.openxmlformats.org/markup-compatibility/2006">
              <mc:Choice xmlns:v="urn:schemas-microsoft-com:vml" Requires="v">
                <p:oleObj name="Equation" r:id="rId4" imgW="190335" imgH="215713" progId="Equation.3">
                  <p:embed/>
                </p:oleObj>
              </mc:Choice>
              <mc:Fallback>
                <p:oleObj name="Equation" r:id="rId4" imgW="190335" imgH="21571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9125" y="2828272"/>
                        <a:ext cx="296862" cy="33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3" name="Object 8"/>
          <p:cNvGraphicFramePr>
            <a:graphicFrameLocks noChangeAspect="1"/>
          </p:cNvGraphicFramePr>
          <p:nvPr>
            <p:extLst>
              <p:ext uri="{D42A27DB-BD31-4B8C-83A1-F6EECF244321}">
                <p14:modId xmlns:p14="http://schemas.microsoft.com/office/powerpoint/2010/main" val="939915639"/>
              </p:ext>
            </p:extLst>
          </p:nvPr>
        </p:nvGraphicFramePr>
        <p:xfrm>
          <a:off x="2536032" y="2546350"/>
          <a:ext cx="966787" cy="276225"/>
        </p:xfrm>
        <a:graphic>
          <a:graphicData uri="http://schemas.openxmlformats.org/presentationml/2006/ole">
            <mc:AlternateContent xmlns:mc="http://schemas.openxmlformats.org/markup-compatibility/2006">
              <mc:Choice xmlns:v="urn:schemas-microsoft-com:vml" Requires="v">
                <p:oleObj name="Equation" r:id="rId6" imgW="621760" imgH="177646" progId="Equation.3">
                  <p:embed/>
                </p:oleObj>
              </mc:Choice>
              <mc:Fallback>
                <p:oleObj name="Equation" r:id="rId6" imgW="621760" imgH="177646"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36032" y="2546350"/>
                        <a:ext cx="966787"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4" name="Object 9"/>
          <p:cNvGraphicFramePr>
            <a:graphicFrameLocks noChangeAspect="1"/>
          </p:cNvGraphicFramePr>
          <p:nvPr>
            <p:extLst>
              <p:ext uri="{D42A27DB-BD31-4B8C-83A1-F6EECF244321}">
                <p14:modId xmlns:p14="http://schemas.microsoft.com/office/powerpoint/2010/main" val="2997564438"/>
              </p:ext>
            </p:extLst>
          </p:nvPr>
        </p:nvGraphicFramePr>
        <p:xfrm>
          <a:off x="4789790" y="2534910"/>
          <a:ext cx="749300" cy="334963"/>
        </p:xfrm>
        <a:graphic>
          <a:graphicData uri="http://schemas.openxmlformats.org/presentationml/2006/ole">
            <mc:AlternateContent xmlns:mc="http://schemas.openxmlformats.org/markup-compatibility/2006">
              <mc:Choice xmlns:v="urn:schemas-microsoft-com:vml" Requires="v">
                <p:oleObj name="Equation" r:id="rId8" imgW="482181" imgH="215713" progId="Equation.3">
                  <p:embed/>
                </p:oleObj>
              </mc:Choice>
              <mc:Fallback>
                <p:oleObj name="Equation" r:id="rId8" imgW="482181" imgH="215713"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89790" y="2534910"/>
                        <a:ext cx="749300" cy="33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5" name="Object 10"/>
          <p:cNvGraphicFramePr>
            <a:graphicFrameLocks noChangeAspect="1"/>
          </p:cNvGraphicFramePr>
          <p:nvPr>
            <p:extLst>
              <p:ext uri="{D42A27DB-BD31-4B8C-83A1-F6EECF244321}">
                <p14:modId xmlns:p14="http://schemas.microsoft.com/office/powerpoint/2010/main" val="3737917431"/>
              </p:ext>
            </p:extLst>
          </p:nvPr>
        </p:nvGraphicFramePr>
        <p:xfrm>
          <a:off x="5616178" y="2546350"/>
          <a:ext cx="768350" cy="334963"/>
        </p:xfrm>
        <a:graphic>
          <a:graphicData uri="http://schemas.openxmlformats.org/presentationml/2006/ole">
            <mc:AlternateContent xmlns:mc="http://schemas.openxmlformats.org/markup-compatibility/2006">
              <mc:Choice xmlns:v="urn:schemas-microsoft-com:vml" Requires="v">
                <p:oleObj name="Equation" r:id="rId10" imgW="494870" imgH="215713" progId="Equation.3">
                  <p:embed/>
                </p:oleObj>
              </mc:Choice>
              <mc:Fallback>
                <p:oleObj name="Equation" r:id="rId10" imgW="494870" imgH="215713"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16178" y="2546350"/>
                        <a:ext cx="768350" cy="33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6" name="Object 11"/>
          <p:cNvGraphicFramePr>
            <a:graphicFrameLocks noChangeAspect="1"/>
          </p:cNvGraphicFramePr>
          <p:nvPr>
            <p:extLst>
              <p:ext uri="{D42A27DB-BD31-4B8C-83A1-F6EECF244321}">
                <p14:modId xmlns:p14="http://schemas.microsoft.com/office/powerpoint/2010/main" val="1317257420"/>
              </p:ext>
            </p:extLst>
          </p:nvPr>
        </p:nvGraphicFramePr>
        <p:xfrm>
          <a:off x="2764631" y="2200124"/>
          <a:ext cx="1203325" cy="334962"/>
        </p:xfrm>
        <a:graphic>
          <a:graphicData uri="http://schemas.openxmlformats.org/presentationml/2006/ole">
            <mc:AlternateContent xmlns:mc="http://schemas.openxmlformats.org/markup-compatibility/2006">
              <mc:Choice xmlns:v="urn:schemas-microsoft-com:vml" Requires="v">
                <p:oleObj name="Equation" r:id="rId12" imgW="774364" imgH="215806" progId="Equation.3">
                  <p:embed/>
                </p:oleObj>
              </mc:Choice>
              <mc:Fallback>
                <p:oleObj name="Equation" r:id="rId12" imgW="774364" imgH="215806"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64631" y="2200124"/>
                        <a:ext cx="1203325" cy="334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7" name="Object 12"/>
          <p:cNvGraphicFramePr>
            <a:graphicFrameLocks noChangeAspect="1"/>
          </p:cNvGraphicFramePr>
          <p:nvPr>
            <p:extLst>
              <p:ext uri="{D42A27DB-BD31-4B8C-83A1-F6EECF244321}">
                <p14:modId xmlns:p14="http://schemas.microsoft.com/office/powerpoint/2010/main" val="2112948658"/>
              </p:ext>
            </p:extLst>
          </p:nvPr>
        </p:nvGraphicFramePr>
        <p:xfrm>
          <a:off x="677334" y="4574382"/>
          <a:ext cx="3113088" cy="962025"/>
        </p:xfrm>
        <a:graphic>
          <a:graphicData uri="http://schemas.openxmlformats.org/presentationml/2006/ole">
            <mc:AlternateContent xmlns:mc="http://schemas.openxmlformats.org/markup-compatibility/2006">
              <mc:Choice xmlns:v="urn:schemas-microsoft-com:vml" Requires="v">
                <p:oleObj name="Equation" r:id="rId14" imgW="1981200" imgH="609600" progId="Equation.3">
                  <p:embed/>
                </p:oleObj>
              </mc:Choice>
              <mc:Fallback>
                <p:oleObj name="Equation" r:id="rId14" imgW="1981200" imgH="6096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77334" y="4574382"/>
                        <a:ext cx="3113088" cy="96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矩形 15"/>
          <p:cNvSpPr/>
          <p:nvPr/>
        </p:nvSpPr>
        <p:spPr>
          <a:xfrm>
            <a:off x="6167438" y="6357939"/>
            <a:ext cx="785812" cy="1428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18" name="矩形 17"/>
          <p:cNvSpPr/>
          <p:nvPr/>
        </p:nvSpPr>
        <p:spPr>
          <a:xfrm>
            <a:off x="8239125" y="4357689"/>
            <a:ext cx="285750" cy="1428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19" name="矩形 18"/>
          <p:cNvSpPr/>
          <p:nvPr/>
        </p:nvSpPr>
        <p:spPr>
          <a:xfrm>
            <a:off x="8239126" y="5500689"/>
            <a:ext cx="428625" cy="714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pic>
        <p:nvPicPr>
          <p:cNvPr id="2" name="Picture 1"/>
          <p:cNvPicPr>
            <a:picLocks noChangeAspect="1"/>
          </p:cNvPicPr>
          <p:nvPr/>
        </p:nvPicPr>
        <p:blipFill>
          <a:blip r:embed="rId16"/>
          <a:stretch>
            <a:fillRect/>
          </a:stretch>
        </p:blipFill>
        <p:spPr>
          <a:xfrm>
            <a:off x="4468611" y="4227411"/>
            <a:ext cx="5610225" cy="2371725"/>
          </a:xfrm>
          <a:prstGeom prst="rect">
            <a:avLst/>
          </a:prstGeom>
        </p:spPr>
      </p:pic>
    </p:spTree>
    <p:extLst>
      <p:ext uri="{BB962C8B-B14F-4D97-AF65-F5344CB8AC3E}">
        <p14:creationId xmlns:p14="http://schemas.microsoft.com/office/powerpoint/2010/main" val="37280327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ko-KR"/>
              <a:t>DoG(Difference of Gaussians)</a:t>
            </a:r>
          </a:p>
        </p:txBody>
      </p:sp>
      <p:pic>
        <p:nvPicPr>
          <p:cNvPr id="43014" name="Picture 4" descr="input1-0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8863" y="1302026"/>
            <a:ext cx="4954070" cy="4717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5" name="Text Box 6"/>
          <p:cNvSpPr txBox="1">
            <a:spLocks noChangeArrowheads="1"/>
          </p:cNvSpPr>
          <p:nvPr/>
        </p:nvSpPr>
        <p:spPr bwMode="auto">
          <a:xfrm>
            <a:off x="437263" y="6248400"/>
            <a:ext cx="6781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20000"/>
              </a:spcBef>
              <a:buClr>
                <a:srgbClr val="008000"/>
              </a:buClr>
              <a:buSzPct val="90000"/>
              <a:buFont typeface="Wingdings" panose="05000000000000000000" pitchFamily="2" charset="2"/>
              <a:buNone/>
            </a:pPr>
            <a:r>
              <a:rPr lang="en-US" altLang="ko-KR" sz="1200" dirty="0">
                <a:latin typeface="굴림" panose="020B0600000101010101" pitchFamily="34" charset="-127"/>
              </a:rPr>
              <a:t> Fig. 3.23 (a) Original, (b) 7x7 Dog, (c)zero-crossing, (d) 9x9 Dog, and (e) zero-crossing.</a:t>
            </a:r>
          </a:p>
          <a:p>
            <a:pPr algn="ctr" eaLnBrk="1" hangingPunct="1">
              <a:spcBef>
                <a:spcPct val="50000"/>
              </a:spcBef>
            </a:pPr>
            <a:endParaRPr lang="en-US" altLang="ko-KR" sz="1200" dirty="0"/>
          </a:p>
        </p:txBody>
      </p:sp>
    </p:spTree>
    <p:extLst>
      <p:ext uri="{BB962C8B-B14F-4D97-AF65-F5344CB8AC3E}">
        <p14:creationId xmlns:p14="http://schemas.microsoft.com/office/powerpoint/2010/main" val="21530792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lnSpc>
                <a:spcPct val="80000"/>
              </a:lnSpc>
            </a:pPr>
            <a:r>
              <a:rPr lang="en-US" altLang="ko-KR"/>
              <a:t>Color Edge Detection</a:t>
            </a:r>
          </a:p>
        </p:txBody>
      </p:sp>
      <p:sp>
        <p:nvSpPr>
          <p:cNvPr id="55299" name="Rectangle 3"/>
          <p:cNvSpPr>
            <a:spLocks noGrp="1" noChangeArrowheads="1"/>
          </p:cNvSpPr>
          <p:nvPr>
            <p:ph idx="1"/>
          </p:nvPr>
        </p:nvSpPr>
        <p:spPr>
          <a:xfrm>
            <a:off x="904589" y="1679388"/>
            <a:ext cx="8596668" cy="3880773"/>
          </a:xfrm>
        </p:spPr>
        <p:txBody>
          <a:bodyPr rtlCol="0">
            <a:normAutofit/>
          </a:bodyPr>
          <a:lstStyle/>
          <a:p>
            <a:pPr>
              <a:lnSpc>
                <a:spcPct val="90000"/>
              </a:lnSpc>
              <a:defRPr/>
            </a:pPr>
            <a:r>
              <a:rPr lang="en-US" altLang="ko-KR"/>
              <a:t>Color Edge Detection</a:t>
            </a:r>
          </a:p>
          <a:p>
            <a:pPr lvl="1">
              <a:lnSpc>
                <a:spcPct val="90000"/>
              </a:lnSpc>
              <a:defRPr/>
            </a:pPr>
            <a:r>
              <a:rPr lang="en-US" altLang="ko-KR"/>
              <a:t>Depends on your definition of an edge.</a:t>
            </a:r>
          </a:p>
          <a:p>
            <a:pPr lvl="2">
              <a:lnSpc>
                <a:spcPct val="90000"/>
              </a:lnSpc>
              <a:defRPr/>
            </a:pPr>
            <a:r>
              <a:rPr lang="en-US" altLang="ko-KR"/>
              <a:t> (Def.1) the discontinuity in an image</a:t>
            </a:r>
            <a:r>
              <a:rPr lang="en-US" altLang="ko-KR">
                <a:latin typeface="Times New Roman"/>
              </a:rPr>
              <a:t>’</a:t>
            </a:r>
            <a:r>
              <a:rPr lang="en-US" altLang="ko-KR"/>
              <a:t>s luminance =&gt; Edge detection would be done on the intensity channel of color image in HSU space.</a:t>
            </a:r>
          </a:p>
          <a:p>
            <a:pPr lvl="2">
              <a:lnSpc>
                <a:spcPct val="90000"/>
              </a:lnSpc>
              <a:defRPr/>
            </a:pPr>
            <a:r>
              <a:rPr lang="en-US" altLang="ko-KR"/>
              <a:t>(Def. 2) the discontinuity in RGB channels =&gt; Edge detection is performed on each color components.</a:t>
            </a:r>
          </a:p>
          <a:p>
            <a:pPr lvl="2">
              <a:lnSpc>
                <a:spcPct val="90000"/>
              </a:lnSpc>
              <a:defRPr/>
            </a:pPr>
            <a:r>
              <a:rPr lang="en-US" altLang="ko-KR"/>
              <a:t>(Def. 3) Performed each component; the components are summed to create the gray scale map.</a:t>
            </a:r>
          </a:p>
          <a:p>
            <a:pPr lvl="1">
              <a:lnSpc>
                <a:spcPct val="90000"/>
              </a:lnSpc>
              <a:buNone/>
              <a:defRPr/>
            </a:pPr>
            <a:endParaRPr lang="en-US" altLang="ko-KR"/>
          </a:p>
          <a:p>
            <a:pPr lvl="1">
              <a:lnSpc>
                <a:spcPct val="90000"/>
              </a:lnSpc>
              <a:defRPr/>
            </a:pPr>
            <a:endParaRPr lang="en-US" altLang="ko-KR"/>
          </a:p>
          <a:p>
            <a:pPr lvl="1">
              <a:lnSpc>
                <a:spcPct val="90000"/>
              </a:lnSpc>
              <a:defRPr/>
            </a:pPr>
            <a:r>
              <a:rPr lang="en-US" altLang="ko-KR"/>
              <a:t>The best color edge detection =&gt; Depends on the application.</a:t>
            </a:r>
          </a:p>
          <a:p>
            <a:pPr>
              <a:lnSpc>
                <a:spcPct val="90000"/>
              </a:lnSpc>
              <a:defRPr/>
            </a:pPr>
            <a:endParaRPr lang="en-US" altLang="ko-KR"/>
          </a:p>
        </p:txBody>
      </p:sp>
      <p:graphicFrame>
        <p:nvGraphicFramePr>
          <p:cNvPr id="44038" name="Object 4"/>
          <p:cNvGraphicFramePr>
            <a:graphicFrameLocks noChangeAspect="1"/>
          </p:cNvGraphicFramePr>
          <p:nvPr>
            <p:extLst>
              <p:ext uri="{D42A27DB-BD31-4B8C-83A1-F6EECF244321}">
                <p14:modId xmlns:p14="http://schemas.microsoft.com/office/powerpoint/2010/main" val="108548153"/>
              </p:ext>
            </p:extLst>
          </p:nvPr>
        </p:nvGraphicFramePr>
        <p:xfrm>
          <a:off x="3009558" y="4078941"/>
          <a:ext cx="3759200" cy="533400"/>
        </p:xfrm>
        <a:graphic>
          <a:graphicData uri="http://schemas.openxmlformats.org/presentationml/2006/ole">
            <mc:AlternateContent xmlns:mc="http://schemas.openxmlformats.org/markup-compatibility/2006">
              <mc:Choice xmlns:v="urn:schemas-microsoft-com:vml" Requires="v">
                <p:oleObj name="Equation" r:id="rId2" imgW="1879600" imgH="304800" progId="Equation.3">
                  <p:embed/>
                </p:oleObj>
              </mc:Choice>
              <mc:Fallback>
                <p:oleObj name="Equation" r:id="rId2" imgW="1879600" imgH="304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558" y="4078941"/>
                        <a:ext cx="37592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095209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2362200" y="185738"/>
            <a:ext cx="7772400" cy="728661"/>
          </a:xfrm>
        </p:spPr>
        <p:txBody>
          <a:bodyPr/>
          <a:lstStyle/>
          <a:p>
            <a:pPr eaLnBrk="1" hangingPunct="1"/>
            <a:r>
              <a:rPr lang="en-US" altLang="ko-KR" dirty="0"/>
              <a:t>Color Edge Detection</a:t>
            </a:r>
          </a:p>
        </p:txBody>
      </p:sp>
      <p:sp>
        <p:nvSpPr>
          <p:cNvPr id="11" name="灯片编号占位符 4"/>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fld id="{66F42A35-16DE-452B-BBEC-7BFB66F842CF}" type="slidenum">
              <a:rPr lang="en-US" altLang="ko-KR" sz="1200">
                <a:solidFill>
                  <a:srgbClr val="898989"/>
                </a:solidFill>
              </a:rPr>
              <a:pPr eaLnBrk="1" hangingPunct="1"/>
              <a:t>52</a:t>
            </a:fld>
            <a:endParaRPr lang="en-US" altLang="ko-KR" sz="1200">
              <a:solidFill>
                <a:srgbClr val="898989"/>
              </a:solidFill>
            </a:endParaRPr>
          </a:p>
        </p:txBody>
      </p:sp>
      <p:grpSp>
        <p:nvGrpSpPr>
          <p:cNvPr id="45061" name="Group 3"/>
          <p:cNvGrpSpPr>
            <a:grpSpLocks/>
          </p:cNvGrpSpPr>
          <p:nvPr/>
        </p:nvGrpSpPr>
        <p:grpSpPr bwMode="auto">
          <a:xfrm>
            <a:off x="1752600" y="855664"/>
            <a:ext cx="7620000" cy="6002337"/>
            <a:chOff x="528" y="480"/>
            <a:chExt cx="4800" cy="3781"/>
          </a:xfrm>
        </p:grpSpPr>
        <p:graphicFrame>
          <p:nvGraphicFramePr>
            <p:cNvPr id="45065" name="Object 4"/>
            <p:cNvGraphicFramePr>
              <a:graphicFrameLocks noChangeAspect="1"/>
            </p:cNvGraphicFramePr>
            <p:nvPr/>
          </p:nvGraphicFramePr>
          <p:xfrm>
            <a:off x="528" y="480"/>
            <a:ext cx="4800" cy="1296"/>
          </p:xfrm>
          <a:graphic>
            <a:graphicData uri="http://schemas.openxmlformats.org/presentationml/2006/ole">
              <mc:AlternateContent xmlns:mc="http://schemas.openxmlformats.org/markup-compatibility/2006">
                <mc:Choice xmlns:v="urn:schemas-microsoft-com:vml" Requires="v">
                  <p:oleObj name="비트맵 이미지" r:id="rId2" imgW="11304762" imgH="3172268" progId="Paint.Picture">
                    <p:embed/>
                  </p:oleObj>
                </mc:Choice>
                <mc:Fallback>
                  <p:oleObj name="비트맵 이미지" r:id="rId2" imgW="11304762" imgH="3172268"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 y="480"/>
                          <a:ext cx="4800" cy="1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6" name="Object 5"/>
            <p:cNvGraphicFramePr>
              <a:graphicFrameLocks noChangeAspect="1"/>
            </p:cNvGraphicFramePr>
            <p:nvPr/>
          </p:nvGraphicFramePr>
          <p:xfrm>
            <a:off x="528" y="1776"/>
            <a:ext cx="4800" cy="1248"/>
          </p:xfrm>
          <a:graphic>
            <a:graphicData uri="http://schemas.openxmlformats.org/presentationml/2006/ole">
              <mc:AlternateContent xmlns:mc="http://schemas.openxmlformats.org/markup-compatibility/2006">
                <mc:Choice xmlns:v="urn:schemas-microsoft-com:vml" Requires="v">
                  <p:oleObj name="비트맵 이미지" r:id="rId4" imgW="11285714" imgH="3134162" progId="Paint.Picture">
                    <p:embed/>
                  </p:oleObj>
                </mc:Choice>
                <mc:Fallback>
                  <p:oleObj name="비트맵 이미지" r:id="rId4" imgW="11285714" imgH="3134162"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 y="1776"/>
                          <a:ext cx="4800" cy="1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7" name="Object 6"/>
            <p:cNvGraphicFramePr>
              <a:graphicFrameLocks noChangeAspect="1"/>
            </p:cNvGraphicFramePr>
            <p:nvPr/>
          </p:nvGraphicFramePr>
          <p:xfrm>
            <a:off x="528" y="3024"/>
            <a:ext cx="4800" cy="1237"/>
          </p:xfrm>
          <a:graphic>
            <a:graphicData uri="http://schemas.openxmlformats.org/presentationml/2006/ole">
              <mc:AlternateContent xmlns:mc="http://schemas.openxmlformats.org/markup-compatibility/2006">
                <mc:Choice xmlns:v="urn:schemas-microsoft-com:vml" Requires="v">
                  <p:oleObj name="비트맵 이미지" r:id="rId6" imgW="11304762" imgH="3172268" progId="Paint.Picture">
                    <p:embed/>
                  </p:oleObj>
                </mc:Choice>
                <mc:Fallback>
                  <p:oleObj name="비트맵 이미지" r:id="rId6" imgW="11304762" imgH="3172268" progId="Paint.Picture">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8" y="3024"/>
                          <a:ext cx="4800" cy="1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5062" name="Text Box 7"/>
          <p:cNvSpPr txBox="1">
            <a:spLocks noChangeArrowheads="1"/>
          </p:cNvSpPr>
          <p:nvPr/>
        </p:nvSpPr>
        <p:spPr bwMode="auto">
          <a:xfrm>
            <a:off x="9448800" y="1600201"/>
            <a:ext cx="1219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000">
                <a:latin typeface="굴림" panose="020B0600000101010101" pitchFamily="34" charset="-127"/>
              </a:rPr>
              <a:t>(a) Blue Channel</a:t>
            </a:r>
          </a:p>
        </p:txBody>
      </p:sp>
      <p:sp>
        <p:nvSpPr>
          <p:cNvPr id="45063" name="Text Box 8"/>
          <p:cNvSpPr txBox="1">
            <a:spLocks noChangeArrowheads="1"/>
          </p:cNvSpPr>
          <p:nvPr/>
        </p:nvSpPr>
        <p:spPr bwMode="auto">
          <a:xfrm>
            <a:off x="9372600" y="3733801"/>
            <a:ext cx="1295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000">
                <a:latin typeface="굴림" panose="020B0600000101010101" pitchFamily="34" charset="-127"/>
              </a:rPr>
              <a:t>(b) Green Channel</a:t>
            </a:r>
          </a:p>
        </p:txBody>
      </p:sp>
      <p:sp>
        <p:nvSpPr>
          <p:cNvPr id="45064" name="Text Box 9"/>
          <p:cNvSpPr txBox="1">
            <a:spLocks noChangeArrowheads="1"/>
          </p:cNvSpPr>
          <p:nvPr/>
        </p:nvSpPr>
        <p:spPr bwMode="auto">
          <a:xfrm>
            <a:off x="9372600" y="5943601"/>
            <a:ext cx="1219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000">
                <a:latin typeface="굴림" panose="020B0600000101010101" pitchFamily="34" charset="-127"/>
              </a:rPr>
              <a:t>(c) Red Channel</a:t>
            </a:r>
          </a:p>
        </p:txBody>
      </p:sp>
    </p:spTree>
    <p:extLst>
      <p:ext uri="{BB962C8B-B14F-4D97-AF65-F5344CB8AC3E}">
        <p14:creationId xmlns:p14="http://schemas.microsoft.com/office/powerpoint/2010/main" val="19661038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ltLang="ko-KR"/>
              <a:t>Median Filtering</a:t>
            </a:r>
          </a:p>
        </p:txBody>
      </p:sp>
      <p:sp>
        <p:nvSpPr>
          <p:cNvPr id="46083" name="Rectangle 3"/>
          <p:cNvSpPr>
            <a:spLocks noGrp="1" noChangeArrowheads="1"/>
          </p:cNvSpPr>
          <p:nvPr>
            <p:ph idx="1"/>
          </p:nvPr>
        </p:nvSpPr>
        <p:spPr>
          <a:xfrm>
            <a:off x="677334" y="1828801"/>
            <a:ext cx="8596668" cy="4212562"/>
          </a:xfrm>
        </p:spPr>
        <p:txBody>
          <a:bodyPr>
            <a:normAutofit/>
          </a:bodyPr>
          <a:lstStyle/>
          <a:p>
            <a:pPr lvl="1" eaLnBrk="1" hangingPunct="1"/>
            <a:r>
              <a:rPr lang="en-US" altLang="ko-KR" sz="2400" dirty="0"/>
              <a:t>Median filtering</a:t>
            </a:r>
          </a:p>
          <a:p>
            <a:pPr lvl="2" eaLnBrk="1" hangingPunct="1"/>
            <a:r>
              <a:rPr lang="en-US" altLang="ko-KR" sz="2000" dirty="0"/>
              <a:t>An effective method for removing impulse noise</a:t>
            </a:r>
          </a:p>
          <a:p>
            <a:pPr lvl="2" eaLnBrk="1" hangingPunct="1"/>
            <a:r>
              <a:rPr lang="en-US" altLang="ko-KR" sz="2000" dirty="0"/>
              <a:t>Preserve sharp edges(high frequency information) and detail</a:t>
            </a:r>
          </a:p>
          <a:p>
            <a:pPr lvl="2" eaLnBrk="1" hangingPunct="1"/>
            <a:r>
              <a:rPr lang="en-US" altLang="ko-KR" sz="2000" dirty="0"/>
              <a:t> Lowpass filter</a:t>
            </a:r>
          </a:p>
          <a:p>
            <a:pPr lvl="3" eaLnBrk="1" hangingPunct="1"/>
            <a:r>
              <a:rPr lang="en-US" altLang="ko-KR" sz="1800" dirty="0"/>
              <a:t>Suited for removing Gaussian noise, but not impulse noise</a:t>
            </a:r>
          </a:p>
          <a:p>
            <a:pPr lvl="2" eaLnBrk="1" hangingPunct="1"/>
            <a:r>
              <a:rPr lang="en-US" altLang="ko-KR" sz="2000" dirty="0"/>
              <a:t>Median filter is superior to lowpass filter when dealing with edges</a:t>
            </a:r>
          </a:p>
        </p:txBody>
      </p:sp>
    </p:spTree>
    <p:extLst>
      <p:ext uri="{BB962C8B-B14F-4D97-AF65-F5344CB8AC3E}">
        <p14:creationId xmlns:p14="http://schemas.microsoft.com/office/powerpoint/2010/main" val="10888349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ltLang="ko-KR"/>
              <a:t>Median Filtering</a:t>
            </a:r>
          </a:p>
        </p:txBody>
      </p:sp>
      <p:pic>
        <p:nvPicPr>
          <p:cNvPr id="47110" name="Picture 4" descr="input1-0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2533" y="1210235"/>
            <a:ext cx="6019799" cy="4760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1" name="Text Box 7"/>
          <p:cNvSpPr txBox="1">
            <a:spLocks noChangeArrowheads="1"/>
          </p:cNvSpPr>
          <p:nvPr/>
        </p:nvSpPr>
        <p:spPr bwMode="auto">
          <a:xfrm>
            <a:off x="4191000" y="60198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50000"/>
              </a:spcBef>
            </a:pPr>
            <a:r>
              <a:rPr lang="en-US" altLang="ko-KR" sz="1200">
                <a:latin typeface="굴림" panose="020B0600000101010101" pitchFamily="34" charset="-127"/>
              </a:rPr>
              <a:t>Fig. 3.25 (a) Noisy image, (b) low-pass filtered, and (c) median filtered.</a:t>
            </a:r>
          </a:p>
        </p:txBody>
      </p:sp>
    </p:spTree>
    <p:extLst>
      <p:ext uri="{BB962C8B-B14F-4D97-AF65-F5344CB8AC3E}">
        <p14:creationId xmlns:p14="http://schemas.microsoft.com/office/powerpoint/2010/main" val="29608848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tLang="ko-KR"/>
              <a:t>Median Filtering</a:t>
            </a:r>
          </a:p>
        </p:txBody>
      </p:sp>
      <p:sp>
        <p:nvSpPr>
          <p:cNvPr id="6" name="灯片编号占位符 4"/>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fld id="{19B8DD5A-FF65-4231-B2F5-58E6CDD97EC0}" type="slidenum">
              <a:rPr lang="en-US" altLang="ko-KR" sz="1200">
                <a:solidFill>
                  <a:srgbClr val="898989"/>
                </a:solidFill>
              </a:rPr>
              <a:pPr eaLnBrk="1" hangingPunct="1"/>
              <a:t>55</a:t>
            </a:fld>
            <a:endParaRPr lang="en-US" altLang="ko-KR" sz="1200">
              <a:solidFill>
                <a:srgbClr val="898989"/>
              </a:solidFill>
            </a:endParaRPr>
          </a:p>
        </p:txBody>
      </p:sp>
      <p:pic>
        <p:nvPicPr>
          <p:cNvPr id="48133" name="Picture 3" descr="3-27(mod)"/>
          <p:cNvPicPr>
            <a:picLocks noChangeAspect="1" noChangeArrowheads="1"/>
          </p:cNvPicPr>
          <p:nvPr/>
        </p:nvPicPr>
        <p:blipFill rotWithShape="1">
          <a:blip r:embed="rId2">
            <a:extLst>
              <a:ext uri="{28A0092B-C50C-407E-A947-70E740481C1C}">
                <a14:useLocalDpi xmlns:a14="http://schemas.microsoft.com/office/drawing/2010/main" val="0"/>
              </a:ext>
            </a:extLst>
          </a:blip>
          <a:srcRect r="-1184" b="8186"/>
          <a:stretch/>
        </p:blipFill>
        <p:spPr bwMode="auto">
          <a:xfrm>
            <a:off x="4640113" y="1723559"/>
            <a:ext cx="4912024" cy="318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4" name="Picture 4" descr="3-26(mo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677" y="1270000"/>
            <a:ext cx="2938463" cy="467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1163171" y="5592431"/>
            <a:ext cx="3071813" cy="285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dirty="0"/>
              <a:t>Median Filtering Method</a:t>
            </a:r>
            <a:endParaRPr lang="ko-KR" altLang="en-US" dirty="0"/>
          </a:p>
        </p:txBody>
      </p:sp>
      <p:sp>
        <p:nvSpPr>
          <p:cNvPr id="8" name="矩形 7"/>
          <p:cNvSpPr/>
          <p:nvPr/>
        </p:nvSpPr>
        <p:spPr>
          <a:xfrm>
            <a:off x="7096125" y="5072063"/>
            <a:ext cx="1785938" cy="2857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Tree>
    <p:extLst>
      <p:ext uri="{BB962C8B-B14F-4D97-AF65-F5344CB8AC3E}">
        <p14:creationId xmlns:p14="http://schemas.microsoft.com/office/powerpoint/2010/main" val="25501695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677334" y="340659"/>
            <a:ext cx="8596668" cy="1320800"/>
          </a:xfrm>
        </p:spPr>
        <p:txBody>
          <a:bodyPr/>
          <a:lstStyle/>
          <a:p>
            <a:pPr eaLnBrk="1" hangingPunct="1"/>
            <a:r>
              <a:rPr lang="en-US" altLang="ko-KR"/>
              <a:t>Median Filtering</a:t>
            </a:r>
          </a:p>
        </p:txBody>
      </p:sp>
      <p:pic>
        <p:nvPicPr>
          <p:cNvPr id="49157" name="Picture 3" descr="Imag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3512" y="1096300"/>
            <a:ext cx="5924550" cy="531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10338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2286000" y="0"/>
            <a:ext cx="7772400" cy="1143000"/>
          </a:xfrm>
        </p:spPr>
        <p:txBody>
          <a:bodyPr/>
          <a:lstStyle/>
          <a:p>
            <a:pPr eaLnBrk="1" hangingPunct="1"/>
            <a:r>
              <a:rPr lang="en-US" altLang="ko-KR"/>
              <a:t>Median Filter</a:t>
            </a:r>
          </a:p>
        </p:txBody>
      </p:sp>
      <p:grpSp>
        <p:nvGrpSpPr>
          <p:cNvPr id="50181" name="Group 3"/>
          <p:cNvGrpSpPr>
            <a:grpSpLocks/>
          </p:cNvGrpSpPr>
          <p:nvPr/>
        </p:nvGrpSpPr>
        <p:grpSpPr bwMode="auto">
          <a:xfrm>
            <a:off x="2150532" y="571500"/>
            <a:ext cx="6781800" cy="5638800"/>
            <a:chOff x="768" y="720"/>
            <a:chExt cx="4272" cy="3471"/>
          </a:xfrm>
        </p:grpSpPr>
        <p:graphicFrame>
          <p:nvGraphicFramePr>
            <p:cNvPr id="50184" name="Object 0"/>
            <p:cNvGraphicFramePr>
              <a:graphicFrameLocks noChangeAspect="1"/>
            </p:cNvGraphicFramePr>
            <p:nvPr/>
          </p:nvGraphicFramePr>
          <p:xfrm>
            <a:off x="768" y="720"/>
            <a:ext cx="4272" cy="3471"/>
          </p:xfrm>
          <a:graphic>
            <a:graphicData uri="http://schemas.openxmlformats.org/presentationml/2006/ole">
              <mc:AlternateContent xmlns:mc="http://schemas.openxmlformats.org/markup-compatibility/2006">
                <mc:Choice xmlns:v="urn:schemas-microsoft-com:vml" Requires="v">
                  <p:oleObj name="비트맵 이미지" r:id="rId2" imgW="7516274" imgH="6106377" progId="Paint.Picture">
                    <p:embed/>
                  </p:oleObj>
                </mc:Choice>
                <mc:Fallback>
                  <p:oleObj name="비트맵 이미지" r:id="rId2" imgW="7516274" imgH="6106377"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 y="720"/>
                          <a:ext cx="4272" cy="3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185" name="Text Box 5"/>
            <p:cNvSpPr txBox="1">
              <a:spLocks noChangeArrowheads="1"/>
            </p:cNvSpPr>
            <p:nvPr/>
          </p:nvSpPr>
          <p:spPr bwMode="auto">
            <a:xfrm>
              <a:off x="1403" y="2380"/>
              <a:ext cx="853"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100">
                  <a:latin typeface="굴림" panose="020B0600000101010101" pitchFamily="34" charset="-127"/>
                </a:rPr>
                <a:t>(a) Original image</a:t>
              </a:r>
            </a:p>
          </p:txBody>
        </p:sp>
        <p:sp>
          <p:nvSpPr>
            <p:cNvPr id="50186" name="Text Box 6"/>
            <p:cNvSpPr txBox="1">
              <a:spLocks noChangeArrowheads="1"/>
            </p:cNvSpPr>
            <p:nvPr/>
          </p:nvSpPr>
          <p:spPr bwMode="auto">
            <a:xfrm>
              <a:off x="3170" y="2380"/>
              <a:ext cx="1633"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100">
                  <a:latin typeface="굴림" panose="020B0600000101010101" pitchFamily="34" charset="-127"/>
                </a:rPr>
                <a:t>(b) Median filtered with a 3 X 3 mask</a:t>
              </a:r>
            </a:p>
          </p:txBody>
        </p:sp>
      </p:grpSp>
      <p:sp>
        <p:nvSpPr>
          <p:cNvPr id="50182" name="Text Box 7"/>
          <p:cNvSpPr txBox="1">
            <a:spLocks noChangeArrowheads="1"/>
          </p:cNvSpPr>
          <p:nvPr/>
        </p:nvSpPr>
        <p:spPr bwMode="auto">
          <a:xfrm>
            <a:off x="2993138" y="6292850"/>
            <a:ext cx="258762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100">
                <a:latin typeface="굴림" panose="020B0600000101010101" pitchFamily="34" charset="-127"/>
              </a:rPr>
              <a:t>(c) Median filtered with a 5 X 5 mask</a:t>
            </a:r>
          </a:p>
        </p:txBody>
      </p:sp>
      <p:sp>
        <p:nvSpPr>
          <p:cNvPr id="50183" name="Text Box 8"/>
          <p:cNvSpPr txBox="1">
            <a:spLocks noChangeArrowheads="1"/>
          </p:cNvSpPr>
          <p:nvPr/>
        </p:nvSpPr>
        <p:spPr bwMode="auto">
          <a:xfrm>
            <a:off x="6264966" y="6292850"/>
            <a:ext cx="2592388"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굴림" panose="020B0600000101010101" pitchFamily="34"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34"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34"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34"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34" charset="-127"/>
              </a:defRPr>
            </a:lvl5pPr>
            <a:lvl6pPr marL="25146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29718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4290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3886200" indent="-228600" eaLnBrk="0" fontAlgn="base" latinLnBrk="1" hangingPunct="0">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eaLnBrk="1" hangingPunct="1"/>
            <a:r>
              <a:rPr lang="en-US" altLang="ko-KR" sz="1100" dirty="0">
                <a:latin typeface="굴림" panose="020B0600000101010101" pitchFamily="34" charset="-127"/>
              </a:rPr>
              <a:t>(d) Median filtered with a 7 X 7 mask</a:t>
            </a:r>
          </a:p>
        </p:txBody>
      </p:sp>
    </p:spTree>
    <p:extLst>
      <p:ext uri="{BB962C8B-B14F-4D97-AF65-F5344CB8AC3E}">
        <p14:creationId xmlns:p14="http://schemas.microsoft.com/office/powerpoint/2010/main" val="12546810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ko-KR"/>
              <a:t>Color Median Filtering</a:t>
            </a:r>
          </a:p>
        </p:txBody>
      </p:sp>
      <p:sp>
        <p:nvSpPr>
          <p:cNvPr id="51203" name="Rectangle 3"/>
          <p:cNvSpPr>
            <a:spLocks noGrp="1" noChangeArrowheads="1"/>
          </p:cNvSpPr>
          <p:nvPr>
            <p:ph idx="1"/>
          </p:nvPr>
        </p:nvSpPr>
        <p:spPr>
          <a:xfrm>
            <a:off x="1524000" y="990600"/>
            <a:ext cx="9144000" cy="5105400"/>
          </a:xfrm>
        </p:spPr>
        <p:txBody>
          <a:bodyPr/>
          <a:lstStyle/>
          <a:p>
            <a:pPr eaLnBrk="1" hangingPunct="1"/>
            <a:endParaRPr lang="en-US" altLang="ko-KR" sz="2000"/>
          </a:p>
          <a:p>
            <a:pPr eaLnBrk="1" hangingPunct="1"/>
            <a:r>
              <a:rPr lang="en-US" altLang="ko-KR" sz="2000"/>
              <a:t>Color Median Filtering with separate R,G,B</a:t>
            </a:r>
          </a:p>
          <a:p>
            <a:pPr lvl="1" eaLnBrk="1" hangingPunct="1"/>
            <a:r>
              <a:rPr lang="en-US" altLang="ko-KR" sz="2000"/>
              <a:t>Apply median filter to each R, G, B, separately.</a:t>
            </a:r>
          </a:p>
          <a:p>
            <a:pPr lvl="2" eaLnBrk="1" hangingPunct="1"/>
            <a:r>
              <a:rPr lang="en-US" altLang="ko-KR" sz="2000"/>
              <a:t>(Problem) Lose any correlation between color components.</a:t>
            </a:r>
          </a:p>
          <a:p>
            <a:pPr lvl="2" eaLnBrk="1" hangingPunct="1"/>
            <a:r>
              <a:rPr lang="en-US" altLang="ko-KR" sz="2000"/>
              <a:t> Ex. Horizontal median filter of width 5 =&gt; Can not remove unwanted yellow pixel.</a:t>
            </a:r>
          </a:p>
        </p:txBody>
      </p:sp>
      <p:pic>
        <p:nvPicPr>
          <p:cNvPr id="2" name="Picture 1"/>
          <p:cNvPicPr>
            <a:picLocks noChangeAspect="1"/>
          </p:cNvPicPr>
          <p:nvPr/>
        </p:nvPicPr>
        <p:blipFill>
          <a:blip r:embed="rId2"/>
          <a:stretch>
            <a:fillRect/>
          </a:stretch>
        </p:blipFill>
        <p:spPr>
          <a:xfrm>
            <a:off x="2204594" y="3362325"/>
            <a:ext cx="5705475" cy="3114675"/>
          </a:xfrm>
          <a:prstGeom prst="rect">
            <a:avLst/>
          </a:prstGeom>
        </p:spPr>
      </p:pic>
    </p:spTree>
    <p:extLst>
      <p:ext uri="{BB962C8B-B14F-4D97-AF65-F5344CB8AC3E}">
        <p14:creationId xmlns:p14="http://schemas.microsoft.com/office/powerpoint/2010/main" val="26076081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US" altLang="ko-KR"/>
              <a:t>Color Median Filtering</a:t>
            </a:r>
          </a:p>
        </p:txBody>
      </p:sp>
      <p:sp>
        <p:nvSpPr>
          <p:cNvPr id="100355" name="Rectangle 3"/>
          <p:cNvSpPr>
            <a:spLocks noGrp="1" noChangeArrowheads="1"/>
          </p:cNvSpPr>
          <p:nvPr>
            <p:ph idx="1"/>
          </p:nvPr>
        </p:nvSpPr>
        <p:spPr>
          <a:xfrm>
            <a:off x="595423" y="1488558"/>
            <a:ext cx="8907353" cy="4759842"/>
          </a:xfrm>
        </p:spPr>
        <p:txBody>
          <a:bodyPr rtlCol="0">
            <a:normAutofit fontScale="92500" lnSpcReduction="20000"/>
          </a:bodyPr>
          <a:lstStyle/>
          <a:p>
            <a:pPr>
              <a:lnSpc>
                <a:spcPct val="90000"/>
              </a:lnSpc>
              <a:defRPr/>
            </a:pPr>
            <a:r>
              <a:rPr lang="en-US" altLang="ko-KR" sz="2400" dirty="0"/>
              <a:t>Color median filtering using the unique property.</a:t>
            </a:r>
          </a:p>
          <a:p>
            <a:pPr lvl="1">
              <a:lnSpc>
                <a:spcPct val="90000"/>
              </a:lnSpc>
              <a:defRPr/>
            </a:pPr>
            <a:r>
              <a:rPr lang="en-US" altLang="ko-KR" sz="2000" dirty="0"/>
              <a:t>A unique property of median values when filtering color image</a:t>
            </a:r>
          </a:p>
          <a:p>
            <a:pPr lvl="1">
              <a:lnSpc>
                <a:spcPct val="90000"/>
              </a:lnSpc>
              <a:defRPr/>
            </a:pPr>
            <a:endParaRPr lang="en-US" altLang="ko-KR" sz="2000" dirty="0"/>
          </a:p>
          <a:p>
            <a:pPr lvl="1">
              <a:lnSpc>
                <a:spcPct val="90000"/>
              </a:lnSpc>
              <a:defRPr/>
            </a:pPr>
            <a:endParaRPr lang="en-US" altLang="ko-KR" sz="2000" dirty="0"/>
          </a:p>
          <a:p>
            <a:pPr lvl="2">
              <a:lnSpc>
                <a:spcPct val="90000"/>
              </a:lnSpc>
              <a:defRPr/>
            </a:pPr>
            <a:r>
              <a:rPr lang="en-US" altLang="ko-KR" sz="1800" dirty="0"/>
              <a:t>where N is the number of elements e.g., 9 for a 3 x 3 median filter; y is an arbitrary value in the window.</a:t>
            </a:r>
          </a:p>
          <a:p>
            <a:pPr lvl="1">
              <a:lnSpc>
                <a:spcPct val="90000"/>
              </a:lnSpc>
              <a:defRPr/>
            </a:pPr>
            <a:r>
              <a:rPr lang="en-US" altLang="ko-KR" sz="2000" dirty="0"/>
              <a:t>(Idea) Break x, y in the unique property into read, green, blue components as follow: </a:t>
            </a:r>
          </a:p>
          <a:p>
            <a:pPr lvl="1">
              <a:lnSpc>
                <a:spcPct val="90000"/>
              </a:lnSpc>
              <a:defRPr/>
            </a:pPr>
            <a:endParaRPr lang="en-US" altLang="ko-KR" sz="2000" dirty="0"/>
          </a:p>
          <a:p>
            <a:pPr lvl="2">
              <a:lnSpc>
                <a:spcPct val="90000"/>
              </a:lnSpc>
              <a:defRPr/>
            </a:pPr>
            <a:endParaRPr lang="en-US" altLang="ko-KR" sz="1800" dirty="0"/>
          </a:p>
          <a:p>
            <a:pPr lvl="2">
              <a:lnSpc>
                <a:spcPct val="90000"/>
              </a:lnSpc>
              <a:defRPr/>
            </a:pPr>
            <a:r>
              <a:rPr lang="en-US" altLang="ko-KR" sz="1800" dirty="0"/>
              <a:t>The pixel x</a:t>
            </a:r>
            <a:r>
              <a:rPr lang="en-US" altLang="ko-KR" sz="1800" baseline="-25000" dirty="0"/>
              <a:t>i </a:t>
            </a:r>
            <a:r>
              <a:rPr lang="en-US" altLang="ko-KR" sz="1800" dirty="0"/>
              <a:t>with smallest </a:t>
            </a:r>
            <a:r>
              <a:rPr lang="en-US" altLang="ko-KR" sz="1800" dirty="0" err="1"/>
              <a:t>Distance</a:t>
            </a:r>
            <a:r>
              <a:rPr lang="en-US" altLang="ko-KR" sz="1800" baseline="-25000" dirty="0" err="1"/>
              <a:t>i</a:t>
            </a:r>
            <a:r>
              <a:rPr lang="en-US" altLang="ko-KR" sz="1800" baseline="-25000" dirty="0"/>
              <a:t> </a:t>
            </a:r>
            <a:r>
              <a:rPr lang="en-US" altLang="ko-KR" sz="1800" dirty="0"/>
              <a:t>is the filter output, where x</a:t>
            </a:r>
            <a:r>
              <a:rPr lang="en-US" altLang="ko-KR" sz="1800" baseline="-25000" dirty="0"/>
              <a:t>i </a:t>
            </a:r>
            <a:r>
              <a:rPr lang="en-US" altLang="ko-KR" sz="1800" dirty="0"/>
              <a:t>={</a:t>
            </a:r>
            <a:r>
              <a:rPr lang="en-US" altLang="ko-KR" sz="1800" dirty="0" err="1"/>
              <a:t>red</a:t>
            </a:r>
            <a:r>
              <a:rPr lang="en-US" altLang="ko-KR" sz="1800" baseline="-25000" dirty="0" err="1"/>
              <a:t>i</a:t>
            </a:r>
            <a:r>
              <a:rPr lang="en-US" altLang="ko-KR" sz="1800" dirty="0"/>
              <a:t>, </a:t>
            </a:r>
            <a:r>
              <a:rPr lang="en-US" altLang="ko-KR" sz="1800" dirty="0" err="1"/>
              <a:t>green</a:t>
            </a:r>
            <a:r>
              <a:rPr lang="en-US" altLang="ko-KR" sz="1800" baseline="-25000" dirty="0" err="1"/>
              <a:t>i</a:t>
            </a:r>
            <a:r>
              <a:rPr lang="en-US" altLang="ko-KR" sz="1800" dirty="0"/>
              <a:t>, </a:t>
            </a:r>
            <a:r>
              <a:rPr lang="en-US" altLang="ko-KR" sz="1800" dirty="0" err="1"/>
              <a:t>blue</a:t>
            </a:r>
            <a:r>
              <a:rPr lang="en-US" altLang="ko-KR" sz="1800" baseline="-25000" dirty="0" err="1"/>
              <a:t>i</a:t>
            </a:r>
            <a:r>
              <a:rPr lang="en-US" altLang="ko-KR" sz="1800" dirty="0"/>
              <a:t>}</a:t>
            </a:r>
          </a:p>
          <a:p>
            <a:pPr lvl="1">
              <a:lnSpc>
                <a:spcPct val="90000"/>
              </a:lnSpc>
              <a:defRPr/>
            </a:pPr>
            <a:r>
              <a:rPr lang="en-US" altLang="ko-KR" sz="2000" dirty="0"/>
              <a:t>(Algorithm): Computation of  the color median output</a:t>
            </a:r>
          </a:p>
          <a:p>
            <a:pPr lvl="3">
              <a:lnSpc>
                <a:spcPct val="90000"/>
              </a:lnSpc>
              <a:defRPr/>
            </a:pPr>
            <a:r>
              <a:rPr lang="en-US" altLang="ko-KR" sz="1800" dirty="0"/>
              <a:t>Start with N elements in the filter window</a:t>
            </a:r>
          </a:p>
          <a:p>
            <a:pPr lvl="3">
              <a:lnSpc>
                <a:spcPct val="90000"/>
              </a:lnSpc>
              <a:defRPr/>
            </a:pPr>
            <a:r>
              <a:rPr lang="en-US" altLang="ko-KR" sz="1800" dirty="0"/>
              <a:t>Compute </a:t>
            </a:r>
            <a:r>
              <a:rPr lang="en-US" altLang="ko-KR" sz="1800" dirty="0" err="1"/>
              <a:t>Distance</a:t>
            </a:r>
            <a:r>
              <a:rPr lang="en-US" altLang="ko-KR" sz="1800" baseline="-25000" dirty="0" err="1"/>
              <a:t>i</a:t>
            </a:r>
            <a:r>
              <a:rPr lang="en-US" altLang="ko-KR" sz="1800" dirty="0"/>
              <a:t>, and find minimum </a:t>
            </a:r>
            <a:r>
              <a:rPr lang="en-US" altLang="ko-KR" sz="1800" dirty="0" err="1"/>
              <a:t>Distance</a:t>
            </a:r>
            <a:r>
              <a:rPr lang="en-US" altLang="ko-KR" sz="1800" baseline="-25000" dirty="0" err="1"/>
              <a:t>i</a:t>
            </a:r>
            <a:endParaRPr lang="en-US" altLang="ko-KR" sz="1800" dirty="0"/>
          </a:p>
          <a:p>
            <a:pPr lvl="3">
              <a:lnSpc>
                <a:spcPct val="90000"/>
              </a:lnSpc>
              <a:defRPr/>
            </a:pPr>
            <a:r>
              <a:rPr lang="en-US" altLang="ko-KR" sz="1800" dirty="0"/>
              <a:t>Return x</a:t>
            </a:r>
            <a:r>
              <a:rPr lang="en-US" altLang="ko-KR" sz="1800" baseline="-25000" dirty="0"/>
              <a:t>i</a:t>
            </a:r>
            <a:r>
              <a:rPr lang="en-US" altLang="ko-KR" sz="1800" dirty="0"/>
              <a:t> with minimum </a:t>
            </a:r>
            <a:r>
              <a:rPr lang="en-US" altLang="ko-KR" sz="1800" dirty="0" err="1"/>
              <a:t>Distance</a:t>
            </a:r>
            <a:r>
              <a:rPr lang="en-US" altLang="ko-KR" sz="1800" baseline="-25000" dirty="0" err="1"/>
              <a:t>i</a:t>
            </a:r>
            <a:endParaRPr lang="en-US" altLang="ko-KR" sz="1800" dirty="0"/>
          </a:p>
          <a:p>
            <a:pPr lvl="3">
              <a:lnSpc>
                <a:spcPct val="90000"/>
              </a:lnSpc>
              <a:defRPr/>
            </a:pPr>
            <a:endParaRPr lang="en-US" altLang="ko-KR" sz="1800" dirty="0"/>
          </a:p>
          <a:p>
            <a:pPr lvl="3">
              <a:lnSpc>
                <a:spcPct val="90000"/>
              </a:lnSpc>
              <a:defRPr/>
            </a:pPr>
            <a:endParaRPr lang="en-US" altLang="ko-KR" sz="1800" dirty="0"/>
          </a:p>
        </p:txBody>
      </p:sp>
      <p:graphicFrame>
        <p:nvGraphicFramePr>
          <p:cNvPr id="52230" name="Object 0"/>
          <p:cNvGraphicFramePr>
            <a:graphicFrameLocks noChangeAspect="1"/>
          </p:cNvGraphicFramePr>
          <p:nvPr>
            <p:extLst>
              <p:ext uri="{D42A27DB-BD31-4B8C-83A1-F6EECF244321}">
                <p14:modId xmlns:p14="http://schemas.microsoft.com/office/powerpoint/2010/main" val="1872072387"/>
              </p:ext>
            </p:extLst>
          </p:nvPr>
        </p:nvGraphicFramePr>
        <p:xfrm>
          <a:off x="3935236" y="2316625"/>
          <a:ext cx="2538412" cy="461962"/>
        </p:xfrm>
        <a:graphic>
          <a:graphicData uri="http://schemas.openxmlformats.org/presentationml/2006/ole">
            <mc:AlternateContent xmlns:mc="http://schemas.openxmlformats.org/markup-compatibility/2006">
              <mc:Choice xmlns:v="urn:schemas-microsoft-com:vml" Requires="v">
                <p:oleObj name="Equation" r:id="rId3" imgW="1612900" imgH="431800" progId="Equation.3">
                  <p:embed/>
                </p:oleObj>
              </mc:Choice>
              <mc:Fallback>
                <p:oleObj name="Equation" r:id="rId3" imgW="1612900" imgH="431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5236" y="2316625"/>
                        <a:ext cx="2538412"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31" name="Object 1"/>
          <p:cNvGraphicFramePr>
            <a:graphicFrameLocks noChangeAspect="1"/>
          </p:cNvGraphicFramePr>
          <p:nvPr>
            <p:extLst>
              <p:ext uri="{D42A27DB-BD31-4B8C-83A1-F6EECF244321}">
                <p14:modId xmlns:p14="http://schemas.microsoft.com/office/powerpoint/2010/main" val="372461957"/>
              </p:ext>
            </p:extLst>
          </p:nvPr>
        </p:nvGraphicFramePr>
        <p:xfrm>
          <a:off x="2630862" y="3487276"/>
          <a:ext cx="6764337" cy="708025"/>
        </p:xfrm>
        <a:graphic>
          <a:graphicData uri="http://schemas.openxmlformats.org/presentationml/2006/ole">
            <mc:AlternateContent xmlns:mc="http://schemas.openxmlformats.org/markup-compatibility/2006">
              <mc:Choice xmlns:v="urn:schemas-microsoft-com:vml" Requires="v">
                <p:oleObj name="Equation" r:id="rId5" imgW="4127500" imgH="431800" progId="Equation.3">
                  <p:embed/>
                </p:oleObj>
              </mc:Choice>
              <mc:Fallback>
                <p:oleObj name="Equation" r:id="rId5" imgW="4127500" imgH="431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0862" y="3487276"/>
                        <a:ext cx="6764337"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067437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altLang="ko-KR"/>
              <a:t>Minimum/Maximum Filtering</a:t>
            </a:r>
          </a:p>
        </p:txBody>
      </p:sp>
      <p:sp>
        <p:nvSpPr>
          <p:cNvPr id="65539" name="Rectangle 3"/>
          <p:cNvSpPr>
            <a:spLocks noGrp="1" noChangeArrowheads="1"/>
          </p:cNvSpPr>
          <p:nvPr>
            <p:ph idx="1"/>
          </p:nvPr>
        </p:nvSpPr>
        <p:spPr>
          <a:xfrm>
            <a:off x="677334" y="1739153"/>
            <a:ext cx="8596668" cy="4302209"/>
          </a:xfrm>
        </p:spPr>
        <p:txBody>
          <a:bodyPr rtlCol="0">
            <a:normAutofit fontScale="92500" lnSpcReduction="10000"/>
          </a:bodyPr>
          <a:lstStyle/>
          <a:p>
            <a:pPr>
              <a:defRPr/>
            </a:pPr>
            <a:r>
              <a:rPr lang="en-US" altLang="ko-KR" sz="2400" dirty="0"/>
              <a:t>Minimum/maximum filtering</a:t>
            </a:r>
          </a:p>
          <a:p>
            <a:pPr lvl="2">
              <a:defRPr/>
            </a:pPr>
            <a:r>
              <a:rPr lang="en-US" altLang="ko-KR" sz="1800" dirty="0"/>
              <a:t>Very similar to median filtering.</a:t>
            </a:r>
          </a:p>
          <a:p>
            <a:pPr lvl="2">
              <a:defRPr/>
            </a:pPr>
            <a:r>
              <a:rPr lang="en-US" altLang="ko-KR" sz="1800" dirty="0"/>
              <a:t>Max/min window value is used. Cf. Central pixel in median window value.</a:t>
            </a:r>
          </a:p>
          <a:p>
            <a:pPr lvl="2">
              <a:defRPr/>
            </a:pPr>
            <a:r>
              <a:rPr lang="en-US" altLang="ko-KR" sz="1800" dirty="0"/>
              <a:t>Effective at removing extreme impulse noise.</a:t>
            </a:r>
          </a:p>
          <a:p>
            <a:pPr lvl="3">
              <a:defRPr/>
            </a:pPr>
            <a:r>
              <a:rPr lang="en-US" altLang="ko-KR" sz="1800" dirty="0"/>
              <a:t>Min filter: removes white spikes; overall intensity will be reduced</a:t>
            </a:r>
          </a:p>
          <a:p>
            <a:pPr lvl="3">
              <a:defRPr/>
            </a:pPr>
            <a:r>
              <a:rPr lang="en-US" altLang="ko-KR" sz="1800" dirty="0"/>
              <a:t>Max: removes dark spikes; overall intensity is increased</a:t>
            </a:r>
          </a:p>
          <a:p>
            <a:pPr lvl="2">
              <a:defRPr/>
            </a:pPr>
            <a:r>
              <a:rPr lang="en-US" altLang="ko-KR" sz="1800" dirty="0"/>
              <a:t>Both the min and max filters fail in removing mixed impulse noises.</a:t>
            </a:r>
          </a:p>
          <a:p>
            <a:pPr lvl="1">
              <a:defRPr/>
            </a:pPr>
            <a:endParaRPr lang="en-US" altLang="ko-KR" sz="2000" dirty="0"/>
          </a:p>
          <a:p>
            <a:pPr lvl="1">
              <a:defRPr/>
            </a:pPr>
            <a:r>
              <a:rPr lang="en-US" altLang="ko-KR" sz="2000" dirty="0"/>
              <a:t>Cascade of max min filters: can remove </a:t>
            </a:r>
            <a:r>
              <a:rPr lang="en-US" altLang="ko-KR" sz="2000" dirty="0">
                <a:latin typeface="Times New Roman"/>
              </a:rPr>
              <a:t>“</a:t>
            </a:r>
            <a:r>
              <a:rPr lang="en-US" altLang="ko-KR" sz="2000" dirty="0"/>
              <a:t>salt and pepper noise</a:t>
            </a:r>
            <a:r>
              <a:rPr lang="en-US" altLang="ko-KR" sz="2000" dirty="0">
                <a:latin typeface="Times New Roman"/>
              </a:rPr>
              <a:t>”</a:t>
            </a:r>
            <a:endParaRPr lang="en-US" altLang="ko-KR" sz="2000" dirty="0"/>
          </a:p>
          <a:p>
            <a:pPr lvl="2">
              <a:defRPr/>
            </a:pPr>
            <a:r>
              <a:rPr lang="en-US" altLang="ko-KR" sz="1800" dirty="0"/>
              <a:t>Closing filter: min -&gt; max</a:t>
            </a:r>
          </a:p>
          <a:p>
            <a:pPr lvl="2">
              <a:defRPr/>
            </a:pPr>
            <a:r>
              <a:rPr lang="en-US" altLang="ko-KR" sz="1800" dirty="0"/>
              <a:t>Opening filter: max -&gt; min</a:t>
            </a:r>
          </a:p>
          <a:p>
            <a:pPr>
              <a:defRPr/>
            </a:pPr>
            <a:endParaRPr lang="en-US" altLang="ko-KR" sz="2400" dirty="0"/>
          </a:p>
        </p:txBody>
      </p:sp>
    </p:spTree>
    <p:extLst>
      <p:ext uri="{BB962C8B-B14F-4D97-AF65-F5344CB8AC3E}">
        <p14:creationId xmlns:p14="http://schemas.microsoft.com/office/powerpoint/2010/main" val="14206924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a:t>
            </a:r>
          </a:p>
        </p:txBody>
      </p:sp>
      <p:pic>
        <p:nvPicPr>
          <p:cNvPr id="5" name="Picture 4"/>
          <p:cNvPicPr>
            <a:picLocks noChangeAspect="1"/>
          </p:cNvPicPr>
          <p:nvPr/>
        </p:nvPicPr>
        <p:blipFill>
          <a:blip r:embed="rId2"/>
          <a:stretch>
            <a:fillRect/>
          </a:stretch>
        </p:blipFill>
        <p:spPr>
          <a:xfrm>
            <a:off x="1489531" y="1814926"/>
            <a:ext cx="3486137" cy="4351338"/>
          </a:xfrm>
          <a:prstGeom prst="rect">
            <a:avLst/>
          </a:prstGeom>
        </p:spPr>
      </p:pic>
    </p:spTree>
    <p:extLst>
      <p:ext uri="{BB962C8B-B14F-4D97-AF65-F5344CB8AC3E}">
        <p14:creationId xmlns:p14="http://schemas.microsoft.com/office/powerpoint/2010/main" val="20453039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pic>
        <p:nvPicPr>
          <p:cNvPr id="30722" name="Picture 2"/>
          <p:cNvPicPr>
            <a:picLocks noGrp="1" noChangeAspect="1" noChangeArrowheads="1"/>
          </p:cNvPicPr>
          <p:nvPr>
            <p:ph idx="1"/>
          </p:nvPr>
        </p:nvPicPr>
        <p:blipFill>
          <a:blip r:embed="rId3"/>
          <a:srcRect/>
          <a:stretch>
            <a:fillRect/>
          </a:stretch>
        </p:blipFill>
        <p:spPr bwMode="auto">
          <a:xfrm>
            <a:off x="4495800" y="1600200"/>
            <a:ext cx="3395662" cy="3772958"/>
          </a:xfrm>
          <a:prstGeom prst="rect">
            <a:avLst/>
          </a:prstGeom>
          <a:noFill/>
          <a:ln w="9525">
            <a:noFill/>
            <a:miter lim="800000"/>
            <a:headEnd/>
            <a:tailEnd/>
          </a:ln>
          <a:effectLst/>
        </p:spPr>
      </p:pic>
    </p:spTree>
    <p:extLst>
      <p:ext uri="{BB962C8B-B14F-4D97-AF65-F5344CB8AC3E}">
        <p14:creationId xmlns:p14="http://schemas.microsoft.com/office/powerpoint/2010/main" val="22241046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pic>
        <p:nvPicPr>
          <p:cNvPr id="31746" name="Picture 2"/>
          <p:cNvPicPr>
            <a:picLocks noGrp="1" noChangeAspect="1" noChangeArrowheads="1"/>
          </p:cNvPicPr>
          <p:nvPr>
            <p:ph idx="1"/>
          </p:nvPr>
        </p:nvPicPr>
        <p:blipFill>
          <a:blip r:embed="rId2"/>
          <a:srcRect/>
          <a:stretch>
            <a:fillRect/>
          </a:stretch>
        </p:blipFill>
        <p:spPr bwMode="auto">
          <a:xfrm>
            <a:off x="2971800" y="2057400"/>
            <a:ext cx="6553200" cy="3822700"/>
          </a:xfrm>
          <a:prstGeom prst="rect">
            <a:avLst/>
          </a:prstGeom>
          <a:noFill/>
          <a:ln w="9525">
            <a:noFill/>
            <a:miter lim="800000"/>
            <a:headEnd/>
            <a:tailEnd/>
          </a:ln>
          <a:effectLst/>
        </p:spPr>
      </p:pic>
    </p:spTree>
    <p:extLst>
      <p:ext uri="{BB962C8B-B14F-4D97-AF65-F5344CB8AC3E}">
        <p14:creationId xmlns:p14="http://schemas.microsoft.com/office/powerpoint/2010/main" val="330151120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7112</TotalTime>
  <Words>2785</Words>
  <Application>Microsoft Office PowerPoint</Application>
  <PresentationFormat>Widescreen</PresentationFormat>
  <Paragraphs>427</Paragraphs>
  <Slides>63</Slides>
  <Notes>4</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4</vt:i4>
      </vt:variant>
      <vt:variant>
        <vt:lpstr>Slide Titles</vt:lpstr>
      </vt:variant>
      <vt:variant>
        <vt:i4>63</vt:i4>
      </vt:variant>
    </vt:vector>
  </HeadingPairs>
  <TitlesOfParts>
    <vt:vector size="77" baseType="lpstr">
      <vt:lpstr>굴림</vt:lpstr>
      <vt:lpstr>Arial</vt:lpstr>
      <vt:lpstr>Book Antiqua</vt:lpstr>
      <vt:lpstr>Calibri</vt:lpstr>
      <vt:lpstr>Times New Roman</vt:lpstr>
      <vt:lpstr>Trebuchet MS</vt:lpstr>
      <vt:lpstr>Verdana</vt:lpstr>
      <vt:lpstr>Wingdings</vt:lpstr>
      <vt:lpstr>Wingdings 3</vt:lpstr>
      <vt:lpstr>Facet</vt:lpstr>
      <vt:lpstr>方程式</vt:lpstr>
      <vt:lpstr>Equation</vt:lpstr>
      <vt:lpstr>수식</vt:lpstr>
      <vt:lpstr>비트맵 이미지</vt:lpstr>
      <vt:lpstr>Multimedia Computing</vt:lpstr>
      <vt:lpstr>Content</vt:lpstr>
      <vt:lpstr>Image mask</vt:lpstr>
      <vt:lpstr>Filtering</vt:lpstr>
      <vt:lpstr>Filtering</vt:lpstr>
      <vt:lpstr>Edges</vt:lpstr>
      <vt:lpstr>Edge detection</vt:lpstr>
      <vt:lpstr>Edge detection</vt:lpstr>
      <vt:lpstr>Histogram statistics for image enhancement </vt:lpstr>
      <vt:lpstr>Histogram statistics for image enhancement</vt:lpstr>
      <vt:lpstr>Convolution</vt:lpstr>
      <vt:lpstr>1D Convolution</vt:lpstr>
      <vt:lpstr>PowerPoint Presentation</vt:lpstr>
      <vt:lpstr>Convolution</vt:lpstr>
      <vt:lpstr>Convolution</vt:lpstr>
      <vt:lpstr>Blurring</vt:lpstr>
      <vt:lpstr>Blurring</vt:lpstr>
      <vt:lpstr>Blurring Example</vt:lpstr>
      <vt:lpstr>Gaussian Smoothing Filters for Burring</vt:lpstr>
      <vt:lpstr>Sharpening</vt:lpstr>
      <vt:lpstr>Sharpening(Cont’d)</vt:lpstr>
      <vt:lpstr>Sharpening Example</vt:lpstr>
      <vt:lpstr>Color Sharpening &amp; Blurring Example</vt:lpstr>
      <vt:lpstr>High-boost filtering</vt:lpstr>
      <vt:lpstr>Sharpening</vt:lpstr>
      <vt:lpstr>High pass filter &amp; High-boost filter Example</vt:lpstr>
      <vt:lpstr>Detection of discontinuities</vt:lpstr>
      <vt:lpstr>Detection of discontinuities</vt:lpstr>
      <vt:lpstr>Edge Detection</vt:lpstr>
      <vt:lpstr>Edge Detection</vt:lpstr>
      <vt:lpstr>Edge Detection</vt:lpstr>
      <vt:lpstr>Edge Detection</vt:lpstr>
      <vt:lpstr>Edge Detection</vt:lpstr>
      <vt:lpstr>Edge Detection</vt:lpstr>
      <vt:lpstr>Edge Detection</vt:lpstr>
      <vt:lpstr>Edge Detection </vt:lpstr>
      <vt:lpstr>Derivative Operator</vt:lpstr>
      <vt:lpstr>Derivative Operator</vt:lpstr>
      <vt:lpstr>Derivative Operator</vt:lpstr>
      <vt:lpstr>Derivative Operator</vt:lpstr>
      <vt:lpstr>Compass Gradient Operator</vt:lpstr>
      <vt:lpstr>Compass Gradient Operator</vt:lpstr>
      <vt:lpstr>Sobel Operator</vt:lpstr>
      <vt:lpstr>Sobel operator</vt:lpstr>
      <vt:lpstr>Second Order Derivative Operator</vt:lpstr>
      <vt:lpstr>Zero Crossing  Detection</vt:lpstr>
      <vt:lpstr>Zero Crossing  Detection</vt:lpstr>
      <vt:lpstr>LoG(Laplacian of Gaussian)</vt:lpstr>
      <vt:lpstr>DoG(Difference of Gaussians)</vt:lpstr>
      <vt:lpstr>DoG(Difference of Gaussians)</vt:lpstr>
      <vt:lpstr>Color Edge Detection</vt:lpstr>
      <vt:lpstr>Color Edge Detection</vt:lpstr>
      <vt:lpstr>Median Filtering</vt:lpstr>
      <vt:lpstr>Median Filtering</vt:lpstr>
      <vt:lpstr>Median Filtering</vt:lpstr>
      <vt:lpstr>Median Filtering</vt:lpstr>
      <vt:lpstr>Median Filter</vt:lpstr>
      <vt:lpstr>Color Median Filtering</vt:lpstr>
      <vt:lpstr>Color Median Filtering</vt:lpstr>
      <vt:lpstr>Minimum/Maximum Filtering</vt:lpstr>
      <vt:lpstr>Reference</vt:lpstr>
      <vt:lpstr>Question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Computing</dc:title>
  <dc:creator>Ahmed Minhaz Uddin</dc:creator>
  <cp:lastModifiedBy>Minhaz Uddin Ahmed</cp:lastModifiedBy>
  <cp:revision>138</cp:revision>
  <dcterms:created xsi:type="dcterms:W3CDTF">2020-01-27T14:45:02Z</dcterms:created>
  <dcterms:modified xsi:type="dcterms:W3CDTF">2025-10-10T03:44:24Z</dcterms:modified>
</cp:coreProperties>
</file>