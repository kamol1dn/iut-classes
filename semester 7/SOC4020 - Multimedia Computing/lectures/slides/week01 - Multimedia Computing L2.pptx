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60"/>
  </p:notesMasterIdLst>
  <p:sldIdLst>
    <p:sldId id="256" r:id="rId2"/>
    <p:sldId id="258" r:id="rId3"/>
    <p:sldId id="335" r:id="rId4"/>
    <p:sldId id="336" r:id="rId5"/>
    <p:sldId id="260" r:id="rId6"/>
    <p:sldId id="261" r:id="rId7"/>
    <p:sldId id="263" r:id="rId8"/>
    <p:sldId id="287" r:id="rId9"/>
    <p:sldId id="264" r:id="rId10"/>
    <p:sldId id="288" r:id="rId11"/>
    <p:sldId id="265" r:id="rId12"/>
    <p:sldId id="337" r:id="rId13"/>
    <p:sldId id="338" r:id="rId14"/>
    <p:sldId id="339" r:id="rId15"/>
    <p:sldId id="267" r:id="rId16"/>
    <p:sldId id="289" r:id="rId17"/>
    <p:sldId id="290" r:id="rId18"/>
    <p:sldId id="291" r:id="rId19"/>
    <p:sldId id="268" r:id="rId20"/>
    <p:sldId id="266" r:id="rId21"/>
    <p:sldId id="292" r:id="rId22"/>
    <p:sldId id="293" r:id="rId23"/>
    <p:sldId id="294" r:id="rId24"/>
    <p:sldId id="295" r:id="rId25"/>
    <p:sldId id="296" r:id="rId26"/>
    <p:sldId id="297" r:id="rId27"/>
    <p:sldId id="298" r:id="rId28"/>
    <p:sldId id="301" r:id="rId29"/>
    <p:sldId id="275" r:id="rId30"/>
    <p:sldId id="274" r:id="rId31"/>
    <p:sldId id="273" r:id="rId32"/>
    <p:sldId id="272" r:id="rId33"/>
    <p:sldId id="27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11" r:id="rId57"/>
    <p:sldId id="299" r:id="rId58"/>
    <p:sldId id="300"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636" autoAdjust="0"/>
  </p:normalViewPr>
  <p:slideViewPr>
    <p:cSldViewPr snapToGrid="0">
      <p:cViewPr varScale="1">
        <p:scale>
          <a:sx n="71" d="100"/>
          <a:sy n="71" d="100"/>
        </p:scale>
        <p:origin x="110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E53E55-EC9A-434C-8BE2-CD78882C9BC0}" type="datetimeFigureOut">
              <a:rPr lang="en-US" smtClean="0"/>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BD2CD-5368-43DB-9451-734A67620D4E}" type="slidenum">
              <a:rPr lang="en-US" smtClean="0"/>
              <a:t>‹#›</a:t>
            </a:fld>
            <a:endParaRPr lang="en-US"/>
          </a:p>
        </p:txBody>
      </p:sp>
    </p:spTree>
    <p:extLst>
      <p:ext uri="{BB962C8B-B14F-4D97-AF65-F5344CB8AC3E}">
        <p14:creationId xmlns:p14="http://schemas.microsoft.com/office/powerpoint/2010/main" val="78034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8BD2CD-5368-43DB-9451-734A67620D4E}" type="slidenum">
              <a:rPr lang="en-US" smtClean="0"/>
              <a:t>1</a:t>
            </a:fld>
            <a:endParaRPr lang="en-US"/>
          </a:p>
        </p:txBody>
      </p:sp>
    </p:spTree>
    <p:extLst>
      <p:ext uri="{BB962C8B-B14F-4D97-AF65-F5344CB8AC3E}">
        <p14:creationId xmlns:p14="http://schemas.microsoft.com/office/powerpoint/2010/main" val="464836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2</a:t>
            </a:fld>
            <a:endParaRPr lang="en-US"/>
          </a:p>
        </p:txBody>
      </p:sp>
    </p:spTree>
    <p:extLst>
      <p:ext uri="{BB962C8B-B14F-4D97-AF65-F5344CB8AC3E}">
        <p14:creationId xmlns:p14="http://schemas.microsoft.com/office/powerpoint/2010/main" val="150070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Sound Since there is only one independent variable, time, we call this a 1D signal</a:t>
            </a:r>
          </a:p>
        </p:txBody>
      </p:sp>
      <p:sp>
        <p:nvSpPr>
          <p:cNvPr id="4" name="Slide Number Placeholder 3"/>
          <p:cNvSpPr>
            <a:spLocks noGrp="1"/>
          </p:cNvSpPr>
          <p:nvPr>
            <p:ph type="sldNum" sz="quarter" idx="5"/>
          </p:nvPr>
        </p:nvSpPr>
        <p:spPr/>
        <p:txBody>
          <a:bodyPr/>
          <a:lstStyle/>
          <a:p>
            <a:fld id="{118BD2CD-5368-43DB-9451-734A67620D4E}" type="slidenum">
              <a:rPr lang="en-US" smtClean="0"/>
              <a:t>6</a:t>
            </a:fld>
            <a:endParaRPr lang="en-US"/>
          </a:p>
        </p:txBody>
      </p:sp>
    </p:spTree>
    <p:extLst>
      <p:ext uri="{BB962C8B-B14F-4D97-AF65-F5344CB8AC3E}">
        <p14:creationId xmlns:p14="http://schemas.microsoft.com/office/powerpoint/2010/main" val="207361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 signals are captured by a recording device, which attempts to record a physical signal. </a:t>
            </a:r>
          </a:p>
        </p:txBody>
      </p:sp>
      <p:sp>
        <p:nvSpPr>
          <p:cNvPr id="4" name="Slide Number Placeholder 3"/>
          <p:cNvSpPr>
            <a:spLocks noGrp="1"/>
          </p:cNvSpPr>
          <p:nvPr>
            <p:ph type="sldNum" sz="quarter" idx="10"/>
          </p:nvPr>
        </p:nvSpPr>
        <p:spPr/>
        <p:txBody>
          <a:bodyPr/>
          <a:lstStyle/>
          <a:p>
            <a:fld id="{118BD2CD-5368-43DB-9451-734A67620D4E}" type="slidenum">
              <a:rPr lang="en-US" smtClean="0"/>
              <a:t>7</a:t>
            </a:fld>
            <a:endParaRPr lang="en-US"/>
          </a:p>
        </p:txBody>
      </p:sp>
    </p:spTree>
    <p:extLst>
      <p:ext uri="{BB962C8B-B14F-4D97-AF65-F5344CB8AC3E}">
        <p14:creationId xmlns:p14="http://schemas.microsoft.com/office/powerpoint/2010/main" val="2569539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10</a:t>
            </a:fld>
            <a:endParaRPr lang="en-US"/>
          </a:p>
        </p:txBody>
      </p:sp>
    </p:spTree>
    <p:extLst>
      <p:ext uri="{BB962C8B-B14F-4D97-AF65-F5344CB8AC3E}">
        <p14:creationId xmlns:p14="http://schemas.microsoft.com/office/powerpoint/2010/main" val="41069561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11</a:t>
            </a:fld>
            <a:endParaRPr lang="en-US"/>
          </a:p>
        </p:txBody>
      </p:sp>
    </p:spTree>
    <p:extLst>
      <p:ext uri="{BB962C8B-B14F-4D97-AF65-F5344CB8AC3E}">
        <p14:creationId xmlns:p14="http://schemas.microsoft.com/office/powerpoint/2010/main" val="573294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8BD2CD-5368-43DB-9451-734A67620D4E}" type="slidenum">
              <a:rPr lang="en-US" smtClean="0"/>
              <a:t>12</a:t>
            </a:fld>
            <a:endParaRPr lang="en-US"/>
          </a:p>
        </p:txBody>
      </p:sp>
    </p:spTree>
    <p:extLst>
      <p:ext uri="{BB962C8B-B14F-4D97-AF65-F5344CB8AC3E}">
        <p14:creationId xmlns:p14="http://schemas.microsoft.com/office/powerpoint/2010/main" val="2168196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15</a:t>
            </a:fld>
            <a:endParaRPr lang="en-US"/>
          </a:p>
        </p:txBody>
      </p:sp>
    </p:spTree>
    <p:extLst>
      <p:ext uri="{BB962C8B-B14F-4D97-AF65-F5344CB8AC3E}">
        <p14:creationId xmlns:p14="http://schemas.microsoft.com/office/powerpoint/2010/main" val="3005134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18</a:t>
            </a:fld>
            <a:endParaRPr lang="en-US"/>
          </a:p>
        </p:txBody>
      </p:sp>
    </p:spTree>
    <p:extLst>
      <p:ext uri="{BB962C8B-B14F-4D97-AF65-F5344CB8AC3E}">
        <p14:creationId xmlns:p14="http://schemas.microsoft.com/office/powerpoint/2010/main" val="3422274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Hence, </a:t>
            </a:r>
            <a:r>
              <a:rPr lang="en-US" dirty="0" err="1"/>
              <a:t>xs</a:t>
            </a:r>
            <a:r>
              <a:rPr lang="en-US" dirty="0"/>
              <a:t>(1)= x(T);   </a:t>
            </a:r>
            <a:r>
              <a:rPr lang="en-US" dirty="0" err="1"/>
              <a:t>xs</a:t>
            </a:r>
            <a:r>
              <a:rPr lang="en-US" dirty="0"/>
              <a:t>(2) =x(2T); </a:t>
            </a:r>
            <a:r>
              <a:rPr lang="en-US" dirty="0" err="1"/>
              <a:t>xs</a:t>
            </a:r>
            <a:r>
              <a:rPr lang="en-US" dirty="0"/>
              <a:t>(3) =x(3T); and so on. If you </a:t>
            </a:r>
            <a:r>
              <a:rPr lang="en-US"/>
              <a:t>reduce T (</a:t>
            </a:r>
            <a:r>
              <a:rPr lang="en-US" dirty="0"/>
              <a:t>increase f), the number of samples increases; and correspondingly, so does the storage requirement</a:t>
            </a:r>
            <a:r>
              <a:rPr lang="en-US"/>
              <a:t>. </a:t>
            </a:r>
          </a:p>
          <a:p>
            <a:r>
              <a:rPr lang="en-US"/>
              <a:t>Vice </a:t>
            </a:r>
            <a:r>
              <a:rPr lang="en-US" dirty="0"/>
              <a:t>versa, if T increases (f decreases), the number of samples collected for the signal decrease and so does the storage requirement. T is clearly a critical parameter. </a:t>
            </a:r>
          </a:p>
        </p:txBody>
      </p:sp>
      <p:sp>
        <p:nvSpPr>
          <p:cNvPr id="4" name="Slide Number Placeholder 3"/>
          <p:cNvSpPr>
            <a:spLocks noGrp="1"/>
          </p:cNvSpPr>
          <p:nvPr>
            <p:ph type="sldNum" sz="quarter" idx="10"/>
          </p:nvPr>
        </p:nvSpPr>
        <p:spPr/>
        <p:txBody>
          <a:bodyPr/>
          <a:lstStyle/>
          <a:p>
            <a:fld id="{118BD2CD-5368-43DB-9451-734A67620D4E}" type="slidenum">
              <a:rPr lang="en-US" smtClean="0"/>
              <a:t>19</a:t>
            </a:fld>
            <a:endParaRPr lang="en-US"/>
          </a:p>
        </p:txBody>
      </p:sp>
    </p:spTree>
    <p:extLst>
      <p:ext uri="{BB962C8B-B14F-4D97-AF65-F5344CB8AC3E}">
        <p14:creationId xmlns:p14="http://schemas.microsoft.com/office/powerpoint/2010/main" val="3658671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note that the sampling scheme described here is theoretical. </a:t>
            </a:r>
          </a:p>
        </p:txBody>
      </p:sp>
      <p:sp>
        <p:nvSpPr>
          <p:cNvPr id="4" name="Slide Number Placeholder 3"/>
          <p:cNvSpPr>
            <a:spLocks noGrp="1"/>
          </p:cNvSpPr>
          <p:nvPr>
            <p:ph type="sldNum" sz="quarter" idx="10"/>
          </p:nvPr>
        </p:nvSpPr>
        <p:spPr/>
        <p:txBody>
          <a:bodyPr/>
          <a:lstStyle/>
          <a:p>
            <a:fld id="{118BD2CD-5368-43DB-9451-734A67620D4E}" type="slidenum">
              <a:rPr lang="en-US" smtClean="0"/>
              <a:t>20</a:t>
            </a:fld>
            <a:endParaRPr lang="en-US"/>
          </a:p>
        </p:txBody>
      </p:sp>
    </p:spTree>
    <p:extLst>
      <p:ext uri="{BB962C8B-B14F-4D97-AF65-F5344CB8AC3E}">
        <p14:creationId xmlns:p14="http://schemas.microsoft.com/office/powerpoint/2010/main" val="3019060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24</a:t>
            </a:fld>
            <a:endParaRPr lang="en-US"/>
          </a:p>
        </p:txBody>
      </p:sp>
    </p:spTree>
    <p:extLst>
      <p:ext uri="{BB962C8B-B14F-4D97-AF65-F5344CB8AC3E}">
        <p14:creationId xmlns:p14="http://schemas.microsoft.com/office/powerpoint/2010/main" val="1224427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27</a:t>
            </a:fld>
            <a:endParaRPr lang="en-US"/>
          </a:p>
        </p:txBody>
      </p:sp>
    </p:spTree>
    <p:extLst>
      <p:ext uri="{BB962C8B-B14F-4D97-AF65-F5344CB8AC3E}">
        <p14:creationId xmlns:p14="http://schemas.microsoft.com/office/powerpoint/2010/main" val="2512964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28</a:t>
            </a:fld>
            <a:endParaRPr lang="en-US"/>
          </a:p>
        </p:txBody>
      </p:sp>
    </p:spTree>
    <p:extLst>
      <p:ext uri="{BB962C8B-B14F-4D97-AF65-F5344CB8AC3E}">
        <p14:creationId xmlns:p14="http://schemas.microsoft.com/office/powerpoint/2010/main" val="2064658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29</a:t>
            </a:fld>
            <a:endParaRPr lang="en-US"/>
          </a:p>
        </p:txBody>
      </p:sp>
    </p:spTree>
    <p:extLst>
      <p:ext uri="{BB962C8B-B14F-4D97-AF65-F5344CB8AC3E}">
        <p14:creationId xmlns:p14="http://schemas.microsoft.com/office/powerpoint/2010/main" val="2692180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30</a:t>
            </a:fld>
            <a:endParaRPr lang="en-US"/>
          </a:p>
        </p:txBody>
      </p:sp>
    </p:spTree>
    <p:extLst>
      <p:ext uri="{BB962C8B-B14F-4D97-AF65-F5344CB8AC3E}">
        <p14:creationId xmlns:p14="http://schemas.microsoft.com/office/powerpoint/2010/main" val="2434436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8BD2CD-5368-43DB-9451-734A67620D4E}" type="slidenum">
              <a:rPr lang="en-US" smtClean="0"/>
              <a:t>31</a:t>
            </a:fld>
            <a:endParaRPr lang="en-US"/>
          </a:p>
        </p:txBody>
      </p:sp>
    </p:spTree>
    <p:extLst>
      <p:ext uri="{BB962C8B-B14F-4D97-AF65-F5344CB8AC3E}">
        <p14:creationId xmlns:p14="http://schemas.microsoft.com/office/powerpoint/2010/main" val="4082879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Ideally, the bit rate should be just right to capture or convey the necessary information with minimal perceptual distortion, while also minimizing storage requirements</a:t>
            </a:r>
          </a:p>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35</a:t>
            </a:fld>
            <a:endParaRPr lang="en-US"/>
          </a:p>
        </p:txBody>
      </p:sp>
    </p:spTree>
    <p:extLst>
      <p:ext uri="{BB962C8B-B14F-4D97-AF65-F5344CB8AC3E}">
        <p14:creationId xmlns:p14="http://schemas.microsoft.com/office/powerpoint/2010/main" val="2964973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39</a:t>
            </a:fld>
            <a:endParaRPr lang="en-US"/>
          </a:p>
        </p:txBody>
      </p:sp>
    </p:spTree>
    <p:extLst>
      <p:ext uri="{BB962C8B-B14F-4D97-AF65-F5344CB8AC3E}">
        <p14:creationId xmlns:p14="http://schemas.microsoft.com/office/powerpoint/2010/main" val="1760369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51</a:t>
            </a:fld>
            <a:endParaRPr lang="en-US"/>
          </a:p>
        </p:txBody>
      </p:sp>
    </p:spTree>
    <p:extLst>
      <p:ext uri="{BB962C8B-B14F-4D97-AF65-F5344CB8AC3E}">
        <p14:creationId xmlns:p14="http://schemas.microsoft.com/office/powerpoint/2010/main" val="34969608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52</a:t>
            </a:fld>
            <a:endParaRPr lang="en-US"/>
          </a:p>
        </p:txBody>
      </p:sp>
    </p:spTree>
    <p:extLst>
      <p:ext uri="{BB962C8B-B14F-4D97-AF65-F5344CB8AC3E}">
        <p14:creationId xmlns:p14="http://schemas.microsoft.com/office/powerpoint/2010/main" val="2739002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53</a:t>
            </a:fld>
            <a:endParaRPr lang="en-US"/>
          </a:p>
        </p:txBody>
      </p:sp>
    </p:spTree>
    <p:extLst>
      <p:ext uri="{BB962C8B-B14F-4D97-AF65-F5344CB8AC3E}">
        <p14:creationId xmlns:p14="http://schemas.microsoft.com/office/powerpoint/2010/main" val="10778218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https://www.youtube.com/watch?v=B8EMI3_0TO0</a:t>
            </a:r>
          </a:p>
          <a:p>
            <a:r>
              <a:rPr lang="en-US" dirty="0"/>
              <a:t>https://www.youtube.com/watch?v=Ddxf2YESIgw</a:t>
            </a:r>
          </a:p>
        </p:txBody>
      </p:sp>
      <p:sp>
        <p:nvSpPr>
          <p:cNvPr id="4" name="Slide Number Placeholder 3"/>
          <p:cNvSpPr>
            <a:spLocks noGrp="1"/>
          </p:cNvSpPr>
          <p:nvPr>
            <p:ph type="sldNum" sz="quarter" idx="5"/>
          </p:nvPr>
        </p:nvSpPr>
        <p:spPr/>
        <p:txBody>
          <a:bodyPr/>
          <a:lstStyle/>
          <a:p>
            <a:fld id="{118BD2CD-5368-43DB-9451-734A67620D4E}" type="slidenum">
              <a:rPr lang="en-US" smtClean="0"/>
              <a:t>55</a:t>
            </a:fld>
            <a:endParaRPr lang="en-US"/>
          </a:p>
        </p:txBody>
      </p:sp>
    </p:spTree>
    <p:extLst>
      <p:ext uri="{BB962C8B-B14F-4D97-AF65-F5344CB8AC3E}">
        <p14:creationId xmlns:p14="http://schemas.microsoft.com/office/powerpoint/2010/main" val="40611101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57</a:t>
            </a:fld>
            <a:endParaRPr lang="en-US"/>
          </a:p>
        </p:txBody>
      </p:sp>
    </p:spTree>
    <p:extLst>
      <p:ext uri="{BB962C8B-B14F-4D97-AF65-F5344CB8AC3E}">
        <p14:creationId xmlns:p14="http://schemas.microsoft.com/office/powerpoint/2010/main" val="3901647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686262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707308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494220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16D2BA-BFE1-4F18-980D-42A06CD3627B}"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619195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16D2BA-BFE1-4F18-980D-42A06CD3627B}"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774761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6D2BA-BFE1-4F18-980D-42A06CD3627B}"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904473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6D2BA-BFE1-4F18-980D-42A06CD3627B}"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46155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16D2BA-BFE1-4F18-980D-42A06CD3627B}"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44334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
        <p:nvSpPr>
          <p:cNvPr id="5" name="Date Placeholder 4"/>
          <p:cNvSpPr>
            <a:spLocks noGrp="1"/>
          </p:cNvSpPr>
          <p:nvPr>
            <p:ph type="dt" sz="half" idx="10"/>
          </p:nvPr>
        </p:nvSpPr>
        <p:spPr/>
        <p:txBody>
          <a:bodyPr/>
          <a:lstStyle/>
          <a:p>
            <a:fld id="{0116D2BA-BFE1-4F18-980D-42A06CD3627B}" type="datetimeFigureOut">
              <a:rPr lang="en-US" smtClean="0"/>
              <a:t>9/9/2026</a:t>
            </a:fld>
            <a:endParaRPr lang="en-US"/>
          </a:p>
        </p:txBody>
      </p:sp>
    </p:spTree>
    <p:extLst>
      <p:ext uri="{BB962C8B-B14F-4D97-AF65-F5344CB8AC3E}">
        <p14:creationId xmlns:p14="http://schemas.microsoft.com/office/powerpoint/2010/main" val="686577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1504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30546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505348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90195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970545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237758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843838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116D2BA-BFE1-4F18-980D-42A06CD3627B}" type="datetimeFigureOut">
              <a:rPr lang="en-US" smtClean="0"/>
              <a:t>9/9/2026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836B74-D967-44D7-A95F-6356689A3BC9}" type="slidenum">
              <a:rPr lang="en-US" smtClean="0"/>
              <a:t>‹#›</a:t>
            </a:fld>
            <a:endParaRPr lang="en-US"/>
          </a:p>
        </p:txBody>
      </p:sp>
    </p:spTree>
    <p:extLst>
      <p:ext uri="{BB962C8B-B14F-4D97-AF65-F5344CB8AC3E}">
        <p14:creationId xmlns:p14="http://schemas.microsoft.com/office/powerpoint/2010/main" val="364634822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inhaz.ahmed@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Autofit/>
          </a:bodyPr>
          <a:lstStyle/>
          <a:p>
            <a:pPr algn="ctr"/>
            <a:r>
              <a:rPr lang="en-US" sz="1400" dirty="0"/>
              <a:t>By </a:t>
            </a:r>
          </a:p>
          <a:p>
            <a:pPr algn="ctr"/>
            <a:r>
              <a:rPr lang="en-US" dirty="0"/>
              <a:t>Minhaz Uddin Ahmed, PhD</a:t>
            </a:r>
          </a:p>
          <a:p>
            <a:pPr algn="ctr"/>
            <a:r>
              <a:rPr lang="en-US" dirty="0"/>
              <a:t>Department of Computer Engineering</a:t>
            </a:r>
          </a:p>
          <a:p>
            <a:pPr algn="ctr"/>
            <a:r>
              <a:rPr lang="en-US" err="1"/>
              <a:t>Inha</a:t>
            </a:r>
            <a:r>
              <a:rPr lang="en-US"/>
              <a:t> University Tashkent.</a:t>
            </a:r>
            <a:endParaRPr lang="en-US" dirty="0"/>
          </a:p>
          <a:p>
            <a:pPr algn="ctr"/>
            <a:r>
              <a:rPr lang="en-US" dirty="0"/>
              <a:t>Email: </a:t>
            </a:r>
            <a:r>
              <a:rPr lang="en-US" dirty="0">
                <a:hlinkClick r:id="rId3"/>
              </a:rPr>
              <a:t>minhaz.ahmed@gmail.com</a:t>
            </a:r>
            <a:endParaRPr lang="en-US" dirty="0"/>
          </a:p>
          <a:p>
            <a:pPr algn="ctr"/>
            <a:endParaRPr lang="en-US" dirty="0"/>
          </a:p>
        </p:txBody>
      </p:sp>
    </p:spTree>
    <p:extLst>
      <p:ext uri="{BB962C8B-B14F-4D97-AF65-F5344CB8AC3E}">
        <p14:creationId xmlns:p14="http://schemas.microsoft.com/office/powerpoint/2010/main" val="376073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a:xfrm>
            <a:off x="677334" y="1505962"/>
            <a:ext cx="8596668" cy="3880773"/>
          </a:xfrm>
        </p:spPr>
        <p:txBody>
          <a:bodyPr>
            <a:noAutofit/>
          </a:bodyPr>
          <a:lstStyle/>
          <a:p>
            <a:pPr marL="0" indent="0">
              <a:buNone/>
            </a:pPr>
            <a:r>
              <a:rPr lang="en-US" sz="1600" dirty="0"/>
              <a:t>Sound</a:t>
            </a:r>
          </a:p>
          <a:p>
            <a:pPr marL="0" indent="0">
              <a:buNone/>
            </a:pPr>
            <a:r>
              <a:rPr lang="en-US" sz="1600" dirty="0"/>
              <a:t>Analog-to-Digital Conversion</a:t>
            </a:r>
          </a:p>
          <a:p>
            <a:pPr marL="0" indent="0">
              <a:buNone/>
            </a:pPr>
            <a:r>
              <a:rPr lang="en-US" sz="1600" dirty="0"/>
              <a:t>2.1 Sampling </a:t>
            </a:r>
          </a:p>
          <a:p>
            <a:pPr marL="0" indent="0">
              <a:buNone/>
            </a:pPr>
            <a:r>
              <a:rPr lang="en-US" sz="1600" dirty="0"/>
              <a:t>2.2 Quantization </a:t>
            </a:r>
          </a:p>
          <a:p>
            <a:pPr marL="0" indent="0">
              <a:buNone/>
            </a:pPr>
            <a:r>
              <a:rPr lang="en-US" sz="1600" dirty="0"/>
              <a:t>2.3 Bit Rat</a:t>
            </a:r>
          </a:p>
          <a:p>
            <a:pPr marL="0" indent="0">
              <a:buNone/>
            </a:pPr>
            <a:r>
              <a:rPr lang="en-US" sz="1600" dirty="0"/>
              <a:t> Signals and Systems</a:t>
            </a:r>
          </a:p>
          <a:p>
            <a:pPr marL="0" indent="0">
              <a:buNone/>
            </a:pPr>
            <a:r>
              <a:rPr lang="en-US" sz="1600" dirty="0"/>
              <a:t>3.1 Linear Time Invariant Systems </a:t>
            </a:r>
          </a:p>
          <a:p>
            <a:pPr marL="0" indent="0">
              <a:buNone/>
            </a:pPr>
            <a:r>
              <a:rPr lang="en-US" sz="1600" dirty="0"/>
              <a:t>3.2 Fundamental Results in Linear Time Invariant Systems </a:t>
            </a:r>
          </a:p>
          <a:p>
            <a:pPr marL="0" indent="0">
              <a:buNone/>
            </a:pPr>
            <a:r>
              <a:rPr lang="en-US" sz="1600" dirty="0"/>
              <a:t>3.3 Useful Signals </a:t>
            </a:r>
          </a:p>
          <a:p>
            <a:pPr marL="0" indent="0">
              <a:buNone/>
            </a:pPr>
            <a:r>
              <a:rPr lang="en-US" sz="1600" dirty="0"/>
              <a:t>3.4 The Fourier Transform </a:t>
            </a:r>
          </a:p>
          <a:p>
            <a:pPr marL="0" indent="0">
              <a:buNone/>
            </a:pPr>
            <a:r>
              <a:rPr lang="en-US" sz="1600" dirty="0"/>
              <a:t>Sampling Theorem and Aliasing </a:t>
            </a:r>
          </a:p>
          <a:p>
            <a:pPr marL="0" indent="0">
              <a:buNone/>
            </a:pPr>
            <a:r>
              <a:rPr lang="en-US" sz="1600" dirty="0"/>
              <a:t>4.1 Aliasing in Spatial Domains</a:t>
            </a:r>
          </a:p>
          <a:p>
            <a:pPr marL="0" indent="0">
              <a:buNone/>
            </a:pPr>
            <a:r>
              <a:rPr lang="en-US" sz="1600" dirty="0"/>
              <a:t>4.2 Aliasing in the Temporal Domain </a:t>
            </a:r>
          </a:p>
        </p:txBody>
      </p:sp>
    </p:spTree>
    <p:extLst>
      <p:ext uri="{BB962C8B-B14F-4D97-AF65-F5344CB8AC3E}">
        <p14:creationId xmlns:p14="http://schemas.microsoft.com/office/powerpoint/2010/main" val="2035954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D409D-D1CA-DBA3-0880-48F56E2BF006}"/>
              </a:ext>
            </a:extLst>
          </p:cNvPr>
          <p:cNvSpPr>
            <a:spLocks noGrp="1"/>
          </p:cNvSpPr>
          <p:nvPr>
            <p:ph type="title"/>
          </p:nvPr>
        </p:nvSpPr>
        <p:spPr/>
        <p:txBody>
          <a:bodyPr/>
          <a:lstStyle/>
          <a:p>
            <a:r>
              <a:rPr lang="en-US" dirty="0"/>
              <a:t>What is sound ?</a:t>
            </a:r>
          </a:p>
        </p:txBody>
      </p:sp>
      <p:sp>
        <p:nvSpPr>
          <p:cNvPr id="3" name="Content Placeholder 2">
            <a:extLst>
              <a:ext uri="{FF2B5EF4-FFF2-40B4-BE49-F238E27FC236}">
                <a16:creationId xmlns:a16="http://schemas.microsoft.com/office/drawing/2014/main" id="{EF8DB0A7-E5E4-B074-9D00-C892DB755456}"/>
              </a:ext>
            </a:extLst>
          </p:cNvPr>
          <p:cNvSpPr>
            <a:spLocks noGrp="1"/>
          </p:cNvSpPr>
          <p:nvPr>
            <p:ph idx="1"/>
          </p:nvPr>
        </p:nvSpPr>
        <p:spPr/>
        <p:txBody>
          <a:bodyPr/>
          <a:lstStyle/>
          <a:p>
            <a:r>
              <a:rPr lang="en-US" dirty="0"/>
              <a:t>Sound is a wave phenomenon like light, but it is macroscopic and involves molecules of air being compressed and expanded under the action of some physical device.</a:t>
            </a:r>
          </a:p>
          <a:p>
            <a:endParaRPr lang="en-US" dirty="0"/>
          </a:p>
          <a:p>
            <a:r>
              <a:rPr lang="en-US" dirty="0"/>
              <a:t>For example, a speaker in an audio system vibrates back and forth and produces a longitudinal pressure wave that we perceive as sound</a:t>
            </a:r>
          </a:p>
        </p:txBody>
      </p:sp>
      <p:pic>
        <p:nvPicPr>
          <p:cNvPr id="5" name="Picture 4">
            <a:extLst>
              <a:ext uri="{FF2B5EF4-FFF2-40B4-BE49-F238E27FC236}">
                <a16:creationId xmlns:a16="http://schemas.microsoft.com/office/drawing/2014/main" id="{63FFDAA0-85BB-8AF8-3619-1124227CF69D}"/>
              </a:ext>
            </a:extLst>
          </p:cNvPr>
          <p:cNvPicPr>
            <a:picLocks noChangeAspect="1"/>
          </p:cNvPicPr>
          <p:nvPr/>
        </p:nvPicPr>
        <p:blipFill>
          <a:blip r:embed="rId2"/>
          <a:stretch>
            <a:fillRect/>
          </a:stretch>
        </p:blipFill>
        <p:spPr>
          <a:xfrm>
            <a:off x="2116406" y="4453665"/>
            <a:ext cx="3277201" cy="2129931"/>
          </a:xfrm>
          <a:prstGeom prst="rect">
            <a:avLst/>
          </a:prstGeom>
        </p:spPr>
      </p:pic>
      <p:sp>
        <p:nvSpPr>
          <p:cNvPr id="7" name="TextBox 6">
            <a:extLst>
              <a:ext uri="{FF2B5EF4-FFF2-40B4-BE49-F238E27FC236}">
                <a16:creationId xmlns:a16="http://schemas.microsoft.com/office/drawing/2014/main" id="{96705ADB-35AB-C86F-9328-1631AE7587D2}"/>
              </a:ext>
            </a:extLst>
          </p:cNvPr>
          <p:cNvSpPr txBox="1"/>
          <p:nvPr/>
        </p:nvSpPr>
        <p:spPr>
          <a:xfrm>
            <a:off x="677334" y="6488668"/>
            <a:ext cx="6099586" cy="369332"/>
          </a:xfrm>
          <a:prstGeom prst="rect">
            <a:avLst/>
          </a:prstGeom>
          <a:noFill/>
        </p:spPr>
        <p:txBody>
          <a:bodyPr wrap="square">
            <a:spAutoFit/>
          </a:bodyPr>
          <a:lstStyle/>
          <a:p>
            <a:r>
              <a:rPr lang="en-US" dirty="0"/>
              <a:t>Without air there is no </a:t>
            </a:r>
            <a:r>
              <a:rPr lang="en-US"/>
              <a:t>sound— example: </a:t>
            </a:r>
            <a:r>
              <a:rPr lang="en-US" dirty="0"/>
              <a:t>in space</a:t>
            </a:r>
          </a:p>
        </p:txBody>
      </p:sp>
    </p:spTree>
    <p:extLst>
      <p:ext uri="{BB962C8B-B14F-4D97-AF65-F5344CB8AC3E}">
        <p14:creationId xmlns:p14="http://schemas.microsoft.com/office/powerpoint/2010/main" val="1030439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A4DC0-6D19-9044-1963-72E73E44A931}"/>
              </a:ext>
            </a:extLst>
          </p:cNvPr>
          <p:cNvSpPr>
            <a:spLocks noGrp="1"/>
          </p:cNvSpPr>
          <p:nvPr>
            <p:ph type="title"/>
          </p:nvPr>
        </p:nvSpPr>
        <p:spPr/>
        <p:txBody>
          <a:bodyPr/>
          <a:lstStyle/>
          <a:p>
            <a:r>
              <a:rPr lang="en-US" dirty="0"/>
              <a:t>What is sound ?</a:t>
            </a:r>
          </a:p>
        </p:txBody>
      </p:sp>
      <p:sp>
        <p:nvSpPr>
          <p:cNvPr id="3" name="Content Placeholder 2">
            <a:extLst>
              <a:ext uri="{FF2B5EF4-FFF2-40B4-BE49-F238E27FC236}">
                <a16:creationId xmlns:a16="http://schemas.microsoft.com/office/drawing/2014/main" id="{8AABC3B2-AE16-A912-9B46-94C396BA19F5}"/>
              </a:ext>
            </a:extLst>
          </p:cNvPr>
          <p:cNvSpPr>
            <a:spLocks noGrp="1"/>
          </p:cNvSpPr>
          <p:nvPr>
            <p:ph idx="1"/>
          </p:nvPr>
        </p:nvSpPr>
        <p:spPr/>
        <p:txBody>
          <a:bodyPr/>
          <a:lstStyle/>
          <a:p>
            <a:r>
              <a:rPr lang="en-US" dirty="0"/>
              <a:t>Since sound is a pressure wave, it takes on continuous values, as opposed to digitized ones with a finite range.</a:t>
            </a:r>
          </a:p>
          <a:p>
            <a:r>
              <a:rPr lang="en-US" dirty="0"/>
              <a:t>Although such pressure waves are longitudinal, they still have ordinary wave properties and behaviors, such as </a:t>
            </a:r>
            <a:r>
              <a:rPr lang="en-US" dirty="0">
                <a:highlight>
                  <a:srgbClr val="FFFF00"/>
                </a:highlight>
              </a:rPr>
              <a:t>reflection (bouncing</a:t>
            </a:r>
            <a:r>
              <a:rPr lang="en-US" dirty="0"/>
              <a:t>), </a:t>
            </a:r>
            <a:r>
              <a:rPr lang="en-US" dirty="0">
                <a:solidFill>
                  <a:srgbClr val="FFC000"/>
                </a:solidFill>
              </a:rPr>
              <a:t>refraction (change of angle when entering a medium with a different density)</a:t>
            </a:r>
            <a:r>
              <a:rPr lang="en-US" dirty="0"/>
              <a:t>, and </a:t>
            </a:r>
            <a:r>
              <a:rPr lang="en-US" dirty="0">
                <a:solidFill>
                  <a:srgbClr val="FFC000"/>
                </a:solidFill>
              </a:rPr>
              <a:t>diffraction (bending around an obstacle).</a:t>
            </a:r>
            <a:r>
              <a:rPr lang="en-US" dirty="0"/>
              <a:t> This makes the design of “surround sound” possible.</a:t>
            </a:r>
          </a:p>
          <a:p>
            <a:r>
              <a:rPr lang="en-US" dirty="0"/>
              <a:t>Since sound consists of measurable pressures at any 3D point, we can detect it by measuring the pressure level at a location, using a transducer to convert pressure to voltage levels</a:t>
            </a:r>
          </a:p>
        </p:txBody>
      </p:sp>
    </p:spTree>
    <p:extLst>
      <p:ext uri="{BB962C8B-B14F-4D97-AF65-F5344CB8AC3E}">
        <p14:creationId xmlns:p14="http://schemas.microsoft.com/office/powerpoint/2010/main" val="2111168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735" y="211216"/>
            <a:ext cx="10515600" cy="1325563"/>
          </a:xfrm>
        </p:spPr>
        <p:txBody>
          <a:bodyPr/>
          <a:lstStyle/>
          <a:p>
            <a:r>
              <a:rPr lang="en-US" dirty="0"/>
              <a:t>Digital data acquisition </a:t>
            </a:r>
            <a:br>
              <a:rPr lang="en-US" dirty="0"/>
            </a:br>
            <a:endParaRPr lang="en-US" b="1" dirty="0"/>
          </a:p>
        </p:txBody>
      </p:sp>
      <p:sp>
        <p:nvSpPr>
          <p:cNvPr id="3" name="Content Placeholder 2"/>
          <p:cNvSpPr>
            <a:spLocks noGrp="1"/>
          </p:cNvSpPr>
          <p:nvPr>
            <p:ph idx="1"/>
          </p:nvPr>
        </p:nvSpPr>
        <p:spPr/>
        <p:txBody>
          <a:bodyPr/>
          <a:lstStyle/>
          <a:p>
            <a:pPr marL="0" indent="0">
              <a:buNone/>
            </a:pPr>
            <a:r>
              <a:rPr lang="en-US" b="1" dirty="0"/>
              <a:t>Multimedia systems involve three major components: </a:t>
            </a:r>
          </a:p>
          <a:p>
            <a:pPr marL="0" indent="0">
              <a:buNone/>
            </a:pPr>
            <a:r>
              <a:rPr lang="en-US" dirty="0"/>
              <a:t>a) Multimedia </a:t>
            </a:r>
            <a:r>
              <a:rPr lang="en-US"/>
              <a:t>content creation</a:t>
            </a:r>
            <a:endParaRPr lang="en-US" dirty="0"/>
          </a:p>
          <a:p>
            <a:pPr marL="0" indent="0">
              <a:buNone/>
            </a:pPr>
            <a:r>
              <a:rPr lang="en-US" dirty="0"/>
              <a:t>b) Compression/storage of multimedia content, and </a:t>
            </a:r>
          </a:p>
          <a:p>
            <a:pPr marL="0" indent="0">
              <a:buNone/>
            </a:pPr>
            <a:r>
              <a:rPr lang="en-US" dirty="0"/>
              <a:t>c) Delivery or distribution of multimedia content</a:t>
            </a:r>
          </a:p>
        </p:txBody>
      </p:sp>
    </p:spTree>
    <p:extLst>
      <p:ext uri="{BB962C8B-B14F-4D97-AF65-F5344CB8AC3E}">
        <p14:creationId xmlns:p14="http://schemas.microsoft.com/office/powerpoint/2010/main" val="3646323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data acquisition</a:t>
            </a:r>
          </a:p>
        </p:txBody>
      </p:sp>
      <p:sp>
        <p:nvSpPr>
          <p:cNvPr id="3" name="Content Placeholder 2"/>
          <p:cNvSpPr>
            <a:spLocks noGrp="1"/>
          </p:cNvSpPr>
          <p:nvPr>
            <p:ph idx="1"/>
          </p:nvPr>
        </p:nvSpPr>
        <p:spPr/>
        <p:txBody>
          <a:bodyPr/>
          <a:lstStyle/>
          <a:p>
            <a:pPr algn="just"/>
            <a:r>
              <a:rPr lang="en-US" dirty="0"/>
              <a:t>Creating multimedia content using text, audio, video, and images is</a:t>
            </a:r>
          </a:p>
          <a:p>
            <a:pPr marL="0" indent="0" algn="just">
              <a:buNone/>
            </a:pPr>
            <a:r>
              <a:rPr lang="en-US" dirty="0"/>
              <a:t>to record these individual media types into a digital form, making it is easy to combine and assemble these heterogeneous entities. </a:t>
            </a:r>
          </a:p>
          <a:p>
            <a:pPr marL="0" indent="0">
              <a:buNone/>
            </a:pPr>
            <a:endParaRPr lang="en-US" dirty="0"/>
          </a:p>
          <a:p>
            <a:r>
              <a:rPr lang="en-US" dirty="0"/>
              <a:t>Digitizing one-dimensional (such as audio) </a:t>
            </a:r>
          </a:p>
          <a:p>
            <a:r>
              <a:rPr lang="en-US" dirty="0"/>
              <a:t>Two-dimensional (such as images)</a:t>
            </a:r>
          </a:p>
          <a:p>
            <a:r>
              <a:rPr lang="en-US" dirty="0"/>
              <a:t>Three-dimensional (such as video)</a:t>
            </a:r>
          </a:p>
        </p:txBody>
      </p:sp>
    </p:spTree>
    <p:extLst>
      <p:ext uri="{BB962C8B-B14F-4D97-AF65-F5344CB8AC3E}">
        <p14:creationId xmlns:p14="http://schemas.microsoft.com/office/powerpoint/2010/main" val="843584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 AND DIGITAL SIGNALS</a:t>
            </a:r>
          </a:p>
        </p:txBody>
      </p:sp>
      <p:sp>
        <p:nvSpPr>
          <p:cNvPr id="3" name="Content Placeholder 2"/>
          <p:cNvSpPr>
            <a:spLocks noGrp="1"/>
          </p:cNvSpPr>
          <p:nvPr>
            <p:ph idx="1"/>
          </p:nvPr>
        </p:nvSpPr>
        <p:spPr>
          <a:xfrm>
            <a:off x="677334" y="1797499"/>
            <a:ext cx="8596668" cy="3880773"/>
          </a:xfrm>
        </p:spPr>
        <p:txBody>
          <a:bodyPr/>
          <a:lstStyle/>
          <a:p>
            <a:pPr algn="just"/>
            <a:r>
              <a:rPr lang="en-US" dirty="0"/>
              <a:t>A signal is analog if it can be represented by a continuous function. For instance, it might encode the changing amplitude with respect to an input dimension(s). </a:t>
            </a:r>
          </a:p>
          <a:p>
            <a:pPr algn="just"/>
            <a:r>
              <a:rPr lang="en-US" dirty="0"/>
              <a:t>Digital signals, on the other hand, are represented by a discrete set of values defined at specific (and most often regular) instances of the input domain, which might be time, space, or both</a:t>
            </a:r>
          </a:p>
        </p:txBody>
      </p:sp>
      <p:pic>
        <p:nvPicPr>
          <p:cNvPr id="4" name="Picture 3"/>
          <p:cNvPicPr>
            <a:picLocks noChangeAspect="1"/>
          </p:cNvPicPr>
          <p:nvPr/>
        </p:nvPicPr>
        <p:blipFill>
          <a:blip r:embed="rId3"/>
          <a:stretch>
            <a:fillRect/>
          </a:stretch>
        </p:blipFill>
        <p:spPr>
          <a:xfrm>
            <a:off x="1861046" y="3784410"/>
            <a:ext cx="5834390" cy="2222625"/>
          </a:xfrm>
          <a:prstGeom prst="rect">
            <a:avLst/>
          </a:prstGeom>
        </p:spPr>
      </p:pic>
      <p:sp>
        <p:nvSpPr>
          <p:cNvPr id="6" name="Rectangle 5"/>
          <p:cNvSpPr/>
          <p:nvPr/>
        </p:nvSpPr>
        <p:spPr>
          <a:xfrm>
            <a:off x="1350509" y="6211669"/>
            <a:ext cx="10633968" cy="369332"/>
          </a:xfrm>
          <a:prstGeom prst="rect">
            <a:avLst/>
          </a:prstGeom>
        </p:spPr>
        <p:txBody>
          <a:bodyPr wrap="square">
            <a:spAutoFit/>
          </a:bodyPr>
          <a:lstStyle/>
          <a:p>
            <a:r>
              <a:rPr lang="en-US" dirty="0"/>
              <a:t>Figure 2-1 Example of an analog signal (left) and a digital signal (right</a:t>
            </a:r>
            <a:r>
              <a:rPr lang="en-US"/>
              <a:t>) in </a:t>
            </a:r>
            <a:r>
              <a:rPr lang="en-US" dirty="0"/>
              <a:t>one dimension</a:t>
            </a:r>
          </a:p>
        </p:txBody>
      </p:sp>
    </p:spTree>
    <p:extLst>
      <p:ext uri="{BB962C8B-B14F-4D97-AF65-F5344CB8AC3E}">
        <p14:creationId xmlns:p14="http://schemas.microsoft.com/office/powerpoint/2010/main" val="2183988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 AND DIGITAL SIGNALS</a:t>
            </a:r>
          </a:p>
        </p:txBody>
      </p:sp>
      <p:pic>
        <p:nvPicPr>
          <p:cNvPr id="6" name="Content Placeholder 5"/>
          <p:cNvPicPr>
            <a:picLocks noGrp="1" noChangeAspect="1"/>
          </p:cNvPicPr>
          <p:nvPr>
            <p:ph idx="1"/>
          </p:nvPr>
        </p:nvPicPr>
        <p:blipFill>
          <a:blip r:embed="rId2"/>
          <a:stretch>
            <a:fillRect/>
          </a:stretch>
        </p:blipFill>
        <p:spPr>
          <a:xfrm>
            <a:off x="334673" y="1517433"/>
            <a:ext cx="9839325" cy="3762375"/>
          </a:xfrm>
          <a:prstGeom prst="rect">
            <a:avLst/>
          </a:prstGeom>
        </p:spPr>
      </p:pic>
    </p:spTree>
    <p:extLst>
      <p:ext uri="{BB962C8B-B14F-4D97-AF65-F5344CB8AC3E}">
        <p14:creationId xmlns:p14="http://schemas.microsoft.com/office/powerpoint/2010/main" val="3744137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digital signals over analog</a:t>
            </a:r>
            <a:br>
              <a:rPr lang="en-US" dirty="0"/>
            </a:br>
            <a:endParaRPr lang="en-US" dirty="0"/>
          </a:p>
        </p:txBody>
      </p:sp>
      <p:sp>
        <p:nvSpPr>
          <p:cNvPr id="3" name="Content Placeholder 2"/>
          <p:cNvSpPr>
            <a:spLocks noGrp="1"/>
          </p:cNvSpPr>
          <p:nvPr>
            <p:ph idx="1"/>
          </p:nvPr>
        </p:nvSpPr>
        <p:spPr>
          <a:xfrm>
            <a:off x="677334" y="1930400"/>
            <a:ext cx="8596668" cy="3880773"/>
          </a:xfrm>
        </p:spPr>
        <p:txBody>
          <a:bodyPr>
            <a:normAutofit/>
          </a:bodyPr>
          <a:lstStyle/>
          <a:p>
            <a:pPr algn="just"/>
            <a:r>
              <a:rPr lang="en-US" dirty="0"/>
              <a:t>When media is represented digitally, it is possible to create complex, interactive content. it is easy to access a pixel in an image, or a group of pixels in a region or even a section of a sound track. Different digital operations can be applied to each, such as to enhance the image quality of a region, or to remove noise in a sound track.</a:t>
            </a:r>
          </a:p>
          <a:p>
            <a:endParaRPr lang="en-US" dirty="0"/>
          </a:p>
          <a:p>
            <a:pPr algn="just"/>
            <a:r>
              <a:rPr lang="en-US" dirty="0"/>
              <a:t>Stored digital signals do not degrade over time or distance as analog signals do. One of the most common artifacts of broadcast VHS video is ghosting, as stored VHS tapes lose their image quality by repeated usage and degradation of the medium over time.</a:t>
            </a:r>
          </a:p>
        </p:txBody>
      </p:sp>
    </p:spTree>
    <p:extLst>
      <p:ext uri="{BB962C8B-B14F-4D97-AF65-F5344CB8AC3E}">
        <p14:creationId xmlns:p14="http://schemas.microsoft.com/office/powerpoint/2010/main" val="4099168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 AND DIGITAL SIGNALS</a:t>
            </a:r>
          </a:p>
        </p:txBody>
      </p:sp>
      <p:pic>
        <p:nvPicPr>
          <p:cNvPr id="4" name="Content Placeholder 3"/>
          <p:cNvPicPr>
            <a:picLocks noGrp="1" noChangeAspect="1"/>
          </p:cNvPicPr>
          <p:nvPr>
            <p:ph idx="1"/>
          </p:nvPr>
        </p:nvPicPr>
        <p:blipFill>
          <a:blip r:embed="rId3"/>
          <a:stretch>
            <a:fillRect/>
          </a:stretch>
        </p:blipFill>
        <p:spPr>
          <a:xfrm>
            <a:off x="808829" y="1363804"/>
            <a:ext cx="9045289" cy="4103141"/>
          </a:xfrm>
          <a:prstGeom prst="rect">
            <a:avLst/>
          </a:prstGeom>
        </p:spPr>
      </p:pic>
      <p:sp>
        <p:nvSpPr>
          <p:cNvPr id="5" name="Rectangle 4"/>
          <p:cNvSpPr/>
          <p:nvPr/>
        </p:nvSpPr>
        <p:spPr>
          <a:xfrm>
            <a:off x="339436" y="5626245"/>
            <a:ext cx="11168385" cy="923330"/>
          </a:xfrm>
          <a:prstGeom prst="rect">
            <a:avLst/>
          </a:prstGeom>
        </p:spPr>
        <p:txBody>
          <a:bodyPr wrap="square">
            <a:spAutoFit/>
          </a:bodyPr>
          <a:lstStyle/>
          <a:p>
            <a:pPr algn="just" defTabSz="457200">
              <a:spcBef>
                <a:spcPts val="1000"/>
              </a:spcBef>
              <a:buClr>
                <a:schemeClr val="accent1"/>
              </a:buClr>
              <a:buSzPct val="80000"/>
              <a:defRPr/>
            </a:pPr>
            <a:r>
              <a:rPr lang="en-US" dirty="0">
                <a:solidFill>
                  <a:schemeClr val="tx1">
                    <a:lumMod val="75000"/>
                    <a:lumOff val="25000"/>
                  </a:schemeClr>
                </a:solidFill>
              </a:rPr>
              <a:t>Periodic analog signals can be classified as simple or composite. A simple periodic analog signal, a sine wave, cannot be decomposed into simpler signals. A composite periodic analog signal is composed of multiple sine waves.</a:t>
            </a:r>
          </a:p>
        </p:txBody>
      </p:sp>
    </p:spTree>
    <p:extLst>
      <p:ext uri="{BB962C8B-B14F-4D97-AF65-F5344CB8AC3E}">
        <p14:creationId xmlns:p14="http://schemas.microsoft.com/office/powerpoint/2010/main" val="3694773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digital signals over analog</a:t>
            </a:r>
            <a:br>
              <a:rPr lang="en-US" dirty="0"/>
            </a:br>
            <a:endParaRPr lang="en-US" dirty="0"/>
          </a:p>
        </p:txBody>
      </p:sp>
      <p:sp>
        <p:nvSpPr>
          <p:cNvPr id="3" name="Content Placeholder 2"/>
          <p:cNvSpPr>
            <a:spLocks noGrp="1"/>
          </p:cNvSpPr>
          <p:nvPr>
            <p:ph idx="1"/>
          </p:nvPr>
        </p:nvSpPr>
        <p:spPr>
          <a:xfrm>
            <a:off x="589785" y="1681943"/>
            <a:ext cx="10227372" cy="3880773"/>
          </a:xfrm>
        </p:spPr>
        <p:txBody>
          <a:bodyPr>
            <a:normAutofit/>
          </a:bodyPr>
          <a:lstStyle/>
          <a:p>
            <a:pPr algn="just"/>
            <a:r>
              <a:rPr lang="en-US" dirty="0"/>
              <a:t>Digital data can be efficiently compressed and transmitted across digital networks. This includes active and live distribution models, such as digital cable, video on demand, and passive distribution schemes, such as video on a DVD.</a:t>
            </a:r>
          </a:p>
          <a:p>
            <a:pPr algn="just"/>
            <a:r>
              <a:rPr lang="en-US" dirty="0"/>
              <a:t>It is easy to store digital data on magnetic media such as hard drives, or solid state memory devices, such as flash drives, memory cards. This is because the representation of digital data, whether audio, image, or video, is a set of binary values, regardless of data type.</a:t>
            </a:r>
          </a:p>
          <a:p>
            <a:pPr algn="just"/>
            <a:r>
              <a:rPr lang="en-US" dirty="0"/>
              <a:t>Digital data is preferred because it offers better quality and higher fidelity, compressed, distributed, stored, and retrieved relatively easily.</a:t>
            </a:r>
          </a:p>
          <a:p>
            <a:endParaRPr lang="en-US" dirty="0"/>
          </a:p>
        </p:txBody>
      </p:sp>
    </p:spTree>
    <p:extLst>
      <p:ext uri="{BB962C8B-B14F-4D97-AF65-F5344CB8AC3E}">
        <p14:creationId xmlns:p14="http://schemas.microsoft.com/office/powerpoint/2010/main" val="1689771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AC848-CEFE-ACE3-4738-A4E7E928EBFD}"/>
              </a:ext>
            </a:extLst>
          </p:cNvPr>
          <p:cNvSpPr>
            <a:spLocks noGrp="1"/>
          </p:cNvSpPr>
          <p:nvPr>
            <p:ph type="title"/>
          </p:nvPr>
        </p:nvSpPr>
        <p:spPr/>
        <p:txBody>
          <a:bodyPr/>
          <a:lstStyle/>
          <a:p>
            <a:r>
              <a:rPr lang="en-US" dirty="0"/>
              <a:t>Building complex signal</a:t>
            </a:r>
          </a:p>
        </p:txBody>
      </p:sp>
      <p:pic>
        <p:nvPicPr>
          <p:cNvPr id="5" name="Content Placeholder 4">
            <a:extLst>
              <a:ext uri="{FF2B5EF4-FFF2-40B4-BE49-F238E27FC236}">
                <a16:creationId xmlns:a16="http://schemas.microsoft.com/office/drawing/2014/main" id="{FA6870F4-13C6-FB11-8F65-0B99CDAFAFF4}"/>
              </a:ext>
            </a:extLst>
          </p:cNvPr>
          <p:cNvPicPr>
            <a:picLocks noGrp="1" noChangeAspect="1"/>
          </p:cNvPicPr>
          <p:nvPr>
            <p:ph idx="1"/>
          </p:nvPr>
        </p:nvPicPr>
        <p:blipFill>
          <a:blip r:embed="rId3"/>
          <a:stretch>
            <a:fillRect/>
          </a:stretch>
        </p:blipFill>
        <p:spPr>
          <a:xfrm>
            <a:off x="1093557" y="1506071"/>
            <a:ext cx="4564966" cy="5189169"/>
          </a:xfrm>
        </p:spPr>
      </p:pic>
      <p:sp>
        <p:nvSpPr>
          <p:cNvPr id="7" name="TextBox 6">
            <a:extLst>
              <a:ext uri="{FF2B5EF4-FFF2-40B4-BE49-F238E27FC236}">
                <a16:creationId xmlns:a16="http://schemas.microsoft.com/office/drawing/2014/main" id="{C3A8E4F1-E6D5-A494-3A46-7C36A3297736}"/>
              </a:ext>
            </a:extLst>
          </p:cNvPr>
          <p:cNvSpPr txBox="1"/>
          <p:nvPr/>
        </p:nvSpPr>
        <p:spPr>
          <a:xfrm>
            <a:off x="6092414" y="4004271"/>
            <a:ext cx="6099586" cy="923330"/>
          </a:xfrm>
          <a:prstGeom prst="rect">
            <a:avLst/>
          </a:prstGeom>
          <a:noFill/>
        </p:spPr>
        <p:txBody>
          <a:bodyPr wrap="square">
            <a:spAutoFit/>
          </a:bodyPr>
          <a:lstStyle/>
          <a:p>
            <a:r>
              <a:rPr lang="en-US" dirty="0"/>
              <a:t>sampling—using measurements only at evenly spaced time intervals—is simply called sampling, and the rate at which it is performed is called the sampling frequency</a:t>
            </a:r>
          </a:p>
        </p:txBody>
      </p:sp>
    </p:spTree>
    <p:extLst>
      <p:ext uri="{BB962C8B-B14F-4D97-AF65-F5344CB8AC3E}">
        <p14:creationId xmlns:p14="http://schemas.microsoft.com/office/powerpoint/2010/main" val="4284419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0444-20BD-EB74-44C1-FB7D1DC1C6A0}"/>
              </a:ext>
            </a:extLst>
          </p:cNvPr>
          <p:cNvSpPr>
            <a:spLocks noGrp="1"/>
          </p:cNvSpPr>
          <p:nvPr>
            <p:ph type="title"/>
          </p:nvPr>
        </p:nvSpPr>
        <p:spPr/>
        <p:txBody>
          <a:bodyPr/>
          <a:lstStyle/>
          <a:p>
            <a:r>
              <a:rPr lang="en-US" dirty="0"/>
              <a:t>Digitization process</a:t>
            </a:r>
          </a:p>
        </p:txBody>
      </p:sp>
      <p:pic>
        <p:nvPicPr>
          <p:cNvPr id="5" name="Content Placeholder 4">
            <a:extLst>
              <a:ext uri="{FF2B5EF4-FFF2-40B4-BE49-F238E27FC236}">
                <a16:creationId xmlns:a16="http://schemas.microsoft.com/office/drawing/2014/main" id="{80BF7779-758A-1F18-ABFB-B513D6E7C7AE}"/>
              </a:ext>
            </a:extLst>
          </p:cNvPr>
          <p:cNvPicPr>
            <a:picLocks noGrp="1" noChangeAspect="1"/>
          </p:cNvPicPr>
          <p:nvPr>
            <p:ph idx="1"/>
          </p:nvPr>
        </p:nvPicPr>
        <p:blipFill>
          <a:blip r:embed="rId2"/>
          <a:stretch>
            <a:fillRect/>
          </a:stretch>
        </p:blipFill>
        <p:spPr>
          <a:xfrm>
            <a:off x="762332" y="2091574"/>
            <a:ext cx="7919496" cy="3341038"/>
          </a:xfrm>
        </p:spPr>
      </p:pic>
      <p:sp>
        <p:nvSpPr>
          <p:cNvPr id="7" name="TextBox 6">
            <a:extLst>
              <a:ext uri="{FF2B5EF4-FFF2-40B4-BE49-F238E27FC236}">
                <a16:creationId xmlns:a16="http://schemas.microsoft.com/office/drawing/2014/main" id="{353C8172-81E7-67C7-2DE4-A4EA33CF742B}"/>
              </a:ext>
            </a:extLst>
          </p:cNvPr>
          <p:cNvSpPr txBox="1"/>
          <p:nvPr/>
        </p:nvSpPr>
        <p:spPr>
          <a:xfrm>
            <a:off x="677334" y="5593786"/>
            <a:ext cx="9515139" cy="1200329"/>
          </a:xfrm>
          <a:prstGeom prst="rect">
            <a:avLst/>
          </a:prstGeom>
          <a:noFill/>
        </p:spPr>
        <p:txBody>
          <a:bodyPr wrap="square">
            <a:spAutoFit/>
          </a:bodyPr>
          <a:lstStyle/>
          <a:p>
            <a:r>
              <a:rPr lang="en-US" dirty="0"/>
              <a:t>For audio, typical sampling rates are from 8 kHz (8,000 samples per second) to 48 kHz. The human ear can hear from about 20 Hz (a very deep rumble) to as much as 20 kHz; above this level, we enter the range of ultrasound. The human voice can reach approximately 4 kHz</a:t>
            </a:r>
          </a:p>
        </p:txBody>
      </p:sp>
    </p:spTree>
    <p:extLst>
      <p:ext uri="{BB962C8B-B14F-4D97-AF65-F5344CB8AC3E}">
        <p14:creationId xmlns:p14="http://schemas.microsoft.com/office/powerpoint/2010/main" val="1946678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02D8D-4B49-A1FA-44E8-B5287687302F}"/>
              </a:ext>
            </a:extLst>
          </p:cNvPr>
          <p:cNvSpPr>
            <a:spLocks noGrp="1"/>
          </p:cNvSpPr>
          <p:nvPr>
            <p:ph type="title"/>
          </p:nvPr>
        </p:nvSpPr>
        <p:spPr/>
        <p:txBody>
          <a:bodyPr/>
          <a:lstStyle/>
          <a:p>
            <a:r>
              <a:rPr lang="en-US" dirty="0"/>
              <a:t>Sampling vs Quantization</a:t>
            </a:r>
          </a:p>
        </p:txBody>
      </p:sp>
      <p:pic>
        <p:nvPicPr>
          <p:cNvPr id="5" name="Content Placeholder 4">
            <a:extLst>
              <a:ext uri="{FF2B5EF4-FFF2-40B4-BE49-F238E27FC236}">
                <a16:creationId xmlns:a16="http://schemas.microsoft.com/office/drawing/2014/main" id="{EE4F0577-9467-AB54-2401-2794FBA419DD}"/>
              </a:ext>
            </a:extLst>
          </p:cNvPr>
          <p:cNvPicPr>
            <a:picLocks noGrp="1" noChangeAspect="1"/>
          </p:cNvPicPr>
          <p:nvPr>
            <p:ph idx="1"/>
          </p:nvPr>
        </p:nvPicPr>
        <p:blipFill>
          <a:blip r:embed="rId2"/>
          <a:stretch>
            <a:fillRect/>
          </a:stretch>
        </p:blipFill>
        <p:spPr>
          <a:xfrm>
            <a:off x="677334" y="2163456"/>
            <a:ext cx="8065818" cy="3946888"/>
          </a:xfrm>
        </p:spPr>
      </p:pic>
    </p:spTree>
    <p:extLst>
      <p:ext uri="{BB962C8B-B14F-4D97-AF65-F5344CB8AC3E}">
        <p14:creationId xmlns:p14="http://schemas.microsoft.com/office/powerpoint/2010/main" val="2773846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a:xfrm>
            <a:off x="677334" y="2160589"/>
            <a:ext cx="10659148" cy="3880773"/>
          </a:xfrm>
        </p:spPr>
        <p:txBody>
          <a:bodyPr>
            <a:normAutofit/>
          </a:bodyPr>
          <a:lstStyle/>
          <a:p>
            <a:r>
              <a:rPr lang="en-US" dirty="0"/>
              <a:t>The conversion of signals from analog to digital occurs via two main processes: </a:t>
            </a:r>
            <a:r>
              <a:rPr lang="en-US" b="1" dirty="0"/>
              <a:t>sampling </a:t>
            </a:r>
            <a:r>
              <a:rPr lang="en-US" dirty="0"/>
              <a:t>and </a:t>
            </a:r>
            <a:r>
              <a:rPr lang="en-US" b="1" dirty="0"/>
              <a:t>quantization</a:t>
            </a:r>
            <a:r>
              <a:rPr lang="en-US" dirty="0"/>
              <a:t>. </a:t>
            </a:r>
          </a:p>
          <a:p>
            <a:endParaRPr lang="en-US" dirty="0"/>
          </a:p>
          <a:p>
            <a:r>
              <a:rPr lang="en-US" dirty="0"/>
              <a:t>The reverse process of converting digital signals to analog is known as </a:t>
            </a:r>
            <a:r>
              <a:rPr lang="en-US" b="1" dirty="0"/>
              <a:t>interpolation</a:t>
            </a:r>
            <a:r>
              <a:rPr lang="en-US" dirty="0"/>
              <a:t>.</a:t>
            </a:r>
          </a:p>
          <a:p>
            <a:endParaRPr lang="en-US" dirty="0"/>
          </a:p>
          <a:p>
            <a:r>
              <a:rPr lang="en-US" dirty="0"/>
              <a:t>One of the most desirable properties in the analog to digital conversion is to ensure that no artifacts are created in the digital data. That way, when the signal is converted back to the analog domain, it will look the same as the original analog signal.</a:t>
            </a:r>
          </a:p>
        </p:txBody>
      </p:sp>
    </p:spTree>
    <p:extLst>
      <p:ext uri="{BB962C8B-B14F-4D97-AF65-F5344CB8AC3E}">
        <p14:creationId xmlns:p14="http://schemas.microsoft.com/office/powerpoint/2010/main" val="58957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Content Placeholder 3"/>
          <p:cNvPicPr>
            <a:picLocks noGrp="1" noChangeAspect="1"/>
          </p:cNvPicPr>
          <p:nvPr>
            <p:ph idx="1"/>
          </p:nvPr>
        </p:nvPicPr>
        <p:blipFill>
          <a:blip r:embed="rId2"/>
          <a:stretch>
            <a:fillRect/>
          </a:stretch>
        </p:blipFill>
        <p:spPr>
          <a:xfrm>
            <a:off x="495731" y="1930400"/>
            <a:ext cx="5564677" cy="3119943"/>
          </a:xfrm>
          <a:prstGeom prst="rect">
            <a:avLst/>
          </a:prstGeom>
        </p:spPr>
      </p:pic>
      <p:sp>
        <p:nvSpPr>
          <p:cNvPr id="5" name="Rectangle 4"/>
          <p:cNvSpPr/>
          <p:nvPr/>
        </p:nvSpPr>
        <p:spPr>
          <a:xfrm>
            <a:off x="1190678" y="5413662"/>
            <a:ext cx="1987595" cy="369332"/>
          </a:xfrm>
          <a:prstGeom prst="rect">
            <a:avLst/>
          </a:prstGeom>
        </p:spPr>
        <p:txBody>
          <a:bodyPr wrap="none">
            <a:spAutoFit/>
          </a:bodyPr>
          <a:lstStyle/>
          <a:p>
            <a:r>
              <a:rPr lang="en-US" dirty="0"/>
              <a:t>Figure: A sine wave</a:t>
            </a:r>
          </a:p>
        </p:txBody>
      </p:sp>
      <p:sp>
        <p:nvSpPr>
          <p:cNvPr id="6" name="Rectangle 5"/>
          <p:cNvSpPr/>
          <p:nvPr/>
        </p:nvSpPr>
        <p:spPr>
          <a:xfrm>
            <a:off x="6321137" y="1831143"/>
            <a:ext cx="6096000" cy="3582519"/>
          </a:xfrm>
          <a:prstGeom prst="rect">
            <a:avLst/>
          </a:prstGeom>
        </p:spPr>
        <p:txBody>
          <a:bodyPr>
            <a:spAutoFit/>
          </a:bodyPr>
          <a:lstStyle/>
          <a:p>
            <a:pPr>
              <a:lnSpc>
                <a:spcPct val="90000"/>
              </a:lnSpc>
            </a:pPr>
            <a:r>
              <a:rPr kumimoji="1" lang="en-US" sz="2800" b="1" dirty="0"/>
              <a:t>P</a:t>
            </a:r>
            <a:r>
              <a:rPr kumimoji="1" lang="en-US" sz="2800" b="1"/>
              <a:t>eak </a:t>
            </a:r>
            <a:r>
              <a:rPr kumimoji="1" lang="en-US" sz="2800" b="1" dirty="0"/>
              <a:t>amplitude (A)</a:t>
            </a:r>
          </a:p>
          <a:p>
            <a:pPr lvl="1">
              <a:lnSpc>
                <a:spcPct val="90000"/>
              </a:lnSpc>
            </a:pPr>
            <a:r>
              <a:rPr kumimoji="1" lang="en-US" sz="2400" dirty="0"/>
              <a:t>maximum strength of signal</a:t>
            </a:r>
          </a:p>
          <a:p>
            <a:pPr lvl="1">
              <a:lnSpc>
                <a:spcPct val="90000"/>
              </a:lnSpc>
            </a:pPr>
            <a:r>
              <a:rPr kumimoji="1" lang="en-US" sz="2400" dirty="0"/>
              <a:t>volts</a:t>
            </a:r>
          </a:p>
          <a:p>
            <a:pPr>
              <a:lnSpc>
                <a:spcPct val="90000"/>
              </a:lnSpc>
            </a:pPr>
            <a:r>
              <a:rPr kumimoji="1" lang="en-US" sz="2800" b="1"/>
              <a:t>Frequency (f)</a:t>
            </a:r>
            <a:endParaRPr kumimoji="1" lang="en-US" sz="2800" b="1" dirty="0"/>
          </a:p>
          <a:p>
            <a:pPr lvl="1">
              <a:lnSpc>
                <a:spcPct val="90000"/>
              </a:lnSpc>
            </a:pPr>
            <a:r>
              <a:rPr kumimoji="1" lang="en-US" sz="2400" dirty="0"/>
              <a:t>rate of change of signal</a:t>
            </a:r>
          </a:p>
          <a:p>
            <a:pPr lvl="1">
              <a:lnSpc>
                <a:spcPct val="90000"/>
              </a:lnSpc>
            </a:pPr>
            <a:r>
              <a:rPr kumimoji="1" lang="en-US" sz="2400" dirty="0"/>
              <a:t>Hertz (Hz) or cycles per second</a:t>
            </a:r>
          </a:p>
          <a:p>
            <a:pPr lvl="1">
              <a:lnSpc>
                <a:spcPct val="90000"/>
              </a:lnSpc>
            </a:pPr>
            <a:r>
              <a:rPr kumimoji="1" lang="en-US" sz="2400" dirty="0"/>
              <a:t>period = time for one repetition (T)</a:t>
            </a:r>
          </a:p>
          <a:p>
            <a:pPr lvl="1">
              <a:lnSpc>
                <a:spcPct val="90000"/>
              </a:lnSpc>
            </a:pPr>
            <a:r>
              <a:rPr kumimoji="1" lang="en-US" sz="2400" dirty="0"/>
              <a:t>T = 1/f</a:t>
            </a:r>
          </a:p>
          <a:p>
            <a:pPr>
              <a:lnSpc>
                <a:spcPct val="90000"/>
              </a:lnSpc>
            </a:pPr>
            <a:r>
              <a:rPr kumimoji="1" lang="en-US" sz="2800" b="1"/>
              <a:t>Phase </a:t>
            </a:r>
            <a:r>
              <a:rPr kumimoji="1" lang="en-US" sz="2800" b="1" dirty="0"/>
              <a:t>(</a:t>
            </a:r>
            <a:r>
              <a:rPr kumimoji="1" lang="en-US" sz="2800" b="1" dirty="0">
                <a:sym typeface="Symbol" panose="05050102010706020507" pitchFamily="18" charset="2"/>
              </a:rPr>
              <a:t>)</a:t>
            </a:r>
          </a:p>
          <a:p>
            <a:pPr lvl="1">
              <a:lnSpc>
                <a:spcPct val="90000"/>
              </a:lnSpc>
            </a:pPr>
            <a:r>
              <a:rPr kumimoji="1" lang="en-US" sz="2400" dirty="0"/>
              <a:t>relative position in time</a:t>
            </a:r>
          </a:p>
        </p:txBody>
      </p:sp>
    </p:spTree>
    <p:extLst>
      <p:ext uri="{BB962C8B-B14F-4D97-AF65-F5344CB8AC3E}">
        <p14:creationId xmlns:p14="http://schemas.microsoft.com/office/powerpoint/2010/main" val="3618730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Content Placeholder 3"/>
          <p:cNvPicPr>
            <a:picLocks noGrp="1" noChangeAspect="1"/>
          </p:cNvPicPr>
          <p:nvPr>
            <p:ph idx="1"/>
          </p:nvPr>
        </p:nvPicPr>
        <p:blipFill>
          <a:blip r:embed="rId2"/>
          <a:stretch>
            <a:fillRect/>
          </a:stretch>
        </p:blipFill>
        <p:spPr>
          <a:xfrm>
            <a:off x="498989" y="1269999"/>
            <a:ext cx="9549020" cy="4849197"/>
          </a:xfrm>
          <a:prstGeom prst="rect">
            <a:avLst/>
          </a:prstGeom>
        </p:spPr>
      </p:pic>
      <p:sp>
        <p:nvSpPr>
          <p:cNvPr id="5" name="Rectangle 4"/>
          <p:cNvSpPr/>
          <p:nvPr/>
        </p:nvSpPr>
        <p:spPr>
          <a:xfrm>
            <a:off x="1652155" y="6119197"/>
            <a:ext cx="9701645" cy="369332"/>
          </a:xfrm>
          <a:prstGeom prst="rect">
            <a:avLst/>
          </a:prstGeom>
        </p:spPr>
        <p:txBody>
          <a:bodyPr wrap="square">
            <a:spAutoFit/>
          </a:bodyPr>
          <a:lstStyle/>
          <a:p>
            <a:r>
              <a:rPr lang="en-US" dirty="0"/>
              <a:t>Figure: Two signals with the same phase and frequency, but different amplitudes</a:t>
            </a:r>
          </a:p>
        </p:txBody>
      </p:sp>
    </p:spTree>
    <p:extLst>
      <p:ext uri="{BB962C8B-B14F-4D97-AF65-F5344CB8AC3E}">
        <p14:creationId xmlns:p14="http://schemas.microsoft.com/office/powerpoint/2010/main" val="3836065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Content Placeholder 3"/>
          <p:cNvPicPr>
            <a:picLocks noGrp="1" noChangeAspect="1"/>
          </p:cNvPicPr>
          <p:nvPr>
            <p:ph idx="1"/>
          </p:nvPr>
        </p:nvPicPr>
        <p:blipFill>
          <a:blip r:embed="rId3"/>
          <a:stretch>
            <a:fillRect/>
          </a:stretch>
        </p:blipFill>
        <p:spPr>
          <a:xfrm>
            <a:off x="682337" y="1420379"/>
            <a:ext cx="8763000" cy="5032375"/>
          </a:xfrm>
          <a:prstGeom prst="rect">
            <a:avLst/>
          </a:prstGeom>
        </p:spPr>
      </p:pic>
      <p:sp>
        <p:nvSpPr>
          <p:cNvPr id="5" name="Rectangle 4"/>
          <p:cNvSpPr/>
          <p:nvPr/>
        </p:nvSpPr>
        <p:spPr>
          <a:xfrm>
            <a:off x="9274002" y="3729912"/>
            <a:ext cx="6096000" cy="923330"/>
          </a:xfrm>
          <a:prstGeom prst="rect">
            <a:avLst/>
          </a:prstGeom>
        </p:spPr>
        <p:txBody>
          <a:bodyPr>
            <a:spAutoFit/>
          </a:bodyPr>
          <a:lstStyle/>
          <a:p>
            <a:r>
              <a:rPr lang="en-US" dirty="0"/>
              <a:t>Figure: Two signals with the </a:t>
            </a:r>
          </a:p>
          <a:p>
            <a:r>
              <a:rPr lang="en-US" dirty="0"/>
              <a:t>same amplitude and phase,</a:t>
            </a:r>
          </a:p>
          <a:p>
            <a:r>
              <a:rPr lang="en-US" dirty="0"/>
              <a:t>but different frequencies</a:t>
            </a:r>
          </a:p>
        </p:txBody>
      </p:sp>
    </p:spTree>
    <p:extLst>
      <p:ext uri="{BB962C8B-B14F-4D97-AF65-F5344CB8AC3E}">
        <p14:creationId xmlns:p14="http://schemas.microsoft.com/office/powerpoint/2010/main" val="370184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a:xfrm>
            <a:off x="838200" y="1861838"/>
            <a:ext cx="10515600" cy="4351338"/>
          </a:xfrm>
        </p:spPr>
        <p:txBody>
          <a:bodyPr/>
          <a:lstStyle/>
          <a:p>
            <a:r>
              <a:rPr lang="en-US" sz="2400" dirty="0"/>
              <a:t>Sampling</a:t>
            </a:r>
          </a:p>
          <a:p>
            <a:r>
              <a:rPr lang="en-US" sz="2400" dirty="0"/>
              <a:t>Assume that we start with a one-dimensional analog signal in the time t domain, with an amplitude given by x(t). The sampled signal is given by</a:t>
            </a:r>
          </a:p>
        </p:txBody>
      </p:sp>
      <p:pic>
        <p:nvPicPr>
          <p:cNvPr id="4" name="Picture 3"/>
          <p:cNvPicPr>
            <a:picLocks noChangeAspect="1"/>
          </p:cNvPicPr>
          <p:nvPr/>
        </p:nvPicPr>
        <p:blipFill>
          <a:blip r:embed="rId3"/>
          <a:stretch>
            <a:fillRect/>
          </a:stretch>
        </p:blipFill>
        <p:spPr>
          <a:xfrm>
            <a:off x="2867780" y="3161113"/>
            <a:ext cx="5695950" cy="695325"/>
          </a:xfrm>
          <a:prstGeom prst="rect">
            <a:avLst/>
          </a:prstGeom>
        </p:spPr>
      </p:pic>
      <p:pic>
        <p:nvPicPr>
          <p:cNvPr id="5" name="Picture 4"/>
          <p:cNvPicPr>
            <a:picLocks noChangeAspect="1"/>
          </p:cNvPicPr>
          <p:nvPr/>
        </p:nvPicPr>
        <p:blipFill>
          <a:blip r:embed="rId4"/>
          <a:stretch>
            <a:fillRect/>
          </a:stretch>
        </p:blipFill>
        <p:spPr>
          <a:xfrm>
            <a:off x="1415217" y="3856438"/>
            <a:ext cx="8601075" cy="3181350"/>
          </a:xfrm>
          <a:prstGeom prst="rect">
            <a:avLst/>
          </a:prstGeom>
        </p:spPr>
      </p:pic>
    </p:spTree>
    <p:extLst>
      <p:ext uri="{BB962C8B-B14F-4D97-AF65-F5344CB8AC3E}">
        <p14:creationId xmlns:p14="http://schemas.microsoft.com/office/powerpoint/2010/main" val="1960668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p:txBody>
          <a:bodyPr>
            <a:normAutofit/>
          </a:bodyPr>
          <a:lstStyle/>
          <a:p>
            <a:pPr algn="just"/>
            <a:r>
              <a:rPr lang="en-US" dirty="0"/>
              <a:t>For commonly used signals, sampling is done across one dimension (time, for sound signals), two dimensions (spatial x and y, for images), or three dimensions (x, y, time for video, or x, y, z for sampling three-dimensional ranges). </a:t>
            </a:r>
          </a:p>
          <a:p>
            <a:r>
              <a:rPr lang="en-US" dirty="0"/>
              <a:t>Practical sampling involves averaging, either in time or space. </a:t>
            </a:r>
          </a:p>
        </p:txBody>
      </p:sp>
    </p:spTree>
    <p:extLst>
      <p:ext uri="{BB962C8B-B14F-4D97-AF65-F5344CB8AC3E}">
        <p14:creationId xmlns:p14="http://schemas.microsoft.com/office/powerpoint/2010/main" val="451364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a:xfrm>
            <a:off x="677334" y="1608253"/>
            <a:ext cx="8596668" cy="3880773"/>
          </a:xfrm>
        </p:spPr>
        <p:txBody>
          <a:bodyPr/>
          <a:lstStyle/>
          <a:p>
            <a:r>
              <a:rPr lang="en-US" dirty="0">
                <a:latin typeface="Arial" panose="020B0604020202020204" pitchFamily="34" charset="0"/>
              </a:rPr>
              <a:t>Frequency and period are the inverse of each other.</a:t>
            </a:r>
            <a:endParaRPr lang="en-US" dirty="0"/>
          </a:p>
        </p:txBody>
      </p:sp>
      <p:pic>
        <p:nvPicPr>
          <p:cNvPr id="4"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8155" y="2319643"/>
            <a:ext cx="3375025" cy="666750"/>
          </a:xfrm>
          <a:prstGeom prst="rect">
            <a:avLst/>
          </a:prstGeom>
          <a:solidFill>
            <a:srgbClr val="3366FF"/>
          </a:solidFill>
          <a:ln w="28575">
            <a:solidFill>
              <a:srgbClr val="3366FF"/>
            </a:solidFill>
            <a:miter lim="800000"/>
            <a:headEnd/>
            <a:tailEnd/>
          </a:ln>
        </p:spPr>
      </p:pic>
      <p:sp>
        <p:nvSpPr>
          <p:cNvPr id="5" name="Rectangle 4"/>
          <p:cNvSpPr/>
          <p:nvPr/>
        </p:nvSpPr>
        <p:spPr>
          <a:xfrm>
            <a:off x="677334" y="3306130"/>
            <a:ext cx="3558988" cy="369332"/>
          </a:xfrm>
          <a:prstGeom prst="rect">
            <a:avLst/>
          </a:prstGeom>
        </p:spPr>
        <p:txBody>
          <a:bodyPr wrap="none">
            <a:spAutoFit/>
          </a:bodyPr>
          <a:lstStyle/>
          <a:p>
            <a:pPr marL="285750" indent="-285750">
              <a:buFont typeface="Wingdings" panose="05000000000000000000" pitchFamily="2" charset="2"/>
              <a:buChar char="Ø"/>
            </a:pPr>
            <a:r>
              <a:rPr lang="en-US" dirty="0"/>
              <a:t>Units of period and frequency</a:t>
            </a: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425" y="3995199"/>
            <a:ext cx="8069550" cy="2248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2908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p:txBody>
          <a:bodyPr/>
          <a:lstStyle/>
          <a:p>
            <a:r>
              <a:rPr lang="en-US" dirty="0">
                <a:solidFill>
                  <a:srgbClr val="00B050"/>
                </a:solidFill>
                <a:latin typeface="Arial" panose="020B0604020202020204" pitchFamily="34" charset="0"/>
              </a:rPr>
              <a:t>Frequency is the rate of change with respect to time. </a:t>
            </a:r>
            <a:endParaRPr lang="en-US" dirty="0">
              <a:latin typeface="Arial" panose="020B0604020202020204" pitchFamily="34" charset="0"/>
            </a:endParaRPr>
          </a:p>
          <a:p>
            <a:r>
              <a:rPr lang="en-US" dirty="0">
                <a:solidFill>
                  <a:srgbClr val="0070C0"/>
                </a:solidFill>
                <a:latin typeface="Arial" panose="020B0604020202020204" pitchFamily="34" charset="0"/>
              </a:rPr>
              <a:t>Change in a short span of time means high frequency</a:t>
            </a:r>
          </a:p>
          <a:p>
            <a:r>
              <a:rPr lang="en-US" dirty="0">
                <a:solidFill>
                  <a:srgbClr val="00B0F0"/>
                </a:solidFill>
                <a:latin typeface="Arial" panose="020B0604020202020204" pitchFamily="34" charset="0"/>
              </a:rPr>
              <a:t>Change over a long span of time means low frequency.</a:t>
            </a:r>
          </a:p>
          <a:p>
            <a:endParaRPr lang="en-US" dirty="0"/>
          </a:p>
        </p:txBody>
      </p:sp>
    </p:spTree>
    <p:extLst>
      <p:ext uri="{BB962C8B-B14F-4D97-AF65-F5344CB8AC3E}">
        <p14:creationId xmlns:p14="http://schemas.microsoft.com/office/powerpoint/2010/main" val="1299072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p:txBody>
          <a:bodyPr/>
          <a:lstStyle/>
          <a:p>
            <a:r>
              <a:rPr lang="en-US" dirty="0">
                <a:solidFill>
                  <a:srgbClr val="0070C0"/>
                </a:solidFill>
                <a:latin typeface="Arial" panose="020B0604020202020204" pitchFamily="34" charset="0"/>
              </a:rPr>
              <a:t>If a signal does not change at all, its frequency is zero.</a:t>
            </a:r>
          </a:p>
          <a:p>
            <a:r>
              <a:rPr lang="en-US" dirty="0">
                <a:solidFill>
                  <a:srgbClr val="0070C0"/>
                </a:solidFill>
                <a:latin typeface="Arial" panose="020B0604020202020204" pitchFamily="34" charset="0"/>
              </a:rPr>
              <a:t>If a signal changes instantaneously, its frequency is infinite.</a:t>
            </a:r>
          </a:p>
          <a:p>
            <a:r>
              <a:rPr lang="en-US" dirty="0">
                <a:latin typeface="Arial" panose="020B0604020202020204" pitchFamily="34" charset="0"/>
              </a:rPr>
              <a:t>Phase describes the position of the waveform  relative to time 0</a:t>
            </a:r>
            <a:endParaRPr lang="en-US" dirty="0">
              <a:solidFill>
                <a:srgbClr val="0070C0"/>
              </a:solidFill>
            </a:endParaRPr>
          </a:p>
        </p:txBody>
      </p:sp>
    </p:spTree>
    <p:extLst>
      <p:ext uri="{BB962C8B-B14F-4D97-AF65-F5344CB8AC3E}">
        <p14:creationId xmlns:p14="http://schemas.microsoft.com/office/powerpoint/2010/main" val="2830114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Content Placeholder 3"/>
          <p:cNvPicPr>
            <a:picLocks noGrp="1" noChangeAspect="1"/>
          </p:cNvPicPr>
          <p:nvPr>
            <p:ph idx="1"/>
          </p:nvPr>
        </p:nvPicPr>
        <p:blipFill>
          <a:blip r:embed="rId3"/>
          <a:stretch>
            <a:fillRect/>
          </a:stretch>
        </p:blipFill>
        <p:spPr>
          <a:xfrm>
            <a:off x="552745" y="1607561"/>
            <a:ext cx="8845846" cy="4351338"/>
          </a:xfrm>
          <a:prstGeom prst="rect">
            <a:avLst/>
          </a:prstGeom>
        </p:spPr>
      </p:pic>
      <p:sp>
        <p:nvSpPr>
          <p:cNvPr id="5" name="Rectangle 4"/>
          <p:cNvSpPr/>
          <p:nvPr/>
        </p:nvSpPr>
        <p:spPr>
          <a:xfrm>
            <a:off x="677334" y="6138932"/>
            <a:ext cx="9615055" cy="369332"/>
          </a:xfrm>
          <a:prstGeom prst="rect">
            <a:avLst/>
          </a:prstGeom>
        </p:spPr>
        <p:txBody>
          <a:bodyPr wrap="square">
            <a:spAutoFit/>
          </a:bodyPr>
          <a:lstStyle/>
          <a:p>
            <a:r>
              <a:rPr lang="en-US" dirty="0"/>
              <a:t>Figure: Three sine waves with the same amplitude and frequency, but different phases</a:t>
            </a:r>
          </a:p>
        </p:txBody>
      </p:sp>
    </p:spTree>
    <p:extLst>
      <p:ext uri="{BB962C8B-B14F-4D97-AF65-F5344CB8AC3E}">
        <p14:creationId xmlns:p14="http://schemas.microsoft.com/office/powerpoint/2010/main" val="4058616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Content Placeholder 3"/>
          <p:cNvPicPr>
            <a:picLocks noGrp="1" noChangeAspect="1"/>
          </p:cNvPicPr>
          <p:nvPr>
            <p:ph idx="1"/>
          </p:nvPr>
        </p:nvPicPr>
        <p:blipFill>
          <a:blip r:embed="rId2"/>
          <a:stretch>
            <a:fillRect/>
          </a:stretch>
        </p:blipFill>
        <p:spPr>
          <a:xfrm>
            <a:off x="341755" y="1659515"/>
            <a:ext cx="9267825" cy="3371850"/>
          </a:xfrm>
          <a:prstGeom prst="rect">
            <a:avLst/>
          </a:prstGeom>
        </p:spPr>
      </p:pic>
      <p:sp>
        <p:nvSpPr>
          <p:cNvPr id="5" name="Rectangle 4"/>
          <p:cNvSpPr/>
          <p:nvPr/>
        </p:nvSpPr>
        <p:spPr>
          <a:xfrm>
            <a:off x="2653955" y="5436816"/>
            <a:ext cx="3071931" cy="369332"/>
          </a:xfrm>
          <a:prstGeom prst="rect">
            <a:avLst/>
          </a:prstGeom>
        </p:spPr>
        <p:txBody>
          <a:bodyPr wrap="none">
            <a:spAutoFit/>
          </a:bodyPr>
          <a:lstStyle/>
          <a:p>
            <a:r>
              <a:rPr lang="en-US" dirty="0"/>
              <a:t>Figure: Wavelength and period</a:t>
            </a:r>
          </a:p>
        </p:txBody>
      </p:sp>
    </p:spTree>
    <p:extLst>
      <p:ext uri="{BB962C8B-B14F-4D97-AF65-F5344CB8AC3E}">
        <p14:creationId xmlns:p14="http://schemas.microsoft.com/office/powerpoint/2010/main" val="3164174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p:txBody>
          <a:bodyPr/>
          <a:lstStyle/>
          <a:p>
            <a:endParaRPr kumimoji="1" lang="en-US" dirty="0"/>
          </a:p>
          <a:p>
            <a:r>
              <a:rPr kumimoji="1" lang="en-US" dirty="0"/>
              <a:t>Wavelength (</a:t>
            </a:r>
            <a:r>
              <a:rPr kumimoji="1" lang="en-US" dirty="0">
                <a:sym typeface="Symbol" panose="05050102010706020507" pitchFamily="18" charset="2"/>
              </a:rPr>
              <a:t>) </a:t>
            </a:r>
            <a:r>
              <a:rPr kumimoji="1" lang="en-US" dirty="0"/>
              <a:t>is distance occupied by one cycle</a:t>
            </a:r>
          </a:p>
          <a:p>
            <a:pPr lvl="1"/>
            <a:r>
              <a:rPr kumimoji="1" lang="en-US" dirty="0"/>
              <a:t>Another word, distance is a simple signal travels in one period.</a:t>
            </a:r>
          </a:p>
          <a:p>
            <a:r>
              <a:rPr kumimoji="1" lang="en-US" dirty="0"/>
              <a:t>between two points of corresponding phase in two consecutive cycles</a:t>
            </a:r>
            <a:endParaRPr kumimoji="1" lang="en-US" dirty="0">
              <a:sym typeface="Symbol" panose="05050102010706020507" pitchFamily="18" charset="2"/>
            </a:endParaRPr>
          </a:p>
          <a:p>
            <a:r>
              <a:rPr kumimoji="1" lang="en-US" dirty="0">
                <a:sym typeface="Symbol" panose="05050102010706020507" pitchFamily="18" charset="2"/>
              </a:rPr>
              <a:t>assuming signal velocity </a:t>
            </a:r>
            <a:r>
              <a:rPr kumimoji="1" lang="en-US" i="1" dirty="0">
                <a:sym typeface="Symbol" panose="05050102010706020507" pitchFamily="18" charset="2"/>
              </a:rPr>
              <a:t>v </a:t>
            </a:r>
            <a:r>
              <a:rPr kumimoji="1" lang="en-US" dirty="0">
                <a:sym typeface="Symbol" panose="05050102010706020507" pitchFamily="18" charset="2"/>
              </a:rPr>
              <a:t>have </a:t>
            </a:r>
            <a:r>
              <a:rPr kumimoji="1" lang="en-US" i="1" dirty="0">
                <a:sym typeface="Symbol" panose="05050102010706020507" pitchFamily="18" charset="2"/>
              </a:rPr>
              <a:t> = </a:t>
            </a:r>
            <a:r>
              <a:rPr kumimoji="1" lang="en-US" i="1" dirty="0" err="1">
                <a:sym typeface="Symbol" panose="05050102010706020507" pitchFamily="18" charset="2"/>
              </a:rPr>
              <a:t>vT</a:t>
            </a:r>
            <a:endParaRPr kumimoji="1" lang="en-US" i="1" dirty="0">
              <a:sym typeface="Symbol" panose="05050102010706020507" pitchFamily="18" charset="2"/>
            </a:endParaRPr>
          </a:p>
          <a:p>
            <a:r>
              <a:rPr kumimoji="1" lang="en-US" i="1" dirty="0">
                <a:sym typeface="Symbol" panose="05050102010706020507" pitchFamily="18" charset="2"/>
              </a:rPr>
              <a:t> </a:t>
            </a:r>
            <a:r>
              <a:rPr kumimoji="1" lang="en-US" dirty="0">
                <a:sym typeface="Symbol" panose="05050102010706020507" pitchFamily="18" charset="2"/>
              </a:rPr>
              <a:t>standard unit: meter (m)</a:t>
            </a:r>
          </a:p>
          <a:p>
            <a:endParaRPr lang="en-US" dirty="0"/>
          </a:p>
        </p:txBody>
      </p:sp>
    </p:spTree>
    <p:extLst>
      <p:ext uri="{BB962C8B-B14F-4D97-AF65-F5344CB8AC3E}">
        <p14:creationId xmlns:p14="http://schemas.microsoft.com/office/powerpoint/2010/main" val="2968864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Content Placeholder 3"/>
          <p:cNvPicPr>
            <a:picLocks noGrp="1" noChangeAspect="1"/>
          </p:cNvPicPr>
          <p:nvPr>
            <p:ph idx="1"/>
          </p:nvPr>
        </p:nvPicPr>
        <p:blipFill>
          <a:blip r:embed="rId3"/>
          <a:stretch>
            <a:fillRect/>
          </a:stretch>
        </p:blipFill>
        <p:spPr>
          <a:xfrm>
            <a:off x="1715103" y="1444336"/>
            <a:ext cx="7117190" cy="4597689"/>
          </a:xfrm>
          <a:prstGeom prst="rect">
            <a:avLst/>
          </a:prstGeom>
        </p:spPr>
      </p:pic>
      <p:sp>
        <p:nvSpPr>
          <p:cNvPr id="5" name="Rectangle 4"/>
          <p:cNvSpPr/>
          <p:nvPr/>
        </p:nvSpPr>
        <p:spPr>
          <a:xfrm>
            <a:off x="1531167" y="6249554"/>
            <a:ext cx="6585201" cy="369332"/>
          </a:xfrm>
          <a:prstGeom prst="rect">
            <a:avLst/>
          </a:prstGeom>
        </p:spPr>
        <p:txBody>
          <a:bodyPr wrap="none">
            <a:spAutoFit/>
          </a:bodyPr>
          <a:lstStyle/>
          <a:p>
            <a:r>
              <a:rPr lang="en-US" dirty="0"/>
              <a:t>Figure: The time-domain and frequency-domain plots of a sine wave</a:t>
            </a:r>
          </a:p>
        </p:txBody>
      </p:sp>
    </p:spTree>
    <p:extLst>
      <p:ext uri="{BB962C8B-B14F-4D97-AF65-F5344CB8AC3E}">
        <p14:creationId xmlns:p14="http://schemas.microsoft.com/office/powerpoint/2010/main" val="3874756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a:xfrm>
            <a:off x="838200" y="1458412"/>
            <a:ext cx="10515600" cy="4351338"/>
          </a:xfrm>
        </p:spPr>
        <p:txBody>
          <a:bodyPr/>
          <a:lstStyle/>
          <a:p>
            <a:r>
              <a:rPr lang="en-US" dirty="0">
                <a:latin typeface="Arial" panose="020B0604020202020204" pitchFamily="34" charset="0"/>
              </a:rPr>
              <a:t>A complete sine wave in the time domain can be represented by one single spike in the frequency domain.</a:t>
            </a:r>
            <a:endParaRPr lang="en-US" dirty="0"/>
          </a:p>
        </p:txBody>
      </p:sp>
      <p:sp>
        <p:nvSpPr>
          <p:cNvPr id="4" name="Rectangle 3"/>
          <p:cNvSpPr/>
          <p:nvPr/>
        </p:nvSpPr>
        <p:spPr>
          <a:xfrm>
            <a:off x="981748" y="2372198"/>
            <a:ext cx="10532918" cy="923330"/>
          </a:xfrm>
          <a:prstGeom prst="rect">
            <a:avLst/>
          </a:prstGeom>
        </p:spPr>
        <p:txBody>
          <a:bodyPr wrap="square">
            <a:spAutoFit/>
          </a:bodyPr>
          <a:lstStyle/>
          <a:p>
            <a:pPr algn="just"/>
            <a:r>
              <a:rPr lang="en-US" dirty="0">
                <a:solidFill>
                  <a:srgbClr val="FFC000"/>
                </a:solidFill>
                <a:latin typeface="Arial" panose="020B0604020202020204" pitchFamily="34" charset="0"/>
              </a:rPr>
              <a:t>The frequency domain is more compact and useful when we are dealing with more than one sine wave</a:t>
            </a:r>
            <a:r>
              <a:rPr lang="en-US" dirty="0">
                <a:solidFill>
                  <a:srgbClr val="0070C0"/>
                </a:solidFill>
                <a:latin typeface="Arial" panose="020B0604020202020204" pitchFamily="34" charset="0"/>
              </a:rPr>
              <a:t>. </a:t>
            </a:r>
            <a:r>
              <a:rPr lang="en-US" dirty="0">
                <a:latin typeface="Arial" panose="020B0604020202020204" pitchFamily="34" charset="0"/>
              </a:rPr>
              <a:t>Figure shows three sine waves, each with different amplitude and frequency. All can be represented by three spikes in the frequency domain.</a:t>
            </a:r>
            <a:endParaRPr lang="en-US" dirty="0"/>
          </a:p>
        </p:txBody>
      </p:sp>
      <p:pic>
        <p:nvPicPr>
          <p:cNvPr id="5" name="Picture 4"/>
          <p:cNvPicPr>
            <a:picLocks noChangeAspect="1"/>
          </p:cNvPicPr>
          <p:nvPr/>
        </p:nvPicPr>
        <p:blipFill>
          <a:blip r:embed="rId3"/>
          <a:stretch>
            <a:fillRect/>
          </a:stretch>
        </p:blipFill>
        <p:spPr>
          <a:xfrm>
            <a:off x="838200" y="3228975"/>
            <a:ext cx="9820275" cy="3629025"/>
          </a:xfrm>
          <a:prstGeom prst="rect">
            <a:avLst/>
          </a:prstGeom>
        </p:spPr>
      </p:pic>
    </p:spTree>
    <p:extLst>
      <p:ext uri="{BB962C8B-B14F-4D97-AF65-F5344CB8AC3E}">
        <p14:creationId xmlns:p14="http://schemas.microsoft.com/office/powerpoint/2010/main" val="3853267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a:xfrm>
            <a:off x="604596" y="1664624"/>
            <a:ext cx="9339503" cy="3880773"/>
          </a:xfrm>
        </p:spPr>
        <p:txBody>
          <a:bodyPr/>
          <a:lstStyle/>
          <a:p>
            <a:r>
              <a:rPr lang="en-US" dirty="0"/>
              <a:t>2.2 Quantization</a:t>
            </a:r>
          </a:p>
          <a:p>
            <a:pPr algn="just"/>
            <a:r>
              <a:rPr lang="en-US" dirty="0"/>
              <a:t>Quantization deals with encoding the signal value at every sampled location with a predefined precision, defined by a number of levels. </a:t>
            </a:r>
          </a:p>
          <a:p>
            <a:pPr algn="just"/>
            <a:r>
              <a:rPr lang="en-US" dirty="0"/>
              <a:t>The entire range R of the signal is represented by a finite number of bits b. Formally,</a:t>
            </a:r>
          </a:p>
        </p:txBody>
      </p:sp>
      <p:pic>
        <p:nvPicPr>
          <p:cNvPr id="4" name="Picture 3"/>
          <p:cNvPicPr>
            <a:picLocks noChangeAspect="1"/>
          </p:cNvPicPr>
          <p:nvPr/>
        </p:nvPicPr>
        <p:blipFill>
          <a:blip r:embed="rId3"/>
          <a:stretch>
            <a:fillRect/>
          </a:stretch>
        </p:blipFill>
        <p:spPr>
          <a:xfrm>
            <a:off x="2497809" y="3726165"/>
            <a:ext cx="5553075" cy="333375"/>
          </a:xfrm>
          <a:prstGeom prst="rect">
            <a:avLst/>
          </a:prstGeom>
        </p:spPr>
      </p:pic>
      <p:pic>
        <p:nvPicPr>
          <p:cNvPr id="5" name="Picture 4"/>
          <p:cNvPicPr>
            <a:picLocks noChangeAspect="1"/>
          </p:cNvPicPr>
          <p:nvPr/>
        </p:nvPicPr>
        <p:blipFill>
          <a:blip r:embed="rId4"/>
          <a:stretch>
            <a:fillRect/>
          </a:stretch>
        </p:blipFill>
        <p:spPr>
          <a:xfrm>
            <a:off x="452868" y="4407001"/>
            <a:ext cx="9810750" cy="676275"/>
          </a:xfrm>
          <a:prstGeom prst="rect">
            <a:avLst/>
          </a:prstGeom>
        </p:spPr>
      </p:pic>
      <p:pic>
        <p:nvPicPr>
          <p:cNvPr id="6" name="Picture 5"/>
          <p:cNvPicPr>
            <a:picLocks noChangeAspect="1"/>
          </p:cNvPicPr>
          <p:nvPr/>
        </p:nvPicPr>
        <p:blipFill>
          <a:blip r:embed="rId5"/>
          <a:stretch>
            <a:fillRect/>
          </a:stretch>
        </p:blipFill>
        <p:spPr>
          <a:xfrm>
            <a:off x="5740976" y="5892858"/>
            <a:ext cx="781050" cy="295275"/>
          </a:xfrm>
          <a:prstGeom prst="rect">
            <a:avLst/>
          </a:prstGeom>
        </p:spPr>
      </p:pic>
      <p:sp>
        <p:nvSpPr>
          <p:cNvPr id="7" name="Rectangle 6"/>
          <p:cNvSpPr/>
          <p:nvPr/>
        </p:nvSpPr>
        <p:spPr>
          <a:xfrm>
            <a:off x="2187760" y="5809648"/>
            <a:ext cx="3170483" cy="369332"/>
          </a:xfrm>
          <a:prstGeom prst="rect">
            <a:avLst/>
          </a:prstGeom>
        </p:spPr>
        <p:txBody>
          <a:bodyPr wrap="none">
            <a:spAutoFit/>
          </a:bodyPr>
          <a:lstStyle/>
          <a:p>
            <a:r>
              <a:rPr lang="en-US" dirty="0"/>
              <a:t>having a quantization step delta</a:t>
            </a:r>
          </a:p>
        </p:txBody>
      </p:sp>
    </p:spTree>
    <p:extLst>
      <p:ext uri="{BB962C8B-B14F-4D97-AF65-F5344CB8AC3E}">
        <p14:creationId xmlns:p14="http://schemas.microsoft.com/office/powerpoint/2010/main" val="1756397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5" name="Content Placeholder 4"/>
          <p:cNvPicPr>
            <a:picLocks noGrp="1" noChangeAspect="1"/>
          </p:cNvPicPr>
          <p:nvPr>
            <p:ph idx="1"/>
          </p:nvPr>
        </p:nvPicPr>
        <p:blipFill>
          <a:blip r:embed="rId3"/>
          <a:stretch>
            <a:fillRect/>
          </a:stretch>
        </p:blipFill>
        <p:spPr>
          <a:xfrm>
            <a:off x="677334" y="1608720"/>
            <a:ext cx="8603672" cy="4191133"/>
          </a:xfrm>
          <a:prstGeom prst="rect">
            <a:avLst/>
          </a:prstGeom>
        </p:spPr>
      </p:pic>
      <p:sp>
        <p:nvSpPr>
          <p:cNvPr id="6" name="Rectangle 5"/>
          <p:cNvSpPr/>
          <p:nvPr/>
        </p:nvSpPr>
        <p:spPr>
          <a:xfrm>
            <a:off x="346364" y="1270000"/>
            <a:ext cx="1736309" cy="369332"/>
          </a:xfrm>
          <a:prstGeom prst="rect">
            <a:avLst/>
          </a:prstGeom>
        </p:spPr>
        <p:txBody>
          <a:bodyPr wrap="none">
            <a:spAutoFit/>
          </a:bodyPr>
          <a:lstStyle/>
          <a:p>
            <a:r>
              <a:rPr lang="en-US" dirty="0"/>
              <a:t>2.2 Quantization</a:t>
            </a:r>
          </a:p>
        </p:txBody>
      </p:sp>
      <p:sp>
        <p:nvSpPr>
          <p:cNvPr id="7" name="Rectangle 6"/>
          <p:cNvSpPr/>
          <p:nvPr/>
        </p:nvSpPr>
        <p:spPr>
          <a:xfrm>
            <a:off x="346364" y="5769240"/>
            <a:ext cx="11845636" cy="923330"/>
          </a:xfrm>
          <a:prstGeom prst="rect">
            <a:avLst/>
          </a:prstGeom>
        </p:spPr>
        <p:txBody>
          <a:bodyPr wrap="square">
            <a:spAutoFit/>
          </a:bodyPr>
          <a:lstStyle/>
          <a:p>
            <a:r>
              <a:rPr lang="en-US" dirty="0"/>
              <a:t>Figure 2-3 Original analog signal (upper left) is shown sampled and quantized at different quantization levels. For quantization, 8 bits (256 levels), 4 bits (16 levels), and 3 bits (8 levels) were used to produce the digital signals on the top right, bottom left, and bottom right, respectively.</a:t>
            </a:r>
          </a:p>
        </p:txBody>
      </p:sp>
    </p:spTree>
    <p:extLst>
      <p:ext uri="{BB962C8B-B14F-4D97-AF65-F5344CB8AC3E}">
        <p14:creationId xmlns:p14="http://schemas.microsoft.com/office/powerpoint/2010/main" val="522713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a:xfrm>
            <a:off x="677334" y="1713780"/>
            <a:ext cx="9058948" cy="4427247"/>
          </a:xfrm>
        </p:spPr>
        <p:txBody>
          <a:bodyPr>
            <a:normAutofit lnSpcReduction="10000"/>
          </a:bodyPr>
          <a:lstStyle/>
          <a:p>
            <a:pPr algn="just"/>
            <a:r>
              <a:rPr lang="en-US" dirty="0"/>
              <a:t>Figure 2-3 shows an analog signal, which is sampled at a common frequency, but quantized using different number of bits, 4 or 2.</a:t>
            </a:r>
          </a:p>
          <a:p>
            <a:pPr algn="just"/>
            <a:r>
              <a:rPr lang="en-US" dirty="0"/>
              <a:t>Because each sample is represented by a finite number of bits, the quantized value will differ from the actual signal value, thus always introducing an error.</a:t>
            </a:r>
          </a:p>
          <a:p>
            <a:pPr algn="just"/>
            <a:r>
              <a:rPr lang="en-US" dirty="0"/>
              <a:t> The question, then, is how many bits should be used to represent each sample? Is this number the same for all signals?</a:t>
            </a:r>
          </a:p>
          <a:p>
            <a:pPr algn="just"/>
            <a:endParaRPr lang="en-US" dirty="0"/>
          </a:p>
          <a:p>
            <a:pPr algn="just"/>
            <a:r>
              <a:rPr lang="en-US" dirty="0"/>
              <a:t>This actually depends on the type of signal and what its intended use is. </a:t>
            </a:r>
            <a:r>
              <a:rPr lang="en-US" dirty="0">
                <a:solidFill>
                  <a:srgbClr val="0070C0"/>
                </a:solidFill>
              </a:rPr>
              <a:t>Audio signals, which represent music, must be quantized on 16 bits, whereas speech only requires 8 bits.</a:t>
            </a:r>
          </a:p>
          <a:p>
            <a:pPr algn="just"/>
            <a:r>
              <a:rPr lang="en-US" dirty="0"/>
              <a:t> the output range of the signal is divided into fixed and uniformly separated intervals depending on the number of bits used. This works well when all the values in the range of the signal are equally likely and, thus, the quantization error is equally distributed</a:t>
            </a:r>
          </a:p>
          <a:p>
            <a:pPr algn="just"/>
            <a:endParaRPr lang="en-US" dirty="0"/>
          </a:p>
          <a:p>
            <a:pPr algn="just"/>
            <a:endParaRPr lang="en-US" dirty="0"/>
          </a:p>
        </p:txBody>
      </p:sp>
    </p:spTree>
    <p:extLst>
      <p:ext uri="{BB962C8B-B14F-4D97-AF65-F5344CB8AC3E}">
        <p14:creationId xmlns:p14="http://schemas.microsoft.com/office/powerpoint/2010/main" val="811756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Content Placeholder 3"/>
          <p:cNvPicPr>
            <a:picLocks noGrp="1" noChangeAspect="1"/>
          </p:cNvPicPr>
          <p:nvPr>
            <p:ph idx="1"/>
          </p:nvPr>
        </p:nvPicPr>
        <p:blipFill>
          <a:blip r:embed="rId2"/>
          <a:stretch>
            <a:fillRect/>
          </a:stretch>
        </p:blipFill>
        <p:spPr>
          <a:xfrm>
            <a:off x="765463" y="1280391"/>
            <a:ext cx="7131627" cy="4876511"/>
          </a:xfrm>
          <a:prstGeom prst="rect">
            <a:avLst/>
          </a:prstGeom>
        </p:spPr>
      </p:pic>
      <p:sp>
        <p:nvSpPr>
          <p:cNvPr id="5" name="Rectangle 4"/>
          <p:cNvSpPr/>
          <p:nvPr/>
        </p:nvSpPr>
        <p:spPr>
          <a:xfrm>
            <a:off x="7969827" y="2641078"/>
            <a:ext cx="2833254" cy="1754326"/>
          </a:xfrm>
          <a:prstGeom prst="rect">
            <a:avLst/>
          </a:prstGeom>
        </p:spPr>
        <p:txBody>
          <a:bodyPr wrap="square">
            <a:spAutoFit/>
          </a:bodyPr>
          <a:lstStyle/>
          <a:p>
            <a:pPr algn="just"/>
            <a:r>
              <a:rPr lang="en-US" dirty="0"/>
              <a:t>Figure 2-4 Examples </a:t>
            </a:r>
            <a:r>
              <a:rPr lang="en-US"/>
              <a:t>of quantization; initial </a:t>
            </a:r>
            <a:r>
              <a:rPr lang="en-US" dirty="0"/>
              <a:t>image had 8 bits per pixel, which is shown quantized from 6 bits down to 1 bit per pixel</a:t>
            </a:r>
          </a:p>
        </p:txBody>
      </p:sp>
    </p:spTree>
    <p:extLst>
      <p:ext uri="{BB962C8B-B14F-4D97-AF65-F5344CB8AC3E}">
        <p14:creationId xmlns:p14="http://schemas.microsoft.com/office/powerpoint/2010/main" val="3310717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Content Placeholder 3"/>
          <p:cNvPicPr>
            <a:picLocks noGrp="1" noChangeAspect="1"/>
          </p:cNvPicPr>
          <p:nvPr>
            <p:ph idx="1"/>
          </p:nvPr>
        </p:nvPicPr>
        <p:blipFill>
          <a:blip r:embed="rId2"/>
          <a:stretch>
            <a:fillRect/>
          </a:stretch>
        </p:blipFill>
        <p:spPr>
          <a:xfrm>
            <a:off x="1178889" y="1506176"/>
            <a:ext cx="7593557" cy="2203377"/>
          </a:xfrm>
          <a:prstGeom prst="rect">
            <a:avLst/>
          </a:prstGeom>
        </p:spPr>
      </p:pic>
      <p:sp>
        <p:nvSpPr>
          <p:cNvPr id="5" name="Rectangle 4"/>
          <p:cNvSpPr/>
          <p:nvPr/>
        </p:nvSpPr>
        <p:spPr>
          <a:xfrm>
            <a:off x="677334" y="3809136"/>
            <a:ext cx="10138064" cy="923330"/>
          </a:xfrm>
          <a:prstGeom prst="rect">
            <a:avLst/>
          </a:prstGeom>
        </p:spPr>
        <p:txBody>
          <a:bodyPr wrap="square">
            <a:spAutoFit/>
          </a:bodyPr>
          <a:lstStyle/>
          <a:p>
            <a:r>
              <a:rPr lang="en-US" dirty="0"/>
              <a:t>Figure 2-5 Nonlinear quantization scales. The left signal shows the original analog signal. </a:t>
            </a:r>
          </a:p>
          <a:p>
            <a:r>
              <a:rPr lang="en-US" dirty="0"/>
              <a:t>The corresponding digitized signal using linear quantization is shown in the center.</a:t>
            </a:r>
          </a:p>
          <a:p>
            <a:r>
              <a:rPr lang="en-US" dirty="0"/>
              <a:t> The right signal is obtained by a logarithmically quantized interval scale.</a:t>
            </a:r>
          </a:p>
        </p:txBody>
      </p:sp>
    </p:spTree>
    <p:extLst>
      <p:ext uri="{BB962C8B-B14F-4D97-AF65-F5344CB8AC3E}">
        <p14:creationId xmlns:p14="http://schemas.microsoft.com/office/powerpoint/2010/main" val="4005922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sp>
        <p:nvSpPr>
          <p:cNvPr id="3" name="Content Placeholder 2"/>
          <p:cNvSpPr>
            <a:spLocks noGrp="1"/>
          </p:cNvSpPr>
          <p:nvPr>
            <p:ph idx="1"/>
          </p:nvPr>
        </p:nvSpPr>
        <p:spPr/>
        <p:txBody>
          <a:bodyPr/>
          <a:lstStyle/>
          <a:p>
            <a:r>
              <a:rPr lang="en-US" dirty="0"/>
              <a:t>2.3 Bit Rate</a:t>
            </a:r>
          </a:p>
          <a:p>
            <a:pPr algn="just"/>
            <a:r>
              <a:rPr lang="en-US" dirty="0"/>
              <a:t>The number of bits being produced per second. Bit rate is of critical importance when it comes to storing a digital signal, or transmitting it across networks, which might have high, low, or even varying bandwidths. Bit rate, which is measured in terms of bits per second, consists of the following:</a:t>
            </a:r>
          </a:p>
        </p:txBody>
      </p:sp>
      <p:pic>
        <p:nvPicPr>
          <p:cNvPr id="4" name="Picture 3"/>
          <p:cNvPicPr>
            <a:picLocks noChangeAspect="1"/>
          </p:cNvPicPr>
          <p:nvPr/>
        </p:nvPicPr>
        <p:blipFill>
          <a:blip r:embed="rId2"/>
          <a:stretch>
            <a:fillRect/>
          </a:stretch>
        </p:blipFill>
        <p:spPr>
          <a:xfrm>
            <a:off x="1551430" y="4100975"/>
            <a:ext cx="6848475" cy="1219200"/>
          </a:xfrm>
          <a:prstGeom prst="rect">
            <a:avLst/>
          </a:prstGeom>
        </p:spPr>
      </p:pic>
    </p:spTree>
    <p:extLst>
      <p:ext uri="{BB962C8B-B14F-4D97-AF65-F5344CB8AC3E}">
        <p14:creationId xmlns:p14="http://schemas.microsoft.com/office/powerpoint/2010/main" val="4289577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ANALOG-TO-DIGITAL CONVERSION</a:t>
            </a:r>
          </a:p>
        </p:txBody>
      </p:sp>
      <p:pic>
        <p:nvPicPr>
          <p:cNvPr id="4" name="Picture 3"/>
          <p:cNvPicPr>
            <a:picLocks noChangeAspect="1"/>
          </p:cNvPicPr>
          <p:nvPr/>
        </p:nvPicPr>
        <p:blipFill>
          <a:blip r:embed="rId3"/>
          <a:stretch>
            <a:fillRect/>
          </a:stretch>
        </p:blipFill>
        <p:spPr>
          <a:xfrm>
            <a:off x="429493" y="1447800"/>
            <a:ext cx="10179626" cy="4419600"/>
          </a:xfrm>
          <a:prstGeom prst="rect">
            <a:avLst/>
          </a:prstGeom>
        </p:spPr>
      </p:pic>
      <p:sp>
        <p:nvSpPr>
          <p:cNvPr id="5" name="Rectangle 4"/>
          <p:cNvSpPr/>
          <p:nvPr/>
        </p:nvSpPr>
        <p:spPr>
          <a:xfrm>
            <a:off x="512617" y="6002482"/>
            <a:ext cx="11177155" cy="369332"/>
          </a:xfrm>
          <a:prstGeom prst="rect">
            <a:avLst/>
          </a:prstGeom>
        </p:spPr>
        <p:txBody>
          <a:bodyPr wrap="square">
            <a:spAutoFit/>
          </a:bodyPr>
          <a:lstStyle/>
          <a:p>
            <a:r>
              <a:rPr lang="en-US" dirty="0"/>
              <a:t>Figure 2-6 Table giving the sampling rate, quantization factor, and bit rates produced for typical signals</a:t>
            </a:r>
          </a:p>
        </p:txBody>
      </p:sp>
    </p:spTree>
    <p:extLst>
      <p:ext uri="{BB962C8B-B14F-4D97-AF65-F5344CB8AC3E}">
        <p14:creationId xmlns:p14="http://schemas.microsoft.com/office/powerpoint/2010/main" val="1725928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SIGNALS AND SYSTEMS</a:t>
            </a:r>
          </a:p>
        </p:txBody>
      </p:sp>
      <p:pic>
        <p:nvPicPr>
          <p:cNvPr id="4" name="Content Placeholder 3"/>
          <p:cNvPicPr>
            <a:picLocks noGrp="1" noChangeAspect="1"/>
          </p:cNvPicPr>
          <p:nvPr>
            <p:ph idx="1"/>
          </p:nvPr>
        </p:nvPicPr>
        <p:blipFill>
          <a:blip r:embed="rId2"/>
          <a:stretch>
            <a:fillRect/>
          </a:stretch>
        </p:blipFill>
        <p:spPr>
          <a:xfrm>
            <a:off x="201217" y="1245795"/>
            <a:ext cx="10006445" cy="4351338"/>
          </a:xfrm>
          <a:prstGeom prst="rect">
            <a:avLst/>
          </a:prstGeom>
        </p:spPr>
      </p:pic>
      <p:sp>
        <p:nvSpPr>
          <p:cNvPr id="5" name="Rectangle 4"/>
          <p:cNvSpPr/>
          <p:nvPr/>
        </p:nvSpPr>
        <p:spPr>
          <a:xfrm>
            <a:off x="394855" y="5751081"/>
            <a:ext cx="11322627" cy="923330"/>
          </a:xfrm>
          <a:prstGeom prst="rect">
            <a:avLst/>
          </a:prstGeom>
        </p:spPr>
        <p:txBody>
          <a:bodyPr wrap="square">
            <a:spAutoFit/>
          </a:bodyPr>
          <a:lstStyle/>
          <a:p>
            <a:pPr marL="342900" indent="-342900" algn="just" defTabSz="457200">
              <a:spcBef>
                <a:spcPts val="1000"/>
              </a:spcBef>
              <a:buClr>
                <a:schemeClr val="accent1"/>
              </a:buClr>
              <a:buSzPct val="80000"/>
              <a:buFont typeface="Wingdings 3" charset="2"/>
              <a:buChar char=""/>
            </a:pPr>
            <a:r>
              <a:rPr lang="en-US" dirty="0">
                <a:solidFill>
                  <a:schemeClr val="tx1">
                    <a:lumMod val="75000"/>
                    <a:lumOff val="25000"/>
                  </a:schemeClr>
                </a:solidFill>
              </a:rPr>
              <a:t>Figure 2-7 Sample signals with different kinds of properties—smooth, unsmooth, continuous, discontinuous, finite support, and periodic. Normally, signals are composed of a combination of one or more of these properties.</a:t>
            </a:r>
          </a:p>
        </p:txBody>
      </p:sp>
    </p:spTree>
    <p:extLst>
      <p:ext uri="{BB962C8B-B14F-4D97-AF65-F5344CB8AC3E}">
        <p14:creationId xmlns:p14="http://schemas.microsoft.com/office/powerpoint/2010/main" val="3817748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SIGNALS AND SYSTEMS</a:t>
            </a:r>
          </a:p>
        </p:txBody>
      </p:sp>
      <p:pic>
        <p:nvPicPr>
          <p:cNvPr id="4" name="Content Placeholder 3"/>
          <p:cNvPicPr>
            <a:picLocks noGrp="1" noChangeAspect="1"/>
          </p:cNvPicPr>
          <p:nvPr>
            <p:ph idx="1"/>
          </p:nvPr>
        </p:nvPicPr>
        <p:blipFill>
          <a:blip r:embed="rId2"/>
          <a:stretch>
            <a:fillRect/>
          </a:stretch>
        </p:blipFill>
        <p:spPr>
          <a:xfrm>
            <a:off x="352858" y="1391444"/>
            <a:ext cx="9553575" cy="4305300"/>
          </a:xfrm>
          <a:prstGeom prst="rect">
            <a:avLst/>
          </a:prstGeom>
        </p:spPr>
      </p:pic>
    </p:spTree>
    <p:extLst>
      <p:ext uri="{BB962C8B-B14F-4D97-AF65-F5344CB8AC3E}">
        <p14:creationId xmlns:p14="http://schemas.microsoft.com/office/powerpoint/2010/main" val="25679328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Linear Time Invariant Systems</a:t>
            </a:r>
          </a:p>
        </p:txBody>
      </p:sp>
      <p:sp>
        <p:nvSpPr>
          <p:cNvPr id="3" name="Content Placeholder 2"/>
          <p:cNvSpPr>
            <a:spLocks noGrp="1"/>
          </p:cNvSpPr>
          <p:nvPr>
            <p:ph idx="1"/>
          </p:nvPr>
        </p:nvSpPr>
        <p:spPr>
          <a:xfrm>
            <a:off x="604597" y="1847813"/>
            <a:ext cx="8596668" cy="3880773"/>
          </a:xfrm>
        </p:spPr>
        <p:txBody>
          <a:bodyPr/>
          <a:lstStyle/>
          <a:p>
            <a:pPr algn="just"/>
            <a:r>
              <a:rPr lang="en-US" dirty="0"/>
              <a:t>Any operation that transforms a signal is called a system. Understanding linear time invariant systems is necessary to gain insight into the fundamental results that now characterize the process by which any practical system performs sampling and digitization.</a:t>
            </a:r>
          </a:p>
        </p:txBody>
      </p:sp>
      <p:sp>
        <p:nvSpPr>
          <p:cNvPr id="4" name="Rectangle 3"/>
          <p:cNvSpPr/>
          <p:nvPr/>
        </p:nvSpPr>
        <p:spPr>
          <a:xfrm>
            <a:off x="793172" y="3449366"/>
            <a:ext cx="9192491" cy="646331"/>
          </a:xfrm>
          <a:prstGeom prst="rect">
            <a:avLst/>
          </a:prstGeom>
        </p:spPr>
        <p:txBody>
          <a:bodyPr wrap="square">
            <a:spAutoFit/>
          </a:bodyPr>
          <a:lstStyle/>
          <a:p>
            <a:pPr algn="just" defTabSz="457200">
              <a:spcBef>
                <a:spcPts val="1000"/>
              </a:spcBef>
              <a:buClr>
                <a:schemeClr val="accent1"/>
              </a:buClr>
              <a:buSzPct val="80000"/>
            </a:pPr>
            <a:r>
              <a:rPr lang="en-US">
                <a:solidFill>
                  <a:schemeClr val="tx1">
                    <a:lumMod val="75000"/>
                    <a:lumOff val="25000"/>
                  </a:schemeClr>
                </a:solidFill>
              </a:rPr>
              <a:t>Let a system transform an input signal x(t) into an output y(t). </a:t>
            </a:r>
            <a:r>
              <a:rPr lang="en-US" dirty="0">
                <a:solidFill>
                  <a:schemeClr val="tx1">
                    <a:lumMod val="75000"/>
                    <a:lumOff val="25000"/>
                  </a:schemeClr>
                </a:solidFill>
              </a:rPr>
              <a:t>We call this system a linear if the output and input obey the following:</a:t>
            </a:r>
          </a:p>
        </p:txBody>
      </p:sp>
      <p:pic>
        <p:nvPicPr>
          <p:cNvPr id="5" name="Picture 4"/>
          <p:cNvPicPr>
            <a:picLocks noChangeAspect="1"/>
          </p:cNvPicPr>
          <p:nvPr/>
        </p:nvPicPr>
        <p:blipFill>
          <a:blip r:embed="rId2"/>
          <a:stretch>
            <a:fillRect/>
          </a:stretch>
        </p:blipFill>
        <p:spPr>
          <a:xfrm>
            <a:off x="2164493" y="4385938"/>
            <a:ext cx="5476875" cy="1228725"/>
          </a:xfrm>
          <a:prstGeom prst="rect">
            <a:avLst/>
          </a:prstGeom>
        </p:spPr>
      </p:pic>
    </p:spTree>
    <p:extLst>
      <p:ext uri="{BB962C8B-B14F-4D97-AF65-F5344CB8AC3E}">
        <p14:creationId xmlns:p14="http://schemas.microsoft.com/office/powerpoint/2010/main" val="3689273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Linear Time Invariant Systems</a:t>
            </a:r>
          </a:p>
        </p:txBody>
      </p:sp>
      <p:sp>
        <p:nvSpPr>
          <p:cNvPr id="3" name="Content Placeholder 2"/>
          <p:cNvSpPr>
            <a:spLocks noGrp="1"/>
          </p:cNvSpPr>
          <p:nvPr>
            <p:ph idx="1"/>
          </p:nvPr>
        </p:nvSpPr>
        <p:spPr/>
        <p:txBody>
          <a:bodyPr/>
          <a:lstStyle/>
          <a:p>
            <a:pPr algn="just"/>
            <a:r>
              <a:rPr lang="en-US" dirty="0"/>
              <a:t>Another important operation that is used to process signals in an LTI system is convolution. The convolution of two signals f and g is mathematically represented by f*g. It is the result of taking the integral of the first signal multiplied with the other signal reversed and shifted.</a:t>
            </a:r>
          </a:p>
        </p:txBody>
      </p:sp>
      <p:pic>
        <p:nvPicPr>
          <p:cNvPr id="4" name="Picture 3"/>
          <p:cNvPicPr>
            <a:picLocks noChangeAspect="1"/>
          </p:cNvPicPr>
          <p:nvPr/>
        </p:nvPicPr>
        <p:blipFill>
          <a:blip r:embed="rId3"/>
          <a:stretch>
            <a:fillRect/>
          </a:stretch>
        </p:blipFill>
        <p:spPr>
          <a:xfrm>
            <a:off x="2490353" y="3764973"/>
            <a:ext cx="4814455" cy="1676400"/>
          </a:xfrm>
          <a:prstGeom prst="rect">
            <a:avLst/>
          </a:prstGeom>
        </p:spPr>
      </p:pic>
    </p:spTree>
    <p:extLst>
      <p:ext uri="{BB962C8B-B14F-4D97-AF65-F5344CB8AC3E}">
        <p14:creationId xmlns:p14="http://schemas.microsoft.com/office/powerpoint/2010/main" val="26962039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Time Invariant Systems</a:t>
            </a:r>
          </a:p>
        </p:txBody>
      </p:sp>
      <p:sp>
        <p:nvSpPr>
          <p:cNvPr id="3" name="Content Placeholder 2"/>
          <p:cNvSpPr>
            <a:spLocks noGrp="1"/>
          </p:cNvSpPr>
          <p:nvPr>
            <p:ph idx="1"/>
          </p:nvPr>
        </p:nvSpPr>
        <p:spPr/>
        <p:txBody>
          <a:bodyPr/>
          <a:lstStyle/>
          <a:p>
            <a:pPr algn="just"/>
            <a:r>
              <a:rPr lang="en-US" dirty="0"/>
              <a:t>Any LTI system is fully characterized by a specific function, which is called the impulse response of the system. The output of the system is the convolution of the input with the system’s impulse response. This analysis is termed as the time Domain point of view of the system. </a:t>
            </a:r>
          </a:p>
          <a:p>
            <a:pPr algn="just"/>
            <a:r>
              <a:rPr lang="en-US" dirty="0"/>
              <a:t>Alternatively, we can also express this result in the frequency domain by defining the system’s transfer function. The transfer function is the Fourier transform of the system’s impulse response</a:t>
            </a:r>
          </a:p>
        </p:txBody>
      </p:sp>
    </p:spTree>
    <p:extLst>
      <p:ext uri="{BB962C8B-B14F-4D97-AF65-F5344CB8AC3E}">
        <p14:creationId xmlns:p14="http://schemas.microsoft.com/office/powerpoint/2010/main" val="969054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Time Invariant Systems</a:t>
            </a:r>
          </a:p>
        </p:txBody>
      </p:sp>
      <p:pic>
        <p:nvPicPr>
          <p:cNvPr id="4" name="Content Placeholder 3"/>
          <p:cNvPicPr>
            <a:picLocks noGrp="1" noChangeAspect="1"/>
          </p:cNvPicPr>
          <p:nvPr>
            <p:ph idx="1"/>
          </p:nvPr>
        </p:nvPicPr>
        <p:blipFill>
          <a:blip r:embed="rId2"/>
          <a:stretch>
            <a:fillRect/>
          </a:stretch>
        </p:blipFill>
        <p:spPr>
          <a:xfrm>
            <a:off x="910936" y="1773310"/>
            <a:ext cx="8001000" cy="3105150"/>
          </a:xfrm>
          <a:prstGeom prst="rect">
            <a:avLst/>
          </a:prstGeom>
        </p:spPr>
      </p:pic>
      <p:sp>
        <p:nvSpPr>
          <p:cNvPr id="5" name="Rectangle 4"/>
          <p:cNvSpPr/>
          <p:nvPr/>
        </p:nvSpPr>
        <p:spPr>
          <a:xfrm>
            <a:off x="1759526" y="5315680"/>
            <a:ext cx="9493828" cy="646331"/>
          </a:xfrm>
          <a:prstGeom prst="rect">
            <a:avLst/>
          </a:prstGeom>
        </p:spPr>
        <p:txBody>
          <a:bodyPr wrap="square">
            <a:spAutoFit/>
          </a:bodyPr>
          <a:lstStyle/>
          <a:p>
            <a:r>
              <a:rPr lang="en-US" dirty="0"/>
              <a:t>Figure 2-8 Relationship between the impulse response function in the time</a:t>
            </a:r>
          </a:p>
          <a:p>
            <a:r>
              <a:rPr lang="en-US" dirty="0"/>
              <a:t>domain and the transfer function in the frequency domain</a:t>
            </a:r>
          </a:p>
        </p:txBody>
      </p:sp>
    </p:spTree>
    <p:extLst>
      <p:ext uri="{BB962C8B-B14F-4D97-AF65-F5344CB8AC3E}">
        <p14:creationId xmlns:p14="http://schemas.microsoft.com/office/powerpoint/2010/main" val="32820153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3.3 Useful Signals</a:t>
            </a:r>
          </a:p>
        </p:txBody>
      </p:sp>
      <p:sp>
        <p:nvSpPr>
          <p:cNvPr id="3" name="Content Placeholder 2"/>
          <p:cNvSpPr>
            <a:spLocks noGrp="1"/>
          </p:cNvSpPr>
          <p:nvPr>
            <p:ph idx="1"/>
          </p:nvPr>
        </p:nvSpPr>
        <p:spPr>
          <a:xfrm>
            <a:off x="677334" y="2160589"/>
            <a:ext cx="10627974" cy="3880773"/>
          </a:xfrm>
        </p:spPr>
        <p:txBody>
          <a:bodyPr/>
          <a:lstStyle/>
          <a:p>
            <a:r>
              <a:rPr lang="en-US" dirty="0"/>
              <a:t>Specific signals—for example, the Delta function, box function, step function—play an important role in many signaling-processing operations, such as sampling, filtering, and convolution</a:t>
            </a:r>
          </a:p>
        </p:txBody>
      </p:sp>
      <p:sp>
        <p:nvSpPr>
          <p:cNvPr id="4" name="Rectangle 3"/>
          <p:cNvSpPr/>
          <p:nvPr/>
        </p:nvSpPr>
        <p:spPr>
          <a:xfrm>
            <a:off x="949037" y="3580537"/>
            <a:ext cx="11343408" cy="923330"/>
          </a:xfrm>
          <a:prstGeom prst="rect">
            <a:avLst/>
          </a:prstGeom>
        </p:spPr>
        <p:txBody>
          <a:bodyPr wrap="square">
            <a:spAutoFit/>
          </a:bodyPr>
          <a:lstStyle/>
          <a:p>
            <a:r>
              <a:rPr lang="en-US" dirty="0"/>
              <a:t>The Delta function is a mathematical construct introduced by the theoretical physicist Paul Dirac and, hence, is also known as the Dirac Delta function. Informally, it is a sharp peak bounding a unit area: (x) is zero everywhere except at x =0 where it becomes infinite, and its integral is 1</a:t>
            </a:r>
          </a:p>
        </p:txBody>
      </p:sp>
      <p:pic>
        <p:nvPicPr>
          <p:cNvPr id="5" name="Picture 4"/>
          <p:cNvPicPr>
            <a:picLocks noChangeAspect="1"/>
          </p:cNvPicPr>
          <p:nvPr/>
        </p:nvPicPr>
        <p:blipFill>
          <a:blip r:embed="rId2"/>
          <a:stretch>
            <a:fillRect/>
          </a:stretch>
        </p:blipFill>
        <p:spPr>
          <a:xfrm>
            <a:off x="11305308" y="3875808"/>
            <a:ext cx="389775" cy="392965"/>
          </a:xfrm>
          <a:prstGeom prst="rect">
            <a:avLst/>
          </a:prstGeom>
        </p:spPr>
      </p:pic>
    </p:spTree>
    <p:extLst>
      <p:ext uri="{BB962C8B-B14F-4D97-AF65-F5344CB8AC3E}">
        <p14:creationId xmlns:p14="http://schemas.microsoft.com/office/powerpoint/2010/main" val="18921453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Fourier Transform</a:t>
            </a:r>
          </a:p>
        </p:txBody>
      </p:sp>
      <p:sp>
        <p:nvSpPr>
          <p:cNvPr id="3" name="Content Placeholder 2"/>
          <p:cNvSpPr>
            <a:spLocks noGrp="1"/>
          </p:cNvSpPr>
          <p:nvPr>
            <p:ph idx="1"/>
          </p:nvPr>
        </p:nvSpPr>
        <p:spPr>
          <a:xfrm>
            <a:off x="573424" y="2160589"/>
            <a:ext cx="9672011" cy="3880773"/>
          </a:xfrm>
        </p:spPr>
        <p:txBody>
          <a:bodyPr>
            <a:normAutofit/>
          </a:bodyPr>
          <a:lstStyle/>
          <a:p>
            <a:pPr algn="just"/>
            <a:r>
              <a:rPr lang="en-US" dirty="0"/>
              <a:t>The Fourier transform is due to Joseph Fourier (1768–1830), who published his initial results in 1807. </a:t>
            </a:r>
            <a:r>
              <a:rPr lang="en-US" dirty="0">
                <a:solidFill>
                  <a:srgbClr val="FF0000"/>
                </a:solidFill>
              </a:rPr>
              <a:t>Fourier proposed to represent any periodic, continuous signal as a sum of individual complex sinusoids </a:t>
            </a:r>
            <a:r>
              <a:rPr lang="en-US" dirty="0"/>
              <a:t>(a Fourier series expansion).</a:t>
            </a:r>
          </a:p>
          <a:p>
            <a:pPr algn="just"/>
            <a:r>
              <a:rPr lang="en-US" dirty="0"/>
              <a:t> In other words every periodic, continuous signal can be expressed as a weighted combination of sinusoid (sine and cosine) waves. The weights that are used to combine the sinusoids are called the Fourier series coefficients, or spectral components.</a:t>
            </a:r>
          </a:p>
        </p:txBody>
      </p:sp>
    </p:spTree>
    <p:extLst>
      <p:ext uri="{BB962C8B-B14F-4D97-AF65-F5344CB8AC3E}">
        <p14:creationId xmlns:p14="http://schemas.microsoft.com/office/powerpoint/2010/main" val="3091943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Fourier Transform</a:t>
            </a:r>
          </a:p>
        </p:txBody>
      </p:sp>
      <p:pic>
        <p:nvPicPr>
          <p:cNvPr id="4" name="Content Placeholder 3"/>
          <p:cNvPicPr>
            <a:picLocks noGrp="1" noChangeAspect="1"/>
          </p:cNvPicPr>
          <p:nvPr>
            <p:ph idx="1"/>
          </p:nvPr>
        </p:nvPicPr>
        <p:blipFill>
          <a:blip r:embed="rId2"/>
          <a:stretch>
            <a:fillRect/>
          </a:stretch>
        </p:blipFill>
        <p:spPr>
          <a:xfrm>
            <a:off x="740482" y="1409696"/>
            <a:ext cx="5716473" cy="4571766"/>
          </a:xfrm>
          <a:prstGeom prst="rect">
            <a:avLst/>
          </a:prstGeom>
        </p:spPr>
      </p:pic>
      <p:pic>
        <p:nvPicPr>
          <p:cNvPr id="5" name="Picture 4"/>
          <p:cNvPicPr>
            <a:picLocks noChangeAspect="1"/>
          </p:cNvPicPr>
          <p:nvPr/>
        </p:nvPicPr>
        <p:blipFill>
          <a:blip r:embed="rId3"/>
          <a:stretch>
            <a:fillRect/>
          </a:stretch>
        </p:blipFill>
        <p:spPr>
          <a:xfrm>
            <a:off x="6670150" y="1701079"/>
            <a:ext cx="5334000" cy="4152900"/>
          </a:xfrm>
          <a:prstGeom prst="rect">
            <a:avLst/>
          </a:prstGeom>
        </p:spPr>
      </p:pic>
      <p:sp>
        <p:nvSpPr>
          <p:cNvPr id="6" name="Rectangle 5"/>
          <p:cNvSpPr/>
          <p:nvPr/>
        </p:nvSpPr>
        <p:spPr>
          <a:xfrm>
            <a:off x="429490" y="6119336"/>
            <a:ext cx="11478492" cy="646331"/>
          </a:xfrm>
          <a:prstGeom prst="rect">
            <a:avLst/>
          </a:prstGeom>
        </p:spPr>
        <p:txBody>
          <a:bodyPr wrap="square">
            <a:spAutoFit/>
          </a:bodyPr>
          <a:lstStyle/>
          <a:p>
            <a:r>
              <a:rPr lang="en-US" dirty="0"/>
              <a:t>Figure 2-9 Useful functions in signal-processing theory: Delta function (top left), comb function (top right), step function (middle left), box function (middle right), and </a:t>
            </a:r>
            <a:r>
              <a:rPr lang="en-US" dirty="0" err="1"/>
              <a:t>sinc</a:t>
            </a:r>
            <a:r>
              <a:rPr lang="en-US" dirty="0"/>
              <a:t> function (right)</a:t>
            </a:r>
          </a:p>
        </p:txBody>
      </p:sp>
    </p:spTree>
    <p:extLst>
      <p:ext uri="{BB962C8B-B14F-4D97-AF65-F5344CB8AC3E}">
        <p14:creationId xmlns:p14="http://schemas.microsoft.com/office/powerpoint/2010/main" val="1022467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 signals</a:t>
            </a:r>
          </a:p>
        </p:txBody>
      </p:sp>
      <p:pic>
        <p:nvPicPr>
          <p:cNvPr id="5" name="Content Placeholder 4"/>
          <p:cNvPicPr>
            <a:picLocks noGrp="1" noChangeAspect="1"/>
          </p:cNvPicPr>
          <p:nvPr>
            <p:ph idx="1"/>
          </p:nvPr>
        </p:nvPicPr>
        <p:blipFill>
          <a:blip r:embed="rId2"/>
          <a:stretch>
            <a:fillRect/>
          </a:stretch>
        </p:blipFill>
        <p:spPr>
          <a:xfrm>
            <a:off x="1571192" y="2075151"/>
            <a:ext cx="8239125" cy="1666875"/>
          </a:xfrm>
          <a:prstGeom prst="rect">
            <a:avLst/>
          </a:prstGeom>
        </p:spPr>
      </p:pic>
      <p:sp>
        <p:nvSpPr>
          <p:cNvPr id="4" name="Rectangle 3"/>
          <p:cNvSpPr/>
          <p:nvPr/>
        </p:nvSpPr>
        <p:spPr>
          <a:xfrm>
            <a:off x="2733163" y="6218382"/>
            <a:ext cx="4485010" cy="369332"/>
          </a:xfrm>
          <a:prstGeom prst="rect">
            <a:avLst/>
          </a:prstGeom>
        </p:spPr>
        <p:txBody>
          <a:bodyPr wrap="none">
            <a:spAutoFit/>
          </a:bodyPr>
          <a:lstStyle/>
          <a:p>
            <a:r>
              <a:rPr lang="en-US" dirty="0"/>
              <a:t>Some sample signals are shown in Figure 2-10</a:t>
            </a:r>
          </a:p>
        </p:txBody>
      </p:sp>
      <p:sp>
        <p:nvSpPr>
          <p:cNvPr id="6" name="Rectangle 5"/>
          <p:cNvSpPr/>
          <p:nvPr/>
        </p:nvSpPr>
        <p:spPr>
          <a:xfrm>
            <a:off x="1711585" y="4380631"/>
            <a:ext cx="7562417" cy="646331"/>
          </a:xfrm>
          <a:prstGeom prst="rect">
            <a:avLst/>
          </a:prstGeom>
        </p:spPr>
        <p:txBody>
          <a:bodyPr wrap="square">
            <a:spAutoFit/>
          </a:bodyPr>
          <a:lstStyle/>
          <a:p>
            <a:r>
              <a:rPr lang="en-US" dirty="0"/>
              <a:t>Figure 2-10 Examples of simple one-dimensional functions. Different numbers of samples are required to digitize them</a:t>
            </a:r>
          </a:p>
        </p:txBody>
      </p:sp>
    </p:spTree>
    <p:extLst>
      <p:ext uri="{BB962C8B-B14F-4D97-AF65-F5344CB8AC3E}">
        <p14:creationId xmlns:p14="http://schemas.microsoft.com/office/powerpoint/2010/main" val="7035957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sp>
        <p:nvSpPr>
          <p:cNvPr id="3" name="Content Placeholder 2"/>
          <p:cNvSpPr>
            <a:spLocks noGrp="1"/>
          </p:cNvSpPr>
          <p:nvPr>
            <p:ph idx="1"/>
          </p:nvPr>
        </p:nvSpPr>
        <p:spPr>
          <a:xfrm>
            <a:off x="677333" y="2160589"/>
            <a:ext cx="9557711" cy="3880773"/>
          </a:xfrm>
        </p:spPr>
        <p:txBody>
          <a:bodyPr>
            <a:normAutofit/>
          </a:bodyPr>
          <a:lstStyle/>
          <a:p>
            <a:pPr algn="just"/>
            <a:r>
              <a:rPr lang="en-US" dirty="0"/>
              <a:t>If these signals are to be digitized and reproduced back in the analog domain, the number of samples required to ensure that both starting and ending analog signals are the same is clearly different. For instance, in the first case where the signal is not changing (and, hence, has zero frequency), one single sample will suffice for this purpose. </a:t>
            </a:r>
          </a:p>
          <a:p>
            <a:pPr algn="just"/>
            <a:r>
              <a:rPr lang="en-US" dirty="0"/>
              <a:t>Two samples are required for the second signal and many more for the third one. As we go from left to right, the frequency content in the signals increases, and, therefore, the number of samples needed during the digitization process also goes up</a:t>
            </a:r>
          </a:p>
        </p:txBody>
      </p:sp>
    </p:spTree>
    <p:extLst>
      <p:ext uri="{BB962C8B-B14F-4D97-AF65-F5344CB8AC3E}">
        <p14:creationId xmlns:p14="http://schemas.microsoft.com/office/powerpoint/2010/main" val="72134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sp>
        <p:nvSpPr>
          <p:cNvPr id="3" name="Content Placeholder 2"/>
          <p:cNvSpPr>
            <a:spLocks noGrp="1"/>
          </p:cNvSpPr>
          <p:nvPr>
            <p:ph idx="1"/>
          </p:nvPr>
        </p:nvSpPr>
        <p:spPr>
          <a:xfrm>
            <a:off x="677333" y="2160589"/>
            <a:ext cx="9297939" cy="3880773"/>
          </a:xfrm>
        </p:spPr>
        <p:txBody>
          <a:bodyPr/>
          <a:lstStyle/>
          <a:p>
            <a:r>
              <a:rPr lang="en-US" dirty="0"/>
              <a:t>The relationship between signals and sampling rate was established during the late 1920s by Henry </a:t>
            </a:r>
            <a:r>
              <a:rPr lang="en-US" dirty="0" err="1"/>
              <a:t>Nyquist</a:t>
            </a:r>
            <a:r>
              <a:rPr lang="en-US" dirty="0"/>
              <a:t> and later formalized by Claude Shannon in 1950. </a:t>
            </a:r>
          </a:p>
          <a:p>
            <a:r>
              <a:rPr lang="en-US" dirty="0"/>
              <a:t>This relationship states that the signal has to be sampled using a sampling frequency that is greater than </a:t>
            </a:r>
            <a:r>
              <a:rPr lang="en-US" b="1" dirty="0">
                <a:solidFill>
                  <a:srgbClr val="FFC000"/>
                </a:solidFill>
              </a:rPr>
              <a:t>twice the maximal frequency occurring in the signal</a:t>
            </a:r>
          </a:p>
        </p:txBody>
      </p:sp>
    </p:spTree>
    <p:extLst>
      <p:ext uri="{BB962C8B-B14F-4D97-AF65-F5344CB8AC3E}">
        <p14:creationId xmlns:p14="http://schemas.microsoft.com/office/powerpoint/2010/main" val="31489745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pic>
        <p:nvPicPr>
          <p:cNvPr id="4" name="Content Placeholder 3"/>
          <p:cNvPicPr>
            <a:picLocks noGrp="1" noChangeAspect="1"/>
          </p:cNvPicPr>
          <p:nvPr>
            <p:ph idx="1"/>
          </p:nvPr>
        </p:nvPicPr>
        <p:blipFill>
          <a:blip r:embed="rId2"/>
          <a:stretch>
            <a:fillRect/>
          </a:stretch>
        </p:blipFill>
        <p:spPr>
          <a:xfrm>
            <a:off x="1052946" y="2186694"/>
            <a:ext cx="8829675" cy="1571625"/>
          </a:xfrm>
          <a:prstGeom prst="rect">
            <a:avLst/>
          </a:prstGeom>
        </p:spPr>
      </p:pic>
      <p:sp>
        <p:nvSpPr>
          <p:cNvPr id="5" name="Rectangle 4"/>
          <p:cNvSpPr/>
          <p:nvPr/>
        </p:nvSpPr>
        <p:spPr>
          <a:xfrm>
            <a:off x="1125682" y="1817362"/>
            <a:ext cx="6096000" cy="369332"/>
          </a:xfrm>
          <a:prstGeom prst="rect">
            <a:avLst/>
          </a:prstGeom>
        </p:spPr>
        <p:txBody>
          <a:bodyPr>
            <a:spAutoFit/>
          </a:bodyPr>
          <a:lstStyle/>
          <a:p>
            <a:r>
              <a:rPr lang="en-US" dirty="0"/>
              <a:t>it can more formally be stated as follows:</a:t>
            </a:r>
          </a:p>
        </p:txBody>
      </p:sp>
      <p:pic>
        <p:nvPicPr>
          <p:cNvPr id="6" name="Picture 5"/>
          <p:cNvPicPr>
            <a:picLocks noChangeAspect="1"/>
          </p:cNvPicPr>
          <p:nvPr/>
        </p:nvPicPr>
        <p:blipFill>
          <a:blip r:embed="rId3"/>
          <a:stretch>
            <a:fillRect/>
          </a:stretch>
        </p:blipFill>
        <p:spPr>
          <a:xfrm>
            <a:off x="1700212" y="3884993"/>
            <a:ext cx="3533775" cy="428625"/>
          </a:xfrm>
          <a:prstGeom prst="rect">
            <a:avLst/>
          </a:prstGeom>
        </p:spPr>
      </p:pic>
      <p:sp>
        <p:nvSpPr>
          <p:cNvPr id="7" name="Rectangle 6"/>
          <p:cNvSpPr/>
          <p:nvPr/>
        </p:nvSpPr>
        <p:spPr>
          <a:xfrm>
            <a:off x="1125682" y="4564983"/>
            <a:ext cx="10470572" cy="646331"/>
          </a:xfrm>
          <a:prstGeom prst="rect">
            <a:avLst/>
          </a:prstGeom>
        </p:spPr>
        <p:txBody>
          <a:bodyPr wrap="square">
            <a:spAutoFit/>
          </a:bodyPr>
          <a:lstStyle/>
          <a:p>
            <a:r>
              <a:rPr lang="en-US" dirty="0"/>
              <a:t>For example, if the signal has a maximal frequency of 10 kHz, it should be sampled at a frequency greater than 20 kHz. Here, 20 kHz is known as the </a:t>
            </a:r>
            <a:r>
              <a:rPr lang="en-US" dirty="0" err="1"/>
              <a:t>Nyquist</a:t>
            </a:r>
            <a:r>
              <a:rPr lang="en-US" dirty="0"/>
              <a:t> sampling frequency for that signal.</a:t>
            </a:r>
          </a:p>
        </p:txBody>
      </p:sp>
    </p:spTree>
    <p:extLst>
      <p:ext uri="{BB962C8B-B14F-4D97-AF65-F5344CB8AC3E}">
        <p14:creationId xmlns:p14="http://schemas.microsoft.com/office/powerpoint/2010/main" val="37569837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pic>
        <p:nvPicPr>
          <p:cNvPr id="4" name="Content Placeholder 3"/>
          <p:cNvPicPr>
            <a:picLocks noGrp="1" noChangeAspect="1"/>
          </p:cNvPicPr>
          <p:nvPr>
            <p:ph idx="1"/>
          </p:nvPr>
        </p:nvPicPr>
        <p:blipFill>
          <a:blip r:embed="rId2"/>
          <a:stretch>
            <a:fillRect/>
          </a:stretch>
        </p:blipFill>
        <p:spPr>
          <a:xfrm>
            <a:off x="232062" y="1270000"/>
            <a:ext cx="11159836" cy="4351338"/>
          </a:xfrm>
          <a:prstGeom prst="rect">
            <a:avLst/>
          </a:prstGeom>
        </p:spPr>
      </p:pic>
      <p:sp>
        <p:nvSpPr>
          <p:cNvPr id="5" name="Rectangle 4"/>
          <p:cNvSpPr/>
          <p:nvPr/>
        </p:nvSpPr>
        <p:spPr>
          <a:xfrm>
            <a:off x="232062" y="5729804"/>
            <a:ext cx="12372109" cy="923330"/>
          </a:xfrm>
          <a:prstGeom prst="rect">
            <a:avLst/>
          </a:prstGeom>
        </p:spPr>
        <p:txBody>
          <a:bodyPr wrap="square">
            <a:spAutoFit/>
          </a:bodyPr>
          <a:lstStyle/>
          <a:p>
            <a:r>
              <a:rPr lang="en-US" dirty="0"/>
              <a:t>Figure 2-11 Two signals x 1 (t) and x2 (t) having different frequencies are shown on the left and their Fourier transforms on the right. The transforms show the amount of energy at all frequencies. Both input signals have just one frequency as their Fourier transform shows, but the frequency in x1 (t) is lower than that in x2(t)</a:t>
            </a:r>
          </a:p>
        </p:txBody>
      </p:sp>
    </p:spTree>
    <p:extLst>
      <p:ext uri="{BB962C8B-B14F-4D97-AF65-F5344CB8AC3E}">
        <p14:creationId xmlns:p14="http://schemas.microsoft.com/office/powerpoint/2010/main" val="39116897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sp>
        <p:nvSpPr>
          <p:cNvPr id="3" name="Content Placeholder 2"/>
          <p:cNvSpPr>
            <a:spLocks noGrp="1"/>
          </p:cNvSpPr>
          <p:nvPr>
            <p:ph idx="1"/>
          </p:nvPr>
        </p:nvSpPr>
        <p:spPr>
          <a:xfrm>
            <a:off x="677333" y="2160589"/>
            <a:ext cx="10783839" cy="3880773"/>
          </a:xfrm>
        </p:spPr>
        <p:txBody>
          <a:bodyPr>
            <a:normAutofit/>
          </a:bodyPr>
          <a:lstStyle/>
          <a:p>
            <a:r>
              <a:rPr lang="en-US" dirty="0"/>
              <a:t>What happens if your sampling frequency is higher than your </a:t>
            </a:r>
            <a:r>
              <a:rPr lang="en-US" dirty="0" err="1"/>
              <a:t>Nyquist</a:t>
            </a:r>
            <a:r>
              <a:rPr lang="en-US" dirty="0"/>
              <a:t> frequency? The answer is: nothing special. </a:t>
            </a:r>
          </a:p>
          <a:p>
            <a:endParaRPr lang="en-US" dirty="0"/>
          </a:p>
          <a:p>
            <a:r>
              <a:rPr lang="en-US" dirty="0"/>
              <a:t>When it comes to reproducing your analog signal, it is guaranteed to have all the necessary frequencies and, hence, the same signal is reproduced. </a:t>
            </a:r>
          </a:p>
          <a:p>
            <a:endParaRPr lang="en-US" dirty="0"/>
          </a:p>
          <a:p>
            <a:r>
              <a:rPr lang="en-US" dirty="0"/>
              <a:t>However, by performing such over sampling, you have generated more digital data than necessary, which increases your storage and transmission overhead.</a:t>
            </a:r>
          </a:p>
        </p:txBody>
      </p:sp>
    </p:spTree>
    <p:extLst>
      <p:ext uri="{BB962C8B-B14F-4D97-AF65-F5344CB8AC3E}">
        <p14:creationId xmlns:p14="http://schemas.microsoft.com/office/powerpoint/2010/main" val="11602780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sp>
        <p:nvSpPr>
          <p:cNvPr id="3" name="Content Placeholder 2"/>
          <p:cNvSpPr>
            <a:spLocks noGrp="1"/>
          </p:cNvSpPr>
          <p:nvPr>
            <p:ph idx="1"/>
          </p:nvPr>
        </p:nvSpPr>
        <p:spPr>
          <a:xfrm>
            <a:off x="677334" y="2160589"/>
            <a:ext cx="9422630" cy="3880773"/>
          </a:xfrm>
        </p:spPr>
        <p:txBody>
          <a:bodyPr/>
          <a:lstStyle/>
          <a:p>
            <a:r>
              <a:rPr lang="en-US" dirty="0"/>
              <a:t>What happens if your sampling frequency is lower than your </a:t>
            </a:r>
            <a:r>
              <a:rPr lang="en-US" dirty="0" err="1"/>
              <a:t>Nyquist</a:t>
            </a:r>
            <a:r>
              <a:rPr lang="en-US" dirty="0"/>
              <a:t> frequency?</a:t>
            </a:r>
          </a:p>
          <a:p>
            <a:r>
              <a:rPr lang="en-US" dirty="0"/>
              <a:t>In this case, you have a problem because all the frequency content is not well captured during the digitization process. As a result, when the digital signal is heard/viewed or converted back into analog form, it does not correspond to the initial starting analog signal. </a:t>
            </a:r>
          </a:p>
          <a:p>
            <a:r>
              <a:rPr lang="en-US" dirty="0">
                <a:solidFill>
                  <a:srgbClr val="FFC000"/>
                </a:solidFill>
              </a:rPr>
              <a:t>Aliasing is the term used to describe loss of information during digitization</a:t>
            </a:r>
          </a:p>
          <a:p>
            <a:endParaRPr lang="en-US" dirty="0"/>
          </a:p>
        </p:txBody>
      </p:sp>
    </p:spTree>
    <p:extLst>
      <p:ext uri="{BB962C8B-B14F-4D97-AF65-F5344CB8AC3E}">
        <p14:creationId xmlns:p14="http://schemas.microsoft.com/office/powerpoint/2010/main" val="5028035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sp>
        <p:nvSpPr>
          <p:cNvPr id="3" name="Content Placeholder 2"/>
          <p:cNvSpPr>
            <a:spLocks noGrp="1"/>
          </p:cNvSpPr>
          <p:nvPr>
            <p:ph idx="1"/>
          </p:nvPr>
        </p:nvSpPr>
        <p:spPr/>
        <p:txBody>
          <a:bodyPr/>
          <a:lstStyle/>
          <a:p>
            <a:r>
              <a:rPr lang="en-US" dirty="0"/>
              <a:t>Aliasing in Spatial Domains </a:t>
            </a:r>
          </a:p>
          <a:p>
            <a:r>
              <a:rPr lang="en-US" dirty="0"/>
              <a:t>Aliasing effects in the spatial domain are seen in all dimensions. Figure 2-12 illustrates examples in one and two dimensions.</a:t>
            </a:r>
          </a:p>
        </p:txBody>
      </p:sp>
      <p:pic>
        <p:nvPicPr>
          <p:cNvPr id="4" name="Picture 3"/>
          <p:cNvPicPr>
            <a:picLocks noChangeAspect="1"/>
          </p:cNvPicPr>
          <p:nvPr/>
        </p:nvPicPr>
        <p:blipFill>
          <a:blip r:embed="rId3"/>
          <a:stretch>
            <a:fillRect/>
          </a:stretch>
        </p:blipFill>
        <p:spPr>
          <a:xfrm>
            <a:off x="3099089" y="3452813"/>
            <a:ext cx="4248150" cy="2724150"/>
          </a:xfrm>
          <a:prstGeom prst="rect">
            <a:avLst/>
          </a:prstGeom>
        </p:spPr>
      </p:pic>
    </p:spTree>
    <p:extLst>
      <p:ext uri="{BB962C8B-B14F-4D97-AF65-F5344CB8AC3E}">
        <p14:creationId xmlns:p14="http://schemas.microsoft.com/office/powerpoint/2010/main" val="13243013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SAMPLING THEOREM AND ALIASING</a:t>
            </a:r>
          </a:p>
        </p:txBody>
      </p:sp>
      <p:pic>
        <p:nvPicPr>
          <p:cNvPr id="4" name="Content Placeholder 3"/>
          <p:cNvPicPr>
            <a:picLocks noGrp="1" noChangeAspect="1"/>
          </p:cNvPicPr>
          <p:nvPr>
            <p:ph idx="1"/>
          </p:nvPr>
        </p:nvPicPr>
        <p:blipFill>
          <a:blip r:embed="rId3"/>
          <a:stretch>
            <a:fillRect/>
          </a:stretch>
        </p:blipFill>
        <p:spPr>
          <a:xfrm>
            <a:off x="1122217" y="1422661"/>
            <a:ext cx="6463147" cy="3590519"/>
          </a:xfrm>
          <a:prstGeom prst="rect">
            <a:avLst/>
          </a:prstGeom>
        </p:spPr>
      </p:pic>
      <p:sp>
        <p:nvSpPr>
          <p:cNvPr id="5" name="Rectangle 4"/>
          <p:cNvSpPr/>
          <p:nvPr/>
        </p:nvSpPr>
        <p:spPr>
          <a:xfrm>
            <a:off x="64791" y="5210608"/>
            <a:ext cx="12127209" cy="1200329"/>
          </a:xfrm>
          <a:prstGeom prst="rect">
            <a:avLst/>
          </a:prstGeom>
        </p:spPr>
        <p:txBody>
          <a:bodyPr wrap="square">
            <a:spAutoFit/>
          </a:bodyPr>
          <a:lstStyle/>
          <a:p>
            <a:r>
              <a:rPr lang="en-US" dirty="0"/>
              <a:t>Figure 2-12 Aliasing examples in the spatial domain. The top figure shows an example in one dimension, where original signal is shown along with sampled points and the reconstructed signal. The bottom set of figures show a 2D input image signal. The top left shows the original signal and the remaining three show examples of the signal reconstruction at different sampling resolutions.</a:t>
            </a:r>
          </a:p>
        </p:txBody>
      </p:sp>
    </p:spTree>
    <p:extLst>
      <p:ext uri="{BB962C8B-B14F-4D97-AF65-F5344CB8AC3E}">
        <p14:creationId xmlns:p14="http://schemas.microsoft.com/office/powerpoint/2010/main" val="37632291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sp>
        <p:nvSpPr>
          <p:cNvPr id="3" name="Content Placeholder 2"/>
          <p:cNvSpPr>
            <a:spLocks noGrp="1"/>
          </p:cNvSpPr>
          <p:nvPr>
            <p:ph idx="1"/>
          </p:nvPr>
        </p:nvSpPr>
        <p:spPr/>
        <p:txBody>
          <a:bodyPr/>
          <a:lstStyle/>
          <a:p>
            <a:pPr algn="just"/>
            <a:r>
              <a:rPr lang="en-US" dirty="0"/>
              <a:t>In the two-dimensional example, the first image shows the original image consists of 750 samples in the x and 620 samples in the y direction. The succeeding figures show what the reconstructed signal looks like by reducing the sampling resolution in both directions.</a:t>
            </a:r>
          </a:p>
          <a:p>
            <a:pPr algn="just"/>
            <a:r>
              <a:rPr lang="en-US" dirty="0"/>
              <a:t>You can see that, as the number of spatial samples decreases, not all of the original frequencies are properly captured. </a:t>
            </a:r>
          </a:p>
        </p:txBody>
      </p:sp>
    </p:spTree>
    <p:extLst>
      <p:ext uri="{BB962C8B-B14F-4D97-AF65-F5344CB8AC3E}">
        <p14:creationId xmlns:p14="http://schemas.microsoft.com/office/powerpoint/2010/main" val="23945078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 AND ALIASING</a:t>
            </a:r>
          </a:p>
        </p:txBody>
      </p:sp>
      <p:sp>
        <p:nvSpPr>
          <p:cNvPr id="3" name="Content Placeholder 2"/>
          <p:cNvSpPr>
            <a:spLocks noGrp="1"/>
          </p:cNvSpPr>
          <p:nvPr>
            <p:ph idx="1"/>
          </p:nvPr>
        </p:nvSpPr>
        <p:spPr/>
        <p:txBody>
          <a:bodyPr/>
          <a:lstStyle/>
          <a:p>
            <a:r>
              <a:rPr lang="en-US" dirty="0"/>
              <a:t>Aliasing in the Temporal Domain</a:t>
            </a:r>
          </a:p>
          <a:p>
            <a:endParaRPr lang="en-US" dirty="0"/>
          </a:p>
          <a:p>
            <a:pPr algn="just"/>
            <a:r>
              <a:rPr lang="en-US" dirty="0"/>
              <a:t>Examples of temporal aliasing can be seen in western movies, by observing the motion of stagecoach wheels. As the stagecoach starts to move, we observe its wheels rotating in the expected forward direction. As the stagecoach speeds up, we see that the wheels appear to rotate in the opposite direction to the initial one.</a:t>
            </a:r>
          </a:p>
          <a:p>
            <a:r>
              <a:rPr lang="en-US" dirty="0">
                <a:solidFill>
                  <a:srgbClr val="0070C0"/>
                </a:solidFill>
              </a:rPr>
              <a:t>This occurs because the movie camera has under sampled the wheels’ motion</a:t>
            </a:r>
          </a:p>
        </p:txBody>
      </p:sp>
    </p:spTree>
    <p:extLst>
      <p:ext uri="{BB962C8B-B14F-4D97-AF65-F5344CB8AC3E}">
        <p14:creationId xmlns:p14="http://schemas.microsoft.com/office/powerpoint/2010/main" val="39801963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pic>
        <p:nvPicPr>
          <p:cNvPr id="4" name="Content Placeholder 3"/>
          <p:cNvPicPr>
            <a:picLocks noGrp="1" noChangeAspect="1"/>
          </p:cNvPicPr>
          <p:nvPr>
            <p:ph idx="1"/>
          </p:nvPr>
        </p:nvPicPr>
        <p:blipFill>
          <a:blip r:embed="rId2"/>
          <a:stretch>
            <a:fillRect/>
          </a:stretch>
        </p:blipFill>
        <p:spPr>
          <a:xfrm>
            <a:off x="889706" y="1690688"/>
            <a:ext cx="3403667" cy="3903288"/>
          </a:xfrm>
          <a:prstGeom prst="rect">
            <a:avLst/>
          </a:prstGeom>
        </p:spPr>
      </p:pic>
      <p:pic>
        <p:nvPicPr>
          <p:cNvPr id="5" name="Picture 4">
            <a:extLst>
              <a:ext uri="{FF2B5EF4-FFF2-40B4-BE49-F238E27FC236}">
                <a16:creationId xmlns:a16="http://schemas.microsoft.com/office/drawing/2014/main" id="{ECFA7744-D23A-842C-7785-CA418AD7E10F}"/>
              </a:ext>
            </a:extLst>
          </p:cNvPr>
          <p:cNvPicPr>
            <a:picLocks noChangeAspect="1"/>
          </p:cNvPicPr>
          <p:nvPr/>
        </p:nvPicPr>
        <p:blipFill>
          <a:blip r:embed="rId3"/>
          <a:stretch>
            <a:fillRect/>
          </a:stretch>
        </p:blipFill>
        <p:spPr>
          <a:xfrm>
            <a:off x="5144450" y="1690688"/>
            <a:ext cx="3031362" cy="3871480"/>
          </a:xfrm>
          <a:prstGeom prst="rect">
            <a:avLst/>
          </a:prstGeom>
        </p:spPr>
      </p:pic>
    </p:spTree>
    <p:extLst>
      <p:ext uri="{BB962C8B-B14F-4D97-AF65-F5344CB8AC3E}">
        <p14:creationId xmlns:p14="http://schemas.microsoft.com/office/powerpoint/2010/main" val="27069160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22241046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33015112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7063</TotalTime>
  <Words>3287</Words>
  <Application>Microsoft Office PowerPoint</Application>
  <PresentationFormat>Widescreen</PresentationFormat>
  <Paragraphs>238</Paragraphs>
  <Slides>58</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Symbol</vt:lpstr>
      <vt:lpstr>Trebuchet MS</vt:lpstr>
      <vt:lpstr>Wingdings</vt:lpstr>
      <vt:lpstr>Wingdings 3</vt:lpstr>
      <vt:lpstr>Facet</vt:lpstr>
      <vt:lpstr>Multimedia Computing</vt:lpstr>
      <vt:lpstr>Content</vt:lpstr>
      <vt:lpstr>What is sound ?</vt:lpstr>
      <vt:lpstr>What is sound ?</vt:lpstr>
      <vt:lpstr>Digital data acquisition  </vt:lpstr>
      <vt:lpstr>Digital data acquisition</vt:lpstr>
      <vt:lpstr>ANALOG AND DIGITAL SIGNALS</vt:lpstr>
      <vt:lpstr>ANALOG AND DIGITAL SIGNALS</vt:lpstr>
      <vt:lpstr>Advantages of digital signals over analog </vt:lpstr>
      <vt:lpstr>ANALOG AND DIGITAL SIGNALS</vt:lpstr>
      <vt:lpstr>Advantages of digital signals over analog </vt:lpstr>
      <vt:lpstr>Building complex signal</vt:lpstr>
      <vt:lpstr>Digitization process</vt:lpstr>
      <vt:lpstr>Sampling vs Quantization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ANALOG-TO-DIGITAL CONVERSION</vt:lpstr>
      <vt:lpstr>SIGNALS AND SYSTEMS</vt:lpstr>
      <vt:lpstr>SIGNALS AND SYSTEMS</vt:lpstr>
      <vt:lpstr> Linear Time Invariant Systems</vt:lpstr>
      <vt:lpstr> Linear Time Invariant Systems</vt:lpstr>
      <vt:lpstr>Linear Time Invariant Systems</vt:lpstr>
      <vt:lpstr>Linear Time Invariant Systems</vt:lpstr>
      <vt:lpstr>3.3 Useful Signals</vt:lpstr>
      <vt:lpstr>The Fourier Transform</vt:lpstr>
      <vt:lpstr>The Fourier Transform</vt:lpstr>
      <vt:lpstr>Some sample signals</vt:lpstr>
      <vt:lpstr>SAMPLING THEOREM AND ALIASING</vt:lpstr>
      <vt:lpstr>SAMPLING THEOREM AND ALIASING</vt:lpstr>
      <vt:lpstr>SAMPLING THEOREM AND ALIASING</vt:lpstr>
      <vt:lpstr>SAMPLING THEOREM AND ALIASING</vt:lpstr>
      <vt:lpstr>SAMPLING THEOREM AND ALIASING</vt:lpstr>
      <vt:lpstr>SAMPLING THEOREM AND ALIASING</vt:lpstr>
      <vt:lpstr>SAMPLING THEOREM AND ALIASING</vt:lpstr>
      <vt:lpstr>SAMPLING THEOREM AND ALIASING</vt:lpstr>
      <vt:lpstr>SAMPLING THEOREM AND ALIASING</vt:lpstr>
      <vt:lpstr>SAMPLING THEOREM AND ALIASING</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48</cp:revision>
  <dcterms:created xsi:type="dcterms:W3CDTF">2020-01-27T14:45:02Z</dcterms:created>
  <dcterms:modified xsi:type="dcterms:W3CDTF">2026-09-09T05:56:25Z</dcterms:modified>
</cp:coreProperties>
</file>