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73"/>
  </p:notesMasterIdLst>
  <p:sldIdLst>
    <p:sldId id="256" r:id="rId2"/>
    <p:sldId id="374" r:id="rId3"/>
    <p:sldId id="549" r:id="rId4"/>
    <p:sldId id="550" r:id="rId5"/>
    <p:sldId id="492" r:id="rId6"/>
    <p:sldId id="493" r:id="rId7"/>
    <p:sldId id="524" r:id="rId8"/>
    <p:sldId id="525" r:id="rId9"/>
    <p:sldId id="527" r:id="rId10"/>
    <p:sldId id="495" r:id="rId11"/>
    <p:sldId id="551" r:id="rId12"/>
    <p:sldId id="552" r:id="rId13"/>
    <p:sldId id="553" r:id="rId14"/>
    <p:sldId id="554" r:id="rId15"/>
    <p:sldId id="555" r:id="rId16"/>
    <p:sldId id="529" r:id="rId17"/>
    <p:sldId id="530" r:id="rId18"/>
    <p:sldId id="561" r:id="rId19"/>
    <p:sldId id="562" r:id="rId20"/>
    <p:sldId id="564" r:id="rId21"/>
    <p:sldId id="575" r:id="rId22"/>
    <p:sldId id="532" r:id="rId23"/>
    <p:sldId id="565" r:id="rId24"/>
    <p:sldId id="533" r:id="rId25"/>
    <p:sldId id="534" r:id="rId26"/>
    <p:sldId id="535" r:id="rId27"/>
    <p:sldId id="566" r:id="rId28"/>
    <p:sldId id="567" r:id="rId29"/>
    <p:sldId id="568" r:id="rId30"/>
    <p:sldId id="569" r:id="rId31"/>
    <p:sldId id="570" r:id="rId32"/>
    <p:sldId id="571" r:id="rId33"/>
    <p:sldId id="572" r:id="rId34"/>
    <p:sldId id="573" r:id="rId35"/>
    <p:sldId id="548" r:id="rId36"/>
    <p:sldId id="574" r:id="rId37"/>
    <p:sldId id="531" r:id="rId38"/>
    <p:sldId id="557" r:id="rId39"/>
    <p:sldId id="560" r:id="rId40"/>
    <p:sldId id="576" r:id="rId41"/>
    <p:sldId id="577" r:id="rId42"/>
    <p:sldId id="578" r:id="rId43"/>
    <p:sldId id="579" r:id="rId44"/>
    <p:sldId id="580" r:id="rId45"/>
    <p:sldId id="581" r:id="rId46"/>
    <p:sldId id="582" r:id="rId47"/>
    <p:sldId id="583" r:id="rId48"/>
    <p:sldId id="584" r:id="rId49"/>
    <p:sldId id="536" r:id="rId50"/>
    <p:sldId id="538" r:id="rId51"/>
    <p:sldId id="539" r:id="rId52"/>
    <p:sldId id="540" r:id="rId53"/>
    <p:sldId id="541" r:id="rId54"/>
    <p:sldId id="542" r:id="rId55"/>
    <p:sldId id="543" r:id="rId56"/>
    <p:sldId id="544" r:id="rId57"/>
    <p:sldId id="545" r:id="rId58"/>
    <p:sldId id="546" r:id="rId59"/>
    <p:sldId id="585" r:id="rId60"/>
    <p:sldId id="587" r:id="rId61"/>
    <p:sldId id="588" r:id="rId62"/>
    <p:sldId id="589" r:id="rId63"/>
    <p:sldId id="590" r:id="rId64"/>
    <p:sldId id="591" r:id="rId65"/>
    <p:sldId id="592" r:id="rId66"/>
    <p:sldId id="556" r:id="rId67"/>
    <p:sldId id="500" r:id="rId68"/>
    <p:sldId id="501" r:id="rId69"/>
    <p:sldId id="258" r:id="rId70"/>
    <p:sldId id="276" r:id="rId71"/>
    <p:sldId id="277" r:id="rId7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637" autoAdjust="0"/>
    <p:restoredTop sz="89641" autoAdjust="0"/>
  </p:normalViewPr>
  <p:slideViewPr>
    <p:cSldViewPr snapToGrid="0">
      <p:cViewPr varScale="1">
        <p:scale>
          <a:sx n="76" d="100"/>
          <a:sy n="76" d="100"/>
        </p:scale>
        <p:origin x="686"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B77012-B2BC-4AD8-BD62-A130A7B5554E}" type="datetimeFigureOut">
              <a:rPr lang="en-US" smtClean="0"/>
              <a:t>9/27/2026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719E99-DA91-48FD-B620-57FE9728A6E3}" type="slidenum">
              <a:rPr lang="en-US" smtClean="0"/>
              <a:t>‹#›</a:t>
            </a:fld>
            <a:endParaRPr lang="en-US"/>
          </a:p>
        </p:txBody>
      </p:sp>
    </p:spTree>
    <p:extLst>
      <p:ext uri="{BB962C8B-B14F-4D97-AF65-F5344CB8AC3E}">
        <p14:creationId xmlns:p14="http://schemas.microsoft.com/office/powerpoint/2010/main" val="25915304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719E99-DA91-48FD-B620-57FE9728A6E3}" type="slidenum">
              <a:rPr lang="en-US" smtClean="0"/>
              <a:t>7</a:t>
            </a:fld>
            <a:endParaRPr lang="en-US"/>
          </a:p>
        </p:txBody>
      </p:sp>
    </p:spTree>
    <p:extLst>
      <p:ext uri="{BB962C8B-B14F-4D97-AF65-F5344CB8AC3E}">
        <p14:creationId xmlns:p14="http://schemas.microsoft.com/office/powerpoint/2010/main" val="37150743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Color constancy</a:t>
            </a:r>
          </a:p>
        </p:txBody>
      </p:sp>
      <p:sp>
        <p:nvSpPr>
          <p:cNvPr id="4" name="Slide Number Placeholder 3"/>
          <p:cNvSpPr>
            <a:spLocks noGrp="1"/>
          </p:cNvSpPr>
          <p:nvPr>
            <p:ph type="sldNum" sz="quarter" idx="5"/>
          </p:nvPr>
        </p:nvSpPr>
        <p:spPr/>
        <p:txBody>
          <a:bodyPr/>
          <a:lstStyle/>
          <a:p>
            <a:fld id="{EE719E99-DA91-48FD-B620-57FE9728A6E3}" type="slidenum">
              <a:rPr lang="en-US" smtClean="0"/>
              <a:t>16</a:t>
            </a:fld>
            <a:endParaRPr lang="en-US"/>
          </a:p>
        </p:txBody>
      </p:sp>
    </p:spTree>
    <p:extLst>
      <p:ext uri="{BB962C8B-B14F-4D97-AF65-F5344CB8AC3E}">
        <p14:creationId xmlns:p14="http://schemas.microsoft.com/office/powerpoint/2010/main" val="10603538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
            </a:r>
            <a:r>
              <a:rPr lang="en-US" dirty="0" err="1"/>
              <a:t>x,y</a:t>
            </a:r>
            <a:r>
              <a:rPr lang="en-US" dirty="0"/>
              <a:t>)= (0,0) and q (</a:t>
            </a:r>
            <a:r>
              <a:rPr lang="en-US" dirty="0" err="1"/>
              <a:t>s,t</a:t>
            </a:r>
            <a:r>
              <a:rPr lang="en-US" dirty="0"/>
              <a:t>) = (4,4) =5.65 units</a:t>
            </a:r>
          </a:p>
        </p:txBody>
      </p:sp>
      <p:sp>
        <p:nvSpPr>
          <p:cNvPr id="4" name="Slide Number Placeholder 3"/>
          <p:cNvSpPr>
            <a:spLocks noGrp="1"/>
          </p:cNvSpPr>
          <p:nvPr>
            <p:ph type="sldNum" sz="quarter" idx="5"/>
          </p:nvPr>
        </p:nvSpPr>
        <p:spPr/>
        <p:txBody>
          <a:bodyPr/>
          <a:lstStyle/>
          <a:p>
            <a:fld id="{EE719E99-DA91-48FD-B620-57FE9728A6E3}" type="slidenum">
              <a:rPr lang="en-US" smtClean="0"/>
              <a:t>31</a:t>
            </a:fld>
            <a:endParaRPr lang="en-US"/>
          </a:p>
        </p:txBody>
      </p:sp>
    </p:spTree>
    <p:extLst>
      <p:ext uri="{BB962C8B-B14F-4D97-AF65-F5344CB8AC3E}">
        <p14:creationId xmlns:p14="http://schemas.microsoft.com/office/powerpoint/2010/main" val="38145552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Cardinality of x-s + cardinality of y-t. D4(</a:t>
            </a:r>
            <a:r>
              <a:rPr lang="en-US" dirty="0" err="1"/>
              <a:t>p,q</a:t>
            </a:r>
            <a:r>
              <a:rPr lang="en-US" dirty="0"/>
              <a:t>)= |4-0|+|4-0| , D4(</a:t>
            </a:r>
            <a:r>
              <a:rPr lang="en-US" dirty="0" err="1"/>
              <a:t>p,q</a:t>
            </a:r>
            <a:r>
              <a:rPr lang="en-US" dirty="0"/>
              <a:t>)=8 units</a:t>
            </a:r>
          </a:p>
        </p:txBody>
      </p:sp>
      <p:sp>
        <p:nvSpPr>
          <p:cNvPr id="4" name="Slide Number Placeholder 3"/>
          <p:cNvSpPr>
            <a:spLocks noGrp="1"/>
          </p:cNvSpPr>
          <p:nvPr>
            <p:ph type="sldNum" sz="quarter" idx="5"/>
          </p:nvPr>
        </p:nvSpPr>
        <p:spPr/>
        <p:txBody>
          <a:bodyPr/>
          <a:lstStyle/>
          <a:p>
            <a:fld id="{EE719E99-DA91-48FD-B620-57FE9728A6E3}" type="slidenum">
              <a:rPr lang="en-US" smtClean="0"/>
              <a:t>32</a:t>
            </a:fld>
            <a:endParaRPr lang="en-US"/>
          </a:p>
        </p:txBody>
      </p:sp>
    </p:spTree>
    <p:extLst>
      <p:ext uri="{BB962C8B-B14F-4D97-AF65-F5344CB8AC3E}">
        <p14:creationId xmlns:p14="http://schemas.microsoft.com/office/powerpoint/2010/main" val="2702621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D8(</a:t>
            </a:r>
            <a:r>
              <a:rPr lang="en-US" dirty="0" err="1"/>
              <a:t>p,q</a:t>
            </a:r>
            <a:r>
              <a:rPr lang="en-US" dirty="0"/>
              <a:t>) = max (|4-0|, |4-0|) =max(4,4) =4 units</a:t>
            </a:r>
          </a:p>
        </p:txBody>
      </p:sp>
      <p:sp>
        <p:nvSpPr>
          <p:cNvPr id="4" name="Slide Number Placeholder 3"/>
          <p:cNvSpPr>
            <a:spLocks noGrp="1"/>
          </p:cNvSpPr>
          <p:nvPr>
            <p:ph type="sldNum" sz="quarter" idx="5"/>
          </p:nvPr>
        </p:nvSpPr>
        <p:spPr/>
        <p:txBody>
          <a:bodyPr/>
          <a:lstStyle/>
          <a:p>
            <a:fld id="{EE719E99-DA91-48FD-B620-57FE9728A6E3}" type="slidenum">
              <a:rPr lang="en-US" smtClean="0"/>
              <a:t>33</a:t>
            </a:fld>
            <a:endParaRPr lang="en-US"/>
          </a:p>
        </p:txBody>
      </p:sp>
    </p:spTree>
    <p:extLst>
      <p:ext uri="{BB962C8B-B14F-4D97-AF65-F5344CB8AC3E}">
        <p14:creationId xmlns:p14="http://schemas.microsoft.com/office/powerpoint/2010/main" val="27957123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Hue , Saturation, Intensity</a:t>
            </a:r>
          </a:p>
        </p:txBody>
      </p:sp>
      <p:sp>
        <p:nvSpPr>
          <p:cNvPr id="4" name="Slide Number Placeholder 3"/>
          <p:cNvSpPr>
            <a:spLocks noGrp="1"/>
          </p:cNvSpPr>
          <p:nvPr>
            <p:ph type="sldNum" sz="quarter" idx="5"/>
          </p:nvPr>
        </p:nvSpPr>
        <p:spPr/>
        <p:txBody>
          <a:bodyPr/>
          <a:lstStyle/>
          <a:p>
            <a:fld id="{EE719E99-DA91-48FD-B620-57FE9728A6E3}" type="slidenum">
              <a:rPr lang="en-US" smtClean="0"/>
              <a:t>37</a:t>
            </a:fld>
            <a:endParaRPr lang="en-US"/>
          </a:p>
        </p:txBody>
      </p:sp>
    </p:spTree>
    <p:extLst>
      <p:ext uri="{BB962C8B-B14F-4D97-AF65-F5344CB8AC3E}">
        <p14:creationId xmlns:p14="http://schemas.microsoft.com/office/powerpoint/2010/main" val="4364259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40C28"/>
                </a:solidFill>
                <a:effectLst/>
                <a:latin typeface="Google Sans"/>
              </a:rPr>
              <a:t>HUE a gradation or variety of a color; </a:t>
            </a:r>
            <a:r>
              <a:rPr lang="en-US" b="0" i="0" dirty="0">
                <a:solidFill>
                  <a:srgbClr val="474747"/>
                </a:solidFill>
                <a:effectLst/>
                <a:latin typeface="Google Sans"/>
              </a:rPr>
              <a:t>the property of light by which the color of an object is classified as red, blue, green, or yellow in reference to the spectrum.</a:t>
            </a:r>
          </a:p>
          <a:p>
            <a:r>
              <a:rPr lang="en-US" b="0" i="0" dirty="0">
                <a:solidFill>
                  <a:srgbClr val="474747"/>
                </a:solidFill>
                <a:effectLst/>
                <a:latin typeface="Google Sans"/>
              </a:rPr>
              <a:t>VALUE refers to the lightness or darkness of a hue. </a:t>
            </a:r>
            <a:r>
              <a:rPr lang="en-US" b="0" i="0" dirty="0">
                <a:solidFill>
                  <a:srgbClr val="040C28"/>
                </a:solidFill>
                <a:effectLst/>
                <a:latin typeface="Google Sans"/>
              </a:rPr>
              <a:t>Every hue can range in value from light to dark</a:t>
            </a:r>
          </a:p>
          <a:p>
            <a:r>
              <a:rPr lang="en-US" b="0" i="0" dirty="0">
                <a:solidFill>
                  <a:srgbClr val="040C28"/>
                </a:solidFill>
                <a:effectLst/>
                <a:latin typeface="Google Sans"/>
              </a:rPr>
              <a:t>Its brightness or dullness (its intensity)</a:t>
            </a:r>
            <a:endParaRPr lang="en-US" dirty="0"/>
          </a:p>
        </p:txBody>
      </p:sp>
      <p:sp>
        <p:nvSpPr>
          <p:cNvPr id="4" name="Slide Number Placeholder 3"/>
          <p:cNvSpPr>
            <a:spLocks noGrp="1"/>
          </p:cNvSpPr>
          <p:nvPr>
            <p:ph type="sldNum" sz="quarter" idx="5"/>
          </p:nvPr>
        </p:nvSpPr>
        <p:spPr/>
        <p:txBody>
          <a:bodyPr/>
          <a:lstStyle/>
          <a:p>
            <a:fld id="{EE719E99-DA91-48FD-B620-57FE9728A6E3}" type="slidenum">
              <a:rPr lang="en-US" smtClean="0"/>
              <a:t>39</a:t>
            </a:fld>
            <a:endParaRPr lang="en-US"/>
          </a:p>
        </p:txBody>
      </p:sp>
    </p:spTree>
    <p:extLst>
      <p:ext uri="{BB962C8B-B14F-4D97-AF65-F5344CB8AC3E}">
        <p14:creationId xmlns:p14="http://schemas.microsoft.com/office/powerpoint/2010/main" val="38838777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Gamut describes the range of color</a:t>
            </a:r>
          </a:p>
        </p:txBody>
      </p:sp>
      <p:sp>
        <p:nvSpPr>
          <p:cNvPr id="4" name="Slide Number Placeholder 3"/>
          <p:cNvSpPr>
            <a:spLocks noGrp="1"/>
          </p:cNvSpPr>
          <p:nvPr>
            <p:ph type="sldNum" sz="quarter" idx="5"/>
          </p:nvPr>
        </p:nvSpPr>
        <p:spPr/>
        <p:txBody>
          <a:bodyPr/>
          <a:lstStyle/>
          <a:p>
            <a:fld id="{EE719E99-DA91-48FD-B620-57FE9728A6E3}" type="slidenum">
              <a:rPr lang="en-US" smtClean="0"/>
              <a:t>59</a:t>
            </a:fld>
            <a:endParaRPr lang="en-US"/>
          </a:p>
        </p:txBody>
      </p:sp>
    </p:spTree>
    <p:extLst>
      <p:ext uri="{BB962C8B-B14F-4D97-AF65-F5344CB8AC3E}">
        <p14:creationId xmlns:p14="http://schemas.microsoft.com/office/powerpoint/2010/main" val="18839725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0AABCEA9-342F-49DA-8846-1F2209C1EED6}" type="slidenum">
              <a:rPr lang="en-US" smtClean="0"/>
              <a:pPr/>
              <a:t>70</a:t>
            </a:fld>
            <a:endParaRPr lang="en-US"/>
          </a:p>
        </p:txBody>
      </p:sp>
    </p:spTree>
    <p:extLst>
      <p:ext uri="{BB962C8B-B14F-4D97-AF65-F5344CB8AC3E}">
        <p14:creationId xmlns:p14="http://schemas.microsoft.com/office/powerpoint/2010/main" val="27444331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EF995A3-E8DC-4E31-A2CF-2D980271CAE1}"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88DDE7-5592-4CB5-AAB6-ABD7022767A3}" type="slidenum">
              <a:rPr lang="en-US" smtClean="0"/>
              <a:t>‹#›</a:t>
            </a:fld>
            <a:endParaRPr lang="en-US"/>
          </a:p>
        </p:txBody>
      </p:sp>
    </p:spTree>
    <p:extLst>
      <p:ext uri="{BB962C8B-B14F-4D97-AF65-F5344CB8AC3E}">
        <p14:creationId xmlns:p14="http://schemas.microsoft.com/office/powerpoint/2010/main" val="14085511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EF995A3-E8DC-4E31-A2CF-2D980271CAE1}"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88DDE7-5592-4CB5-AAB6-ABD7022767A3}" type="slidenum">
              <a:rPr lang="en-US" smtClean="0"/>
              <a:t>‹#›</a:t>
            </a:fld>
            <a:endParaRPr lang="en-US"/>
          </a:p>
        </p:txBody>
      </p:sp>
    </p:spTree>
    <p:extLst>
      <p:ext uri="{BB962C8B-B14F-4D97-AF65-F5344CB8AC3E}">
        <p14:creationId xmlns:p14="http://schemas.microsoft.com/office/powerpoint/2010/main" val="19491258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F995A3-E8DC-4E31-A2CF-2D980271CAE1}"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88DDE7-5592-4CB5-AAB6-ABD7022767A3}" type="slidenum">
              <a:rPr lang="en-US" smtClean="0"/>
              <a:t>‹#›</a:t>
            </a:fld>
            <a:endParaRPr lang="en-US"/>
          </a:p>
        </p:txBody>
      </p:sp>
    </p:spTree>
    <p:extLst>
      <p:ext uri="{BB962C8B-B14F-4D97-AF65-F5344CB8AC3E}">
        <p14:creationId xmlns:p14="http://schemas.microsoft.com/office/powerpoint/2010/main" val="79244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EF995A3-E8DC-4E31-A2CF-2D980271CAE1}"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88DDE7-5592-4CB5-AAB6-ABD7022767A3}" type="slidenum">
              <a:rPr lang="en-US" smtClean="0"/>
              <a:t>‹#›</a:t>
            </a:fld>
            <a:endParaRPr lang="en-US"/>
          </a:p>
        </p:txBody>
      </p:sp>
    </p:spTree>
    <p:extLst>
      <p:ext uri="{BB962C8B-B14F-4D97-AF65-F5344CB8AC3E}">
        <p14:creationId xmlns:p14="http://schemas.microsoft.com/office/powerpoint/2010/main" val="1167408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EF995A3-E8DC-4E31-A2CF-2D980271CAE1}" type="datetimeFigureOut">
              <a:rPr lang="en-US" smtClean="0"/>
              <a:t>9/27/2026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188DDE7-5592-4CB5-AAB6-ABD7022767A3}" type="slidenum">
              <a:rPr lang="en-US" smtClean="0"/>
              <a:t>‹#›</a:t>
            </a:fld>
            <a:endParaRPr lang="en-US"/>
          </a:p>
        </p:txBody>
      </p:sp>
    </p:spTree>
    <p:extLst>
      <p:ext uri="{BB962C8B-B14F-4D97-AF65-F5344CB8AC3E}">
        <p14:creationId xmlns:p14="http://schemas.microsoft.com/office/powerpoint/2010/main" val="41665263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EF995A3-E8DC-4E31-A2CF-2D980271CAE1}" type="datetimeFigureOut">
              <a:rPr lang="en-US" smtClean="0"/>
              <a:t>9/27/2026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188DDE7-5592-4CB5-AAB6-ABD7022767A3}" type="slidenum">
              <a:rPr lang="en-US" smtClean="0"/>
              <a:t>‹#›</a:t>
            </a:fld>
            <a:endParaRPr lang="en-US"/>
          </a:p>
        </p:txBody>
      </p:sp>
    </p:spTree>
    <p:extLst>
      <p:ext uri="{BB962C8B-B14F-4D97-AF65-F5344CB8AC3E}">
        <p14:creationId xmlns:p14="http://schemas.microsoft.com/office/powerpoint/2010/main" val="27465906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F995A3-E8DC-4E31-A2CF-2D980271CAE1}" type="datetimeFigureOut">
              <a:rPr lang="en-US" smtClean="0"/>
              <a:t>9/27/2026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188DDE7-5592-4CB5-AAB6-ABD7022767A3}" type="slidenum">
              <a:rPr lang="en-US" smtClean="0"/>
              <a:t>‹#›</a:t>
            </a:fld>
            <a:endParaRPr lang="en-US"/>
          </a:p>
        </p:txBody>
      </p:sp>
    </p:spTree>
    <p:extLst>
      <p:ext uri="{BB962C8B-B14F-4D97-AF65-F5344CB8AC3E}">
        <p14:creationId xmlns:p14="http://schemas.microsoft.com/office/powerpoint/2010/main" val="15552943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EF995A3-E8DC-4E31-A2CF-2D980271CAE1}"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88DDE7-5592-4CB5-AAB6-ABD7022767A3}" type="slidenum">
              <a:rPr lang="en-US" smtClean="0"/>
              <a:t>‹#›</a:t>
            </a:fld>
            <a:endParaRPr lang="en-US"/>
          </a:p>
        </p:txBody>
      </p:sp>
    </p:spTree>
    <p:extLst>
      <p:ext uri="{BB962C8B-B14F-4D97-AF65-F5344CB8AC3E}">
        <p14:creationId xmlns:p14="http://schemas.microsoft.com/office/powerpoint/2010/main" val="6842297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88DDE7-5592-4CB5-AAB6-ABD7022767A3}" type="slidenum">
              <a:rPr lang="en-US" smtClean="0"/>
              <a:t>‹#›</a:t>
            </a:fld>
            <a:endParaRPr lang="en-US"/>
          </a:p>
        </p:txBody>
      </p:sp>
      <p:sp>
        <p:nvSpPr>
          <p:cNvPr id="5" name="Date Placeholder 4"/>
          <p:cNvSpPr>
            <a:spLocks noGrp="1"/>
          </p:cNvSpPr>
          <p:nvPr>
            <p:ph type="dt" sz="half" idx="10"/>
          </p:nvPr>
        </p:nvSpPr>
        <p:spPr/>
        <p:txBody>
          <a:bodyPr/>
          <a:lstStyle/>
          <a:p>
            <a:fld id="{CEF995A3-E8DC-4E31-A2CF-2D980271CAE1}" type="datetimeFigureOut">
              <a:rPr lang="en-US" smtClean="0"/>
              <a:t>9/27/2026</a:t>
            </a:fld>
            <a:endParaRPr lang="en-US"/>
          </a:p>
        </p:txBody>
      </p:sp>
    </p:spTree>
    <p:extLst>
      <p:ext uri="{BB962C8B-B14F-4D97-AF65-F5344CB8AC3E}">
        <p14:creationId xmlns:p14="http://schemas.microsoft.com/office/powerpoint/2010/main" val="14622754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F995A3-E8DC-4E31-A2CF-2D980271CAE1}"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88DDE7-5592-4CB5-AAB6-ABD7022767A3}" type="slidenum">
              <a:rPr lang="en-US" smtClean="0"/>
              <a:t>‹#›</a:t>
            </a:fld>
            <a:endParaRPr lang="en-US"/>
          </a:p>
        </p:txBody>
      </p:sp>
    </p:spTree>
    <p:extLst>
      <p:ext uri="{BB962C8B-B14F-4D97-AF65-F5344CB8AC3E}">
        <p14:creationId xmlns:p14="http://schemas.microsoft.com/office/powerpoint/2010/main" val="15940493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F995A3-E8DC-4E31-A2CF-2D980271CAE1}"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88DDE7-5592-4CB5-AAB6-ABD7022767A3}"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3236195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F995A3-E8DC-4E31-A2CF-2D980271CAE1}"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88DDE7-5592-4CB5-AAB6-ABD7022767A3}" type="slidenum">
              <a:rPr lang="en-US" smtClean="0"/>
              <a:t>‹#›</a:t>
            </a:fld>
            <a:endParaRPr lang="en-US"/>
          </a:p>
        </p:txBody>
      </p:sp>
    </p:spTree>
    <p:extLst>
      <p:ext uri="{BB962C8B-B14F-4D97-AF65-F5344CB8AC3E}">
        <p14:creationId xmlns:p14="http://schemas.microsoft.com/office/powerpoint/2010/main" val="7699130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F995A3-E8DC-4E31-A2CF-2D980271CAE1}"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88DDE7-5592-4CB5-AAB6-ABD7022767A3}"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1757513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F995A3-E8DC-4E31-A2CF-2D980271CAE1}"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88DDE7-5592-4CB5-AAB6-ABD7022767A3}" type="slidenum">
              <a:rPr lang="en-US" smtClean="0"/>
              <a:t>‹#›</a:t>
            </a:fld>
            <a:endParaRPr lang="en-US"/>
          </a:p>
        </p:txBody>
      </p:sp>
    </p:spTree>
    <p:extLst>
      <p:ext uri="{BB962C8B-B14F-4D97-AF65-F5344CB8AC3E}">
        <p14:creationId xmlns:p14="http://schemas.microsoft.com/office/powerpoint/2010/main" val="37957531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EF995A3-E8DC-4E31-A2CF-2D980271CAE1}"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88DDE7-5592-4CB5-AAB6-ABD7022767A3}" type="slidenum">
              <a:rPr lang="en-US" smtClean="0"/>
              <a:t>‹#›</a:t>
            </a:fld>
            <a:endParaRPr lang="en-US"/>
          </a:p>
        </p:txBody>
      </p:sp>
    </p:spTree>
    <p:extLst>
      <p:ext uri="{BB962C8B-B14F-4D97-AF65-F5344CB8AC3E}">
        <p14:creationId xmlns:p14="http://schemas.microsoft.com/office/powerpoint/2010/main" val="17796083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EF995A3-E8DC-4E31-A2CF-2D980271CAE1}"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88DDE7-5592-4CB5-AAB6-ABD7022767A3}" type="slidenum">
              <a:rPr lang="en-US" smtClean="0"/>
              <a:t>‹#›</a:t>
            </a:fld>
            <a:endParaRPr lang="en-US"/>
          </a:p>
        </p:txBody>
      </p:sp>
    </p:spTree>
    <p:extLst>
      <p:ext uri="{BB962C8B-B14F-4D97-AF65-F5344CB8AC3E}">
        <p14:creationId xmlns:p14="http://schemas.microsoft.com/office/powerpoint/2010/main" val="16457074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EF995A3-E8DC-4E31-A2CF-2D980271CAE1}" type="datetimeFigureOut">
              <a:rPr lang="en-US" smtClean="0"/>
              <a:t>9/27/2026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9188DDE7-5592-4CB5-AAB6-ABD7022767A3}" type="slidenum">
              <a:rPr lang="en-US" smtClean="0"/>
              <a:t>‹#›</a:t>
            </a:fld>
            <a:endParaRPr lang="en-US"/>
          </a:p>
        </p:txBody>
      </p:sp>
    </p:spTree>
    <p:extLst>
      <p:ext uri="{BB962C8B-B14F-4D97-AF65-F5344CB8AC3E}">
        <p14:creationId xmlns:p14="http://schemas.microsoft.com/office/powerpoint/2010/main" val="531869437"/>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minhaz.ahmed@gmail.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Multimedia Computing</a:t>
            </a:r>
            <a:endParaRPr lang="en-US" dirty="0"/>
          </a:p>
        </p:txBody>
      </p:sp>
      <p:sp>
        <p:nvSpPr>
          <p:cNvPr id="3" name="Subtitle 2"/>
          <p:cNvSpPr>
            <a:spLocks noGrp="1"/>
          </p:cNvSpPr>
          <p:nvPr>
            <p:ph type="subTitle" idx="1"/>
          </p:nvPr>
        </p:nvSpPr>
        <p:spPr/>
        <p:txBody>
          <a:bodyPr>
            <a:normAutofit fontScale="25000" lnSpcReduction="20000"/>
          </a:bodyPr>
          <a:lstStyle/>
          <a:p>
            <a:pPr algn="ctr"/>
            <a:r>
              <a:rPr lang="en-US" dirty="0"/>
              <a:t>By </a:t>
            </a:r>
          </a:p>
          <a:p>
            <a:pPr algn="ctr"/>
            <a:r>
              <a:rPr lang="en-US" sz="5600" dirty="0"/>
              <a:t>Minhaz Uddin Ahmed, PhD</a:t>
            </a:r>
          </a:p>
          <a:p>
            <a:pPr algn="ctr"/>
            <a:r>
              <a:rPr lang="en-US" sz="5600" dirty="0"/>
              <a:t>Department of Computer Engineering</a:t>
            </a:r>
          </a:p>
          <a:p>
            <a:pPr algn="ctr"/>
            <a:r>
              <a:rPr lang="en-US" sz="5600" dirty="0" err="1"/>
              <a:t>Inha</a:t>
            </a:r>
            <a:r>
              <a:rPr lang="en-US" sz="5600" dirty="0"/>
              <a:t> University in Tashkent.</a:t>
            </a:r>
          </a:p>
          <a:p>
            <a:pPr algn="ctr"/>
            <a:r>
              <a:rPr lang="en-US" sz="5600" dirty="0"/>
              <a:t>Email: </a:t>
            </a:r>
            <a:r>
              <a:rPr lang="en-US" sz="5600" dirty="0">
                <a:hlinkClick r:id="rId2"/>
              </a:rPr>
              <a:t>minhaz.ahmed@gmail.com</a:t>
            </a:r>
            <a:endParaRPr lang="en-US" sz="5600" dirty="0"/>
          </a:p>
          <a:p>
            <a:pPr algn="ctr"/>
            <a:endParaRPr lang="en-US" sz="5600" dirty="0"/>
          </a:p>
        </p:txBody>
      </p:sp>
    </p:spTree>
    <p:extLst>
      <p:ext uri="{BB962C8B-B14F-4D97-AF65-F5344CB8AC3E}">
        <p14:creationId xmlns:p14="http://schemas.microsoft.com/office/powerpoint/2010/main" val="471775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7D172-93BC-F970-1C9B-E7590C4DC7EE}"/>
              </a:ext>
            </a:extLst>
          </p:cNvPr>
          <p:cNvSpPr>
            <a:spLocks noGrp="1"/>
          </p:cNvSpPr>
          <p:nvPr>
            <p:ph type="title"/>
          </p:nvPr>
        </p:nvSpPr>
        <p:spPr/>
        <p:txBody>
          <a:bodyPr/>
          <a:lstStyle/>
          <a:p>
            <a:r>
              <a:rPr lang="en-US" dirty="0"/>
              <a:t>Content</a:t>
            </a:r>
          </a:p>
        </p:txBody>
      </p:sp>
      <p:sp>
        <p:nvSpPr>
          <p:cNvPr id="3" name="Content Placeholder 2">
            <a:extLst>
              <a:ext uri="{FF2B5EF4-FFF2-40B4-BE49-F238E27FC236}">
                <a16:creationId xmlns:a16="http://schemas.microsoft.com/office/drawing/2014/main" id="{1A2BCF2C-BBB2-63AF-7803-C8B5CD85C67F}"/>
              </a:ext>
            </a:extLst>
          </p:cNvPr>
          <p:cNvSpPr>
            <a:spLocks noGrp="1"/>
          </p:cNvSpPr>
          <p:nvPr>
            <p:ph idx="1"/>
          </p:nvPr>
        </p:nvSpPr>
        <p:spPr/>
        <p:txBody>
          <a:bodyPr/>
          <a:lstStyle/>
          <a:p>
            <a:r>
              <a:rPr lang="en-US" dirty="0"/>
              <a:t>Picture element</a:t>
            </a:r>
          </a:p>
          <a:p>
            <a:r>
              <a:rPr lang="en-US" dirty="0"/>
              <a:t>Basic relationship among pixels</a:t>
            </a:r>
          </a:p>
          <a:p>
            <a:r>
              <a:rPr lang="en-US" dirty="0"/>
              <a:t>Neighbors of a pixel</a:t>
            </a:r>
          </a:p>
          <a:p>
            <a:r>
              <a:rPr lang="en-US" dirty="0"/>
              <a:t>Connectivity</a:t>
            </a:r>
          </a:p>
          <a:p>
            <a:r>
              <a:rPr lang="en-US" dirty="0"/>
              <a:t>Adjacent pixel</a:t>
            </a:r>
          </a:p>
          <a:p>
            <a:r>
              <a:rPr lang="en-US" dirty="0"/>
              <a:t>Arithmetic operation</a:t>
            </a:r>
          </a:p>
          <a:p>
            <a:r>
              <a:rPr lang="en-US" dirty="0"/>
              <a:t>Color representation</a:t>
            </a:r>
          </a:p>
          <a:p>
            <a:r>
              <a:rPr lang="en-US" dirty="0"/>
              <a:t>CIE XYZ to RGB</a:t>
            </a:r>
          </a:p>
          <a:p>
            <a:endParaRPr lang="en-US" dirty="0"/>
          </a:p>
        </p:txBody>
      </p:sp>
    </p:spTree>
    <p:extLst>
      <p:ext uri="{BB962C8B-B14F-4D97-AF65-F5344CB8AC3E}">
        <p14:creationId xmlns:p14="http://schemas.microsoft.com/office/powerpoint/2010/main" val="13766394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2CE01-5AAD-84F6-1863-FE04333DB571}"/>
              </a:ext>
            </a:extLst>
          </p:cNvPr>
          <p:cNvSpPr>
            <a:spLocks noGrp="1"/>
          </p:cNvSpPr>
          <p:nvPr>
            <p:ph type="title"/>
          </p:nvPr>
        </p:nvSpPr>
        <p:spPr/>
        <p:txBody>
          <a:bodyPr/>
          <a:lstStyle/>
          <a:p>
            <a:r>
              <a:rPr lang="en-US" dirty="0"/>
              <a:t>Coordinate Convention</a:t>
            </a:r>
          </a:p>
        </p:txBody>
      </p:sp>
      <p:pic>
        <p:nvPicPr>
          <p:cNvPr id="5" name="Content Placeholder 4">
            <a:extLst>
              <a:ext uri="{FF2B5EF4-FFF2-40B4-BE49-F238E27FC236}">
                <a16:creationId xmlns:a16="http://schemas.microsoft.com/office/drawing/2014/main" id="{02C6DA9D-BC1D-65B3-4E7B-F7805F1AA551}"/>
              </a:ext>
            </a:extLst>
          </p:cNvPr>
          <p:cNvPicPr>
            <a:picLocks noGrp="1" noChangeAspect="1"/>
          </p:cNvPicPr>
          <p:nvPr>
            <p:ph idx="1"/>
          </p:nvPr>
        </p:nvPicPr>
        <p:blipFill rotWithShape="1">
          <a:blip r:embed="rId2"/>
          <a:srcRect l="42452" t="14086" r="-384"/>
          <a:stretch>
            <a:fillRect/>
          </a:stretch>
        </p:blipFill>
        <p:spPr>
          <a:xfrm>
            <a:off x="4975668" y="1930400"/>
            <a:ext cx="4583357" cy="3617166"/>
          </a:xfrm>
        </p:spPr>
      </p:pic>
      <p:pic>
        <p:nvPicPr>
          <p:cNvPr id="6" name="Picture 5">
            <a:extLst>
              <a:ext uri="{FF2B5EF4-FFF2-40B4-BE49-F238E27FC236}">
                <a16:creationId xmlns:a16="http://schemas.microsoft.com/office/drawing/2014/main" id="{B139F107-0724-74FC-8BE0-0F4FE6342226}"/>
              </a:ext>
            </a:extLst>
          </p:cNvPr>
          <p:cNvPicPr>
            <a:picLocks noChangeAspect="1"/>
          </p:cNvPicPr>
          <p:nvPr/>
        </p:nvPicPr>
        <p:blipFill>
          <a:blip r:embed="rId3"/>
          <a:stretch>
            <a:fillRect/>
          </a:stretch>
        </p:blipFill>
        <p:spPr>
          <a:xfrm>
            <a:off x="240917" y="1795511"/>
            <a:ext cx="4112643" cy="2766442"/>
          </a:xfrm>
          <a:prstGeom prst="rect">
            <a:avLst/>
          </a:prstGeom>
        </p:spPr>
      </p:pic>
      <p:sp>
        <p:nvSpPr>
          <p:cNvPr id="7" name="TextBox 6">
            <a:extLst>
              <a:ext uri="{FF2B5EF4-FFF2-40B4-BE49-F238E27FC236}">
                <a16:creationId xmlns:a16="http://schemas.microsoft.com/office/drawing/2014/main" id="{31FD0672-04EE-5097-E866-A3C6219D21F3}"/>
              </a:ext>
            </a:extLst>
          </p:cNvPr>
          <p:cNvSpPr txBox="1"/>
          <p:nvPr/>
        </p:nvSpPr>
        <p:spPr>
          <a:xfrm>
            <a:off x="703645" y="4913643"/>
            <a:ext cx="3617406" cy="861774"/>
          </a:xfrm>
          <a:prstGeom prst="rect">
            <a:avLst/>
          </a:prstGeom>
          <a:noFill/>
        </p:spPr>
        <p:txBody>
          <a:bodyPr wrap="square" rtlCol="0">
            <a:spAutoFit/>
          </a:bodyPr>
          <a:lstStyle/>
          <a:p>
            <a:r>
              <a:rPr lang="en-US" sz="1600" dirty="0"/>
              <a:t>Coordinate convention to represent digital image</a:t>
            </a:r>
          </a:p>
          <a:p>
            <a:endParaRPr lang="en-US" dirty="0"/>
          </a:p>
        </p:txBody>
      </p:sp>
      <p:sp>
        <p:nvSpPr>
          <p:cNvPr id="9" name="TextBox 8">
            <a:extLst>
              <a:ext uri="{FF2B5EF4-FFF2-40B4-BE49-F238E27FC236}">
                <a16:creationId xmlns:a16="http://schemas.microsoft.com/office/drawing/2014/main" id="{63C9C724-C1AF-07D1-FBD5-5FEDFF70C34C}"/>
              </a:ext>
            </a:extLst>
          </p:cNvPr>
          <p:cNvSpPr txBox="1"/>
          <p:nvPr/>
        </p:nvSpPr>
        <p:spPr>
          <a:xfrm>
            <a:off x="419054" y="5899256"/>
            <a:ext cx="11514666" cy="923330"/>
          </a:xfrm>
          <a:prstGeom prst="rect">
            <a:avLst/>
          </a:prstGeom>
          <a:noFill/>
        </p:spPr>
        <p:txBody>
          <a:bodyPr wrap="square">
            <a:spAutoFit/>
          </a:bodyPr>
          <a:lstStyle/>
          <a:p>
            <a:r>
              <a:rPr lang="en-US" sz="1800" b="0" u="none" strike="noStrike" dirty="0">
                <a:effectLst/>
                <a:latin typeface="+mn-lt"/>
              </a:rPr>
              <a:t>An image's element-wise representation</a:t>
            </a:r>
            <a:r>
              <a:rPr lang="en-US" dirty="0"/>
              <a:t> treats each pixel independently as an individual data point, whereas its </a:t>
            </a:r>
            <a:r>
              <a:rPr lang="en-US" sz="1800" b="0" u="none" strike="noStrike" dirty="0">
                <a:effectLst/>
                <a:latin typeface="+mn-lt"/>
              </a:rPr>
              <a:t>matrix representation</a:t>
            </a:r>
            <a:r>
              <a:rPr lang="en-US" dirty="0"/>
              <a:t> structures the entire grid of pixels as a unified mathematical object for spatial transformations</a:t>
            </a:r>
          </a:p>
        </p:txBody>
      </p:sp>
    </p:spTree>
    <p:extLst>
      <p:ext uri="{BB962C8B-B14F-4D97-AF65-F5344CB8AC3E}">
        <p14:creationId xmlns:p14="http://schemas.microsoft.com/office/powerpoint/2010/main" val="2572858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01C42-B8A7-CBFB-BB54-5A6C9FCEEDA0}"/>
              </a:ext>
            </a:extLst>
          </p:cNvPr>
          <p:cNvSpPr>
            <a:spLocks noGrp="1"/>
          </p:cNvSpPr>
          <p:nvPr>
            <p:ph type="title"/>
          </p:nvPr>
        </p:nvSpPr>
        <p:spPr/>
        <p:txBody>
          <a:bodyPr/>
          <a:lstStyle/>
          <a:p>
            <a:r>
              <a:rPr lang="en-US" dirty="0"/>
              <a:t>Matrix Flattening</a:t>
            </a:r>
          </a:p>
        </p:txBody>
      </p:sp>
      <p:sp>
        <p:nvSpPr>
          <p:cNvPr id="3" name="Content Placeholder 2">
            <a:extLst>
              <a:ext uri="{FF2B5EF4-FFF2-40B4-BE49-F238E27FC236}">
                <a16:creationId xmlns:a16="http://schemas.microsoft.com/office/drawing/2014/main" id="{E7ADB9B0-67EA-855E-5E6C-074CF24E9B32}"/>
              </a:ext>
            </a:extLst>
          </p:cNvPr>
          <p:cNvSpPr>
            <a:spLocks noGrp="1"/>
          </p:cNvSpPr>
          <p:nvPr>
            <p:ph idx="1"/>
          </p:nvPr>
        </p:nvSpPr>
        <p:spPr/>
        <p:txBody>
          <a:bodyPr/>
          <a:lstStyle/>
          <a:p>
            <a:r>
              <a:rPr lang="en-US" dirty="0"/>
              <a:t>For performance reasons we usually do not store image in the matrix fashion when coding image processing algorithms in Embedded Systems.</a:t>
            </a:r>
          </a:p>
          <a:p>
            <a:r>
              <a:rPr lang="en-US" dirty="0"/>
              <a:t>There are two prevalent ordering schemes for storing flattened 2D matrices:</a:t>
            </a:r>
          </a:p>
          <a:p>
            <a:pPr>
              <a:buFont typeface="Wingdings" panose="05000000000000000000" pitchFamily="2" charset="2"/>
              <a:buChar char="v"/>
            </a:pPr>
            <a:r>
              <a:rPr lang="en-US" dirty="0"/>
              <a:t> Row-major</a:t>
            </a:r>
          </a:p>
          <a:p>
            <a:pPr>
              <a:buFont typeface="Wingdings" panose="05000000000000000000" pitchFamily="2" charset="2"/>
              <a:buChar char="v"/>
            </a:pPr>
            <a:r>
              <a:rPr lang="en-US" dirty="0"/>
              <a:t>Column-major</a:t>
            </a:r>
          </a:p>
        </p:txBody>
      </p:sp>
      <p:pic>
        <p:nvPicPr>
          <p:cNvPr id="5" name="Picture 4">
            <a:extLst>
              <a:ext uri="{FF2B5EF4-FFF2-40B4-BE49-F238E27FC236}">
                <a16:creationId xmlns:a16="http://schemas.microsoft.com/office/drawing/2014/main" id="{9CD39815-8FFC-8604-156F-76445D9B6A30}"/>
              </a:ext>
            </a:extLst>
          </p:cNvPr>
          <p:cNvPicPr>
            <a:picLocks noChangeAspect="1"/>
          </p:cNvPicPr>
          <p:nvPr/>
        </p:nvPicPr>
        <p:blipFill>
          <a:blip r:embed="rId2"/>
          <a:stretch>
            <a:fillRect/>
          </a:stretch>
        </p:blipFill>
        <p:spPr>
          <a:xfrm>
            <a:off x="4762026" y="3429000"/>
            <a:ext cx="2667947" cy="3146628"/>
          </a:xfrm>
          <a:prstGeom prst="rect">
            <a:avLst/>
          </a:prstGeom>
        </p:spPr>
      </p:pic>
    </p:spTree>
    <p:extLst>
      <p:ext uri="{BB962C8B-B14F-4D97-AF65-F5344CB8AC3E}">
        <p14:creationId xmlns:p14="http://schemas.microsoft.com/office/powerpoint/2010/main" val="8693395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7DA47-FC7B-BE06-BE75-51623B32753B}"/>
              </a:ext>
            </a:extLst>
          </p:cNvPr>
          <p:cNvSpPr>
            <a:spLocks noGrp="1"/>
          </p:cNvSpPr>
          <p:nvPr>
            <p:ph type="title"/>
          </p:nvPr>
        </p:nvSpPr>
        <p:spPr/>
        <p:txBody>
          <a:bodyPr/>
          <a:lstStyle/>
          <a:p>
            <a:r>
              <a:rPr lang="en-US" dirty="0"/>
              <a:t>Radiometry</a:t>
            </a:r>
          </a:p>
        </p:txBody>
      </p:sp>
      <p:sp>
        <p:nvSpPr>
          <p:cNvPr id="3" name="Content Placeholder 2">
            <a:extLst>
              <a:ext uri="{FF2B5EF4-FFF2-40B4-BE49-F238E27FC236}">
                <a16:creationId xmlns:a16="http://schemas.microsoft.com/office/drawing/2014/main" id="{92915C3E-ABCD-D1D8-9264-417870FD956A}"/>
              </a:ext>
            </a:extLst>
          </p:cNvPr>
          <p:cNvSpPr>
            <a:spLocks noGrp="1"/>
          </p:cNvSpPr>
          <p:nvPr>
            <p:ph idx="1"/>
          </p:nvPr>
        </p:nvSpPr>
        <p:spPr>
          <a:xfrm>
            <a:off x="677334" y="2160589"/>
            <a:ext cx="8824018" cy="3880773"/>
          </a:xfrm>
        </p:spPr>
        <p:txBody>
          <a:bodyPr/>
          <a:lstStyle/>
          <a:p>
            <a:pPr algn="just"/>
            <a:r>
              <a:rPr lang="en-US" sz="1800" b="0" i="0" dirty="0">
                <a:solidFill>
                  <a:srgbClr val="92D050"/>
                </a:solidFill>
                <a:effectLst/>
                <a:latin typeface="CMR10"/>
              </a:rPr>
              <a:t>In radiometry light is considered to be a traveling form of energy and therefore the unit used to describe, the unit of energy, </a:t>
            </a:r>
            <a:r>
              <a:rPr lang="en-US" sz="1800" b="0" i="1" dirty="0">
                <a:solidFill>
                  <a:srgbClr val="92D050"/>
                </a:solidFill>
                <a:effectLst/>
                <a:latin typeface="CMTI10"/>
              </a:rPr>
              <a:t>joule (J)</a:t>
            </a:r>
            <a:r>
              <a:rPr lang="en-US" sz="1800" b="0" i="0" dirty="0">
                <a:solidFill>
                  <a:srgbClr val="92D050"/>
                </a:solidFill>
                <a:effectLst/>
                <a:latin typeface="CMR10"/>
              </a:rPr>
              <a:t>. This energy is associated with a source of origin, which is usually defined by its position, a direction of propagation and a wavelength </a:t>
            </a:r>
            <a:r>
              <a:rPr lang="en-US" sz="1800" b="0" i="1" dirty="0">
                <a:solidFill>
                  <a:srgbClr val="92D050"/>
                </a:solidFill>
                <a:effectLst/>
                <a:latin typeface="CMMI10"/>
              </a:rPr>
              <a:t>λ</a:t>
            </a:r>
            <a:r>
              <a:rPr lang="en-US" sz="1800" b="0" i="0" dirty="0">
                <a:solidFill>
                  <a:srgbClr val="92D050"/>
                </a:solidFill>
                <a:effectLst/>
                <a:latin typeface="CMR10"/>
              </a:rPr>
              <a:t>. </a:t>
            </a:r>
            <a:r>
              <a:rPr lang="en-US" sz="1800" b="0" i="0" dirty="0">
                <a:solidFill>
                  <a:srgbClr val="FF0000"/>
                </a:solidFill>
                <a:effectLst/>
                <a:latin typeface="CMR10"/>
              </a:rPr>
              <a:t>The particle theory of light where the smallest unit of light is considered to be a photon or a quantum of energy</a:t>
            </a:r>
            <a:r>
              <a:rPr lang="en-US" sz="1800" b="0" i="0" dirty="0">
                <a:solidFill>
                  <a:srgbClr val="92D050"/>
                </a:solidFill>
                <a:effectLst/>
                <a:latin typeface="CMR10"/>
              </a:rPr>
              <a:t>. </a:t>
            </a:r>
            <a:r>
              <a:rPr lang="en-US" sz="1800" b="0" i="0" dirty="0">
                <a:solidFill>
                  <a:srgbClr val="000000"/>
                </a:solidFill>
                <a:effectLst/>
                <a:latin typeface="CMR10"/>
              </a:rPr>
              <a:t>This also conforms to the wave theory of light, which assumes light to be a waveform traveling in a particular direction. </a:t>
            </a:r>
            <a:r>
              <a:rPr lang="en-US" sz="1800" b="0" i="1" dirty="0">
                <a:solidFill>
                  <a:srgbClr val="000000"/>
                </a:solidFill>
                <a:effectLst/>
                <a:latin typeface="CMMI10"/>
              </a:rPr>
              <a:t>λ </a:t>
            </a:r>
            <a:r>
              <a:rPr lang="en-US" sz="1800" b="0" i="0" dirty="0">
                <a:solidFill>
                  <a:srgbClr val="000000"/>
                </a:solidFill>
                <a:effectLst/>
                <a:latin typeface="CMR10"/>
              </a:rPr>
              <a:t>is expressed by units of nanometers (</a:t>
            </a:r>
            <a:r>
              <a:rPr lang="en-US" sz="1800" b="0" i="1" dirty="0">
                <a:solidFill>
                  <a:srgbClr val="000000"/>
                </a:solidFill>
                <a:effectLst/>
                <a:latin typeface="CMMI10"/>
              </a:rPr>
              <a:t>nm</a:t>
            </a:r>
            <a:r>
              <a:rPr lang="en-US" sz="1800" b="0" i="0" dirty="0">
                <a:solidFill>
                  <a:srgbClr val="000000"/>
                </a:solidFill>
                <a:effectLst/>
                <a:latin typeface="CMR10"/>
              </a:rPr>
              <a:t>). </a:t>
            </a:r>
            <a:r>
              <a:rPr lang="en-US" sz="1800" b="0" i="0" dirty="0">
                <a:solidFill>
                  <a:srgbClr val="FF0000"/>
                </a:solidFill>
                <a:effectLst/>
                <a:latin typeface="CMR10"/>
              </a:rPr>
              <a:t>Light travels with a speed </a:t>
            </a:r>
            <a:r>
              <a:rPr lang="en-US" sz="1800" b="0" i="1" dirty="0">
                <a:solidFill>
                  <a:srgbClr val="FF0000"/>
                </a:solidFill>
                <a:effectLst/>
                <a:latin typeface="CMMI10"/>
              </a:rPr>
              <a:t>c (</a:t>
            </a:r>
            <a:r>
              <a:rPr lang="en-US" sz="1800" b="0" i="1" dirty="0" err="1">
                <a:solidFill>
                  <a:srgbClr val="FF0000"/>
                </a:solidFill>
                <a:effectLst/>
                <a:latin typeface="CMMI10"/>
              </a:rPr>
              <a:t>vacum</a:t>
            </a:r>
            <a:r>
              <a:rPr lang="en-US" sz="1800" b="0" i="1" dirty="0">
                <a:solidFill>
                  <a:srgbClr val="FF0000"/>
                </a:solidFill>
                <a:effectLst/>
                <a:latin typeface="CMMI10"/>
              </a:rPr>
              <a:t>) </a:t>
            </a:r>
            <a:r>
              <a:rPr lang="en-US" sz="1800" b="0" i="1" dirty="0">
                <a:solidFill>
                  <a:srgbClr val="FF0000"/>
                </a:solidFill>
                <a:effectLst/>
                <a:latin typeface="CMMI7"/>
              </a:rPr>
              <a:t>n</a:t>
            </a:r>
            <a:r>
              <a:rPr lang="en-US" sz="1800" b="0" i="1" dirty="0">
                <a:solidFill>
                  <a:srgbClr val="000000"/>
                </a:solidFill>
                <a:effectLst/>
                <a:latin typeface="CMMI7"/>
              </a:rPr>
              <a:t> </a:t>
            </a:r>
            <a:r>
              <a:rPr lang="en-US" sz="1800" b="0" i="0" dirty="0">
                <a:solidFill>
                  <a:srgbClr val="000000"/>
                </a:solidFill>
                <a:effectLst/>
                <a:latin typeface="CMR10"/>
              </a:rPr>
              <a:t>in a medium of refractive index </a:t>
            </a:r>
            <a:r>
              <a:rPr lang="en-US" sz="1800" b="0" i="1" dirty="0">
                <a:solidFill>
                  <a:srgbClr val="000000"/>
                </a:solidFill>
                <a:effectLst/>
                <a:latin typeface="CMMI10"/>
              </a:rPr>
              <a:t>n</a:t>
            </a:r>
            <a:r>
              <a:rPr lang="en-US" sz="1800" b="0" i="0" dirty="0">
                <a:solidFill>
                  <a:srgbClr val="000000"/>
                </a:solidFill>
                <a:effectLst/>
                <a:latin typeface="CMR10"/>
              </a:rPr>
              <a:t>. An invariant in this </a:t>
            </a:r>
            <a:r>
              <a:rPr lang="en-US" sz="1800" b="0" i="0" dirty="0">
                <a:solidFill>
                  <a:srgbClr val="FF0000"/>
                </a:solidFill>
                <a:effectLst/>
                <a:latin typeface="CMR10"/>
              </a:rPr>
              <a:t>context is the frequency </a:t>
            </a:r>
            <a:r>
              <a:rPr lang="en-US" sz="1800" b="0" i="1" dirty="0">
                <a:solidFill>
                  <a:srgbClr val="FF0000"/>
                </a:solidFill>
                <a:effectLst/>
                <a:latin typeface="CMMI10"/>
              </a:rPr>
              <a:t>f </a:t>
            </a:r>
            <a:r>
              <a:rPr lang="en-US" sz="1800" b="0" i="0" dirty="0">
                <a:solidFill>
                  <a:srgbClr val="FF0000"/>
                </a:solidFill>
                <a:effectLst/>
                <a:latin typeface="CMR10"/>
              </a:rPr>
              <a:t>of light </a:t>
            </a:r>
            <a:r>
              <a:rPr lang="en-US" sz="1800" b="0" i="0" dirty="0">
                <a:solidFill>
                  <a:srgbClr val="000000"/>
                </a:solidFill>
                <a:effectLst/>
                <a:latin typeface="CMR10"/>
              </a:rPr>
              <a:t>is given by</a:t>
            </a:r>
            <a:r>
              <a:rPr lang="en-US" dirty="0"/>
              <a:t> </a:t>
            </a:r>
            <a:br>
              <a:rPr lang="en-US" dirty="0"/>
            </a:br>
            <a:endParaRPr lang="en-US" dirty="0"/>
          </a:p>
        </p:txBody>
      </p:sp>
      <p:pic>
        <p:nvPicPr>
          <p:cNvPr id="5" name="Picture 4">
            <a:extLst>
              <a:ext uri="{FF2B5EF4-FFF2-40B4-BE49-F238E27FC236}">
                <a16:creationId xmlns:a16="http://schemas.microsoft.com/office/drawing/2014/main" id="{F48097C3-5DBA-A63F-2D4D-311EF08B7166}"/>
              </a:ext>
            </a:extLst>
          </p:cNvPr>
          <p:cNvPicPr>
            <a:picLocks noChangeAspect="1"/>
          </p:cNvPicPr>
          <p:nvPr/>
        </p:nvPicPr>
        <p:blipFill>
          <a:blip r:embed="rId2"/>
          <a:stretch>
            <a:fillRect/>
          </a:stretch>
        </p:blipFill>
        <p:spPr>
          <a:xfrm>
            <a:off x="4029375" y="4921603"/>
            <a:ext cx="1295660" cy="754754"/>
          </a:xfrm>
          <a:prstGeom prst="rect">
            <a:avLst/>
          </a:prstGeom>
        </p:spPr>
      </p:pic>
    </p:spTree>
    <p:extLst>
      <p:ext uri="{BB962C8B-B14F-4D97-AF65-F5344CB8AC3E}">
        <p14:creationId xmlns:p14="http://schemas.microsoft.com/office/powerpoint/2010/main" val="34006708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7DA47-FC7B-BE06-BE75-51623B32753B}"/>
              </a:ext>
            </a:extLst>
          </p:cNvPr>
          <p:cNvSpPr>
            <a:spLocks noGrp="1"/>
          </p:cNvSpPr>
          <p:nvPr>
            <p:ph type="title"/>
          </p:nvPr>
        </p:nvSpPr>
        <p:spPr/>
        <p:txBody>
          <a:bodyPr/>
          <a:lstStyle/>
          <a:p>
            <a:r>
              <a:rPr lang="en-US" dirty="0"/>
              <a:t>Radiometry</a:t>
            </a:r>
          </a:p>
        </p:txBody>
      </p:sp>
      <p:sp>
        <p:nvSpPr>
          <p:cNvPr id="3" name="Content Placeholder 2">
            <a:extLst>
              <a:ext uri="{FF2B5EF4-FFF2-40B4-BE49-F238E27FC236}">
                <a16:creationId xmlns:a16="http://schemas.microsoft.com/office/drawing/2014/main" id="{92915C3E-ABCD-D1D8-9264-417870FD956A}"/>
              </a:ext>
            </a:extLst>
          </p:cNvPr>
          <p:cNvSpPr>
            <a:spLocks noGrp="1"/>
          </p:cNvSpPr>
          <p:nvPr>
            <p:ph idx="1"/>
          </p:nvPr>
        </p:nvSpPr>
        <p:spPr/>
        <p:txBody>
          <a:bodyPr/>
          <a:lstStyle/>
          <a:p>
            <a:r>
              <a:rPr lang="en-US" sz="1800" b="0" i="0" dirty="0">
                <a:solidFill>
                  <a:srgbClr val="000000"/>
                </a:solidFill>
                <a:effectLst/>
                <a:latin typeface="CMR10"/>
              </a:rPr>
              <a:t>which does not change unlike </a:t>
            </a:r>
            <a:r>
              <a:rPr lang="en-US" i="1" dirty="0">
                <a:solidFill>
                  <a:srgbClr val="000000"/>
                </a:solidFill>
                <a:latin typeface="CMMI10"/>
              </a:rPr>
              <a:t>C</a:t>
            </a:r>
            <a:r>
              <a:rPr lang="en-US" sz="1800" b="0" i="1" dirty="0">
                <a:solidFill>
                  <a:srgbClr val="000000"/>
                </a:solidFill>
                <a:effectLst/>
                <a:latin typeface="CMMI7"/>
              </a:rPr>
              <a:t>n </a:t>
            </a:r>
            <a:r>
              <a:rPr lang="en-US" sz="1800" b="0" i="0" dirty="0">
                <a:solidFill>
                  <a:srgbClr val="000000"/>
                </a:solidFill>
                <a:effectLst/>
                <a:latin typeface="CMR10"/>
              </a:rPr>
              <a:t>and </a:t>
            </a:r>
            <a:r>
              <a:rPr lang="en-US" sz="1800" b="0" i="1" dirty="0">
                <a:solidFill>
                  <a:srgbClr val="000000"/>
                </a:solidFill>
                <a:effectLst/>
                <a:latin typeface="CMMI10"/>
              </a:rPr>
              <a:t>λ</a:t>
            </a:r>
            <a:r>
              <a:rPr lang="en-US" sz="1800" b="0" i="0" dirty="0">
                <a:solidFill>
                  <a:srgbClr val="000000"/>
                </a:solidFill>
                <a:effectLst/>
                <a:latin typeface="CMR10"/>
              </a:rPr>
              <a:t>. Another invariant is the energy carried by a photon</a:t>
            </a:r>
            <a:r>
              <a:rPr lang="en-US" dirty="0"/>
              <a:t> </a:t>
            </a:r>
            <a:br>
              <a:rPr lang="en-US" dirty="0"/>
            </a:br>
            <a:endParaRPr lang="en-US" dirty="0"/>
          </a:p>
        </p:txBody>
      </p:sp>
      <p:pic>
        <p:nvPicPr>
          <p:cNvPr id="5" name="Picture 4">
            <a:extLst>
              <a:ext uri="{FF2B5EF4-FFF2-40B4-BE49-F238E27FC236}">
                <a16:creationId xmlns:a16="http://schemas.microsoft.com/office/drawing/2014/main" id="{A4EE8E0C-2F71-70AF-D07A-F53954802291}"/>
              </a:ext>
            </a:extLst>
          </p:cNvPr>
          <p:cNvPicPr>
            <a:picLocks noChangeAspect="1"/>
          </p:cNvPicPr>
          <p:nvPr/>
        </p:nvPicPr>
        <p:blipFill>
          <a:blip r:embed="rId2"/>
          <a:stretch>
            <a:fillRect/>
          </a:stretch>
        </p:blipFill>
        <p:spPr>
          <a:xfrm>
            <a:off x="3809073" y="2806362"/>
            <a:ext cx="1067727" cy="725731"/>
          </a:xfrm>
          <a:prstGeom prst="rect">
            <a:avLst/>
          </a:prstGeom>
        </p:spPr>
      </p:pic>
      <p:sp>
        <p:nvSpPr>
          <p:cNvPr id="7" name="TextBox 6">
            <a:extLst>
              <a:ext uri="{FF2B5EF4-FFF2-40B4-BE49-F238E27FC236}">
                <a16:creationId xmlns:a16="http://schemas.microsoft.com/office/drawing/2014/main" id="{7479EF80-C191-A146-56D2-A0C63E364887}"/>
              </a:ext>
            </a:extLst>
          </p:cNvPr>
          <p:cNvSpPr txBox="1"/>
          <p:nvPr/>
        </p:nvSpPr>
        <p:spPr>
          <a:xfrm>
            <a:off x="844923" y="3911938"/>
            <a:ext cx="9173283" cy="2031325"/>
          </a:xfrm>
          <a:prstGeom prst="rect">
            <a:avLst/>
          </a:prstGeom>
          <a:noFill/>
        </p:spPr>
        <p:txBody>
          <a:bodyPr wrap="square">
            <a:spAutoFit/>
          </a:bodyPr>
          <a:lstStyle/>
          <a:p>
            <a:r>
              <a:rPr lang="en-US" sz="1800" b="0" i="0" dirty="0">
                <a:solidFill>
                  <a:srgbClr val="000000"/>
                </a:solidFill>
                <a:effectLst/>
                <a:latin typeface="CMR10"/>
              </a:rPr>
              <a:t>The </a:t>
            </a:r>
            <a:r>
              <a:rPr lang="en-US" sz="1800" b="0" i="1" dirty="0">
                <a:solidFill>
                  <a:srgbClr val="000000"/>
                </a:solidFill>
                <a:effectLst/>
                <a:latin typeface="CMTI10"/>
              </a:rPr>
              <a:t>spectral energy </a:t>
            </a:r>
            <a:r>
              <a:rPr lang="en-US" sz="1800" b="0" i="0" dirty="0">
                <a:solidFill>
                  <a:srgbClr val="000000"/>
                </a:solidFill>
                <a:effectLst/>
                <a:latin typeface="CMR10"/>
              </a:rPr>
              <a:t>is a density function that gives the density of the quantum energy at an infinitesimal interval of wavelengths around </a:t>
            </a:r>
            <a:r>
              <a:rPr lang="en-US" sz="1800" b="0" i="1" dirty="0">
                <a:solidFill>
                  <a:srgbClr val="000000"/>
                </a:solidFill>
                <a:effectLst/>
                <a:latin typeface="CMMI10"/>
              </a:rPr>
              <a:t>λ </a:t>
            </a:r>
            <a:r>
              <a:rPr lang="en-US" sz="1800" b="0" i="0" dirty="0">
                <a:solidFill>
                  <a:srgbClr val="000000"/>
                </a:solidFill>
                <a:effectLst/>
                <a:latin typeface="CMR10"/>
              </a:rPr>
              <a:t>with a width of ∆</a:t>
            </a:r>
            <a:r>
              <a:rPr lang="en-US" sz="1800" b="0" i="1" dirty="0">
                <a:solidFill>
                  <a:srgbClr val="000000"/>
                </a:solidFill>
                <a:effectLst/>
                <a:latin typeface="CMMI10"/>
              </a:rPr>
              <a:t>λ.</a:t>
            </a:r>
          </a:p>
          <a:p>
            <a:endParaRPr lang="en-US" i="1" dirty="0">
              <a:solidFill>
                <a:srgbClr val="000000"/>
              </a:solidFill>
              <a:latin typeface="CMMI10"/>
            </a:endParaRPr>
          </a:p>
          <a:p>
            <a:endParaRPr lang="en-US" i="1" dirty="0">
              <a:solidFill>
                <a:srgbClr val="000000"/>
              </a:solidFill>
              <a:latin typeface="CMMI10"/>
            </a:endParaRPr>
          </a:p>
          <a:p>
            <a:r>
              <a:rPr lang="en-US" dirty="0">
                <a:solidFill>
                  <a:srgbClr val="0070C0"/>
                </a:solidFill>
              </a:rPr>
              <a:t>Radiometry is the science and technology of the measurement of radiation from all wavelengths within the optical spectrum. </a:t>
            </a:r>
            <a:r>
              <a:rPr lang="en-US" dirty="0">
                <a:solidFill>
                  <a:srgbClr val="92D050"/>
                </a:solidFill>
              </a:rPr>
              <a:t>The basic unit of power in radiometry is the watt (W).</a:t>
            </a:r>
          </a:p>
        </p:txBody>
      </p:sp>
    </p:spTree>
    <p:extLst>
      <p:ext uri="{BB962C8B-B14F-4D97-AF65-F5344CB8AC3E}">
        <p14:creationId xmlns:p14="http://schemas.microsoft.com/office/powerpoint/2010/main" val="38505220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4C175-FE1C-A4D7-CEF7-9BDA73E88E23}"/>
              </a:ext>
            </a:extLst>
          </p:cNvPr>
          <p:cNvSpPr>
            <a:spLocks noGrp="1"/>
          </p:cNvSpPr>
          <p:nvPr>
            <p:ph type="title"/>
          </p:nvPr>
        </p:nvSpPr>
        <p:spPr/>
        <p:txBody>
          <a:bodyPr/>
          <a:lstStyle/>
          <a:p>
            <a:r>
              <a:rPr lang="en-US" dirty="0"/>
              <a:t>Photometry</a:t>
            </a:r>
          </a:p>
        </p:txBody>
      </p:sp>
      <p:sp>
        <p:nvSpPr>
          <p:cNvPr id="7" name="TextBox 6">
            <a:extLst>
              <a:ext uri="{FF2B5EF4-FFF2-40B4-BE49-F238E27FC236}">
                <a16:creationId xmlns:a16="http://schemas.microsoft.com/office/drawing/2014/main" id="{75B09834-2006-870A-F00F-1AF585468CFF}"/>
              </a:ext>
            </a:extLst>
          </p:cNvPr>
          <p:cNvSpPr txBox="1"/>
          <p:nvPr/>
        </p:nvSpPr>
        <p:spPr>
          <a:xfrm>
            <a:off x="916524" y="4154774"/>
            <a:ext cx="7830178" cy="1200329"/>
          </a:xfrm>
          <a:prstGeom prst="rect">
            <a:avLst/>
          </a:prstGeom>
          <a:noFill/>
        </p:spPr>
        <p:txBody>
          <a:bodyPr wrap="square">
            <a:spAutoFit/>
          </a:bodyPr>
          <a:lstStyle/>
          <a:p>
            <a:r>
              <a:rPr lang="en-US" b="0" i="0" dirty="0">
                <a:solidFill>
                  <a:srgbClr val="00B050"/>
                </a:solidFill>
                <a:effectLst/>
                <a:latin typeface="Source Sans Pro Web"/>
              </a:rPr>
              <a:t>The difference between radiometry and photometry is that </a:t>
            </a:r>
            <a:r>
              <a:rPr lang="en-US" b="0" i="0" dirty="0">
                <a:solidFill>
                  <a:srgbClr val="FF0000"/>
                </a:solidFill>
                <a:effectLst/>
                <a:latin typeface="Source Sans Pro Web"/>
              </a:rPr>
              <a:t>radiometry includes the entire optical radiation spectrum </a:t>
            </a:r>
            <a:r>
              <a:rPr lang="en-US" b="0" i="0" dirty="0">
                <a:solidFill>
                  <a:srgbClr val="00B050"/>
                </a:solidFill>
                <a:effectLst/>
                <a:latin typeface="Source Sans Pro Web"/>
              </a:rPr>
              <a:t>(and often involves spectrally resolved measurements), while </a:t>
            </a:r>
            <a:r>
              <a:rPr lang="en-US" b="0" i="0" dirty="0">
                <a:solidFill>
                  <a:srgbClr val="FF0000"/>
                </a:solidFill>
                <a:effectLst/>
                <a:latin typeface="Source Sans Pro Web"/>
              </a:rPr>
              <a:t>photometry deals with the visible spectrum </a:t>
            </a:r>
            <a:r>
              <a:rPr lang="en-US" b="0" i="0" dirty="0">
                <a:solidFill>
                  <a:srgbClr val="00B050"/>
                </a:solidFill>
                <a:effectLst/>
                <a:latin typeface="Source Sans Pro Web"/>
              </a:rPr>
              <a:t>weighted by the response of the eye.</a:t>
            </a:r>
            <a:endParaRPr lang="en-US" dirty="0">
              <a:solidFill>
                <a:srgbClr val="00B050"/>
              </a:solidFill>
            </a:endParaRPr>
          </a:p>
        </p:txBody>
      </p:sp>
      <p:sp>
        <p:nvSpPr>
          <p:cNvPr id="3" name="TextBox 2">
            <a:extLst>
              <a:ext uri="{FF2B5EF4-FFF2-40B4-BE49-F238E27FC236}">
                <a16:creationId xmlns:a16="http://schemas.microsoft.com/office/drawing/2014/main" id="{31E4970E-C9DD-80AE-B33C-9900563D5A33}"/>
              </a:ext>
            </a:extLst>
          </p:cNvPr>
          <p:cNvSpPr txBox="1"/>
          <p:nvPr/>
        </p:nvSpPr>
        <p:spPr>
          <a:xfrm>
            <a:off x="856234" y="1704819"/>
            <a:ext cx="7950758" cy="1477328"/>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rgbClr val="0070C0"/>
                </a:solidFill>
              </a:rPr>
              <a:t>Study of measurement of light in terms of visual response it produces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solidFill>
                  <a:srgbClr val="00B050"/>
                </a:solidFill>
              </a:rPr>
              <a:t>Study concerned with the ways of measuring intensity of light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Branch of Radiometry</a:t>
            </a:r>
          </a:p>
        </p:txBody>
      </p:sp>
    </p:spTree>
    <p:extLst>
      <p:ext uri="{BB962C8B-B14F-4D97-AF65-F5344CB8AC3E}">
        <p14:creationId xmlns:p14="http://schemas.microsoft.com/office/powerpoint/2010/main" val="26086848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0B768-7A9C-0577-1F51-AF9C500E55C4}"/>
              </a:ext>
            </a:extLst>
          </p:cNvPr>
          <p:cNvSpPr>
            <a:spLocks noGrp="1"/>
          </p:cNvSpPr>
          <p:nvPr>
            <p:ph type="title"/>
          </p:nvPr>
        </p:nvSpPr>
        <p:spPr/>
        <p:txBody>
          <a:bodyPr/>
          <a:lstStyle/>
          <a:p>
            <a:r>
              <a:rPr lang="en-US" dirty="0"/>
              <a:t>Visual sensitivity</a:t>
            </a:r>
          </a:p>
        </p:txBody>
      </p:sp>
      <p:sp>
        <p:nvSpPr>
          <p:cNvPr id="3" name="TextBox 2">
            <a:extLst>
              <a:ext uri="{FF2B5EF4-FFF2-40B4-BE49-F238E27FC236}">
                <a16:creationId xmlns:a16="http://schemas.microsoft.com/office/drawing/2014/main" id="{CBCC1540-D4C3-AF0C-C532-6F72857F47F6}"/>
              </a:ext>
            </a:extLst>
          </p:cNvPr>
          <p:cNvSpPr txBox="1"/>
          <p:nvPr/>
        </p:nvSpPr>
        <p:spPr>
          <a:xfrm>
            <a:off x="894303" y="2049864"/>
            <a:ext cx="7496071" cy="1754326"/>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rgbClr val="00B050"/>
                </a:solidFill>
              </a:rPr>
              <a:t>Sensitivity of an individual to particular wavelength at a given viewing condition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solidFill>
                  <a:srgbClr val="0070C0"/>
                </a:solidFill>
              </a:rPr>
              <a:t>Different for different individuals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solidFill>
                  <a:srgbClr val="00B050"/>
                </a:solidFill>
              </a:rPr>
              <a:t>Variation can be achieved from the sensitivity /luminosity curve </a:t>
            </a:r>
          </a:p>
        </p:txBody>
      </p:sp>
    </p:spTree>
    <p:extLst>
      <p:ext uri="{BB962C8B-B14F-4D97-AF65-F5344CB8AC3E}">
        <p14:creationId xmlns:p14="http://schemas.microsoft.com/office/powerpoint/2010/main" val="18891489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57205-3474-3891-BB5C-AA4C01B449ED}"/>
              </a:ext>
            </a:extLst>
          </p:cNvPr>
          <p:cNvSpPr>
            <a:spLocks noGrp="1"/>
          </p:cNvSpPr>
          <p:nvPr>
            <p:ph type="title"/>
          </p:nvPr>
        </p:nvSpPr>
        <p:spPr/>
        <p:txBody>
          <a:bodyPr/>
          <a:lstStyle/>
          <a:p>
            <a:r>
              <a:rPr lang="en-US" dirty="0"/>
              <a:t>Scotopic and photopic vision</a:t>
            </a:r>
          </a:p>
        </p:txBody>
      </p:sp>
      <p:sp>
        <p:nvSpPr>
          <p:cNvPr id="3" name="TextBox 2">
            <a:extLst>
              <a:ext uri="{FF2B5EF4-FFF2-40B4-BE49-F238E27FC236}">
                <a16:creationId xmlns:a16="http://schemas.microsoft.com/office/drawing/2014/main" id="{6338E22D-97E9-B1A7-ACC7-FDFFD746F6DF}"/>
              </a:ext>
            </a:extLst>
          </p:cNvPr>
          <p:cNvSpPr txBox="1"/>
          <p:nvPr/>
        </p:nvSpPr>
        <p:spPr>
          <a:xfrm>
            <a:off x="884255" y="1587640"/>
            <a:ext cx="6672105" cy="923330"/>
          </a:xfrm>
          <a:prstGeom prst="rect">
            <a:avLst/>
          </a:prstGeom>
          <a:noFill/>
        </p:spPr>
        <p:txBody>
          <a:bodyPr wrap="square" rtlCol="0">
            <a:spAutoFit/>
          </a:bodyPr>
          <a:lstStyle/>
          <a:p>
            <a:pPr marL="285750" indent="-285750">
              <a:buFont typeface="Wingdings" panose="05000000000000000000" pitchFamily="2" charset="2"/>
              <a:buChar char="Ø"/>
            </a:pPr>
            <a:r>
              <a:rPr lang="en-US" dirty="0">
                <a:solidFill>
                  <a:srgbClr val="00B050"/>
                </a:solidFill>
              </a:rPr>
              <a:t>Photopic vision</a:t>
            </a:r>
          </a:p>
          <a:p>
            <a:pPr marL="285750" indent="-285750">
              <a:buFont typeface="Wingdings" panose="05000000000000000000" pitchFamily="2" charset="2"/>
              <a:buChar char="v"/>
            </a:pPr>
            <a:r>
              <a:rPr lang="en-US" dirty="0"/>
              <a:t>Maximum visual effect at 555 nm(yellow -green)</a:t>
            </a:r>
          </a:p>
          <a:p>
            <a:pPr marL="285750" indent="-285750">
              <a:buFont typeface="Wingdings" panose="05000000000000000000" pitchFamily="2" charset="2"/>
              <a:buChar char="v"/>
            </a:pPr>
            <a:r>
              <a:rPr lang="en-US" dirty="0"/>
              <a:t>At 510nm and 610 nm the sensitivity reduces to half</a:t>
            </a:r>
          </a:p>
        </p:txBody>
      </p:sp>
      <p:sp>
        <p:nvSpPr>
          <p:cNvPr id="4" name="TextBox 3">
            <a:extLst>
              <a:ext uri="{FF2B5EF4-FFF2-40B4-BE49-F238E27FC236}">
                <a16:creationId xmlns:a16="http://schemas.microsoft.com/office/drawing/2014/main" id="{3B1BCE0C-5358-9A65-B451-533341773239}"/>
              </a:ext>
            </a:extLst>
          </p:cNvPr>
          <p:cNvSpPr txBox="1"/>
          <p:nvPr/>
        </p:nvSpPr>
        <p:spPr>
          <a:xfrm>
            <a:off x="884255" y="2967335"/>
            <a:ext cx="5255288" cy="923330"/>
          </a:xfrm>
          <a:prstGeom prst="rect">
            <a:avLst/>
          </a:prstGeom>
          <a:noFill/>
        </p:spPr>
        <p:txBody>
          <a:bodyPr wrap="square" rtlCol="0">
            <a:spAutoFit/>
          </a:bodyPr>
          <a:lstStyle/>
          <a:p>
            <a:pPr marL="285750" indent="-285750">
              <a:buFont typeface="Wingdings" panose="05000000000000000000" pitchFamily="2" charset="2"/>
              <a:buChar char="Ø"/>
            </a:pPr>
            <a:r>
              <a:rPr lang="en-US" dirty="0">
                <a:solidFill>
                  <a:srgbClr val="00B050"/>
                </a:solidFill>
              </a:rPr>
              <a:t>Scotopic Vision</a:t>
            </a:r>
          </a:p>
          <a:p>
            <a:pPr marL="285750" indent="-285750">
              <a:buFont typeface="Wingdings" panose="05000000000000000000" pitchFamily="2" charset="2"/>
              <a:buChar char="v"/>
            </a:pPr>
            <a:r>
              <a:rPr lang="en-US" dirty="0"/>
              <a:t>Maximum effect at 507nm (blue-green)</a:t>
            </a:r>
          </a:p>
          <a:p>
            <a:pPr marL="285750" indent="-285750">
              <a:buFont typeface="Wingdings" panose="05000000000000000000" pitchFamily="2" charset="2"/>
              <a:buChar char="v"/>
            </a:pPr>
            <a:r>
              <a:rPr lang="en-US" dirty="0"/>
              <a:t>Lower intensities are needed</a:t>
            </a:r>
          </a:p>
        </p:txBody>
      </p:sp>
      <p:pic>
        <p:nvPicPr>
          <p:cNvPr id="6" name="Picture 5">
            <a:extLst>
              <a:ext uri="{FF2B5EF4-FFF2-40B4-BE49-F238E27FC236}">
                <a16:creationId xmlns:a16="http://schemas.microsoft.com/office/drawing/2014/main" id="{A09001AF-5057-0EB8-8A98-5A12A514FC05}"/>
              </a:ext>
            </a:extLst>
          </p:cNvPr>
          <p:cNvPicPr>
            <a:picLocks noChangeAspect="1"/>
          </p:cNvPicPr>
          <p:nvPr/>
        </p:nvPicPr>
        <p:blipFill>
          <a:blip r:embed="rId2"/>
          <a:stretch>
            <a:fillRect/>
          </a:stretch>
        </p:blipFill>
        <p:spPr>
          <a:xfrm>
            <a:off x="6468884" y="2575189"/>
            <a:ext cx="5723116" cy="4282811"/>
          </a:xfrm>
          <a:prstGeom prst="rect">
            <a:avLst/>
          </a:prstGeom>
        </p:spPr>
      </p:pic>
    </p:spTree>
    <p:extLst>
      <p:ext uri="{BB962C8B-B14F-4D97-AF65-F5344CB8AC3E}">
        <p14:creationId xmlns:p14="http://schemas.microsoft.com/office/powerpoint/2010/main" val="37839174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7DA47-FC7B-BE06-BE75-51623B32753B}"/>
              </a:ext>
            </a:extLst>
          </p:cNvPr>
          <p:cNvSpPr>
            <a:spLocks noGrp="1"/>
          </p:cNvSpPr>
          <p:nvPr>
            <p:ph type="title"/>
          </p:nvPr>
        </p:nvSpPr>
        <p:spPr/>
        <p:txBody>
          <a:bodyPr/>
          <a:lstStyle/>
          <a:p>
            <a:r>
              <a:rPr lang="en-US" dirty="0"/>
              <a:t>Photometry and Color</a:t>
            </a:r>
          </a:p>
        </p:txBody>
      </p:sp>
      <p:sp>
        <p:nvSpPr>
          <p:cNvPr id="3" name="Content Placeholder 2">
            <a:extLst>
              <a:ext uri="{FF2B5EF4-FFF2-40B4-BE49-F238E27FC236}">
                <a16:creationId xmlns:a16="http://schemas.microsoft.com/office/drawing/2014/main" id="{92915C3E-ABCD-D1D8-9264-417870FD956A}"/>
              </a:ext>
            </a:extLst>
          </p:cNvPr>
          <p:cNvSpPr>
            <a:spLocks noGrp="1"/>
          </p:cNvSpPr>
          <p:nvPr>
            <p:ph idx="1"/>
          </p:nvPr>
        </p:nvSpPr>
        <p:spPr/>
        <p:txBody>
          <a:bodyPr/>
          <a:lstStyle/>
          <a:p>
            <a:pPr algn="just"/>
            <a:r>
              <a:rPr lang="en-US" dirty="0">
                <a:solidFill>
                  <a:srgbClr val="000000"/>
                </a:solidFill>
                <a:latin typeface="CMR10"/>
              </a:rPr>
              <a:t>P</a:t>
            </a:r>
            <a:r>
              <a:rPr lang="en-US" sz="1800" b="0" i="0" dirty="0">
                <a:solidFill>
                  <a:srgbClr val="000000"/>
                </a:solidFill>
                <a:effectLst/>
                <a:latin typeface="CMR10"/>
              </a:rPr>
              <a:t>hotometric quantities have an aspect of perception associated with them. </a:t>
            </a:r>
            <a:r>
              <a:rPr lang="en-US" sz="1800" b="0" i="0" dirty="0">
                <a:solidFill>
                  <a:srgbClr val="92D050"/>
                </a:solidFill>
                <a:effectLst/>
                <a:latin typeface="CMR10"/>
              </a:rPr>
              <a:t>Color is a photometric quantity that we use all the time.</a:t>
            </a:r>
            <a:r>
              <a:rPr lang="en-US" sz="1800" b="0" i="0" dirty="0">
                <a:solidFill>
                  <a:srgbClr val="000000"/>
                </a:solidFill>
                <a:effectLst/>
                <a:latin typeface="CMR10"/>
              </a:rPr>
              <a:t> </a:t>
            </a:r>
            <a:r>
              <a:rPr lang="en-US" dirty="0">
                <a:solidFill>
                  <a:srgbClr val="000000"/>
                </a:solidFill>
                <a:latin typeface="CMR10"/>
              </a:rPr>
              <a:t>A person</a:t>
            </a:r>
            <a:r>
              <a:rPr lang="en-US" sz="1800" b="0" i="0" dirty="0">
                <a:solidFill>
                  <a:srgbClr val="000000"/>
                </a:solidFill>
                <a:effectLst/>
                <a:latin typeface="CMR10"/>
              </a:rPr>
              <a:t>, who lost color perception due to an accident exclaimed with anguish, My dog looks gray, tomato juice is black and color TV is an hodge podge". Color not only adds beauty to our life, but serves important signaling functions. The natural world provide us with many signals to identify and classify objects. Many of these come in terms of color. </a:t>
            </a:r>
            <a:r>
              <a:rPr lang="en-US" sz="1800" b="0" i="0" dirty="0">
                <a:solidFill>
                  <a:srgbClr val="92D050"/>
                </a:solidFill>
                <a:effectLst/>
                <a:latin typeface="CMR10"/>
              </a:rPr>
              <a:t>For e.g. banana turns yellow when its ripe, the sky turns red when it is dawn and so on</a:t>
            </a:r>
            <a:r>
              <a:rPr lang="en-US" sz="1800" b="0" i="0" dirty="0">
                <a:solidFill>
                  <a:srgbClr val="000000"/>
                </a:solidFill>
                <a:effectLst/>
                <a:latin typeface="CMR10"/>
              </a:rPr>
              <a:t>.</a:t>
            </a:r>
            <a:r>
              <a:rPr lang="en-US" dirty="0"/>
              <a:t> </a:t>
            </a:r>
            <a:br>
              <a:rPr lang="en-US" dirty="0"/>
            </a:br>
            <a:endParaRPr lang="en-US" dirty="0"/>
          </a:p>
        </p:txBody>
      </p:sp>
    </p:spTree>
    <p:extLst>
      <p:ext uri="{BB962C8B-B14F-4D97-AF65-F5344CB8AC3E}">
        <p14:creationId xmlns:p14="http://schemas.microsoft.com/office/powerpoint/2010/main" val="25129371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F74C3-96C6-E054-14EE-E9EA28A5E70D}"/>
              </a:ext>
            </a:extLst>
          </p:cNvPr>
          <p:cNvSpPr>
            <a:spLocks noGrp="1"/>
          </p:cNvSpPr>
          <p:nvPr>
            <p:ph type="title"/>
          </p:nvPr>
        </p:nvSpPr>
        <p:spPr/>
        <p:txBody>
          <a:bodyPr/>
          <a:lstStyle/>
          <a:p>
            <a:r>
              <a:rPr lang="en-US" dirty="0"/>
              <a:t>Basic information on Light</a:t>
            </a:r>
          </a:p>
        </p:txBody>
      </p:sp>
      <p:sp>
        <p:nvSpPr>
          <p:cNvPr id="3" name="Content Placeholder 2">
            <a:extLst>
              <a:ext uri="{FF2B5EF4-FFF2-40B4-BE49-F238E27FC236}">
                <a16:creationId xmlns:a16="http://schemas.microsoft.com/office/drawing/2014/main" id="{5E34B2AB-E6D1-70B7-E132-5C79C4312504}"/>
              </a:ext>
            </a:extLst>
          </p:cNvPr>
          <p:cNvSpPr>
            <a:spLocks noGrp="1"/>
          </p:cNvSpPr>
          <p:nvPr>
            <p:ph idx="1"/>
          </p:nvPr>
        </p:nvSpPr>
        <p:spPr/>
        <p:txBody>
          <a:bodyPr/>
          <a:lstStyle/>
          <a:p>
            <a:r>
              <a:rPr lang="en-US" dirty="0"/>
              <a:t>The color of an object are determined by the nature of the light reflected </a:t>
            </a:r>
          </a:p>
          <a:p>
            <a:endParaRPr lang="en-US" dirty="0"/>
          </a:p>
          <a:p>
            <a:pPr>
              <a:buFont typeface="Wingdings" panose="05000000000000000000" pitchFamily="2" charset="2"/>
              <a:buChar char="v"/>
            </a:pPr>
            <a:r>
              <a:rPr lang="en-US" dirty="0"/>
              <a:t> </a:t>
            </a:r>
            <a:r>
              <a:rPr lang="en-US" dirty="0">
                <a:solidFill>
                  <a:srgbClr val="0070C0"/>
                </a:solidFill>
              </a:rPr>
              <a:t>A body that reflects light relatively balanced in all visible wavelengths </a:t>
            </a:r>
            <a:r>
              <a:rPr lang="en-US" dirty="0"/>
              <a:t>appears </a:t>
            </a:r>
            <a:r>
              <a:rPr lang="en-US" dirty="0">
                <a:solidFill>
                  <a:srgbClr val="92D050"/>
                </a:solidFill>
              </a:rPr>
              <a:t>white</a:t>
            </a:r>
            <a:r>
              <a:rPr lang="en-US" dirty="0"/>
              <a:t> to the observer</a:t>
            </a:r>
          </a:p>
          <a:p>
            <a:pPr>
              <a:buFont typeface="Wingdings" panose="05000000000000000000" pitchFamily="2" charset="2"/>
              <a:buChar char="v"/>
            </a:pPr>
            <a:r>
              <a:rPr lang="en-US" dirty="0"/>
              <a:t> Whichever favors reflectance in a limited range of the visible spectrum exhibits some shades of color (chromatic light)</a:t>
            </a:r>
          </a:p>
        </p:txBody>
      </p:sp>
    </p:spTree>
    <p:extLst>
      <p:ext uri="{BB962C8B-B14F-4D97-AF65-F5344CB8AC3E}">
        <p14:creationId xmlns:p14="http://schemas.microsoft.com/office/powerpoint/2010/main" val="11314797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779A5-F1A1-316D-1F11-2D8F058328E6}"/>
              </a:ext>
            </a:extLst>
          </p:cNvPr>
          <p:cNvSpPr>
            <a:spLocks noGrp="1"/>
          </p:cNvSpPr>
          <p:nvPr>
            <p:ph type="title"/>
          </p:nvPr>
        </p:nvSpPr>
        <p:spPr/>
        <p:txBody>
          <a:bodyPr/>
          <a:lstStyle/>
          <a:p>
            <a:r>
              <a:rPr lang="en-US" dirty="0"/>
              <a:t>Achromatic light</a:t>
            </a:r>
          </a:p>
        </p:txBody>
      </p:sp>
      <p:sp>
        <p:nvSpPr>
          <p:cNvPr id="3" name="Content Placeholder 2">
            <a:extLst>
              <a:ext uri="{FF2B5EF4-FFF2-40B4-BE49-F238E27FC236}">
                <a16:creationId xmlns:a16="http://schemas.microsoft.com/office/drawing/2014/main" id="{76AAD4DC-5B8C-FED2-6FDB-A42A604149D6}"/>
              </a:ext>
            </a:extLst>
          </p:cNvPr>
          <p:cNvSpPr>
            <a:spLocks noGrp="1"/>
          </p:cNvSpPr>
          <p:nvPr>
            <p:ph idx="1"/>
          </p:nvPr>
        </p:nvSpPr>
        <p:spPr/>
        <p:txBody>
          <a:bodyPr/>
          <a:lstStyle/>
          <a:p>
            <a:r>
              <a:rPr lang="en-US" dirty="0"/>
              <a:t>Light that is </a:t>
            </a:r>
            <a:r>
              <a:rPr lang="en-US" dirty="0">
                <a:solidFill>
                  <a:srgbClr val="92D050"/>
                </a:solidFill>
              </a:rPr>
              <a:t>void of color </a:t>
            </a:r>
            <a:r>
              <a:rPr lang="en-US" dirty="0"/>
              <a:t>is called </a:t>
            </a:r>
            <a:r>
              <a:rPr lang="en-US" dirty="0">
                <a:solidFill>
                  <a:srgbClr val="92D050"/>
                </a:solidFill>
              </a:rPr>
              <a:t>monochromatic (achromatic) </a:t>
            </a:r>
            <a:r>
              <a:rPr lang="en-US" dirty="0"/>
              <a:t>light.</a:t>
            </a:r>
          </a:p>
          <a:p>
            <a:r>
              <a:rPr lang="en-US" dirty="0"/>
              <a:t>The only attribute of monochromatic light is its </a:t>
            </a:r>
            <a:r>
              <a:rPr lang="en-US" dirty="0">
                <a:solidFill>
                  <a:srgbClr val="92D050"/>
                </a:solidFill>
              </a:rPr>
              <a:t>intensity</a:t>
            </a:r>
            <a:r>
              <a:rPr lang="en-US" dirty="0"/>
              <a:t> or amount.</a:t>
            </a:r>
          </a:p>
          <a:p>
            <a:r>
              <a:rPr lang="en-US" dirty="0"/>
              <a:t>Achromatic images known as </a:t>
            </a:r>
            <a:r>
              <a:rPr lang="en-US" dirty="0">
                <a:solidFill>
                  <a:srgbClr val="92D050"/>
                </a:solidFill>
              </a:rPr>
              <a:t>gray scale image</a:t>
            </a:r>
            <a:r>
              <a:rPr lang="en-US" dirty="0"/>
              <a:t>.</a:t>
            </a:r>
          </a:p>
          <a:p>
            <a:endParaRPr lang="en-US" dirty="0"/>
          </a:p>
        </p:txBody>
      </p:sp>
    </p:spTree>
    <p:extLst>
      <p:ext uri="{BB962C8B-B14F-4D97-AF65-F5344CB8AC3E}">
        <p14:creationId xmlns:p14="http://schemas.microsoft.com/office/powerpoint/2010/main" val="21727199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3F49F-11AD-E13A-0C9D-234EC5F99EAD}"/>
              </a:ext>
            </a:extLst>
          </p:cNvPr>
          <p:cNvSpPr>
            <a:spLocks noGrp="1"/>
          </p:cNvSpPr>
          <p:nvPr>
            <p:ph type="title"/>
          </p:nvPr>
        </p:nvSpPr>
        <p:spPr/>
        <p:txBody>
          <a:bodyPr/>
          <a:lstStyle/>
          <a:p>
            <a:r>
              <a:rPr lang="en-US" dirty="0"/>
              <a:t>Radiance</a:t>
            </a:r>
          </a:p>
        </p:txBody>
      </p:sp>
      <p:sp>
        <p:nvSpPr>
          <p:cNvPr id="3" name="Content Placeholder 2">
            <a:extLst>
              <a:ext uri="{FF2B5EF4-FFF2-40B4-BE49-F238E27FC236}">
                <a16:creationId xmlns:a16="http://schemas.microsoft.com/office/drawing/2014/main" id="{C9E135F2-BC03-1F78-45FE-43E4C5CEFE32}"/>
              </a:ext>
            </a:extLst>
          </p:cNvPr>
          <p:cNvSpPr>
            <a:spLocks noGrp="1"/>
          </p:cNvSpPr>
          <p:nvPr>
            <p:ph idx="1"/>
          </p:nvPr>
        </p:nvSpPr>
        <p:spPr/>
        <p:txBody>
          <a:bodyPr/>
          <a:lstStyle/>
          <a:p>
            <a:r>
              <a:rPr lang="en-US" dirty="0">
                <a:solidFill>
                  <a:srgbClr val="92D050"/>
                </a:solidFill>
              </a:rPr>
              <a:t>Radiance</a:t>
            </a:r>
            <a:r>
              <a:rPr lang="en-US" dirty="0"/>
              <a:t> is the </a:t>
            </a:r>
            <a:r>
              <a:rPr lang="en-US" dirty="0">
                <a:solidFill>
                  <a:srgbClr val="92D050"/>
                </a:solidFill>
              </a:rPr>
              <a:t>total amount of energy </a:t>
            </a:r>
            <a:r>
              <a:rPr lang="en-US" dirty="0"/>
              <a:t>that flows </a:t>
            </a:r>
            <a:r>
              <a:rPr lang="en-US" dirty="0">
                <a:solidFill>
                  <a:srgbClr val="92D050"/>
                </a:solidFill>
              </a:rPr>
              <a:t>from the light source </a:t>
            </a:r>
            <a:r>
              <a:rPr lang="en-US" dirty="0"/>
              <a:t>, and it is usually measured in watts(W).</a:t>
            </a:r>
          </a:p>
        </p:txBody>
      </p:sp>
      <p:pic>
        <p:nvPicPr>
          <p:cNvPr id="5" name="Picture 4">
            <a:extLst>
              <a:ext uri="{FF2B5EF4-FFF2-40B4-BE49-F238E27FC236}">
                <a16:creationId xmlns:a16="http://schemas.microsoft.com/office/drawing/2014/main" id="{C387DB49-2B88-58A9-9392-AC9F4390D772}"/>
              </a:ext>
            </a:extLst>
          </p:cNvPr>
          <p:cNvPicPr>
            <a:picLocks noChangeAspect="1"/>
          </p:cNvPicPr>
          <p:nvPr/>
        </p:nvPicPr>
        <p:blipFill>
          <a:blip r:embed="rId2"/>
          <a:stretch>
            <a:fillRect/>
          </a:stretch>
        </p:blipFill>
        <p:spPr>
          <a:xfrm>
            <a:off x="1568823" y="2927377"/>
            <a:ext cx="6093218" cy="3746692"/>
          </a:xfrm>
          <a:prstGeom prst="rect">
            <a:avLst/>
          </a:prstGeom>
        </p:spPr>
      </p:pic>
    </p:spTree>
    <p:extLst>
      <p:ext uri="{BB962C8B-B14F-4D97-AF65-F5344CB8AC3E}">
        <p14:creationId xmlns:p14="http://schemas.microsoft.com/office/powerpoint/2010/main" val="34582528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B261C-B5B2-6354-A4BA-39F64A224A89}"/>
              </a:ext>
            </a:extLst>
          </p:cNvPr>
          <p:cNvSpPr>
            <a:spLocks noGrp="1"/>
          </p:cNvSpPr>
          <p:nvPr>
            <p:ph type="title"/>
          </p:nvPr>
        </p:nvSpPr>
        <p:spPr/>
        <p:txBody>
          <a:bodyPr/>
          <a:lstStyle/>
          <a:p>
            <a:r>
              <a:rPr lang="en-US" dirty="0"/>
              <a:t>Luminance</a:t>
            </a:r>
          </a:p>
        </p:txBody>
      </p:sp>
      <p:sp>
        <p:nvSpPr>
          <p:cNvPr id="3" name="Content Placeholder 2">
            <a:extLst>
              <a:ext uri="{FF2B5EF4-FFF2-40B4-BE49-F238E27FC236}">
                <a16:creationId xmlns:a16="http://schemas.microsoft.com/office/drawing/2014/main" id="{F510B970-693A-9F07-BE06-ED0487877180}"/>
              </a:ext>
            </a:extLst>
          </p:cNvPr>
          <p:cNvSpPr>
            <a:spLocks noGrp="1"/>
          </p:cNvSpPr>
          <p:nvPr>
            <p:ph idx="1"/>
          </p:nvPr>
        </p:nvSpPr>
        <p:spPr/>
        <p:txBody>
          <a:bodyPr/>
          <a:lstStyle/>
          <a:p>
            <a:r>
              <a:rPr lang="en-US" dirty="0">
                <a:solidFill>
                  <a:srgbClr val="92D050"/>
                </a:solidFill>
              </a:rPr>
              <a:t>Luminance</a:t>
            </a:r>
            <a:r>
              <a:rPr lang="en-US" dirty="0"/>
              <a:t>, measured in </a:t>
            </a:r>
            <a:r>
              <a:rPr lang="en-US" dirty="0">
                <a:solidFill>
                  <a:srgbClr val="92D050"/>
                </a:solidFill>
              </a:rPr>
              <a:t>lumens (</a:t>
            </a:r>
            <a:r>
              <a:rPr lang="en-US" dirty="0" err="1">
                <a:solidFill>
                  <a:srgbClr val="92D050"/>
                </a:solidFill>
              </a:rPr>
              <a:t>lm</a:t>
            </a:r>
            <a:r>
              <a:rPr lang="en-US" dirty="0">
                <a:solidFill>
                  <a:srgbClr val="92D050"/>
                </a:solidFill>
              </a:rPr>
              <a:t>), </a:t>
            </a:r>
            <a:r>
              <a:rPr lang="en-US" dirty="0"/>
              <a:t>gives a measure of the </a:t>
            </a:r>
            <a:r>
              <a:rPr lang="en-US" dirty="0">
                <a:solidFill>
                  <a:srgbClr val="92D050"/>
                </a:solidFill>
              </a:rPr>
              <a:t>amount of energy an observer perceives </a:t>
            </a:r>
            <a:r>
              <a:rPr lang="en-US" dirty="0"/>
              <a:t>from a light source.</a:t>
            </a:r>
          </a:p>
        </p:txBody>
      </p:sp>
      <p:pic>
        <p:nvPicPr>
          <p:cNvPr id="5" name="Picture 4">
            <a:extLst>
              <a:ext uri="{FF2B5EF4-FFF2-40B4-BE49-F238E27FC236}">
                <a16:creationId xmlns:a16="http://schemas.microsoft.com/office/drawing/2014/main" id="{1C1025FB-E58A-585B-0982-6FFBE72D924E}"/>
              </a:ext>
            </a:extLst>
          </p:cNvPr>
          <p:cNvPicPr>
            <a:picLocks noChangeAspect="1"/>
          </p:cNvPicPr>
          <p:nvPr/>
        </p:nvPicPr>
        <p:blipFill>
          <a:blip r:embed="rId2"/>
          <a:stretch>
            <a:fillRect/>
          </a:stretch>
        </p:blipFill>
        <p:spPr>
          <a:xfrm>
            <a:off x="1482612" y="3128682"/>
            <a:ext cx="4883705" cy="3454748"/>
          </a:xfrm>
          <a:prstGeom prst="rect">
            <a:avLst/>
          </a:prstGeom>
        </p:spPr>
      </p:pic>
      <p:pic>
        <p:nvPicPr>
          <p:cNvPr id="7" name="Picture 6">
            <a:extLst>
              <a:ext uri="{FF2B5EF4-FFF2-40B4-BE49-F238E27FC236}">
                <a16:creationId xmlns:a16="http://schemas.microsoft.com/office/drawing/2014/main" id="{935F58FC-54F8-8B47-E6B1-B910290529A1}"/>
              </a:ext>
            </a:extLst>
          </p:cNvPr>
          <p:cNvPicPr>
            <a:picLocks noChangeAspect="1"/>
          </p:cNvPicPr>
          <p:nvPr/>
        </p:nvPicPr>
        <p:blipFill>
          <a:blip r:embed="rId3"/>
          <a:stretch>
            <a:fillRect/>
          </a:stretch>
        </p:blipFill>
        <p:spPr>
          <a:xfrm>
            <a:off x="7852912" y="3737941"/>
            <a:ext cx="4204813" cy="2476420"/>
          </a:xfrm>
          <a:prstGeom prst="rect">
            <a:avLst/>
          </a:prstGeom>
        </p:spPr>
      </p:pic>
    </p:spTree>
    <p:extLst>
      <p:ext uri="{BB962C8B-B14F-4D97-AF65-F5344CB8AC3E}">
        <p14:creationId xmlns:p14="http://schemas.microsoft.com/office/powerpoint/2010/main" val="23998582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3BBDD-75FC-1BEA-3DDD-D976D7704376}"/>
              </a:ext>
            </a:extLst>
          </p:cNvPr>
          <p:cNvSpPr>
            <a:spLocks noGrp="1"/>
          </p:cNvSpPr>
          <p:nvPr>
            <p:ph type="title"/>
          </p:nvPr>
        </p:nvSpPr>
        <p:spPr/>
        <p:txBody>
          <a:bodyPr/>
          <a:lstStyle/>
          <a:p>
            <a:r>
              <a:rPr lang="en-US" dirty="0"/>
              <a:t>Brightness</a:t>
            </a:r>
          </a:p>
        </p:txBody>
      </p:sp>
      <p:sp>
        <p:nvSpPr>
          <p:cNvPr id="3" name="Content Placeholder 2">
            <a:extLst>
              <a:ext uri="{FF2B5EF4-FFF2-40B4-BE49-F238E27FC236}">
                <a16:creationId xmlns:a16="http://schemas.microsoft.com/office/drawing/2014/main" id="{FB4165EC-7868-8D5B-89A8-D9B49CE0DDA6}"/>
              </a:ext>
            </a:extLst>
          </p:cNvPr>
          <p:cNvSpPr>
            <a:spLocks noGrp="1"/>
          </p:cNvSpPr>
          <p:nvPr>
            <p:ph idx="1"/>
          </p:nvPr>
        </p:nvSpPr>
        <p:spPr/>
        <p:txBody>
          <a:bodyPr/>
          <a:lstStyle/>
          <a:p>
            <a:r>
              <a:rPr lang="en-US" dirty="0"/>
              <a:t>Brightness is a </a:t>
            </a:r>
            <a:r>
              <a:rPr lang="en-US" dirty="0">
                <a:solidFill>
                  <a:srgbClr val="92D050"/>
                </a:solidFill>
              </a:rPr>
              <a:t>subjective</a:t>
            </a:r>
            <a:r>
              <a:rPr lang="en-US" dirty="0"/>
              <a:t> descriptor of light perception that is practically </a:t>
            </a:r>
            <a:r>
              <a:rPr lang="en-US" dirty="0">
                <a:solidFill>
                  <a:srgbClr val="92D050"/>
                </a:solidFill>
              </a:rPr>
              <a:t>impossible to measure.</a:t>
            </a:r>
          </a:p>
        </p:txBody>
      </p:sp>
      <p:pic>
        <p:nvPicPr>
          <p:cNvPr id="5" name="Picture 4">
            <a:extLst>
              <a:ext uri="{FF2B5EF4-FFF2-40B4-BE49-F238E27FC236}">
                <a16:creationId xmlns:a16="http://schemas.microsoft.com/office/drawing/2014/main" id="{67800E3E-E6CF-23D9-C8DF-F6E3CB600C83}"/>
              </a:ext>
            </a:extLst>
          </p:cNvPr>
          <p:cNvPicPr>
            <a:picLocks noChangeAspect="1"/>
          </p:cNvPicPr>
          <p:nvPr/>
        </p:nvPicPr>
        <p:blipFill>
          <a:blip r:embed="rId2"/>
          <a:stretch>
            <a:fillRect/>
          </a:stretch>
        </p:blipFill>
        <p:spPr>
          <a:xfrm>
            <a:off x="1211745" y="2993098"/>
            <a:ext cx="6523285" cy="3048264"/>
          </a:xfrm>
          <a:prstGeom prst="rect">
            <a:avLst/>
          </a:prstGeom>
        </p:spPr>
      </p:pic>
    </p:spTree>
    <p:extLst>
      <p:ext uri="{BB962C8B-B14F-4D97-AF65-F5344CB8AC3E}">
        <p14:creationId xmlns:p14="http://schemas.microsoft.com/office/powerpoint/2010/main" val="14396682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6DC44-9322-9295-E7F2-B7CE8C69FA48}"/>
              </a:ext>
            </a:extLst>
          </p:cNvPr>
          <p:cNvSpPr>
            <a:spLocks noGrp="1"/>
          </p:cNvSpPr>
          <p:nvPr>
            <p:ph type="title"/>
          </p:nvPr>
        </p:nvSpPr>
        <p:spPr/>
        <p:txBody>
          <a:bodyPr/>
          <a:lstStyle/>
          <a:p>
            <a:r>
              <a:rPr lang="en-US" dirty="0"/>
              <a:t>Energy Source of Image</a:t>
            </a:r>
          </a:p>
        </p:txBody>
      </p:sp>
      <p:sp>
        <p:nvSpPr>
          <p:cNvPr id="3" name="Content Placeholder 2">
            <a:extLst>
              <a:ext uri="{FF2B5EF4-FFF2-40B4-BE49-F238E27FC236}">
                <a16:creationId xmlns:a16="http://schemas.microsoft.com/office/drawing/2014/main" id="{4F86A7BB-1C47-B121-D915-32910B3DDB0B}"/>
              </a:ext>
            </a:extLst>
          </p:cNvPr>
          <p:cNvSpPr>
            <a:spLocks noGrp="1"/>
          </p:cNvSpPr>
          <p:nvPr>
            <p:ph idx="1"/>
          </p:nvPr>
        </p:nvSpPr>
        <p:spPr/>
        <p:txBody>
          <a:bodyPr/>
          <a:lstStyle/>
          <a:p>
            <a:r>
              <a:rPr lang="en-US" dirty="0"/>
              <a:t>The principal energy source for images in use today is the electromagnetic (EM) energy spectrum.</a:t>
            </a:r>
          </a:p>
          <a:p>
            <a:r>
              <a:rPr lang="en-US" dirty="0"/>
              <a:t>Synthetic images, used for modeling and visualization are generated by computer.</a:t>
            </a:r>
          </a:p>
        </p:txBody>
      </p:sp>
      <p:pic>
        <p:nvPicPr>
          <p:cNvPr id="5" name="Picture 4">
            <a:extLst>
              <a:ext uri="{FF2B5EF4-FFF2-40B4-BE49-F238E27FC236}">
                <a16:creationId xmlns:a16="http://schemas.microsoft.com/office/drawing/2014/main" id="{4909C1F8-6CF1-F325-8649-B88332E6C48B}"/>
              </a:ext>
            </a:extLst>
          </p:cNvPr>
          <p:cNvPicPr>
            <a:picLocks noChangeAspect="1"/>
          </p:cNvPicPr>
          <p:nvPr/>
        </p:nvPicPr>
        <p:blipFill>
          <a:blip r:embed="rId3"/>
          <a:stretch>
            <a:fillRect/>
          </a:stretch>
        </p:blipFill>
        <p:spPr>
          <a:xfrm>
            <a:off x="1052550" y="4034987"/>
            <a:ext cx="7207203" cy="1781351"/>
          </a:xfrm>
          <a:prstGeom prst="rect">
            <a:avLst/>
          </a:prstGeom>
        </p:spPr>
      </p:pic>
    </p:spTree>
    <p:extLst>
      <p:ext uri="{BB962C8B-B14F-4D97-AF65-F5344CB8AC3E}">
        <p14:creationId xmlns:p14="http://schemas.microsoft.com/office/powerpoint/2010/main" val="40801282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292FF-4D94-356F-1E86-42C4B00BB27D}"/>
              </a:ext>
            </a:extLst>
          </p:cNvPr>
          <p:cNvSpPr>
            <a:spLocks noGrp="1"/>
          </p:cNvSpPr>
          <p:nvPr>
            <p:ph type="title"/>
          </p:nvPr>
        </p:nvSpPr>
        <p:spPr/>
        <p:txBody>
          <a:bodyPr/>
          <a:lstStyle/>
          <a:p>
            <a:r>
              <a:rPr lang="en-US" dirty="0"/>
              <a:t>Two Major Tasks</a:t>
            </a:r>
          </a:p>
        </p:txBody>
      </p:sp>
      <p:sp>
        <p:nvSpPr>
          <p:cNvPr id="3" name="Content Placeholder 2">
            <a:extLst>
              <a:ext uri="{FF2B5EF4-FFF2-40B4-BE49-F238E27FC236}">
                <a16:creationId xmlns:a16="http://schemas.microsoft.com/office/drawing/2014/main" id="{411876DD-C5BF-59AE-527C-7C743B01E9FA}"/>
              </a:ext>
            </a:extLst>
          </p:cNvPr>
          <p:cNvSpPr>
            <a:spLocks noGrp="1"/>
          </p:cNvSpPr>
          <p:nvPr>
            <p:ph idx="1"/>
          </p:nvPr>
        </p:nvSpPr>
        <p:spPr/>
        <p:txBody>
          <a:bodyPr/>
          <a:lstStyle/>
          <a:p>
            <a:r>
              <a:rPr lang="en-US" dirty="0">
                <a:solidFill>
                  <a:srgbClr val="92D050"/>
                </a:solidFill>
              </a:rPr>
              <a:t>Improvement </a:t>
            </a:r>
            <a:r>
              <a:rPr lang="en-US" dirty="0"/>
              <a:t>of pictorial information for </a:t>
            </a:r>
            <a:r>
              <a:rPr lang="en-US" dirty="0">
                <a:solidFill>
                  <a:srgbClr val="92D050"/>
                </a:solidFill>
              </a:rPr>
              <a:t>human interpretation</a:t>
            </a:r>
          </a:p>
          <a:p>
            <a:endParaRPr lang="en-US" dirty="0">
              <a:solidFill>
                <a:srgbClr val="92D050"/>
              </a:solidFill>
            </a:endParaRPr>
          </a:p>
          <a:p>
            <a:r>
              <a:rPr lang="en-US" dirty="0"/>
              <a:t>Processing of image data for </a:t>
            </a:r>
            <a:r>
              <a:rPr lang="en-US" dirty="0">
                <a:solidFill>
                  <a:srgbClr val="92D050"/>
                </a:solidFill>
              </a:rPr>
              <a:t>storage, transmission and representation for autonomous machine</a:t>
            </a:r>
            <a:r>
              <a:rPr lang="en-US" dirty="0"/>
              <a:t> perception.</a:t>
            </a:r>
          </a:p>
        </p:txBody>
      </p:sp>
    </p:spTree>
    <p:extLst>
      <p:ext uri="{BB962C8B-B14F-4D97-AF65-F5344CB8AC3E}">
        <p14:creationId xmlns:p14="http://schemas.microsoft.com/office/powerpoint/2010/main" val="18166991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850D5-599F-AC3F-4375-1937626E3F3B}"/>
              </a:ext>
            </a:extLst>
          </p:cNvPr>
          <p:cNvSpPr>
            <a:spLocks noGrp="1"/>
          </p:cNvSpPr>
          <p:nvPr>
            <p:ph type="title"/>
          </p:nvPr>
        </p:nvSpPr>
        <p:spPr/>
        <p:txBody>
          <a:bodyPr/>
          <a:lstStyle/>
          <a:p>
            <a:r>
              <a:rPr lang="en-US" dirty="0"/>
              <a:t>Image formation model</a:t>
            </a:r>
          </a:p>
        </p:txBody>
      </p:sp>
      <p:sp>
        <p:nvSpPr>
          <p:cNvPr id="3" name="Content Placeholder 2">
            <a:extLst>
              <a:ext uri="{FF2B5EF4-FFF2-40B4-BE49-F238E27FC236}">
                <a16:creationId xmlns:a16="http://schemas.microsoft.com/office/drawing/2014/main" id="{B1E99D21-1D60-0B65-9676-FD8C8A85645A}"/>
              </a:ext>
            </a:extLst>
          </p:cNvPr>
          <p:cNvSpPr>
            <a:spLocks noGrp="1"/>
          </p:cNvSpPr>
          <p:nvPr>
            <p:ph idx="1"/>
          </p:nvPr>
        </p:nvSpPr>
        <p:spPr/>
        <p:txBody>
          <a:bodyPr/>
          <a:lstStyle/>
          <a:p>
            <a:r>
              <a:rPr lang="en-US" dirty="0"/>
              <a:t>Image refers to a 2D light-intensity function, f(</a:t>
            </a:r>
            <a:r>
              <a:rPr lang="en-US" dirty="0" err="1"/>
              <a:t>x,y</a:t>
            </a:r>
            <a:r>
              <a:rPr lang="en-US" dirty="0"/>
              <a:t>)</a:t>
            </a:r>
          </a:p>
          <a:p>
            <a:r>
              <a:rPr lang="en-US" dirty="0"/>
              <a:t>Amplitude of f at spatial coordinates (</a:t>
            </a:r>
            <a:r>
              <a:rPr lang="en-US" dirty="0" err="1"/>
              <a:t>x,y</a:t>
            </a:r>
            <a:r>
              <a:rPr lang="en-US" dirty="0"/>
              <a:t>) gives the intensity (brightness) of the image at that point.</a:t>
            </a:r>
          </a:p>
          <a:p>
            <a:r>
              <a:rPr lang="en-US" dirty="0"/>
              <a:t>Light is a form of energy thus f(</a:t>
            </a:r>
            <a:r>
              <a:rPr lang="en-US" dirty="0" err="1"/>
              <a:t>x,y</a:t>
            </a:r>
            <a:r>
              <a:rPr lang="en-US" dirty="0"/>
              <a:t>) must be nonzero and finite.</a:t>
            </a:r>
          </a:p>
          <a:p>
            <a:endParaRPr lang="en-US" dirty="0"/>
          </a:p>
          <a:p>
            <a:pPr marL="0" indent="0">
              <a:buNone/>
            </a:pPr>
            <a:r>
              <a:rPr lang="en-US" dirty="0"/>
              <a:t>                 0&lt;f(</a:t>
            </a:r>
            <a:r>
              <a:rPr lang="en-US" dirty="0" err="1"/>
              <a:t>x,y</a:t>
            </a:r>
            <a:r>
              <a:rPr lang="en-US" dirty="0"/>
              <a:t>) &lt; </a:t>
            </a:r>
          </a:p>
        </p:txBody>
      </p:sp>
      <p:pic>
        <p:nvPicPr>
          <p:cNvPr id="5" name="Picture 4">
            <a:extLst>
              <a:ext uri="{FF2B5EF4-FFF2-40B4-BE49-F238E27FC236}">
                <a16:creationId xmlns:a16="http://schemas.microsoft.com/office/drawing/2014/main" id="{05C56586-17B2-C8C8-9EFE-41763CCA2A09}"/>
              </a:ext>
            </a:extLst>
          </p:cNvPr>
          <p:cNvPicPr>
            <a:picLocks noChangeAspect="1"/>
          </p:cNvPicPr>
          <p:nvPr/>
        </p:nvPicPr>
        <p:blipFill>
          <a:blip r:embed="rId2"/>
          <a:stretch>
            <a:fillRect/>
          </a:stretch>
        </p:blipFill>
        <p:spPr>
          <a:xfrm flipH="1">
            <a:off x="3055609" y="4114798"/>
            <a:ext cx="384349" cy="233083"/>
          </a:xfrm>
          <a:prstGeom prst="rect">
            <a:avLst/>
          </a:prstGeom>
        </p:spPr>
      </p:pic>
    </p:spTree>
    <p:extLst>
      <p:ext uri="{BB962C8B-B14F-4D97-AF65-F5344CB8AC3E}">
        <p14:creationId xmlns:p14="http://schemas.microsoft.com/office/powerpoint/2010/main" val="13647670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E5211-0A19-883C-A7E3-3D7DB528D7C9}"/>
              </a:ext>
            </a:extLst>
          </p:cNvPr>
          <p:cNvSpPr>
            <a:spLocks noGrp="1"/>
          </p:cNvSpPr>
          <p:nvPr>
            <p:ph type="title"/>
          </p:nvPr>
        </p:nvSpPr>
        <p:spPr/>
        <p:txBody>
          <a:bodyPr/>
          <a:lstStyle/>
          <a:p>
            <a:r>
              <a:rPr lang="en-US" dirty="0"/>
              <a:t>Illumination and Reflectance</a:t>
            </a:r>
          </a:p>
        </p:txBody>
      </p:sp>
      <p:sp>
        <p:nvSpPr>
          <p:cNvPr id="3" name="Content Placeholder 2">
            <a:extLst>
              <a:ext uri="{FF2B5EF4-FFF2-40B4-BE49-F238E27FC236}">
                <a16:creationId xmlns:a16="http://schemas.microsoft.com/office/drawing/2014/main" id="{DB9DD594-309A-F5E8-A15D-E3BBE6171FEE}"/>
              </a:ext>
            </a:extLst>
          </p:cNvPr>
          <p:cNvSpPr>
            <a:spLocks noGrp="1"/>
          </p:cNvSpPr>
          <p:nvPr>
            <p:ph idx="1"/>
          </p:nvPr>
        </p:nvSpPr>
        <p:spPr/>
        <p:txBody>
          <a:bodyPr/>
          <a:lstStyle/>
          <a:p>
            <a:r>
              <a:rPr lang="en-US" dirty="0"/>
              <a:t>The basic nature of f(</a:t>
            </a:r>
            <a:r>
              <a:rPr lang="en-US" dirty="0" err="1"/>
              <a:t>x,y</a:t>
            </a:r>
            <a:r>
              <a:rPr lang="en-US" dirty="0"/>
              <a:t>) may be characterized by 2 components:</a:t>
            </a:r>
          </a:p>
          <a:p>
            <a:endParaRPr lang="en-US" dirty="0"/>
          </a:p>
          <a:p>
            <a:r>
              <a:rPr lang="en-US" dirty="0"/>
              <a:t>Illumination, </a:t>
            </a:r>
            <a:r>
              <a:rPr lang="en-US" dirty="0" err="1"/>
              <a:t>i</a:t>
            </a:r>
            <a:r>
              <a:rPr lang="en-US" dirty="0"/>
              <a:t>(</a:t>
            </a:r>
            <a:r>
              <a:rPr lang="en-US" dirty="0" err="1"/>
              <a:t>x,y</a:t>
            </a:r>
            <a:r>
              <a:rPr lang="en-US" dirty="0"/>
              <a:t>) : </a:t>
            </a:r>
            <a:r>
              <a:rPr lang="en-US" dirty="0">
                <a:solidFill>
                  <a:srgbClr val="00B0F0"/>
                </a:solidFill>
              </a:rPr>
              <a:t>the amount of source light incident on the scene being viewed.</a:t>
            </a:r>
          </a:p>
          <a:p>
            <a:endParaRPr lang="en-US" dirty="0"/>
          </a:p>
          <a:p>
            <a:r>
              <a:rPr lang="en-US" dirty="0"/>
              <a:t>Reflectance, r(</a:t>
            </a:r>
            <a:r>
              <a:rPr lang="en-US" dirty="0" err="1"/>
              <a:t>x,y</a:t>
            </a:r>
            <a:r>
              <a:rPr lang="en-US" dirty="0"/>
              <a:t>): </a:t>
            </a:r>
            <a:r>
              <a:rPr lang="en-US" dirty="0">
                <a:solidFill>
                  <a:srgbClr val="00B0F0"/>
                </a:solidFill>
              </a:rPr>
              <a:t>the amount of light reflected by the objects in the scene</a:t>
            </a:r>
            <a:r>
              <a:rPr lang="en-US" dirty="0"/>
              <a:t>.</a:t>
            </a:r>
          </a:p>
        </p:txBody>
      </p:sp>
    </p:spTree>
    <p:extLst>
      <p:ext uri="{BB962C8B-B14F-4D97-AF65-F5344CB8AC3E}">
        <p14:creationId xmlns:p14="http://schemas.microsoft.com/office/powerpoint/2010/main" val="39469837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F6E1D-6870-67A9-D8D0-2F951EDC977A}"/>
              </a:ext>
            </a:extLst>
          </p:cNvPr>
          <p:cNvSpPr>
            <a:spLocks noGrp="1"/>
          </p:cNvSpPr>
          <p:nvPr>
            <p:ph type="title"/>
          </p:nvPr>
        </p:nvSpPr>
        <p:spPr/>
        <p:txBody>
          <a:bodyPr/>
          <a:lstStyle/>
          <a:p>
            <a:r>
              <a:rPr lang="en-US" dirty="0"/>
              <a:t>Resolution</a:t>
            </a:r>
          </a:p>
        </p:txBody>
      </p:sp>
      <p:sp>
        <p:nvSpPr>
          <p:cNvPr id="3" name="Content Placeholder 2">
            <a:extLst>
              <a:ext uri="{FF2B5EF4-FFF2-40B4-BE49-F238E27FC236}">
                <a16:creationId xmlns:a16="http://schemas.microsoft.com/office/drawing/2014/main" id="{E608E89B-D9FC-6DBE-6701-3A4B3EA29FFC}"/>
              </a:ext>
            </a:extLst>
          </p:cNvPr>
          <p:cNvSpPr>
            <a:spLocks noGrp="1"/>
          </p:cNvSpPr>
          <p:nvPr>
            <p:ph idx="1"/>
          </p:nvPr>
        </p:nvSpPr>
        <p:spPr/>
        <p:txBody>
          <a:bodyPr/>
          <a:lstStyle/>
          <a:p>
            <a:r>
              <a:rPr lang="en-US" dirty="0"/>
              <a:t>Resolution (</a:t>
            </a:r>
            <a:r>
              <a:rPr lang="en-US" dirty="0">
                <a:solidFill>
                  <a:srgbClr val="00B0F0"/>
                </a:solidFill>
              </a:rPr>
              <a:t>how much you can see the detail of the image</a:t>
            </a:r>
            <a:r>
              <a:rPr lang="en-US" dirty="0"/>
              <a:t>) depends on sampling and gray levels.</a:t>
            </a:r>
          </a:p>
          <a:p>
            <a:r>
              <a:rPr lang="en-US" dirty="0"/>
              <a:t>The bigger the </a:t>
            </a:r>
            <a:r>
              <a:rPr lang="en-US" dirty="0">
                <a:solidFill>
                  <a:srgbClr val="92D050"/>
                </a:solidFill>
              </a:rPr>
              <a:t>sampling rate (</a:t>
            </a:r>
            <a:r>
              <a:rPr lang="en-US" dirty="0" err="1">
                <a:solidFill>
                  <a:srgbClr val="92D050"/>
                </a:solidFill>
              </a:rPr>
              <a:t>MxN</a:t>
            </a:r>
            <a:r>
              <a:rPr lang="en-US" dirty="0">
                <a:solidFill>
                  <a:srgbClr val="92D050"/>
                </a:solidFill>
              </a:rPr>
              <a:t>) </a:t>
            </a:r>
            <a:r>
              <a:rPr lang="en-US" dirty="0"/>
              <a:t>and </a:t>
            </a:r>
            <a:r>
              <a:rPr lang="en-US" dirty="0">
                <a:solidFill>
                  <a:srgbClr val="92D050"/>
                </a:solidFill>
              </a:rPr>
              <a:t>the gray scale level (K), </a:t>
            </a:r>
            <a:r>
              <a:rPr lang="en-US" dirty="0"/>
              <a:t>the better the approximation of the digitized image from the original. But the size of the image gets bigger</a:t>
            </a:r>
          </a:p>
          <a:p>
            <a:pPr marL="0" indent="0">
              <a:buNone/>
            </a:pPr>
            <a:r>
              <a:rPr lang="en-US" dirty="0"/>
              <a:t>           </a:t>
            </a:r>
            <a:r>
              <a:rPr lang="en-US" dirty="0">
                <a:solidFill>
                  <a:srgbClr val="92D050"/>
                </a:solidFill>
              </a:rPr>
              <a:t>B=M x N x K </a:t>
            </a:r>
          </a:p>
          <a:p>
            <a:pPr marL="0" indent="0">
              <a:buNone/>
            </a:pPr>
            <a:r>
              <a:rPr lang="en-US" dirty="0">
                <a:solidFill>
                  <a:schemeClr val="tx1"/>
                </a:solidFill>
              </a:rPr>
              <a:t>Due to storage and quantizing hardware consideration, the number of intensity level (L) typically is an integer power of 2.</a:t>
            </a:r>
          </a:p>
          <a:p>
            <a:pPr marL="0" indent="0">
              <a:buNone/>
            </a:pPr>
            <a:endParaRPr lang="en-US" dirty="0">
              <a:solidFill>
                <a:schemeClr val="tx1"/>
              </a:solidFill>
            </a:endParaRPr>
          </a:p>
          <a:p>
            <a:pPr marL="0" indent="0">
              <a:buNone/>
            </a:pPr>
            <a:r>
              <a:rPr lang="en-US" dirty="0">
                <a:solidFill>
                  <a:schemeClr val="tx1"/>
                </a:solidFill>
              </a:rPr>
              <a:t>          </a:t>
            </a:r>
          </a:p>
          <a:p>
            <a:pPr marL="0" indent="0">
              <a:buNone/>
            </a:pPr>
            <a:endParaRPr lang="en-US" dirty="0">
              <a:solidFill>
                <a:schemeClr val="tx1"/>
              </a:solidFill>
            </a:endParaRPr>
          </a:p>
          <a:p>
            <a:pPr marL="0" indent="0">
              <a:buNone/>
            </a:pPr>
            <a:endParaRPr lang="en-US" dirty="0">
              <a:solidFill>
                <a:srgbClr val="92D050"/>
              </a:solidFill>
            </a:endParaRPr>
          </a:p>
          <a:p>
            <a:endParaRPr lang="en-US" dirty="0"/>
          </a:p>
          <a:p>
            <a:endParaRPr lang="en-US" dirty="0"/>
          </a:p>
          <a:p>
            <a:endParaRPr lang="en-US" dirty="0"/>
          </a:p>
        </p:txBody>
      </p:sp>
      <p:pic>
        <p:nvPicPr>
          <p:cNvPr id="5" name="Picture 4">
            <a:extLst>
              <a:ext uri="{FF2B5EF4-FFF2-40B4-BE49-F238E27FC236}">
                <a16:creationId xmlns:a16="http://schemas.microsoft.com/office/drawing/2014/main" id="{7589B204-FE2A-AAFE-4BA2-C09E76F722AB}"/>
              </a:ext>
            </a:extLst>
          </p:cNvPr>
          <p:cNvPicPr>
            <a:picLocks noChangeAspect="1"/>
          </p:cNvPicPr>
          <p:nvPr/>
        </p:nvPicPr>
        <p:blipFill>
          <a:blip r:embed="rId2"/>
          <a:stretch>
            <a:fillRect/>
          </a:stretch>
        </p:blipFill>
        <p:spPr>
          <a:xfrm>
            <a:off x="3052970" y="5077069"/>
            <a:ext cx="1047896" cy="504895"/>
          </a:xfrm>
          <a:prstGeom prst="rect">
            <a:avLst/>
          </a:prstGeom>
        </p:spPr>
      </p:pic>
    </p:spTree>
    <p:extLst>
      <p:ext uri="{BB962C8B-B14F-4D97-AF65-F5344CB8AC3E}">
        <p14:creationId xmlns:p14="http://schemas.microsoft.com/office/powerpoint/2010/main" val="32950476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411A6-034D-7246-0CA5-ACC69D31A89C}"/>
              </a:ext>
            </a:extLst>
          </p:cNvPr>
          <p:cNvSpPr>
            <a:spLocks noGrp="1"/>
          </p:cNvSpPr>
          <p:nvPr>
            <p:ph type="title"/>
          </p:nvPr>
        </p:nvSpPr>
        <p:spPr/>
        <p:txBody>
          <a:bodyPr/>
          <a:lstStyle/>
          <a:p>
            <a:r>
              <a:rPr lang="en-US" dirty="0"/>
              <a:t>Neighbor of a pixel</a:t>
            </a:r>
          </a:p>
        </p:txBody>
      </p:sp>
      <p:sp>
        <p:nvSpPr>
          <p:cNvPr id="3" name="Content Placeholder 2">
            <a:extLst>
              <a:ext uri="{FF2B5EF4-FFF2-40B4-BE49-F238E27FC236}">
                <a16:creationId xmlns:a16="http://schemas.microsoft.com/office/drawing/2014/main" id="{DE06EFF0-4D3C-43D7-ABF3-88797F73A7D1}"/>
              </a:ext>
            </a:extLst>
          </p:cNvPr>
          <p:cNvSpPr>
            <a:spLocks noGrp="1"/>
          </p:cNvSpPr>
          <p:nvPr>
            <p:ph idx="1"/>
          </p:nvPr>
        </p:nvSpPr>
        <p:spPr/>
        <p:txBody>
          <a:bodyPr/>
          <a:lstStyle/>
          <a:p>
            <a:r>
              <a:rPr lang="en-US" dirty="0"/>
              <a:t>A pixel P has at coordinates (</a:t>
            </a:r>
            <a:r>
              <a:rPr lang="en-US" dirty="0" err="1"/>
              <a:t>x,y</a:t>
            </a:r>
            <a:r>
              <a:rPr lang="en-US" dirty="0"/>
              <a:t>) has</a:t>
            </a:r>
          </a:p>
          <a:p>
            <a:r>
              <a:rPr lang="en-US" dirty="0"/>
              <a:t>N4(p): four neighbors of p</a:t>
            </a:r>
          </a:p>
          <a:p>
            <a:r>
              <a:rPr lang="en-US" dirty="0"/>
              <a:t>ND(P): four diagonal neighbor of P</a:t>
            </a:r>
          </a:p>
          <a:p>
            <a:r>
              <a:rPr lang="en-US" dirty="0"/>
              <a:t>N8(p): Eight neighbors of P</a:t>
            </a:r>
          </a:p>
        </p:txBody>
      </p:sp>
      <p:pic>
        <p:nvPicPr>
          <p:cNvPr id="5" name="Picture 4">
            <a:extLst>
              <a:ext uri="{FF2B5EF4-FFF2-40B4-BE49-F238E27FC236}">
                <a16:creationId xmlns:a16="http://schemas.microsoft.com/office/drawing/2014/main" id="{DE886730-8A38-9FBB-777F-04440A6FC23A}"/>
              </a:ext>
            </a:extLst>
          </p:cNvPr>
          <p:cNvPicPr>
            <a:picLocks noChangeAspect="1"/>
          </p:cNvPicPr>
          <p:nvPr/>
        </p:nvPicPr>
        <p:blipFill>
          <a:blip r:embed="rId2"/>
          <a:stretch>
            <a:fillRect/>
          </a:stretch>
        </p:blipFill>
        <p:spPr>
          <a:xfrm>
            <a:off x="5625653" y="2584414"/>
            <a:ext cx="4614415" cy="383257"/>
          </a:xfrm>
          <a:prstGeom prst="rect">
            <a:avLst/>
          </a:prstGeom>
        </p:spPr>
      </p:pic>
      <p:pic>
        <p:nvPicPr>
          <p:cNvPr id="7" name="Picture 6">
            <a:extLst>
              <a:ext uri="{FF2B5EF4-FFF2-40B4-BE49-F238E27FC236}">
                <a16:creationId xmlns:a16="http://schemas.microsoft.com/office/drawing/2014/main" id="{0101AD62-C1A1-9C07-41EC-9FCEED85513B}"/>
              </a:ext>
            </a:extLst>
          </p:cNvPr>
          <p:cNvPicPr>
            <a:picLocks noChangeAspect="1"/>
          </p:cNvPicPr>
          <p:nvPr/>
        </p:nvPicPr>
        <p:blipFill>
          <a:blip r:embed="rId3"/>
          <a:stretch>
            <a:fillRect/>
          </a:stretch>
        </p:blipFill>
        <p:spPr>
          <a:xfrm>
            <a:off x="5762731" y="3791519"/>
            <a:ext cx="1876241" cy="1546412"/>
          </a:xfrm>
          <a:prstGeom prst="rect">
            <a:avLst/>
          </a:prstGeom>
        </p:spPr>
      </p:pic>
      <p:pic>
        <p:nvPicPr>
          <p:cNvPr id="9" name="Picture 8">
            <a:extLst>
              <a:ext uri="{FF2B5EF4-FFF2-40B4-BE49-F238E27FC236}">
                <a16:creationId xmlns:a16="http://schemas.microsoft.com/office/drawing/2014/main" id="{58C96164-F819-32A5-966D-7D9D26D1DA2F}"/>
              </a:ext>
            </a:extLst>
          </p:cNvPr>
          <p:cNvPicPr>
            <a:picLocks noChangeAspect="1"/>
          </p:cNvPicPr>
          <p:nvPr/>
        </p:nvPicPr>
        <p:blipFill>
          <a:blip r:embed="rId4"/>
          <a:stretch>
            <a:fillRect/>
          </a:stretch>
        </p:blipFill>
        <p:spPr>
          <a:xfrm>
            <a:off x="5625653" y="3107221"/>
            <a:ext cx="4800300" cy="360023"/>
          </a:xfrm>
          <a:prstGeom prst="rect">
            <a:avLst/>
          </a:prstGeom>
        </p:spPr>
      </p:pic>
      <p:pic>
        <p:nvPicPr>
          <p:cNvPr id="11" name="Picture 10">
            <a:extLst>
              <a:ext uri="{FF2B5EF4-FFF2-40B4-BE49-F238E27FC236}">
                <a16:creationId xmlns:a16="http://schemas.microsoft.com/office/drawing/2014/main" id="{8E14DE99-C721-6086-2866-0211FDD757C7}"/>
              </a:ext>
            </a:extLst>
          </p:cNvPr>
          <p:cNvPicPr>
            <a:picLocks noChangeAspect="1"/>
          </p:cNvPicPr>
          <p:nvPr/>
        </p:nvPicPr>
        <p:blipFill>
          <a:blip r:embed="rId5"/>
          <a:stretch>
            <a:fillRect/>
          </a:stretch>
        </p:blipFill>
        <p:spPr>
          <a:xfrm>
            <a:off x="8397370" y="3901920"/>
            <a:ext cx="1753263" cy="1441109"/>
          </a:xfrm>
          <a:prstGeom prst="rect">
            <a:avLst/>
          </a:prstGeom>
        </p:spPr>
      </p:pic>
    </p:spTree>
    <p:extLst>
      <p:ext uri="{BB962C8B-B14F-4D97-AF65-F5344CB8AC3E}">
        <p14:creationId xmlns:p14="http://schemas.microsoft.com/office/powerpoint/2010/main" val="7688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A8AB2-7131-7AFA-E04B-95422B222FD3}"/>
              </a:ext>
            </a:extLst>
          </p:cNvPr>
          <p:cNvSpPr>
            <a:spLocks noGrp="1"/>
          </p:cNvSpPr>
          <p:nvPr>
            <p:ph type="title"/>
          </p:nvPr>
        </p:nvSpPr>
        <p:spPr/>
        <p:txBody>
          <a:bodyPr/>
          <a:lstStyle/>
          <a:p>
            <a:r>
              <a:rPr lang="en-US" dirty="0"/>
              <a:t>Connectivity</a:t>
            </a:r>
          </a:p>
        </p:txBody>
      </p:sp>
      <p:sp>
        <p:nvSpPr>
          <p:cNvPr id="3" name="Content Placeholder 2">
            <a:extLst>
              <a:ext uri="{FF2B5EF4-FFF2-40B4-BE49-F238E27FC236}">
                <a16:creationId xmlns:a16="http://schemas.microsoft.com/office/drawing/2014/main" id="{B0C14F15-35A7-8F78-0FED-CED6FC918138}"/>
              </a:ext>
            </a:extLst>
          </p:cNvPr>
          <p:cNvSpPr>
            <a:spLocks noGrp="1"/>
          </p:cNvSpPr>
          <p:nvPr>
            <p:ph idx="1"/>
          </p:nvPr>
        </p:nvSpPr>
        <p:spPr/>
        <p:txBody>
          <a:bodyPr/>
          <a:lstStyle/>
          <a:p>
            <a:r>
              <a:rPr lang="en-US" dirty="0"/>
              <a:t>Let V be the set of gray-level values used to defined connectivity</a:t>
            </a:r>
          </a:p>
          <a:p>
            <a:endParaRPr lang="en-US" dirty="0"/>
          </a:p>
          <a:p>
            <a:r>
              <a:rPr lang="en-US" dirty="0"/>
              <a:t>4-connectivity:</a:t>
            </a:r>
          </a:p>
          <a:p>
            <a:pPr marL="0" indent="0">
              <a:buNone/>
            </a:pPr>
            <a:r>
              <a:rPr lang="en-US" dirty="0"/>
              <a:t>     2 pixels p and q with values from V are 4-connected if q is in the set N4(p) </a:t>
            </a:r>
          </a:p>
          <a:p>
            <a:pPr marL="0" indent="0">
              <a:buNone/>
            </a:pPr>
            <a:endParaRPr lang="en-US" dirty="0"/>
          </a:p>
          <a:p>
            <a:r>
              <a:rPr lang="en-US" dirty="0"/>
              <a:t>8-connectivity:</a:t>
            </a:r>
          </a:p>
          <a:p>
            <a:pPr marL="0" indent="0">
              <a:buNone/>
            </a:pPr>
            <a:r>
              <a:rPr lang="en-US" dirty="0"/>
              <a:t>     2 pixels p and q with values from V are 8-connected if q is in the set N4(p) </a:t>
            </a:r>
          </a:p>
          <a:p>
            <a:pPr marL="0" indent="0">
              <a:buNone/>
            </a:pPr>
            <a:endParaRPr lang="en-US" dirty="0"/>
          </a:p>
        </p:txBody>
      </p:sp>
      <p:pic>
        <p:nvPicPr>
          <p:cNvPr id="5" name="Picture 4">
            <a:extLst>
              <a:ext uri="{FF2B5EF4-FFF2-40B4-BE49-F238E27FC236}">
                <a16:creationId xmlns:a16="http://schemas.microsoft.com/office/drawing/2014/main" id="{F2F515F2-0C39-AC02-759C-BCD057B470A4}"/>
              </a:ext>
            </a:extLst>
          </p:cNvPr>
          <p:cNvPicPr>
            <a:picLocks noChangeAspect="1"/>
          </p:cNvPicPr>
          <p:nvPr/>
        </p:nvPicPr>
        <p:blipFill>
          <a:blip r:embed="rId2"/>
          <a:stretch>
            <a:fillRect/>
          </a:stretch>
        </p:blipFill>
        <p:spPr>
          <a:xfrm>
            <a:off x="9383349" y="2545388"/>
            <a:ext cx="2014776" cy="2166305"/>
          </a:xfrm>
          <a:prstGeom prst="rect">
            <a:avLst/>
          </a:prstGeom>
        </p:spPr>
      </p:pic>
    </p:spTree>
    <p:extLst>
      <p:ext uri="{BB962C8B-B14F-4D97-AF65-F5344CB8AC3E}">
        <p14:creationId xmlns:p14="http://schemas.microsoft.com/office/powerpoint/2010/main" val="39141613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26E2F-44A7-7328-4ED9-A7ADE8696DA5}"/>
              </a:ext>
            </a:extLst>
          </p:cNvPr>
          <p:cNvSpPr>
            <a:spLocks noGrp="1"/>
          </p:cNvSpPr>
          <p:nvPr>
            <p:ph type="title"/>
          </p:nvPr>
        </p:nvSpPr>
        <p:spPr/>
        <p:txBody>
          <a:bodyPr/>
          <a:lstStyle/>
          <a:p>
            <a:r>
              <a:rPr lang="en-US" dirty="0"/>
              <a:t>Connectivity</a:t>
            </a:r>
          </a:p>
        </p:txBody>
      </p:sp>
      <p:sp>
        <p:nvSpPr>
          <p:cNvPr id="3" name="Content Placeholder 2">
            <a:extLst>
              <a:ext uri="{FF2B5EF4-FFF2-40B4-BE49-F238E27FC236}">
                <a16:creationId xmlns:a16="http://schemas.microsoft.com/office/drawing/2014/main" id="{D57A3078-F1A9-0A7D-8887-241436715EF1}"/>
              </a:ext>
            </a:extLst>
          </p:cNvPr>
          <p:cNvSpPr>
            <a:spLocks noGrp="1"/>
          </p:cNvSpPr>
          <p:nvPr>
            <p:ph idx="1"/>
          </p:nvPr>
        </p:nvSpPr>
        <p:spPr/>
        <p:txBody>
          <a:bodyPr/>
          <a:lstStyle/>
          <a:p>
            <a:r>
              <a:rPr lang="en-US" dirty="0"/>
              <a:t>Let V be the set of gray-level values used to define connectivity.</a:t>
            </a:r>
          </a:p>
          <a:p>
            <a:endParaRPr lang="en-US" dirty="0"/>
          </a:p>
          <a:p>
            <a:r>
              <a:rPr lang="en-US" dirty="0"/>
              <a:t>M-connectivity(mixed connectivity)</a:t>
            </a:r>
          </a:p>
          <a:p>
            <a:r>
              <a:rPr lang="en-US" dirty="0"/>
              <a:t>2 pixels p and q with values from V are m connectivity if </a:t>
            </a:r>
          </a:p>
          <a:p>
            <a:pPr>
              <a:buFont typeface="Wingdings" panose="05000000000000000000" pitchFamily="2" charset="2"/>
              <a:buChar char="v"/>
            </a:pPr>
            <a:r>
              <a:rPr lang="en-US" dirty="0"/>
              <a:t>      q is the set N4(P) or</a:t>
            </a:r>
          </a:p>
          <a:p>
            <a:endParaRPr lang="en-US" dirty="0"/>
          </a:p>
        </p:txBody>
      </p:sp>
      <p:pic>
        <p:nvPicPr>
          <p:cNvPr id="5" name="Picture 4">
            <a:extLst>
              <a:ext uri="{FF2B5EF4-FFF2-40B4-BE49-F238E27FC236}">
                <a16:creationId xmlns:a16="http://schemas.microsoft.com/office/drawing/2014/main" id="{081C4E74-912D-92DA-8910-386794AC64A1}"/>
              </a:ext>
            </a:extLst>
          </p:cNvPr>
          <p:cNvPicPr>
            <a:picLocks noChangeAspect="1"/>
          </p:cNvPicPr>
          <p:nvPr/>
        </p:nvPicPr>
        <p:blipFill rotWithShape="1">
          <a:blip r:embed="rId2"/>
          <a:srcRect t="25226" r="763"/>
          <a:stretch/>
        </p:blipFill>
        <p:spPr>
          <a:xfrm>
            <a:off x="1013873" y="4643717"/>
            <a:ext cx="5951703" cy="803464"/>
          </a:xfrm>
          <a:prstGeom prst="rect">
            <a:avLst/>
          </a:prstGeom>
        </p:spPr>
      </p:pic>
    </p:spTree>
    <p:extLst>
      <p:ext uri="{BB962C8B-B14F-4D97-AF65-F5344CB8AC3E}">
        <p14:creationId xmlns:p14="http://schemas.microsoft.com/office/powerpoint/2010/main" val="4037933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A8AB2-7131-7AFA-E04B-95422B222FD3}"/>
              </a:ext>
            </a:extLst>
          </p:cNvPr>
          <p:cNvSpPr>
            <a:spLocks noGrp="1"/>
          </p:cNvSpPr>
          <p:nvPr>
            <p:ph type="title"/>
          </p:nvPr>
        </p:nvSpPr>
        <p:spPr/>
        <p:txBody>
          <a:bodyPr/>
          <a:lstStyle/>
          <a:p>
            <a:r>
              <a:rPr lang="en-US" dirty="0"/>
              <a:t>M-Connectivity</a:t>
            </a:r>
          </a:p>
        </p:txBody>
      </p:sp>
      <p:sp>
        <p:nvSpPr>
          <p:cNvPr id="3" name="Content Placeholder 2">
            <a:extLst>
              <a:ext uri="{FF2B5EF4-FFF2-40B4-BE49-F238E27FC236}">
                <a16:creationId xmlns:a16="http://schemas.microsoft.com/office/drawing/2014/main" id="{B0C14F15-35A7-8F78-0FED-CED6FC918138}"/>
              </a:ext>
            </a:extLst>
          </p:cNvPr>
          <p:cNvSpPr>
            <a:spLocks noGrp="1"/>
          </p:cNvSpPr>
          <p:nvPr>
            <p:ph idx="1"/>
          </p:nvPr>
        </p:nvSpPr>
        <p:spPr/>
        <p:txBody>
          <a:bodyPr/>
          <a:lstStyle/>
          <a:p>
            <a:r>
              <a:rPr lang="en-US" dirty="0"/>
              <a:t>m-connectivity eliminates the multiple path connections that arises in 8-connectivity.</a:t>
            </a:r>
          </a:p>
        </p:txBody>
      </p:sp>
      <p:pic>
        <p:nvPicPr>
          <p:cNvPr id="5" name="Picture 4">
            <a:extLst>
              <a:ext uri="{FF2B5EF4-FFF2-40B4-BE49-F238E27FC236}">
                <a16:creationId xmlns:a16="http://schemas.microsoft.com/office/drawing/2014/main" id="{8A7F0484-630B-E4F1-070B-1EB5BD1BF092}"/>
              </a:ext>
            </a:extLst>
          </p:cNvPr>
          <p:cNvPicPr>
            <a:picLocks noChangeAspect="1"/>
          </p:cNvPicPr>
          <p:nvPr/>
        </p:nvPicPr>
        <p:blipFill rotWithShape="1">
          <a:blip r:embed="rId2"/>
          <a:srcRect l="2495" t="8862" r="1968" b="5380"/>
          <a:stretch/>
        </p:blipFill>
        <p:spPr>
          <a:xfrm>
            <a:off x="2796988" y="3155576"/>
            <a:ext cx="4975412" cy="2429436"/>
          </a:xfrm>
          <a:prstGeom prst="rect">
            <a:avLst/>
          </a:prstGeom>
        </p:spPr>
      </p:pic>
    </p:spTree>
    <p:extLst>
      <p:ext uri="{BB962C8B-B14F-4D97-AF65-F5344CB8AC3E}">
        <p14:creationId xmlns:p14="http://schemas.microsoft.com/office/powerpoint/2010/main" val="5576291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A8AB2-7131-7AFA-E04B-95422B222FD3}"/>
              </a:ext>
            </a:extLst>
          </p:cNvPr>
          <p:cNvSpPr>
            <a:spLocks noGrp="1"/>
          </p:cNvSpPr>
          <p:nvPr>
            <p:ph type="title"/>
          </p:nvPr>
        </p:nvSpPr>
        <p:spPr/>
        <p:txBody>
          <a:bodyPr/>
          <a:lstStyle/>
          <a:p>
            <a:r>
              <a:rPr lang="en-US" dirty="0"/>
              <a:t>Path</a:t>
            </a:r>
          </a:p>
        </p:txBody>
      </p:sp>
      <p:sp>
        <p:nvSpPr>
          <p:cNvPr id="3" name="Content Placeholder 2">
            <a:extLst>
              <a:ext uri="{FF2B5EF4-FFF2-40B4-BE49-F238E27FC236}">
                <a16:creationId xmlns:a16="http://schemas.microsoft.com/office/drawing/2014/main" id="{B0C14F15-35A7-8F78-0FED-CED6FC918138}"/>
              </a:ext>
            </a:extLst>
          </p:cNvPr>
          <p:cNvSpPr>
            <a:spLocks noGrp="1"/>
          </p:cNvSpPr>
          <p:nvPr>
            <p:ph idx="1"/>
          </p:nvPr>
        </p:nvSpPr>
        <p:spPr/>
        <p:txBody>
          <a:bodyPr/>
          <a:lstStyle/>
          <a:p>
            <a:r>
              <a:rPr lang="en-US" dirty="0"/>
              <a:t>A (digital) path from pixel P with coordinates (</a:t>
            </a:r>
            <a:r>
              <a:rPr lang="en-US" dirty="0" err="1"/>
              <a:t>x,y</a:t>
            </a:r>
            <a:r>
              <a:rPr lang="en-US" dirty="0"/>
              <a:t>) to pixel q with co-ordinates (</a:t>
            </a:r>
            <a:r>
              <a:rPr lang="en-US" dirty="0" err="1"/>
              <a:t>S,t</a:t>
            </a:r>
            <a:r>
              <a:rPr lang="en-US" dirty="0"/>
              <a:t>) is a sequence of distinct pixels with coordinates</a:t>
            </a:r>
          </a:p>
          <a:p>
            <a:endParaRPr lang="en-US" dirty="0"/>
          </a:p>
          <a:p>
            <a:endParaRPr lang="en-US" dirty="0"/>
          </a:p>
          <a:p>
            <a:endParaRPr lang="en-US" dirty="0"/>
          </a:p>
          <a:p>
            <a:endParaRPr lang="en-US" dirty="0"/>
          </a:p>
          <a:p>
            <a:endParaRPr lang="en-US" dirty="0"/>
          </a:p>
          <a:p>
            <a:r>
              <a:rPr lang="en-US" dirty="0"/>
              <a:t>n is the length of the path</a:t>
            </a:r>
          </a:p>
        </p:txBody>
      </p:sp>
      <p:pic>
        <p:nvPicPr>
          <p:cNvPr id="5" name="Picture 4">
            <a:extLst>
              <a:ext uri="{FF2B5EF4-FFF2-40B4-BE49-F238E27FC236}">
                <a16:creationId xmlns:a16="http://schemas.microsoft.com/office/drawing/2014/main" id="{6E5DF924-E012-4DFA-818B-0FD3D2BFF77A}"/>
              </a:ext>
            </a:extLst>
          </p:cNvPr>
          <p:cNvPicPr>
            <a:picLocks noChangeAspect="1"/>
          </p:cNvPicPr>
          <p:nvPr/>
        </p:nvPicPr>
        <p:blipFill rotWithShape="1">
          <a:blip r:embed="rId2"/>
          <a:srcRect l="4742" t="30454" r="407" b="-1"/>
          <a:stretch/>
        </p:blipFill>
        <p:spPr>
          <a:xfrm>
            <a:off x="1290916" y="3429000"/>
            <a:ext cx="6418729" cy="747301"/>
          </a:xfrm>
          <a:prstGeom prst="rect">
            <a:avLst/>
          </a:prstGeom>
        </p:spPr>
      </p:pic>
    </p:spTree>
    <p:extLst>
      <p:ext uri="{BB962C8B-B14F-4D97-AF65-F5344CB8AC3E}">
        <p14:creationId xmlns:p14="http://schemas.microsoft.com/office/powerpoint/2010/main" val="21012868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A8AB2-7131-7AFA-E04B-95422B222FD3}"/>
              </a:ext>
            </a:extLst>
          </p:cNvPr>
          <p:cNvSpPr>
            <a:spLocks noGrp="1"/>
          </p:cNvSpPr>
          <p:nvPr>
            <p:ph type="title"/>
          </p:nvPr>
        </p:nvSpPr>
        <p:spPr/>
        <p:txBody>
          <a:bodyPr/>
          <a:lstStyle/>
          <a:p>
            <a:r>
              <a:rPr lang="en-US" dirty="0"/>
              <a:t>Adjacent</a:t>
            </a:r>
          </a:p>
        </p:txBody>
      </p:sp>
      <p:sp>
        <p:nvSpPr>
          <p:cNvPr id="3" name="Content Placeholder 2">
            <a:extLst>
              <a:ext uri="{FF2B5EF4-FFF2-40B4-BE49-F238E27FC236}">
                <a16:creationId xmlns:a16="http://schemas.microsoft.com/office/drawing/2014/main" id="{B0C14F15-35A7-8F78-0FED-CED6FC918138}"/>
              </a:ext>
            </a:extLst>
          </p:cNvPr>
          <p:cNvSpPr>
            <a:spLocks noGrp="1"/>
          </p:cNvSpPr>
          <p:nvPr>
            <p:ph idx="1"/>
          </p:nvPr>
        </p:nvSpPr>
        <p:spPr/>
        <p:txBody>
          <a:bodyPr/>
          <a:lstStyle/>
          <a:p>
            <a:r>
              <a:rPr lang="en-US" dirty="0"/>
              <a:t>A pixel p is adjacent to a pixel q if they are connected.</a:t>
            </a:r>
          </a:p>
        </p:txBody>
      </p:sp>
      <p:pic>
        <p:nvPicPr>
          <p:cNvPr id="5" name="Picture 4">
            <a:extLst>
              <a:ext uri="{FF2B5EF4-FFF2-40B4-BE49-F238E27FC236}">
                <a16:creationId xmlns:a16="http://schemas.microsoft.com/office/drawing/2014/main" id="{F813A7A5-EE74-15CC-AB8E-4643C5014160}"/>
              </a:ext>
            </a:extLst>
          </p:cNvPr>
          <p:cNvPicPr>
            <a:picLocks noChangeAspect="1"/>
          </p:cNvPicPr>
          <p:nvPr/>
        </p:nvPicPr>
        <p:blipFill>
          <a:blip r:embed="rId2"/>
          <a:stretch>
            <a:fillRect/>
          </a:stretch>
        </p:blipFill>
        <p:spPr>
          <a:xfrm>
            <a:off x="1836201" y="3011220"/>
            <a:ext cx="5044877" cy="2179509"/>
          </a:xfrm>
          <a:prstGeom prst="rect">
            <a:avLst/>
          </a:prstGeom>
        </p:spPr>
      </p:pic>
    </p:spTree>
    <p:extLst>
      <p:ext uri="{BB962C8B-B14F-4D97-AF65-F5344CB8AC3E}">
        <p14:creationId xmlns:p14="http://schemas.microsoft.com/office/powerpoint/2010/main" val="3845489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C7D66-DD3C-7E74-4476-337C7181D9B9}"/>
              </a:ext>
            </a:extLst>
          </p:cNvPr>
          <p:cNvSpPr>
            <a:spLocks noGrp="1"/>
          </p:cNvSpPr>
          <p:nvPr>
            <p:ph type="title"/>
          </p:nvPr>
        </p:nvSpPr>
        <p:spPr/>
        <p:txBody>
          <a:bodyPr/>
          <a:lstStyle/>
          <a:p>
            <a:r>
              <a:rPr lang="en-US" dirty="0"/>
              <a:t>Adjacent</a:t>
            </a:r>
          </a:p>
        </p:txBody>
      </p:sp>
      <p:sp>
        <p:nvSpPr>
          <p:cNvPr id="3" name="Content Placeholder 2">
            <a:extLst>
              <a:ext uri="{FF2B5EF4-FFF2-40B4-BE49-F238E27FC236}">
                <a16:creationId xmlns:a16="http://schemas.microsoft.com/office/drawing/2014/main" id="{8C19C4BC-E948-6F67-6260-BC78C9A686A2}"/>
              </a:ext>
            </a:extLst>
          </p:cNvPr>
          <p:cNvSpPr>
            <a:spLocks noGrp="1"/>
          </p:cNvSpPr>
          <p:nvPr>
            <p:ph idx="1"/>
          </p:nvPr>
        </p:nvSpPr>
        <p:spPr/>
        <p:txBody>
          <a:bodyPr/>
          <a:lstStyle/>
          <a:p>
            <a:r>
              <a:rPr lang="en-US" dirty="0"/>
              <a:t>Two image area subsets R1 and R2 are adjacent if some pixels in R1 is adjacent to some pixels R2</a:t>
            </a:r>
          </a:p>
        </p:txBody>
      </p:sp>
      <p:pic>
        <p:nvPicPr>
          <p:cNvPr id="5" name="Picture 4">
            <a:extLst>
              <a:ext uri="{FF2B5EF4-FFF2-40B4-BE49-F238E27FC236}">
                <a16:creationId xmlns:a16="http://schemas.microsoft.com/office/drawing/2014/main" id="{DAD2CED9-3204-F02F-9C3C-FF1DFCE2E250}"/>
              </a:ext>
            </a:extLst>
          </p:cNvPr>
          <p:cNvPicPr>
            <a:picLocks noChangeAspect="1"/>
          </p:cNvPicPr>
          <p:nvPr/>
        </p:nvPicPr>
        <p:blipFill>
          <a:blip r:embed="rId2"/>
          <a:stretch>
            <a:fillRect/>
          </a:stretch>
        </p:blipFill>
        <p:spPr>
          <a:xfrm>
            <a:off x="3923250" y="2988358"/>
            <a:ext cx="1760373" cy="2225233"/>
          </a:xfrm>
          <a:prstGeom prst="rect">
            <a:avLst/>
          </a:prstGeom>
        </p:spPr>
      </p:pic>
    </p:spTree>
    <p:extLst>
      <p:ext uri="{BB962C8B-B14F-4D97-AF65-F5344CB8AC3E}">
        <p14:creationId xmlns:p14="http://schemas.microsoft.com/office/powerpoint/2010/main" val="17729471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BE98A-0041-19D3-7384-1A009E19B59B}"/>
              </a:ext>
            </a:extLst>
          </p:cNvPr>
          <p:cNvSpPr>
            <a:spLocks noGrp="1"/>
          </p:cNvSpPr>
          <p:nvPr>
            <p:ph type="title"/>
          </p:nvPr>
        </p:nvSpPr>
        <p:spPr/>
        <p:txBody>
          <a:bodyPr/>
          <a:lstStyle/>
          <a:p>
            <a:r>
              <a:rPr lang="en-US" dirty="0"/>
              <a:t>Adjacent</a:t>
            </a:r>
          </a:p>
        </p:txBody>
      </p:sp>
      <p:sp>
        <p:nvSpPr>
          <p:cNvPr id="3" name="Content Placeholder 2">
            <a:extLst>
              <a:ext uri="{FF2B5EF4-FFF2-40B4-BE49-F238E27FC236}">
                <a16:creationId xmlns:a16="http://schemas.microsoft.com/office/drawing/2014/main" id="{EC79AC48-2E18-4D24-8698-1FC83E79B6DF}"/>
              </a:ext>
            </a:extLst>
          </p:cNvPr>
          <p:cNvSpPr>
            <a:spLocks noGrp="1"/>
          </p:cNvSpPr>
          <p:nvPr>
            <p:ph idx="1"/>
          </p:nvPr>
        </p:nvSpPr>
        <p:spPr/>
        <p:txBody>
          <a:bodyPr/>
          <a:lstStyle/>
          <a:p>
            <a:r>
              <a:rPr lang="en-US" dirty="0"/>
              <a:t>The circle point is part of the boundary of the 1 valued pixels only if 8-adjacency between the region and background is used.</a:t>
            </a:r>
          </a:p>
          <a:p>
            <a:endParaRPr lang="en-US" dirty="0"/>
          </a:p>
        </p:txBody>
      </p:sp>
      <p:pic>
        <p:nvPicPr>
          <p:cNvPr id="5" name="Picture 4">
            <a:extLst>
              <a:ext uri="{FF2B5EF4-FFF2-40B4-BE49-F238E27FC236}">
                <a16:creationId xmlns:a16="http://schemas.microsoft.com/office/drawing/2014/main" id="{EBCE1F6B-1073-F2FD-C478-A63706311119}"/>
              </a:ext>
            </a:extLst>
          </p:cNvPr>
          <p:cNvPicPr>
            <a:picLocks noChangeAspect="1"/>
          </p:cNvPicPr>
          <p:nvPr/>
        </p:nvPicPr>
        <p:blipFill>
          <a:blip r:embed="rId2"/>
          <a:stretch>
            <a:fillRect/>
          </a:stretch>
        </p:blipFill>
        <p:spPr>
          <a:xfrm>
            <a:off x="3506637" y="3429000"/>
            <a:ext cx="1996613" cy="2072820"/>
          </a:xfrm>
          <a:prstGeom prst="rect">
            <a:avLst/>
          </a:prstGeom>
        </p:spPr>
      </p:pic>
    </p:spTree>
    <p:extLst>
      <p:ext uri="{BB962C8B-B14F-4D97-AF65-F5344CB8AC3E}">
        <p14:creationId xmlns:p14="http://schemas.microsoft.com/office/powerpoint/2010/main" val="17235753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AA17F-E01F-492E-D708-9CD1930FB659}"/>
              </a:ext>
            </a:extLst>
          </p:cNvPr>
          <p:cNvSpPr>
            <a:spLocks noGrp="1"/>
          </p:cNvSpPr>
          <p:nvPr>
            <p:ph type="title"/>
          </p:nvPr>
        </p:nvSpPr>
        <p:spPr/>
        <p:txBody>
          <a:bodyPr/>
          <a:lstStyle/>
          <a:p>
            <a:r>
              <a:rPr lang="en-US" dirty="0"/>
              <a:t>Adjacent</a:t>
            </a:r>
          </a:p>
        </p:txBody>
      </p:sp>
      <p:sp>
        <p:nvSpPr>
          <p:cNvPr id="3" name="Content Placeholder 2">
            <a:extLst>
              <a:ext uri="{FF2B5EF4-FFF2-40B4-BE49-F238E27FC236}">
                <a16:creationId xmlns:a16="http://schemas.microsoft.com/office/drawing/2014/main" id="{99D94490-9986-BBFC-95DB-DE9D1307E7DE}"/>
              </a:ext>
            </a:extLst>
          </p:cNvPr>
          <p:cNvSpPr>
            <a:spLocks noGrp="1"/>
          </p:cNvSpPr>
          <p:nvPr>
            <p:ph idx="1"/>
          </p:nvPr>
        </p:nvSpPr>
        <p:spPr/>
        <p:txBody>
          <a:bodyPr/>
          <a:lstStyle/>
          <a:p>
            <a:r>
              <a:rPr lang="en-US" dirty="0"/>
              <a:t>The inner boundary of the 1-valued region does not form a closed path, but its outer boundary does.</a:t>
            </a:r>
          </a:p>
        </p:txBody>
      </p:sp>
      <p:pic>
        <p:nvPicPr>
          <p:cNvPr id="5" name="Picture 4">
            <a:extLst>
              <a:ext uri="{FF2B5EF4-FFF2-40B4-BE49-F238E27FC236}">
                <a16:creationId xmlns:a16="http://schemas.microsoft.com/office/drawing/2014/main" id="{5C72FEEE-5D1B-6B17-D63A-E7F11958EAD5}"/>
              </a:ext>
            </a:extLst>
          </p:cNvPr>
          <p:cNvPicPr>
            <a:picLocks noChangeAspect="1"/>
          </p:cNvPicPr>
          <p:nvPr/>
        </p:nvPicPr>
        <p:blipFill>
          <a:blip r:embed="rId2"/>
          <a:stretch>
            <a:fillRect/>
          </a:stretch>
        </p:blipFill>
        <p:spPr>
          <a:xfrm>
            <a:off x="4405040" y="3268107"/>
            <a:ext cx="1882303" cy="2552921"/>
          </a:xfrm>
          <a:prstGeom prst="rect">
            <a:avLst/>
          </a:prstGeom>
        </p:spPr>
      </p:pic>
    </p:spTree>
    <p:extLst>
      <p:ext uri="{BB962C8B-B14F-4D97-AF65-F5344CB8AC3E}">
        <p14:creationId xmlns:p14="http://schemas.microsoft.com/office/powerpoint/2010/main" val="16075423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0959F-4C9F-7080-571E-24D00584B1DE}"/>
              </a:ext>
            </a:extLst>
          </p:cNvPr>
          <p:cNvSpPr>
            <a:spLocks noGrp="1"/>
          </p:cNvSpPr>
          <p:nvPr>
            <p:ph type="title"/>
          </p:nvPr>
        </p:nvSpPr>
        <p:spPr/>
        <p:txBody>
          <a:bodyPr/>
          <a:lstStyle/>
          <a:p>
            <a:r>
              <a:rPr lang="en-US" dirty="0"/>
              <a:t>Distance measures</a:t>
            </a:r>
          </a:p>
        </p:txBody>
      </p:sp>
      <p:sp>
        <p:nvSpPr>
          <p:cNvPr id="3" name="Content Placeholder 2">
            <a:extLst>
              <a:ext uri="{FF2B5EF4-FFF2-40B4-BE49-F238E27FC236}">
                <a16:creationId xmlns:a16="http://schemas.microsoft.com/office/drawing/2014/main" id="{A26E745A-32B6-40F7-8386-F596CDA5B058}"/>
              </a:ext>
            </a:extLst>
          </p:cNvPr>
          <p:cNvSpPr>
            <a:spLocks noGrp="1"/>
          </p:cNvSpPr>
          <p:nvPr>
            <p:ph idx="1"/>
          </p:nvPr>
        </p:nvSpPr>
        <p:spPr/>
        <p:txBody>
          <a:bodyPr/>
          <a:lstStyle/>
          <a:p>
            <a:r>
              <a:rPr lang="en-US" dirty="0"/>
              <a:t>For pixel </a:t>
            </a:r>
            <a:r>
              <a:rPr lang="en-US" dirty="0" err="1"/>
              <a:t>p,q</a:t>
            </a:r>
            <a:r>
              <a:rPr lang="en-US" dirty="0"/>
              <a:t>, z with coordinates (</a:t>
            </a:r>
            <a:r>
              <a:rPr lang="en-US" dirty="0" err="1"/>
              <a:t>x,y</a:t>
            </a:r>
            <a:r>
              <a:rPr lang="en-US" dirty="0"/>
              <a:t>),(</a:t>
            </a:r>
            <a:r>
              <a:rPr lang="en-US" dirty="0" err="1"/>
              <a:t>s,t</a:t>
            </a:r>
            <a:r>
              <a:rPr lang="en-US" dirty="0"/>
              <a:t>) and (</a:t>
            </a:r>
            <a:r>
              <a:rPr lang="en-US" dirty="0" err="1"/>
              <a:t>u,v</a:t>
            </a:r>
            <a:r>
              <a:rPr lang="en-US" dirty="0"/>
              <a:t>) respectively,</a:t>
            </a:r>
          </a:p>
          <a:p>
            <a:endParaRPr lang="en-US" dirty="0"/>
          </a:p>
          <a:p>
            <a:r>
              <a:rPr lang="en-US" dirty="0"/>
              <a:t>D is the distance function or metric if </a:t>
            </a:r>
          </a:p>
        </p:txBody>
      </p:sp>
      <p:pic>
        <p:nvPicPr>
          <p:cNvPr id="5" name="Picture 4">
            <a:extLst>
              <a:ext uri="{FF2B5EF4-FFF2-40B4-BE49-F238E27FC236}">
                <a16:creationId xmlns:a16="http://schemas.microsoft.com/office/drawing/2014/main" id="{4C34C5A3-E3CF-DDF1-B6D6-250C923CFC7E}"/>
              </a:ext>
            </a:extLst>
          </p:cNvPr>
          <p:cNvPicPr>
            <a:picLocks noChangeAspect="1"/>
          </p:cNvPicPr>
          <p:nvPr/>
        </p:nvPicPr>
        <p:blipFill>
          <a:blip r:embed="rId2"/>
          <a:stretch>
            <a:fillRect/>
          </a:stretch>
        </p:blipFill>
        <p:spPr>
          <a:xfrm>
            <a:off x="2060310" y="3712321"/>
            <a:ext cx="3170195" cy="777307"/>
          </a:xfrm>
          <a:prstGeom prst="rect">
            <a:avLst/>
          </a:prstGeom>
        </p:spPr>
      </p:pic>
    </p:spTree>
    <p:extLst>
      <p:ext uri="{BB962C8B-B14F-4D97-AF65-F5344CB8AC3E}">
        <p14:creationId xmlns:p14="http://schemas.microsoft.com/office/powerpoint/2010/main" val="30249926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71D88-B9C9-42F7-F8C3-57D1951E9648}"/>
              </a:ext>
            </a:extLst>
          </p:cNvPr>
          <p:cNvSpPr>
            <a:spLocks noGrp="1"/>
          </p:cNvSpPr>
          <p:nvPr>
            <p:ph type="title"/>
          </p:nvPr>
        </p:nvSpPr>
        <p:spPr/>
        <p:txBody>
          <a:bodyPr/>
          <a:lstStyle/>
          <a:p>
            <a:r>
              <a:rPr lang="en-US" dirty="0"/>
              <a:t>Euclidean Distance</a:t>
            </a:r>
          </a:p>
        </p:txBody>
      </p:sp>
      <p:sp>
        <p:nvSpPr>
          <p:cNvPr id="3" name="Content Placeholder 2">
            <a:extLst>
              <a:ext uri="{FF2B5EF4-FFF2-40B4-BE49-F238E27FC236}">
                <a16:creationId xmlns:a16="http://schemas.microsoft.com/office/drawing/2014/main" id="{4B76E17B-EEFC-7E9B-DBE0-38EA78124DCB}"/>
              </a:ext>
            </a:extLst>
          </p:cNvPr>
          <p:cNvSpPr>
            <a:spLocks noGrp="1"/>
          </p:cNvSpPr>
          <p:nvPr>
            <p:ph idx="1"/>
          </p:nvPr>
        </p:nvSpPr>
        <p:spPr/>
        <p:txBody>
          <a:bodyPr/>
          <a:lstStyle/>
          <a:p>
            <a:r>
              <a:rPr lang="en-US" dirty="0"/>
              <a:t>The Euclidean distance is defined as the distance between two points. In other words, the Euclidean distance between two points in the Euclidean space is defined as the length of the line segment between two points.</a:t>
            </a:r>
          </a:p>
          <a:p>
            <a:endParaRPr lang="en-US" dirty="0"/>
          </a:p>
        </p:txBody>
      </p:sp>
      <p:pic>
        <p:nvPicPr>
          <p:cNvPr id="5" name="Picture 4">
            <a:extLst>
              <a:ext uri="{FF2B5EF4-FFF2-40B4-BE49-F238E27FC236}">
                <a16:creationId xmlns:a16="http://schemas.microsoft.com/office/drawing/2014/main" id="{9E57AF5D-24A4-CB35-53C8-F543FE799974}"/>
              </a:ext>
            </a:extLst>
          </p:cNvPr>
          <p:cNvPicPr>
            <a:picLocks noChangeAspect="1"/>
          </p:cNvPicPr>
          <p:nvPr/>
        </p:nvPicPr>
        <p:blipFill>
          <a:blip r:embed="rId3"/>
          <a:stretch>
            <a:fillRect/>
          </a:stretch>
        </p:blipFill>
        <p:spPr>
          <a:xfrm>
            <a:off x="1183078" y="3429000"/>
            <a:ext cx="4404742" cy="2563533"/>
          </a:xfrm>
          <a:prstGeom prst="rect">
            <a:avLst/>
          </a:prstGeom>
        </p:spPr>
      </p:pic>
      <p:pic>
        <p:nvPicPr>
          <p:cNvPr id="7" name="Picture 6">
            <a:extLst>
              <a:ext uri="{FF2B5EF4-FFF2-40B4-BE49-F238E27FC236}">
                <a16:creationId xmlns:a16="http://schemas.microsoft.com/office/drawing/2014/main" id="{E1A853F5-6324-E2C1-5125-E88808B606B0}"/>
              </a:ext>
            </a:extLst>
          </p:cNvPr>
          <p:cNvPicPr>
            <a:picLocks noChangeAspect="1"/>
          </p:cNvPicPr>
          <p:nvPr/>
        </p:nvPicPr>
        <p:blipFill>
          <a:blip r:embed="rId4"/>
          <a:stretch>
            <a:fillRect/>
          </a:stretch>
        </p:blipFill>
        <p:spPr>
          <a:xfrm>
            <a:off x="5824623" y="3684867"/>
            <a:ext cx="2971228" cy="2563533"/>
          </a:xfrm>
          <a:prstGeom prst="rect">
            <a:avLst/>
          </a:prstGeom>
        </p:spPr>
      </p:pic>
      <p:pic>
        <p:nvPicPr>
          <p:cNvPr id="6" name="Picture 5">
            <a:extLst>
              <a:ext uri="{FF2B5EF4-FFF2-40B4-BE49-F238E27FC236}">
                <a16:creationId xmlns:a16="http://schemas.microsoft.com/office/drawing/2014/main" id="{6A5B5506-B1BC-98E1-31B2-DBE5659E6087}"/>
              </a:ext>
            </a:extLst>
          </p:cNvPr>
          <p:cNvPicPr>
            <a:picLocks noChangeAspect="1"/>
          </p:cNvPicPr>
          <p:nvPr/>
        </p:nvPicPr>
        <p:blipFill>
          <a:blip r:embed="rId5"/>
          <a:stretch>
            <a:fillRect/>
          </a:stretch>
        </p:blipFill>
        <p:spPr>
          <a:xfrm>
            <a:off x="1040800" y="6379750"/>
            <a:ext cx="3089074" cy="333510"/>
          </a:xfrm>
          <a:prstGeom prst="rect">
            <a:avLst/>
          </a:prstGeom>
        </p:spPr>
      </p:pic>
      <p:sp>
        <p:nvSpPr>
          <p:cNvPr id="8" name="TextBox 7">
            <a:extLst>
              <a:ext uri="{FF2B5EF4-FFF2-40B4-BE49-F238E27FC236}">
                <a16:creationId xmlns:a16="http://schemas.microsoft.com/office/drawing/2014/main" id="{6E44718E-9835-DB64-A343-CE134DB168D8}"/>
              </a:ext>
            </a:extLst>
          </p:cNvPr>
          <p:cNvSpPr txBox="1"/>
          <p:nvPr/>
        </p:nvSpPr>
        <p:spPr>
          <a:xfrm>
            <a:off x="4779594" y="6389798"/>
            <a:ext cx="2090057" cy="369332"/>
          </a:xfrm>
          <a:prstGeom prst="rect">
            <a:avLst/>
          </a:prstGeom>
          <a:noFill/>
        </p:spPr>
        <p:txBody>
          <a:bodyPr wrap="square" rtlCol="0">
            <a:spAutoFit/>
          </a:bodyPr>
          <a:lstStyle/>
          <a:p>
            <a:r>
              <a:rPr lang="en-US" dirty="0"/>
              <a:t>Standard equation</a:t>
            </a:r>
          </a:p>
        </p:txBody>
      </p:sp>
    </p:spTree>
    <p:extLst>
      <p:ext uri="{BB962C8B-B14F-4D97-AF65-F5344CB8AC3E}">
        <p14:creationId xmlns:p14="http://schemas.microsoft.com/office/powerpoint/2010/main" val="33231533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0D58C-95D1-7F04-5495-9294CA11C78D}"/>
              </a:ext>
            </a:extLst>
          </p:cNvPr>
          <p:cNvSpPr>
            <a:spLocks noGrp="1"/>
          </p:cNvSpPr>
          <p:nvPr>
            <p:ph type="title"/>
          </p:nvPr>
        </p:nvSpPr>
        <p:spPr/>
        <p:txBody>
          <a:bodyPr/>
          <a:lstStyle/>
          <a:p>
            <a:r>
              <a:rPr lang="en-US" dirty="0"/>
              <a:t>City block distance</a:t>
            </a:r>
          </a:p>
        </p:txBody>
      </p:sp>
      <p:sp>
        <p:nvSpPr>
          <p:cNvPr id="3" name="Content Placeholder 2">
            <a:extLst>
              <a:ext uri="{FF2B5EF4-FFF2-40B4-BE49-F238E27FC236}">
                <a16:creationId xmlns:a16="http://schemas.microsoft.com/office/drawing/2014/main" id="{A9DB2AE0-1BFD-14B9-A996-A8922D68FA04}"/>
              </a:ext>
            </a:extLst>
          </p:cNvPr>
          <p:cNvSpPr>
            <a:spLocks noGrp="1"/>
          </p:cNvSpPr>
          <p:nvPr>
            <p:ph idx="1"/>
          </p:nvPr>
        </p:nvSpPr>
        <p:spPr/>
        <p:txBody>
          <a:bodyPr/>
          <a:lstStyle/>
          <a:p>
            <a:r>
              <a:rPr lang="en-US" dirty="0"/>
              <a:t>The D4 distance (also called city-block distance) between P and q is defined as</a:t>
            </a:r>
          </a:p>
          <a:p>
            <a:endParaRPr lang="en-US" dirty="0"/>
          </a:p>
          <a:p>
            <a:endParaRPr lang="en-US" dirty="0"/>
          </a:p>
          <a:p>
            <a:endParaRPr lang="en-US" dirty="0"/>
          </a:p>
          <a:p>
            <a:r>
              <a:rPr lang="en-US" dirty="0"/>
              <a:t>In this case, the pixel having a distance from (</a:t>
            </a:r>
            <a:r>
              <a:rPr lang="en-US" dirty="0" err="1"/>
              <a:t>x,y</a:t>
            </a:r>
            <a:r>
              <a:rPr lang="en-US" dirty="0"/>
              <a:t>) less than or equal to some value r from a diamond centered at (</a:t>
            </a:r>
            <a:r>
              <a:rPr lang="en-US" dirty="0" err="1"/>
              <a:t>x,y</a:t>
            </a:r>
            <a:r>
              <a:rPr lang="en-US" dirty="0"/>
              <a:t>)  </a:t>
            </a:r>
          </a:p>
        </p:txBody>
      </p:sp>
      <p:pic>
        <p:nvPicPr>
          <p:cNvPr id="5" name="Picture 4">
            <a:extLst>
              <a:ext uri="{FF2B5EF4-FFF2-40B4-BE49-F238E27FC236}">
                <a16:creationId xmlns:a16="http://schemas.microsoft.com/office/drawing/2014/main" id="{6988B7D9-01A0-DDD2-EBA5-1D9AB59909D1}"/>
              </a:ext>
            </a:extLst>
          </p:cNvPr>
          <p:cNvPicPr>
            <a:picLocks noChangeAspect="1"/>
          </p:cNvPicPr>
          <p:nvPr/>
        </p:nvPicPr>
        <p:blipFill>
          <a:blip r:embed="rId3"/>
          <a:stretch>
            <a:fillRect/>
          </a:stretch>
        </p:blipFill>
        <p:spPr>
          <a:xfrm>
            <a:off x="1317659" y="3162277"/>
            <a:ext cx="3200677" cy="533446"/>
          </a:xfrm>
          <a:prstGeom prst="rect">
            <a:avLst/>
          </a:prstGeom>
        </p:spPr>
      </p:pic>
      <p:pic>
        <p:nvPicPr>
          <p:cNvPr id="7" name="Picture 6">
            <a:extLst>
              <a:ext uri="{FF2B5EF4-FFF2-40B4-BE49-F238E27FC236}">
                <a16:creationId xmlns:a16="http://schemas.microsoft.com/office/drawing/2014/main" id="{AECEB5DB-BA6D-AB35-73B7-30AD1746EE79}"/>
              </a:ext>
            </a:extLst>
          </p:cNvPr>
          <p:cNvPicPr>
            <a:picLocks noChangeAspect="1"/>
          </p:cNvPicPr>
          <p:nvPr/>
        </p:nvPicPr>
        <p:blipFill>
          <a:blip r:embed="rId4"/>
          <a:stretch>
            <a:fillRect/>
          </a:stretch>
        </p:blipFill>
        <p:spPr>
          <a:xfrm>
            <a:off x="9552156" y="190219"/>
            <a:ext cx="2644369" cy="2972058"/>
          </a:xfrm>
          <a:prstGeom prst="rect">
            <a:avLst/>
          </a:prstGeom>
        </p:spPr>
      </p:pic>
      <p:pic>
        <p:nvPicPr>
          <p:cNvPr id="6" name="Picture 5">
            <a:extLst>
              <a:ext uri="{FF2B5EF4-FFF2-40B4-BE49-F238E27FC236}">
                <a16:creationId xmlns:a16="http://schemas.microsoft.com/office/drawing/2014/main" id="{88EFAA7F-19D6-C614-0AFD-C758F9DB048F}"/>
              </a:ext>
            </a:extLst>
          </p:cNvPr>
          <p:cNvPicPr>
            <a:picLocks noChangeAspect="1"/>
          </p:cNvPicPr>
          <p:nvPr/>
        </p:nvPicPr>
        <p:blipFill>
          <a:blip r:embed="rId5"/>
          <a:stretch>
            <a:fillRect/>
          </a:stretch>
        </p:blipFill>
        <p:spPr>
          <a:xfrm>
            <a:off x="9439123" y="3695723"/>
            <a:ext cx="2644369" cy="1974501"/>
          </a:xfrm>
          <a:prstGeom prst="rect">
            <a:avLst/>
          </a:prstGeom>
        </p:spPr>
      </p:pic>
    </p:spTree>
    <p:extLst>
      <p:ext uri="{BB962C8B-B14F-4D97-AF65-F5344CB8AC3E}">
        <p14:creationId xmlns:p14="http://schemas.microsoft.com/office/powerpoint/2010/main" val="2670625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38457-07FD-0F0B-0412-BFED3B4A7709}"/>
              </a:ext>
            </a:extLst>
          </p:cNvPr>
          <p:cNvSpPr>
            <a:spLocks noGrp="1"/>
          </p:cNvSpPr>
          <p:nvPr>
            <p:ph type="title"/>
          </p:nvPr>
        </p:nvSpPr>
        <p:spPr/>
        <p:txBody>
          <a:bodyPr/>
          <a:lstStyle/>
          <a:p>
            <a:r>
              <a:rPr lang="en-US" dirty="0"/>
              <a:t>Chessboard Distance</a:t>
            </a:r>
          </a:p>
        </p:txBody>
      </p:sp>
      <p:sp>
        <p:nvSpPr>
          <p:cNvPr id="3" name="Content Placeholder 2">
            <a:extLst>
              <a:ext uri="{FF2B5EF4-FFF2-40B4-BE49-F238E27FC236}">
                <a16:creationId xmlns:a16="http://schemas.microsoft.com/office/drawing/2014/main" id="{A3D7888C-F2E9-9FCA-9DFD-D6A8ECC743BB}"/>
              </a:ext>
            </a:extLst>
          </p:cNvPr>
          <p:cNvSpPr>
            <a:spLocks noGrp="1"/>
          </p:cNvSpPr>
          <p:nvPr>
            <p:ph idx="1"/>
          </p:nvPr>
        </p:nvSpPr>
        <p:spPr/>
        <p:txBody>
          <a:bodyPr/>
          <a:lstStyle/>
          <a:p>
            <a:r>
              <a:rPr lang="en-US" dirty="0"/>
              <a:t>The D8 distance (also called chessboard distance) between p and q is defined as </a:t>
            </a:r>
          </a:p>
          <a:p>
            <a:endParaRPr lang="en-US" dirty="0"/>
          </a:p>
          <a:p>
            <a:endParaRPr lang="en-US" dirty="0"/>
          </a:p>
          <a:p>
            <a:endParaRPr lang="en-US" dirty="0"/>
          </a:p>
          <a:p>
            <a:r>
              <a:rPr lang="en-US" dirty="0"/>
              <a:t>In this case, the pixels with D8 distance from (</a:t>
            </a:r>
            <a:r>
              <a:rPr lang="en-US" dirty="0" err="1"/>
              <a:t>x,y</a:t>
            </a:r>
            <a:r>
              <a:rPr lang="en-US" dirty="0"/>
              <a:t>) less than or equal to some value r from a square centered at (</a:t>
            </a:r>
            <a:r>
              <a:rPr lang="en-US" dirty="0" err="1"/>
              <a:t>x,y</a:t>
            </a:r>
            <a:r>
              <a:rPr lang="en-US" dirty="0"/>
              <a:t>). </a:t>
            </a:r>
          </a:p>
        </p:txBody>
      </p:sp>
      <p:pic>
        <p:nvPicPr>
          <p:cNvPr id="5" name="Picture 4">
            <a:extLst>
              <a:ext uri="{FF2B5EF4-FFF2-40B4-BE49-F238E27FC236}">
                <a16:creationId xmlns:a16="http://schemas.microsoft.com/office/drawing/2014/main" id="{C1CCC0B0-38A5-A3E0-58FB-C18DA4C64F32}"/>
              </a:ext>
            </a:extLst>
          </p:cNvPr>
          <p:cNvPicPr>
            <a:picLocks noChangeAspect="1"/>
          </p:cNvPicPr>
          <p:nvPr/>
        </p:nvPicPr>
        <p:blipFill>
          <a:blip r:embed="rId3"/>
          <a:stretch>
            <a:fillRect/>
          </a:stretch>
        </p:blipFill>
        <p:spPr>
          <a:xfrm>
            <a:off x="1607336" y="3131794"/>
            <a:ext cx="3368332" cy="594412"/>
          </a:xfrm>
          <a:prstGeom prst="rect">
            <a:avLst/>
          </a:prstGeom>
        </p:spPr>
      </p:pic>
      <p:pic>
        <p:nvPicPr>
          <p:cNvPr id="7" name="Picture 6">
            <a:extLst>
              <a:ext uri="{FF2B5EF4-FFF2-40B4-BE49-F238E27FC236}">
                <a16:creationId xmlns:a16="http://schemas.microsoft.com/office/drawing/2014/main" id="{9279AA4F-EF65-6F35-D439-D92775F3AD80}"/>
              </a:ext>
            </a:extLst>
          </p:cNvPr>
          <p:cNvPicPr>
            <a:picLocks noChangeAspect="1"/>
          </p:cNvPicPr>
          <p:nvPr/>
        </p:nvPicPr>
        <p:blipFill>
          <a:blip r:embed="rId4"/>
          <a:stretch>
            <a:fillRect/>
          </a:stretch>
        </p:blipFill>
        <p:spPr>
          <a:xfrm>
            <a:off x="9334875" y="2592084"/>
            <a:ext cx="2499577" cy="3017782"/>
          </a:xfrm>
          <a:prstGeom prst="rect">
            <a:avLst/>
          </a:prstGeom>
        </p:spPr>
      </p:pic>
    </p:spTree>
    <p:extLst>
      <p:ext uri="{BB962C8B-B14F-4D97-AF65-F5344CB8AC3E}">
        <p14:creationId xmlns:p14="http://schemas.microsoft.com/office/powerpoint/2010/main" val="1495711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BC358-60E8-2F8E-1A91-96DB66077BE9}"/>
              </a:ext>
            </a:extLst>
          </p:cNvPr>
          <p:cNvSpPr>
            <a:spLocks noGrp="1"/>
          </p:cNvSpPr>
          <p:nvPr>
            <p:ph type="title"/>
          </p:nvPr>
        </p:nvSpPr>
        <p:spPr/>
        <p:txBody>
          <a:bodyPr/>
          <a:lstStyle/>
          <a:p>
            <a:r>
              <a:rPr lang="en-US" dirty="0"/>
              <a:t>M-connectivity distance</a:t>
            </a:r>
          </a:p>
        </p:txBody>
      </p:sp>
      <p:sp>
        <p:nvSpPr>
          <p:cNvPr id="3" name="Content Placeholder 2">
            <a:extLst>
              <a:ext uri="{FF2B5EF4-FFF2-40B4-BE49-F238E27FC236}">
                <a16:creationId xmlns:a16="http://schemas.microsoft.com/office/drawing/2014/main" id="{D2583434-69D6-9B52-DF85-5A1183D3BE19}"/>
              </a:ext>
            </a:extLst>
          </p:cNvPr>
          <p:cNvSpPr>
            <a:spLocks noGrp="1"/>
          </p:cNvSpPr>
          <p:nvPr>
            <p:ph idx="1"/>
          </p:nvPr>
        </p:nvSpPr>
        <p:spPr/>
        <p:txBody>
          <a:bodyPr/>
          <a:lstStyle/>
          <a:p>
            <a:r>
              <a:rPr lang="en-US" dirty="0"/>
              <a:t>Distance of m-connectivity of the path between 2 pixels depends on values of the pixels along the path.</a:t>
            </a:r>
          </a:p>
          <a:p>
            <a:endParaRPr lang="en-US" dirty="0"/>
          </a:p>
          <a:p>
            <a:r>
              <a:rPr lang="en-US" dirty="0"/>
              <a:t>E.g. if only connectivity of pixel values 1 is allowed. Find the m-distance between p and p4</a:t>
            </a:r>
          </a:p>
        </p:txBody>
      </p:sp>
      <p:pic>
        <p:nvPicPr>
          <p:cNvPr id="5" name="Picture 4">
            <a:extLst>
              <a:ext uri="{FF2B5EF4-FFF2-40B4-BE49-F238E27FC236}">
                <a16:creationId xmlns:a16="http://schemas.microsoft.com/office/drawing/2014/main" id="{5B99C603-B02E-34FB-28BC-9F86D178CAEA}"/>
              </a:ext>
            </a:extLst>
          </p:cNvPr>
          <p:cNvPicPr>
            <a:picLocks noChangeAspect="1"/>
          </p:cNvPicPr>
          <p:nvPr/>
        </p:nvPicPr>
        <p:blipFill>
          <a:blip r:embed="rId2"/>
          <a:stretch>
            <a:fillRect/>
          </a:stretch>
        </p:blipFill>
        <p:spPr>
          <a:xfrm>
            <a:off x="1134610" y="4100975"/>
            <a:ext cx="7426684" cy="1795567"/>
          </a:xfrm>
          <a:prstGeom prst="rect">
            <a:avLst/>
          </a:prstGeom>
        </p:spPr>
      </p:pic>
    </p:spTree>
    <p:extLst>
      <p:ext uri="{BB962C8B-B14F-4D97-AF65-F5344CB8AC3E}">
        <p14:creationId xmlns:p14="http://schemas.microsoft.com/office/powerpoint/2010/main" val="32601527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A8AB2-7131-7AFA-E04B-95422B222FD3}"/>
              </a:ext>
            </a:extLst>
          </p:cNvPr>
          <p:cNvSpPr>
            <a:spLocks noGrp="1"/>
          </p:cNvSpPr>
          <p:nvPr>
            <p:ph type="title"/>
          </p:nvPr>
        </p:nvSpPr>
        <p:spPr/>
        <p:txBody>
          <a:bodyPr/>
          <a:lstStyle/>
          <a:p>
            <a:r>
              <a:rPr lang="en-US" dirty="0"/>
              <a:t>Arithmetic operation</a:t>
            </a:r>
          </a:p>
        </p:txBody>
      </p:sp>
      <p:pic>
        <p:nvPicPr>
          <p:cNvPr id="5" name="Content Placeholder 4">
            <a:extLst>
              <a:ext uri="{FF2B5EF4-FFF2-40B4-BE49-F238E27FC236}">
                <a16:creationId xmlns:a16="http://schemas.microsoft.com/office/drawing/2014/main" id="{FDEBDD4C-593A-C7FA-B9A6-606CCCA77D12}"/>
              </a:ext>
            </a:extLst>
          </p:cNvPr>
          <p:cNvPicPr>
            <a:picLocks noGrp="1" noChangeAspect="1"/>
          </p:cNvPicPr>
          <p:nvPr>
            <p:ph idx="1"/>
          </p:nvPr>
        </p:nvPicPr>
        <p:blipFill>
          <a:blip r:embed="rId2"/>
          <a:stretch>
            <a:fillRect/>
          </a:stretch>
        </p:blipFill>
        <p:spPr>
          <a:xfrm>
            <a:off x="2060209" y="2732523"/>
            <a:ext cx="4549091" cy="2798701"/>
          </a:xfrm>
        </p:spPr>
      </p:pic>
      <p:sp>
        <p:nvSpPr>
          <p:cNvPr id="6" name="TextBox 5">
            <a:extLst>
              <a:ext uri="{FF2B5EF4-FFF2-40B4-BE49-F238E27FC236}">
                <a16:creationId xmlns:a16="http://schemas.microsoft.com/office/drawing/2014/main" id="{9B12F936-D98F-EF71-8DEE-C1F8E0A8009F}"/>
              </a:ext>
            </a:extLst>
          </p:cNvPr>
          <p:cNvSpPr txBox="1"/>
          <p:nvPr/>
        </p:nvSpPr>
        <p:spPr>
          <a:xfrm>
            <a:off x="968188" y="1999129"/>
            <a:ext cx="5378824" cy="369332"/>
          </a:xfrm>
          <a:prstGeom prst="rect">
            <a:avLst/>
          </a:prstGeom>
          <a:noFill/>
        </p:spPr>
        <p:txBody>
          <a:bodyPr wrap="square" rtlCol="0">
            <a:spAutoFit/>
          </a:bodyPr>
          <a:lstStyle/>
          <a:p>
            <a:r>
              <a:rPr lang="en-US" dirty="0"/>
              <a:t>Image arithmetic involves images are same size</a:t>
            </a:r>
          </a:p>
        </p:txBody>
      </p:sp>
    </p:spTree>
    <p:extLst>
      <p:ext uri="{BB962C8B-B14F-4D97-AF65-F5344CB8AC3E}">
        <p14:creationId xmlns:p14="http://schemas.microsoft.com/office/powerpoint/2010/main" val="20280190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E98FD-4AB7-CD97-8088-31BFEAA747C4}"/>
              </a:ext>
            </a:extLst>
          </p:cNvPr>
          <p:cNvSpPr>
            <a:spLocks noGrp="1"/>
          </p:cNvSpPr>
          <p:nvPr>
            <p:ph type="title"/>
          </p:nvPr>
        </p:nvSpPr>
        <p:spPr/>
        <p:txBody>
          <a:bodyPr/>
          <a:lstStyle/>
          <a:p>
            <a:r>
              <a:rPr lang="en-US" dirty="0"/>
              <a:t>Logical operations</a:t>
            </a:r>
          </a:p>
        </p:txBody>
      </p:sp>
      <p:sp>
        <p:nvSpPr>
          <p:cNvPr id="3" name="Content Placeholder 2">
            <a:extLst>
              <a:ext uri="{FF2B5EF4-FFF2-40B4-BE49-F238E27FC236}">
                <a16:creationId xmlns:a16="http://schemas.microsoft.com/office/drawing/2014/main" id="{A443586E-83D2-336B-D756-A65E73244333}"/>
              </a:ext>
            </a:extLst>
          </p:cNvPr>
          <p:cNvSpPr>
            <a:spLocks noGrp="1"/>
          </p:cNvSpPr>
          <p:nvPr>
            <p:ph idx="1"/>
          </p:nvPr>
        </p:nvSpPr>
        <p:spPr/>
        <p:txBody>
          <a:bodyPr/>
          <a:lstStyle/>
          <a:p>
            <a:r>
              <a:rPr lang="en-US" dirty="0"/>
              <a:t>Illustrations of logical operations involving foreground white pixels</a:t>
            </a:r>
          </a:p>
          <a:p>
            <a:r>
              <a:rPr lang="en-US" dirty="0"/>
              <a:t>Black represent binary 0 and white represent binary 1</a:t>
            </a:r>
          </a:p>
        </p:txBody>
      </p:sp>
      <p:pic>
        <p:nvPicPr>
          <p:cNvPr id="5" name="Picture 4">
            <a:extLst>
              <a:ext uri="{FF2B5EF4-FFF2-40B4-BE49-F238E27FC236}">
                <a16:creationId xmlns:a16="http://schemas.microsoft.com/office/drawing/2014/main" id="{96258C1A-703F-5E77-4A3B-C7BFB17FD296}"/>
              </a:ext>
            </a:extLst>
          </p:cNvPr>
          <p:cNvPicPr>
            <a:picLocks noChangeAspect="1"/>
          </p:cNvPicPr>
          <p:nvPr/>
        </p:nvPicPr>
        <p:blipFill>
          <a:blip r:embed="rId2"/>
          <a:stretch>
            <a:fillRect/>
          </a:stretch>
        </p:blipFill>
        <p:spPr>
          <a:xfrm>
            <a:off x="1739152" y="3281083"/>
            <a:ext cx="5423647" cy="3202546"/>
          </a:xfrm>
          <a:prstGeom prst="rect">
            <a:avLst/>
          </a:prstGeom>
        </p:spPr>
      </p:pic>
    </p:spTree>
    <p:extLst>
      <p:ext uri="{BB962C8B-B14F-4D97-AF65-F5344CB8AC3E}">
        <p14:creationId xmlns:p14="http://schemas.microsoft.com/office/powerpoint/2010/main" val="19941927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A8AB2-7131-7AFA-E04B-95422B222FD3}"/>
              </a:ext>
            </a:extLst>
          </p:cNvPr>
          <p:cNvSpPr>
            <a:spLocks noGrp="1"/>
          </p:cNvSpPr>
          <p:nvPr>
            <p:ph type="title"/>
          </p:nvPr>
        </p:nvSpPr>
        <p:spPr/>
        <p:txBody>
          <a:bodyPr/>
          <a:lstStyle/>
          <a:p>
            <a:r>
              <a:rPr lang="en-US" dirty="0"/>
              <a:t>Color Image</a:t>
            </a:r>
          </a:p>
        </p:txBody>
      </p:sp>
      <p:sp>
        <p:nvSpPr>
          <p:cNvPr id="3" name="Content Placeholder 2">
            <a:extLst>
              <a:ext uri="{FF2B5EF4-FFF2-40B4-BE49-F238E27FC236}">
                <a16:creationId xmlns:a16="http://schemas.microsoft.com/office/drawing/2014/main" id="{B0C14F15-35A7-8F78-0FED-CED6FC918138}"/>
              </a:ext>
            </a:extLst>
          </p:cNvPr>
          <p:cNvSpPr>
            <a:spLocks noGrp="1"/>
          </p:cNvSpPr>
          <p:nvPr>
            <p:ph idx="1"/>
          </p:nvPr>
        </p:nvSpPr>
        <p:spPr>
          <a:xfrm>
            <a:off x="480110" y="1802001"/>
            <a:ext cx="8596668" cy="3880773"/>
          </a:xfrm>
        </p:spPr>
        <p:txBody>
          <a:bodyPr/>
          <a:lstStyle/>
          <a:p>
            <a:r>
              <a:rPr lang="en-US" dirty="0"/>
              <a:t>Separate channel for different color</a:t>
            </a:r>
          </a:p>
          <a:p>
            <a:pPr>
              <a:buFont typeface="Wingdings" panose="05000000000000000000" pitchFamily="2" charset="2"/>
              <a:buChar char="v"/>
            </a:pPr>
            <a:r>
              <a:rPr lang="en-US" dirty="0"/>
              <a:t> RGB</a:t>
            </a:r>
          </a:p>
          <a:p>
            <a:pPr>
              <a:buFont typeface="Wingdings" panose="05000000000000000000" pitchFamily="2" charset="2"/>
              <a:buChar char="Ø"/>
            </a:pPr>
            <a:r>
              <a:rPr lang="en-US" dirty="0"/>
              <a:t>Some model separates color information from Brightness intensity</a:t>
            </a:r>
          </a:p>
          <a:p>
            <a:pPr>
              <a:buFont typeface="Wingdings" panose="05000000000000000000" pitchFamily="2" charset="2"/>
              <a:buChar char="v"/>
            </a:pPr>
            <a:r>
              <a:rPr lang="en-US" dirty="0"/>
              <a:t> HSI</a:t>
            </a:r>
          </a:p>
          <a:p>
            <a:endParaRPr lang="en-US" dirty="0"/>
          </a:p>
        </p:txBody>
      </p:sp>
      <p:pic>
        <p:nvPicPr>
          <p:cNvPr id="5" name="Picture 4">
            <a:extLst>
              <a:ext uri="{FF2B5EF4-FFF2-40B4-BE49-F238E27FC236}">
                <a16:creationId xmlns:a16="http://schemas.microsoft.com/office/drawing/2014/main" id="{C01C2816-FE91-FDCE-ED86-C4493D457781}"/>
              </a:ext>
            </a:extLst>
          </p:cNvPr>
          <p:cNvPicPr>
            <a:picLocks noChangeAspect="1"/>
          </p:cNvPicPr>
          <p:nvPr/>
        </p:nvPicPr>
        <p:blipFill>
          <a:blip r:embed="rId3"/>
          <a:stretch>
            <a:fillRect/>
          </a:stretch>
        </p:blipFill>
        <p:spPr>
          <a:xfrm>
            <a:off x="1712259" y="3272432"/>
            <a:ext cx="7131437" cy="3435844"/>
          </a:xfrm>
          <a:prstGeom prst="rect">
            <a:avLst/>
          </a:prstGeom>
        </p:spPr>
      </p:pic>
    </p:spTree>
    <p:extLst>
      <p:ext uri="{BB962C8B-B14F-4D97-AF65-F5344CB8AC3E}">
        <p14:creationId xmlns:p14="http://schemas.microsoft.com/office/powerpoint/2010/main" val="9492916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D798D-460E-97C6-497D-D28188798948}"/>
              </a:ext>
            </a:extLst>
          </p:cNvPr>
          <p:cNvSpPr>
            <a:spLocks noGrp="1"/>
          </p:cNvSpPr>
          <p:nvPr>
            <p:ph type="title"/>
          </p:nvPr>
        </p:nvSpPr>
        <p:spPr/>
        <p:txBody>
          <a:bodyPr/>
          <a:lstStyle/>
          <a:p>
            <a:r>
              <a:rPr lang="en-US" dirty="0"/>
              <a:t>Munsell Color System (1915)</a:t>
            </a:r>
          </a:p>
        </p:txBody>
      </p:sp>
      <p:pic>
        <p:nvPicPr>
          <p:cNvPr id="5" name="Content Placeholder 4">
            <a:extLst>
              <a:ext uri="{FF2B5EF4-FFF2-40B4-BE49-F238E27FC236}">
                <a16:creationId xmlns:a16="http://schemas.microsoft.com/office/drawing/2014/main" id="{02CD7F0E-1FB8-10E9-19B8-6B910FEB1797}"/>
              </a:ext>
            </a:extLst>
          </p:cNvPr>
          <p:cNvPicPr>
            <a:picLocks noGrp="1" noChangeAspect="1"/>
          </p:cNvPicPr>
          <p:nvPr>
            <p:ph idx="1"/>
          </p:nvPr>
        </p:nvPicPr>
        <p:blipFill>
          <a:blip r:embed="rId2"/>
          <a:stretch>
            <a:fillRect/>
          </a:stretch>
        </p:blipFill>
        <p:spPr>
          <a:xfrm>
            <a:off x="1353670" y="1532966"/>
            <a:ext cx="5244353" cy="5020234"/>
          </a:xfrm>
        </p:spPr>
      </p:pic>
    </p:spTree>
    <p:extLst>
      <p:ext uri="{BB962C8B-B14F-4D97-AF65-F5344CB8AC3E}">
        <p14:creationId xmlns:p14="http://schemas.microsoft.com/office/powerpoint/2010/main" val="30057791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62D74-3314-F760-A2DB-918D2F617D86}"/>
              </a:ext>
            </a:extLst>
          </p:cNvPr>
          <p:cNvSpPr>
            <a:spLocks noGrp="1"/>
          </p:cNvSpPr>
          <p:nvPr>
            <p:ph type="title"/>
          </p:nvPr>
        </p:nvSpPr>
        <p:spPr/>
        <p:txBody>
          <a:bodyPr/>
          <a:lstStyle/>
          <a:p>
            <a:r>
              <a:rPr lang="en-US" dirty="0"/>
              <a:t>Three dimensions of color</a:t>
            </a:r>
          </a:p>
        </p:txBody>
      </p:sp>
      <p:sp>
        <p:nvSpPr>
          <p:cNvPr id="3" name="Content Placeholder 2">
            <a:extLst>
              <a:ext uri="{FF2B5EF4-FFF2-40B4-BE49-F238E27FC236}">
                <a16:creationId xmlns:a16="http://schemas.microsoft.com/office/drawing/2014/main" id="{DAEB3471-BD10-461B-0A5C-A41397790D0A}"/>
              </a:ext>
            </a:extLst>
          </p:cNvPr>
          <p:cNvSpPr>
            <a:spLocks noGrp="1"/>
          </p:cNvSpPr>
          <p:nvPr>
            <p:ph idx="1"/>
          </p:nvPr>
        </p:nvSpPr>
        <p:spPr/>
        <p:txBody>
          <a:bodyPr/>
          <a:lstStyle/>
          <a:p>
            <a:r>
              <a:rPr lang="en-US" dirty="0"/>
              <a:t>Our perception of color can be described through 3 qualities:</a:t>
            </a:r>
          </a:p>
          <a:p>
            <a:endParaRPr lang="en-US" dirty="0"/>
          </a:p>
          <a:p>
            <a:pPr>
              <a:buFont typeface="Wingdings" panose="05000000000000000000" pitchFamily="2" charset="2"/>
              <a:buChar char="n"/>
            </a:pPr>
            <a:r>
              <a:rPr lang="en-US" dirty="0"/>
              <a:t>HUE</a:t>
            </a:r>
          </a:p>
          <a:p>
            <a:pPr>
              <a:buFont typeface="Wingdings" panose="05000000000000000000" pitchFamily="2" charset="2"/>
              <a:buChar char="n"/>
            </a:pPr>
            <a:r>
              <a:rPr lang="en-US" dirty="0"/>
              <a:t>Value</a:t>
            </a:r>
          </a:p>
          <a:p>
            <a:pPr>
              <a:buFont typeface="Wingdings" panose="05000000000000000000" pitchFamily="2" charset="2"/>
              <a:buChar char="n"/>
            </a:pPr>
            <a:r>
              <a:rPr lang="en-US" dirty="0"/>
              <a:t>Intensity /Saturation</a:t>
            </a:r>
          </a:p>
        </p:txBody>
      </p:sp>
      <p:sp>
        <p:nvSpPr>
          <p:cNvPr id="4" name="TextBox 3">
            <a:extLst>
              <a:ext uri="{FF2B5EF4-FFF2-40B4-BE49-F238E27FC236}">
                <a16:creationId xmlns:a16="http://schemas.microsoft.com/office/drawing/2014/main" id="{53C1BD06-1548-751D-76BF-F328427A6923}"/>
              </a:ext>
            </a:extLst>
          </p:cNvPr>
          <p:cNvSpPr txBox="1"/>
          <p:nvPr/>
        </p:nvSpPr>
        <p:spPr>
          <a:xfrm>
            <a:off x="861237" y="6145619"/>
            <a:ext cx="5234763" cy="369332"/>
          </a:xfrm>
          <a:prstGeom prst="rect">
            <a:avLst/>
          </a:prstGeom>
          <a:noFill/>
        </p:spPr>
        <p:txBody>
          <a:bodyPr wrap="square" rtlCol="0">
            <a:spAutoFit/>
          </a:bodyPr>
          <a:lstStyle/>
          <a:p>
            <a:r>
              <a:rPr lang="en-US" dirty="0"/>
              <a:t>What color? Lightness or darkness value? level</a:t>
            </a:r>
          </a:p>
        </p:txBody>
      </p:sp>
    </p:spTree>
    <p:extLst>
      <p:ext uri="{BB962C8B-B14F-4D97-AF65-F5344CB8AC3E}">
        <p14:creationId xmlns:p14="http://schemas.microsoft.com/office/powerpoint/2010/main" val="42301664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90F2A-470A-D5A3-598E-EA3EF08A75A4}"/>
              </a:ext>
            </a:extLst>
          </p:cNvPr>
          <p:cNvSpPr>
            <a:spLocks noGrp="1"/>
          </p:cNvSpPr>
          <p:nvPr>
            <p:ph type="title"/>
          </p:nvPr>
        </p:nvSpPr>
        <p:spPr/>
        <p:txBody>
          <a:bodyPr/>
          <a:lstStyle/>
          <a:p>
            <a:r>
              <a:rPr lang="en-US" dirty="0"/>
              <a:t>Three dimensions of color</a:t>
            </a:r>
          </a:p>
        </p:txBody>
      </p:sp>
      <p:sp>
        <p:nvSpPr>
          <p:cNvPr id="3" name="Content Placeholder 2">
            <a:extLst>
              <a:ext uri="{FF2B5EF4-FFF2-40B4-BE49-F238E27FC236}">
                <a16:creationId xmlns:a16="http://schemas.microsoft.com/office/drawing/2014/main" id="{E9B4E30A-E6EC-075A-7A85-540BD9131265}"/>
              </a:ext>
            </a:extLst>
          </p:cNvPr>
          <p:cNvSpPr>
            <a:spLocks noGrp="1"/>
          </p:cNvSpPr>
          <p:nvPr>
            <p:ph idx="1"/>
          </p:nvPr>
        </p:nvSpPr>
        <p:spPr/>
        <p:txBody>
          <a:bodyPr/>
          <a:lstStyle/>
          <a:p>
            <a:r>
              <a:rPr lang="en-US" dirty="0"/>
              <a:t>A color sphere or color solid :</a:t>
            </a:r>
          </a:p>
          <a:p>
            <a:r>
              <a:rPr lang="en-US" dirty="0"/>
              <a:t>Is the three dimensional representation of a color system where it depicts an added dimension of color variation. </a:t>
            </a:r>
            <a:r>
              <a:rPr lang="en-US" dirty="0">
                <a:solidFill>
                  <a:srgbClr val="FF0000"/>
                </a:solidFill>
              </a:rPr>
              <a:t>A 2D color wheel typically depicts the variables of hue and brightness</a:t>
            </a:r>
            <a:r>
              <a:rPr lang="en-US" dirty="0"/>
              <a:t>,  </a:t>
            </a:r>
            <a:r>
              <a:rPr lang="en-US" dirty="0">
                <a:solidFill>
                  <a:srgbClr val="00B050"/>
                </a:solidFill>
              </a:rPr>
              <a:t>a color solid adds the variable of saturation, depicting all conceivable colors in an organized three dimensional structure</a:t>
            </a:r>
            <a:r>
              <a:rPr lang="en-US" dirty="0"/>
              <a:t>.</a:t>
            </a:r>
          </a:p>
        </p:txBody>
      </p:sp>
    </p:spTree>
    <p:extLst>
      <p:ext uri="{BB962C8B-B14F-4D97-AF65-F5344CB8AC3E}">
        <p14:creationId xmlns:p14="http://schemas.microsoft.com/office/powerpoint/2010/main" val="6716430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57205-3474-3891-BB5C-AA4C01B449ED}"/>
              </a:ext>
            </a:extLst>
          </p:cNvPr>
          <p:cNvSpPr>
            <a:spLocks noGrp="1"/>
          </p:cNvSpPr>
          <p:nvPr>
            <p:ph type="title"/>
          </p:nvPr>
        </p:nvSpPr>
        <p:spPr/>
        <p:txBody>
          <a:bodyPr/>
          <a:lstStyle/>
          <a:p>
            <a:r>
              <a:rPr lang="en-US" dirty="0"/>
              <a:t>Color representation</a:t>
            </a:r>
          </a:p>
        </p:txBody>
      </p:sp>
      <p:sp>
        <p:nvSpPr>
          <p:cNvPr id="7" name="TextBox 6">
            <a:extLst>
              <a:ext uri="{FF2B5EF4-FFF2-40B4-BE49-F238E27FC236}">
                <a16:creationId xmlns:a16="http://schemas.microsoft.com/office/drawing/2014/main" id="{1059F5B8-7467-7D18-9C81-B7C5EF71EA3E}"/>
              </a:ext>
            </a:extLst>
          </p:cNvPr>
          <p:cNvSpPr txBox="1"/>
          <p:nvPr/>
        </p:nvSpPr>
        <p:spPr>
          <a:xfrm>
            <a:off x="967645" y="1749475"/>
            <a:ext cx="3734984" cy="923330"/>
          </a:xfrm>
          <a:prstGeom prst="rect">
            <a:avLst/>
          </a:prstGeom>
          <a:noFill/>
        </p:spPr>
        <p:txBody>
          <a:bodyPr wrap="square" rtlCol="0">
            <a:spAutoFit/>
          </a:bodyPr>
          <a:lstStyle/>
          <a:p>
            <a:pPr marL="285750" indent="-285750">
              <a:buFont typeface="Wingdings" panose="05000000000000000000" pitchFamily="2" charset="2"/>
              <a:buChar char="Ø"/>
            </a:pPr>
            <a:r>
              <a:rPr lang="en-US" dirty="0"/>
              <a:t>CIE XYZ Color space</a:t>
            </a:r>
          </a:p>
          <a:p>
            <a:pPr marL="285750" indent="-285750">
              <a:buFont typeface="Wingdings" panose="05000000000000000000" pitchFamily="2" charset="2"/>
              <a:buChar char="Ø"/>
            </a:pPr>
            <a:r>
              <a:rPr lang="en-US" dirty="0"/>
              <a:t>CIE Chromaticity space</a:t>
            </a:r>
          </a:p>
          <a:p>
            <a:pPr marL="285750" indent="-285750">
              <a:buFont typeface="Wingdings" panose="05000000000000000000" pitchFamily="2" charset="2"/>
              <a:buChar char="Ø"/>
            </a:pPr>
            <a:r>
              <a:rPr lang="en-US" dirty="0"/>
              <a:t>HSL, HSV, LUV, CIE Lab</a:t>
            </a:r>
          </a:p>
        </p:txBody>
      </p:sp>
      <p:sp>
        <p:nvSpPr>
          <p:cNvPr id="13" name="TextBox 12">
            <a:extLst>
              <a:ext uri="{FF2B5EF4-FFF2-40B4-BE49-F238E27FC236}">
                <a16:creationId xmlns:a16="http://schemas.microsoft.com/office/drawing/2014/main" id="{4430BB80-0009-CA01-E0CF-F93EC68A1036}"/>
              </a:ext>
            </a:extLst>
          </p:cNvPr>
          <p:cNvSpPr txBox="1"/>
          <p:nvPr/>
        </p:nvSpPr>
        <p:spPr>
          <a:xfrm>
            <a:off x="1042515" y="3666261"/>
            <a:ext cx="6104372" cy="369332"/>
          </a:xfrm>
          <a:prstGeom prst="rect">
            <a:avLst/>
          </a:prstGeom>
          <a:noFill/>
        </p:spPr>
        <p:txBody>
          <a:bodyPr wrap="square">
            <a:spAutoFit/>
          </a:bodyPr>
          <a:lstStyle/>
          <a:p>
            <a:r>
              <a:rPr lang="en-US" dirty="0"/>
              <a:t>International Commission on Illumination  (CIE)</a:t>
            </a:r>
          </a:p>
        </p:txBody>
      </p:sp>
      <p:sp>
        <p:nvSpPr>
          <p:cNvPr id="17" name="TextBox 16">
            <a:extLst>
              <a:ext uri="{FF2B5EF4-FFF2-40B4-BE49-F238E27FC236}">
                <a16:creationId xmlns:a16="http://schemas.microsoft.com/office/drawing/2014/main" id="{C38E6276-9487-8518-DED1-F3B1BCBB4C9D}"/>
              </a:ext>
            </a:extLst>
          </p:cNvPr>
          <p:cNvSpPr txBox="1"/>
          <p:nvPr/>
        </p:nvSpPr>
        <p:spPr>
          <a:xfrm>
            <a:off x="1042514" y="4204085"/>
            <a:ext cx="8824965" cy="1200329"/>
          </a:xfrm>
          <a:prstGeom prst="rect">
            <a:avLst/>
          </a:prstGeom>
          <a:noFill/>
        </p:spPr>
        <p:txBody>
          <a:bodyPr wrap="square">
            <a:spAutoFit/>
          </a:bodyPr>
          <a:lstStyle/>
          <a:p>
            <a:r>
              <a:rPr lang="en-US" dirty="0">
                <a:solidFill>
                  <a:srgbClr val="00B050"/>
                </a:solidFill>
              </a:rPr>
              <a:t>Chromaticity is an objective specification of the quality of a color regardless of its luminance</a:t>
            </a:r>
            <a:r>
              <a:rPr lang="en-US" dirty="0"/>
              <a:t>. Chromaticity consists of two independent parameters as </a:t>
            </a:r>
            <a:r>
              <a:rPr lang="en-US" dirty="0">
                <a:solidFill>
                  <a:srgbClr val="00B050"/>
                </a:solidFill>
              </a:rPr>
              <a:t>hue (h)</a:t>
            </a:r>
            <a:r>
              <a:rPr lang="en-US" dirty="0"/>
              <a:t> and </a:t>
            </a:r>
            <a:r>
              <a:rPr lang="en-US" dirty="0">
                <a:solidFill>
                  <a:srgbClr val="00B050"/>
                </a:solidFill>
              </a:rPr>
              <a:t>colorfulness (s)</a:t>
            </a:r>
            <a:r>
              <a:rPr lang="en-US" dirty="0"/>
              <a:t>, where the latter is alternatively called saturation, chroma, intensity, or excitation purity</a:t>
            </a:r>
          </a:p>
        </p:txBody>
      </p:sp>
      <p:sp>
        <p:nvSpPr>
          <p:cNvPr id="19" name="TextBox 18">
            <a:extLst>
              <a:ext uri="{FF2B5EF4-FFF2-40B4-BE49-F238E27FC236}">
                <a16:creationId xmlns:a16="http://schemas.microsoft.com/office/drawing/2014/main" id="{70B63D75-C76C-95C0-29EE-19DBAC88146D}"/>
              </a:ext>
            </a:extLst>
          </p:cNvPr>
          <p:cNvSpPr txBox="1"/>
          <p:nvPr/>
        </p:nvSpPr>
        <p:spPr>
          <a:xfrm>
            <a:off x="1042515" y="5557247"/>
            <a:ext cx="6104372" cy="369332"/>
          </a:xfrm>
          <a:prstGeom prst="rect">
            <a:avLst/>
          </a:prstGeom>
          <a:noFill/>
        </p:spPr>
        <p:txBody>
          <a:bodyPr wrap="square">
            <a:spAutoFit/>
          </a:bodyPr>
          <a:lstStyle/>
          <a:p>
            <a:r>
              <a:rPr lang="en-US" i="0" dirty="0">
                <a:solidFill>
                  <a:srgbClr val="202122"/>
                </a:solidFill>
                <a:effectLst/>
                <a:latin typeface="Arial" panose="020B0604020202020204" pitchFamily="34" charset="0"/>
              </a:rPr>
              <a:t>HSL (for hue, saturation, lightness)</a:t>
            </a:r>
            <a:endParaRPr lang="en-US" dirty="0"/>
          </a:p>
        </p:txBody>
      </p:sp>
      <p:sp>
        <p:nvSpPr>
          <p:cNvPr id="21" name="TextBox 20">
            <a:extLst>
              <a:ext uri="{FF2B5EF4-FFF2-40B4-BE49-F238E27FC236}">
                <a16:creationId xmlns:a16="http://schemas.microsoft.com/office/drawing/2014/main" id="{C4E4A6F3-52AB-11A4-FB43-FEE54D1A854D}"/>
              </a:ext>
            </a:extLst>
          </p:cNvPr>
          <p:cNvSpPr txBox="1"/>
          <p:nvPr/>
        </p:nvSpPr>
        <p:spPr>
          <a:xfrm>
            <a:off x="1042515" y="5894746"/>
            <a:ext cx="6104372" cy="369332"/>
          </a:xfrm>
          <a:prstGeom prst="rect">
            <a:avLst/>
          </a:prstGeom>
          <a:noFill/>
        </p:spPr>
        <p:txBody>
          <a:bodyPr wrap="square">
            <a:spAutoFit/>
          </a:bodyPr>
          <a:lstStyle/>
          <a:p>
            <a:r>
              <a:rPr lang="en-US" i="0" dirty="0">
                <a:solidFill>
                  <a:srgbClr val="202122"/>
                </a:solidFill>
                <a:effectLst/>
                <a:latin typeface="Arial" panose="020B0604020202020204" pitchFamily="34" charset="0"/>
              </a:rPr>
              <a:t>HSV (for hue, saturation, value</a:t>
            </a:r>
            <a:endParaRPr lang="en-US" dirty="0"/>
          </a:p>
        </p:txBody>
      </p:sp>
      <p:pic>
        <p:nvPicPr>
          <p:cNvPr id="23" name="Picture 22">
            <a:extLst>
              <a:ext uri="{FF2B5EF4-FFF2-40B4-BE49-F238E27FC236}">
                <a16:creationId xmlns:a16="http://schemas.microsoft.com/office/drawing/2014/main" id="{EFF1E86E-34CF-E45A-197D-C58944C5B199}"/>
              </a:ext>
            </a:extLst>
          </p:cNvPr>
          <p:cNvPicPr>
            <a:picLocks noChangeAspect="1"/>
          </p:cNvPicPr>
          <p:nvPr/>
        </p:nvPicPr>
        <p:blipFill>
          <a:blip r:embed="rId2"/>
          <a:stretch>
            <a:fillRect/>
          </a:stretch>
        </p:blipFill>
        <p:spPr>
          <a:xfrm>
            <a:off x="7897651" y="792611"/>
            <a:ext cx="4198128" cy="2994589"/>
          </a:xfrm>
          <a:prstGeom prst="rect">
            <a:avLst/>
          </a:prstGeom>
        </p:spPr>
      </p:pic>
      <p:sp>
        <p:nvSpPr>
          <p:cNvPr id="29" name="TextBox 28">
            <a:extLst>
              <a:ext uri="{FF2B5EF4-FFF2-40B4-BE49-F238E27FC236}">
                <a16:creationId xmlns:a16="http://schemas.microsoft.com/office/drawing/2014/main" id="{C744FE16-7E18-8DC5-F7A0-7B6E031C2C4B}"/>
              </a:ext>
            </a:extLst>
          </p:cNvPr>
          <p:cNvSpPr txBox="1"/>
          <p:nvPr/>
        </p:nvSpPr>
        <p:spPr>
          <a:xfrm>
            <a:off x="1042514" y="6220631"/>
            <a:ext cx="11149485" cy="584775"/>
          </a:xfrm>
          <a:prstGeom prst="rect">
            <a:avLst/>
          </a:prstGeom>
          <a:noFill/>
        </p:spPr>
        <p:txBody>
          <a:bodyPr wrap="square">
            <a:spAutoFit/>
          </a:bodyPr>
          <a:lstStyle/>
          <a:p>
            <a:r>
              <a:rPr lang="en-US" sz="1600" dirty="0"/>
              <a:t>Lab It expresses color as three values: L* for perceptual lightness and a* and b* for the four unique colors of human vision: red, green, blue and yellow.</a:t>
            </a:r>
          </a:p>
        </p:txBody>
      </p:sp>
    </p:spTree>
    <p:extLst>
      <p:ext uri="{BB962C8B-B14F-4D97-AF65-F5344CB8AC3E}">
        <p14:creationId xmlns:p14="http://schemas.microsoft.com/office/powerpoint/2010/main" val="42075447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57205-3474-3891-BB5C-AA4C01B449ED}"/>
              </a:ext>
            </a:extLst>
          </p:cNvPr>
          <p:cNvSpPr>
            <a:spLocks noGrp="1"/>
          </p:cNvSpPr>
          <p:nvPr>
            <p:ph type="title"/>
          </p:nvPr>
        </p:nvSpPr>
        <p:spPr/>
        <p:txBody>
          <a:bodyPr/>
          <a:lstStyle/>
          <a:p>
            <a:r>
              <a:rPr lang="en-US" dirty="0"/>
              <a:t>CIE XYZ Color Coordinate system </a:t>
            </a:r>
          </a:p>
        </p:txBody>
      </p:sp>
      <p:pic>
        <p:nvPicPr>
          <p:cNvPr id="5" name="Content Placeholder 4">
            <a:extLst>
              <a:ext uri="{FF2B5EF4-FFF2-40B4-BE49-F238E27FC236}">
                <a16:creationId xmlns:a16="http://schemas.microsoft.com/office/drawing/2014/main" id="{6CB59DB9-1B29-A28C-37E4-C802119BCC6B}"/>
              </a:ext>
            </a:extLst>
          </p:cNvPr>
          <p:cNvPicPr>
            <a:picLocks noGrp="1" noChangeAspect="1"/>
          </p:cNvPicPr>
          <p:nvPr>
            <p:ph idx="1"/>
          </p:nvPr>
        </p:nvPicPr>
        <p:blipFill>
          <a:blip r:embed="rId2"/>
          <a:stretch>
            <a:fillRect/>
          </a:stretch>
        </p:blipFill>
        <p:spPr>
          <a:xfrm>
            <a:off x="1016381" y="1598287"/>
            <a:ext cx="6369157" cy="4892950"/>
          </a:xfrm>
        </p:spPr>
      </p:pic>
    </p:spTree>
    <p:extLst>
      <p:ext uri="{BB962C8B-B14F-4D97-AF65-F5344CB8AC3E}">
        <p14:creationId xmlns:p14="http://schemas.microsoft.com/office/powerpoint/2010/main" val="7293114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57205-3474-3891-BB5C-AA4C01B449ED}"/>
              </a:ext>
            </a:extLst>
          </p:cNvPr>
          <p:cNvSpPr>
            <a:spLocks noGrp="1"/>
          </p:cNvSpPr>
          <p:nvPr>
            <p:ph type="title"/>
          </p:nvPr>
        </p:nvSpPr>
        <p:spPr/>
        <p:txBody>
          <a:bodyPr/>
          <a:lstStyle/>
          <a:p>
            <a:r>
              <a:rPr lang="en-US" dirty="0"/>
              <a:t>CIE XYZ Color Coordinate system </a:t>
            </a:r>
          </a:p>
        </p:txBody>
      </p:sp>
      <p:pic>
        <p:nvPicPr>
          <p:cNvPr id="5" name="Content Placeholder 4">
            <a:extLst>
              <a:ext uri="{FF2B5EF4-FFF2-40B4-BE49-F238E27FC236}">
                <a16:creationId xmlns:a16="http://schemas.microsoft.com/office/drawing/2014/main" id="{95E23C44-FBE6-6236-23C7-5C705AAFE67A}"/>
              </a:ext>
            </a:extLst>
          </p:cNvPr>
          <p:cNvPicPr>
            <a:picLocks noGrp="1" noChangeAspect="1"/>
          </p:cNvPicPr>
          <p:nvPr>
            <p:ph idx="1"/>
          </p:nvPr>
        </p:nvPicPr>
        <p:blipFill>
          <a:blip r:embed="rId2"/>
          <a:stretch>
            <a:fillRect/>
          </a:stretch>
        </p:blipFill>
        <p:spPr>
          <a:xfrm>
            <a:off x="883234" y="1537398"/>
            <a:ext cx="6894190" cy="5094514"/>
          </a:xfrm>
        </p:spPr>
      </p:pic>
    </p:spTree>
    <p:extLst>
      <p:ext uri="{BB962C8B-B14F-4D97-AF65-F5344CB8AC3E}">
        <p14:creationId xmlns:p14="http://schemas.microsoft.com/office/powerpoint/2010/main" val="3719676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57205-3474-3891-BB5C-AA4C01B449ED}"/>
              </a:ext>
            </a:extLst>
          </p:cNvPr>
          <p:cNvSpPr>
            <a:spLocks noGrp="1"/>
          </p:cNvSpPr>
          <p:nvPr>
            <p:ph type="title"/>
          </p:nvPr>
        </p:nvSpPr>
        <p:spPr>
          <a:xfrm>
            <a:off x="677334" y="609600"/>
            <a:ext cx="8596668" cy="686637"/>
          </a:xfrm>
        </p:spPr>
        <p:txBody>
          <a:bodyPr>
            <a:normAutofit/>
          </a:bodyPr>
          <a:lstStyle/>
          <a:p>
            <a:r>
              <a:rPr lang="en-US" sz="3200" dirty="0"/>
              <a:t>Calculate CIE XYZ Color Coordinate system </a:t>
            </a:r>
          </a:p>
        </p:txBody>
      </p:sp>
      <p:pic>
        <p:nvPicPr>
          <p:cNvPr id="5" name="Content Placeholder 4">
            <a:extLst>
              <a:ext uri="{FF2B5EF4-FFF2-40B4-BE49-F238E27FC236}">
                <a16:creationId xmlns:a16="http://schemas.microsoft.com/office/drawing/2014/main" id="{FE97B3A3-7B79-3A25-76E4-DC06A84293A3}"/>
              </a:ext>
            </a:extLst>
          </p:cNvPr>
          <p:cNvPicPr>
            <a:picLocks noGrp="1" noChangeAspect="1"/>
          </p:cNvPicPr>
          <p:nvPr>
            <p:ph idx="1"/>
          </p:nvPr>
        </p:nvPicPr>
        <p:blipFill>
          <a:blip r:embed="rId2"/>
          <a:stretch>
            <a:fillRect/>
          </a:stretch>
        </p:blipFill>
        <p:spPr>
          <a:xfrm>
            <a:off x="542612" y="1366576"/>
            <a:ext cx="7084088" cy="5406013"/>
          </a:xfrm>
        </p:spPr>
      </p:pic>
    </p:spTree>
    <p:extLst>
      <p:ext uri="{BB962C8B-B14F-4D97-AF65-F5344CB8AC3E}">
        <p14:creationId xmlns:p14="http://schemas.microsoft.com/office/powerpoint/2010/main" val="9668841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687DB-E396-E626-B988-C7EED6F8A4D3}"/>
              </a:ext>
            </a:extLst>
          </p:cNvPr>
          <p:cNvSpPr>
            <a:spLocks noGrp="1"/>
          </p:cNvSpPr>
          <p:nvPr>
            <p:ph type="title"/>
          </p:nvPr>
        </p:nvSpPr>
        <p:spPr/>
        <p:txBody>
          <a:bodyPr/>
          <a:lstStyle/>
          <a:p>
            <a:r>
              <a:rPr lang="en-US" dirty="0"/>
              <a:t>Calculate CIE XYZ Color Coordinate system </a:t>
            </a:r>
          </a:p>
        </p:txBody>
      </p:sp>
      <p:pic>
        <p:nvPicPr>
          <p:cNvPr id="5" name="Content Placeholder 4">
            <a:extLst>
              <a:ext uri="{FF2B5EF4-FFF2-40B4-BE49-F238E27FC236}">
                <a16:creationId xmlns:a16="http://schemas.microsoft.com/office/drawing/2014/main" id="{D9209037-9015-3EAE-9986-F75B34746B6E}"/>
              </a:ext>
            </a:extLst>
          </p:cNvPr>
          <p:cNvPicPr>
            <a:picLocks noGrp="1" noChangeAspect="1"/>
          </p:cNvPicPr>
          <p:nvPr>
            <p:ph idx="1"/>
          </p:nvPr>
        </p:nvPicPr>
        <p:blipFill>
          <a:blip r:embed="rId2"/>
          <a:stretch>
            <a:fillRect/>
          </a:stretch>
        </p:blipFill>
        <p:spPr>
          <a:xfrm>
            <a:off x="1108913" y="2003627"/>
            <a:ext cx="6071816" cy="4737832"/>
          </a:xfrm>
        </p:spPr>
      </p:pic>
    </p:spTree>
    <p:extLst>
      <p:ext uri="{BB962C8B-B14F-4D97-AF65-F5344CB8AC3E}">
        <p14:creationId xmlns:p14="http://schemas.microsoft.com/office/powerpoint/2010/main" val="34432118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687DB-E396-E626-B988-C7EED6F8A4D3}"/>
              </a:ext>
            </a:extLst>
          </p:cNvPr>
          <p:cNvSpPr>
            <a:spLocks noGrp="1"/>
          </p:cNvSpPr>
          <p:nvPr>
            <p:ph type="title"/>
          </p:nvPr>
        </p:nvSpPr>
        <p:spPr/>
        <p:txBody>
          <a:bodyPr/>
          <a:lstStyle/>
          <a:p>
            <a:r>
              <a:rPr lang="en-US" dirty="0"/>
              <a:t>Luminous-Efficiency function of the human eye</a:t>
            </a:r>
          </a:p>
        </p:txBody>
      </p:sp>
      <p:pic>
        <p:nvPicPr>
          <p:cNvPr id="5" name="Content Placeholder 4">
            <a:extLst>
              <a:ext uri="{FF2B5EF4-FFF2-40B4-BE49-F238E27FC236}">
                <a16:creationId xmlns:a16="http://schemas.microsoft.com/office/drawing/2014/main" id="{AA29A774-6DA0-7DFB-2A31-3FC5E4A8B18E}"/>
              </a:ext>
            </a:extLst>
          </p:cNvPr>
          <p:cNvPicPr>
            <a:picLocks noGrp="1" noChangeAspect="1"/>
          </p:cNvPicPr>
          <p:nvPr>
            <p:ph idx="1"/>
          </p:nvPr>
        </p:nvPicPr>
        <p:blipFill>
          <a:blip r:embed="rId2"/>
          <a:stretch>
            <a:fillRect/>
          </a:stretch>
        </p:blipFill>
        <p:spPr>
          <a:xfrm>
            <a:off x="318197" y="2312781"/>
            <a:ext cx="5777803" cy="4098067"/>
          </a:xfrm>
        </p:spPr>
      </p:pic>
      <p:sp>
        <p:nvSpPr>
          <p:cNvPr id="11" name="TextBox 10">
            <a:extLst>
              <a:ext uri="{FF2B5EF4-FFF2-40B4-BE49-F238E27FC236}">
                <a16:creationId xmlns:a16="http://schemas.microsoft.com/office/drawing/2014/main" id="{BDBB4A80-36EF-EEE8-16DC-9C6D99D9BA5C}"/>
              </a:ext>
            </a:extLst>
          </p:cNvPr>
          <p:cNvSpPr txBox="1"/>
          <p:nvPr/>
        </p:nvSpPr>
        <p:spPr>
          <a:xfrm>
            <a:off x="5427997" y="3041024"/>
            <a:ext cx="6104372" cy="2308324"/>
          </a:xfrm>
          <a:prstGeom prst="rect">
            <a:avLst/>
          </a:prstGeom>
          <a:noFill/>
        </p:spPr>
        <p:txBody>
          <a:bodyPr wrap="square">
            <a:spAutoFit/>
          </a:bodyPr>
          <a:lstStyle/>
          <a:p>
            <a:r>
              <a:rPr lang="en-US" dirty="0"/>
              <a:t>Color blindness changes the sensitivity of the eye as a function of wavelength. For </a:t>
            </a:r>
            <a:r>
              <a:rPr lang="en-US" dirty="0">
                <a:solidFill>
                  <a:srgbClr val="FF0000"/>
                </a:solidFill>
              </a:rPr>
              <a:t>people with protanopia, the peak of the eye's response is shifted toward the short-wave part of the spectrum (approximately 540 nm</a:t>
            </a:r>
            <a:r>
              <a:rPr lang="en-US" dirty="0"/>
              <a:t>), while for people suffering deuteranopia, there is a slight shift in the peak of the spectrum, to about 560 nm. </a:t>
            </a:r>
            <a:r>
              <a:rPr lang="en-US" dirty="0">
                <a:solidFill>
                  <a:srgbClr val="FF0000"/>
                </a:solidFill>
              </a:rPr>
              <a:t>People with protanopia have essentially no sensitivity to light of wavelengths more than 670 nm</a:t>
            </a:r>
            <a:r>
              <a:rPr lang="en-US" dirty="0"/>
              <a:t>.</a:t>
            </a:r>
          </a:p>
        </p:txBody>
      </p:sp>
    </p:spTree>
    <p:extLst>
      <p:ext uri="{BB962C8B-B14F-4D97-AF65-F5344CB8AC3E}">
        <p14:creationId xmlns:p14="http://schemas.microsoft.com/office/powerpoint/2010/main" val="79978727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687DB-E396-E626-B988-C7EED6F8A4D3}"/>
              </a:ext>
            </a:extLst>
          </p:cNvPr>
          <p:cNvSpPr>
            <a:spLocks noGrp="1"/>
          </p:cNvSpPr>
          <p:nvPr>
            <p:ph type="title"/>
          </p:nvPr>
        </p:nvSpPr>
        <p:spPr/>
        <p:txBody>
          <a:bodyPr/>
          <a:lstStyle/>
          <a:p>
            <a:r>
              <a:rPr lang="en-US" dirty="0"/>
              <a:t>CIE XYZ Color coordinate system</a:t>
            </a:r>
          </a:p>
        </p:txBody>
      </p:sp>
      <p:pic>
        <p:nvPicPr>
          <p:cNvPr id="5" name="Content Placeholder 4">
            <a:extLst>
              <a:ext uri="{FF2B5EF4-FFF2-40B4-BE49-F238E27FC236}">
                <a16:creationId xmlns:a16="http://schemas.microsoft.com/office/drawing/2014/main" id="{8FE0A81E-5F3A-E842-FD61-BC1555333633}"/>
              </a:ext>
            </a:extLst>
          </p:cNvPr>
          <p:cNvPicPr>
            <a:picLocks noGrp="1" noChangeAspect="1"/>
          </p:cNvPicPr>
          <p:nvPr>
            <p:ph idx="1"/>
          </p:nvPr>
        </p:nvPicPr>
        <p:blipFill>
          <a:blip r:embed="rId2"/>
          <a:stretch>
            <a:fillRect/>
          </a:stretch>
        </p:blipFill>
        <p:spPr>
          <a:xfrm>
            <a:off x="1597687" y="1398675"/>
            <a:ext cx="6762542" cy="5142802"/>
          </a:xfrm>
        </p:spPr>
      </p:pic>
      <p:sp>
        <p:nvSpPr>
          <p:cNvPr id="4" name="TextBox 3">
            <a:extLst>
              <a:ext uri="{FF2B5EF4-FFF2-40B4-BE49-F238E27FC236}">
                <a16:creationId xmlns:a16="http://schemas.microsoft.com/office/drawing/2014/main" id="{AF7EB051-B0E4-06C9-ECA6-8E2728B54CC8}"/>
              </a:ext>
            </a:extLst>
          </p:cNvPr>
          <p:cNvSpPr txBox="1"/>
          <p:nvPr/>
        </p:nvSpPr>
        <p:spPr>
          <a:xfrm>
            <a:off x="8098970" y="1472980"/>
            <a:ext cx="3770331" cy="5262979"/>
          </a:xfrm>
          <a:prstGeom prst="rect">
            <a:avLst/>
          </a:prstGeom>
          <a:noFill/>
        </p:spPr>
        <p:txBody>
          <a:bodyPr wrap="square">
            <a:spAutoFit/>
          </a:bodyPr>
          <a:lstStyle/>
          <a:p>
            <a:pPr marL="342900" marR="0" lvl="0" indent="-342900">
              <a:spcAft>
                <a:spcPts val="900"/>
              </a:spcAft>
              <a:buFont typeface="Arial" panose="020B0604020202020204" pitchFamily="34" charset="0"/>
              <a:buChar char="•"/>
            </a:pPr>
            <a:r>
              <a:rPr lang="en-US" sz="1800" b="1" u="none" strike="noStrike" dirty="0">
                <a:effectLst/>
                <a:latin typeface="+mn-lt"/>
              </a:rPr>
              <a:t>Y (Luminance):</a:t>
            </a:r>
            <a:r>
              <a:rPr lang="en-US" sz="1800" b="0" u="none" strike="noStrike" dirty="0">
                <a:effectLst/>
                <a:latin typeface="+mn-lt"/>
              </a:rPr>
              <a:t> Measures perceived </a:t>
            </a:r>
            <a:r>
              <a:rPr lang="en-US" sz="1800" b="0" u="none" strike="noStrike" dirty="0">
                <a:solidFill>
                  <a:srgbClr val="FF0000"/>
                </a:solidFill>
                <a:effectLst/>
                <a:latin typeface="+mn-lt"/>
              </a:rPr>
              <a:t>brightness</a:t>
            </a:r>
            <a:r>
              <a:rPr lang="en-US" sz="1800" b="0" u="none" strike="noStrike" dirty="0">
                <a:effectLst/>
                <a:latin typeface="+mn-lt"/>
              </a:rPr>
              <a:t> or lightness. It matches the human eye's varying sensitivity to different green and yellow wavelengths.</a:t>
            </a:r>
          </a:p>
          <a:p>
            <a:pPr marL="342900" marR="0" lvl="0" indent="-342900">
              <a:spcAft>
                <a:spcPts val="900"/>
              </a:spcAft>
              <a:buFont typeface="Arial" panose="020B0604020202020204" pitchFamily="34" charset="0"/>
              <a:buChar char="•"/>
            </a:pPr>
            <a:endParaRPr lang="en-US" sz="1800" b="0" u="none" strike="noStrike" dirty="0">
              <a:effectLst/>
              <a:latin typeface="+mn-lt"/>
            </a:endParaRPr>
          </a:p>
          <a:p>
            <a:pPr marL="342900" marR="0" lvl="0" indent="-342900">
              <a:spcAft>
                <a:spcPts val="900"/>
              </a:spcAft>
              <a:buFont typeface="Arial" panose="020B0604020202020204" pitchFamily="34" charset="0"/>
              <a:buChar char="•"/>
            </a:pPr>
            <a:r>
              <a:rPr lang="en-US" sz="1800" b="1" u="none" strike="noStrike" dirty="0">
                <a:effectLst/>
                <a:latin typeface="+mn-lt"/>
              </a:rPr>
              <a:t>X (Red mix):</a:t>
            </a:r>
            <a:r>
              <a:rPr lang="en-US" sz="1800" b="0" u="none" strike="noStrike" dirty="0">
                <a:effectLst/>
                <a:latin typeface="+mn-lt"/>
              </a:rPr>
              <a:t> A </a:t>
            </a:r>
            <a:r>
              <a:rPr lang="en-US" sz="1800" b="0" u="none" strike="noStrike" dirty="0">
                <a:solidFill>
                  <a:srgbClr val="FF0000"/>
                </a:solidFill>
                <a:effectLst/>
                <a:latin typeface="+mn-lt"/>
              </a:rPr>
              <a:t>mix</a:t>
            </a:r>
            <a:r>
              <a:rPr lang="en-US" sz="1800" b="0" u="none" strike="noStrike" dirty="0">
                <a:effectLst/>
                <a:latin typeface="+mn-lt"/>
              </a:rPr>
              <a:t> of response curves chosen </a:t>
            </a:r>
            <a:r>
              <a:rPr lang="en-US" sz="1800" b="0" u="none" strike="noStrike" dirty="0">
                <a:solidFill>
                  <a:srgbClr val="FF0000"/>
                </a:solidFill>
                <a:effectLst/>
                <a:latin typeface="+mn-lt"/>
              </a:rPr>
              <a:t>mathematically to cover longer and shorter wavelengths </a:t>
            </a:r>
            <a:r>
              <a:rPr lang="en-US" sz="1800" b="0" u="none" strike="noStrike" dirty="0">
                <a:effectLst/>
                <a:latin typeface="+mn-lt"/>
              </a:rPr>
              <a:t>while keeping values positive.</a:t>
            </a:r>
          </a:p>
          <a:p>
            <a:pPr marL="342900" marR="0" lvl="0" indent="-342900">
              <a:spcAft>
                <a:spcPts val="900"/>
              </a:spcAft>
              <a:buFont typeface="Arial" panose="020B0604020202020204" pitchFamily="34" charset="0"/>
              <a:buChar char="•"/>
            </a:pPr>
            <a:endParaRPr lang="en-US" sz="1800" b="0" u="none" strike="noStrike" dirty="0">
              <a:effectLst/>
              <a:latin typeface="+mn-lt"/>
            </a:endParaRPr>
          </a:p>
          <a:p>
            <a:pPr marL="342900" marR="0" lvl="0" indent="-342900">
              <a:spcAft>
                <a:spcPts val="900"/>
              </a:spcAft>
              <a:buFont typeface="Arial" panose="020B0604020202020204" pitchFamily="34" charset="0"/>
              <a:buChar char="•"/>
            </a:pPr>
            <a:r>
              <a:rPr lang="en-US" sz="1800" b="1" u="none" strike="noStrike" dirty="0">
                <a:effectLst/>
                <a:latin typeface="+mn-lt"/>
              </a:rPr>
              <a:t>Z (Blue response):</a:t>
            </a:r>
            <a:r>
              <a:rPr lang="en-US" sz="1800" b="0" u="none" strike="noStrike" dirty="0">
                <a:effectLst/>
                <a:latin typeface="+mn-lt"/>
              </a:rPr>
              <a:t> Corresponds roughly to shorter-wavelength (blue) light stimulation</a:t>
            </a:r>
            <a:endParaRPr lang="en-US" sz="1200" b="0" u="none" strike="noStrike" dirty="0">
              <a:effectLst/>
              <a:latin typeface="Google Sans"/>
            </a:endParaRPr>
          </a:p>
        </p:txBody>
      </p:sp>
    </p:spTree>
    <p:extLst>
      <p:ext uri="{BB962C8B-B14F-4D97-AF65-F5344CB8AC3E}">
        <p14:creationId xmlns:p14="http://schemas.microsoft.com/office/powerpoint/2010/main" val="33011072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687DB-E396-E626-B988-C7EED6F8A4D3}"/>
              </a:ext>
            </a:extLst>
          </p:cNvPr>
          <p:cNvSpPr>
            <a:spLocks noGrp="1"/>
          </p:cNvSpPr>
          <p:nvPr>
            <p:ph type="title"/>
          </p:nvPr>
        </p:nvSpPr>
        <p:spPr>
          <a:xfrm>
            <a:off x="677334" y="609600"/>
            <a:ext cx="8596668" cy="515815"/>
          </a:xfrm>
        </p:spPr>
        <p:txBody>
          <a:bodyPr>
            <a:normAutofit fontScale="90000"/>
          </a:bodyPr>
          <a:lstStyle/>
          <a:p>
            <a:r>
              <a:rPr lang="en-US" dirty="0"/>
              <a:t>CIE-RGB to CIE-XYZ</a:t>
            </a:r>
          </a:p>
        </p:txBody>
      </p:sp>
      <p:pic>
        <p:nvPicPr>
          <p:cNvPr id="5" name="Content Placeholder 4">
            <a:extLst>
              <a:ext uri="{FF2B5EF4-FFF2-40B4-BE49-F238E27FC236}">
                <a16:creationId xmlns:a16="http://schemas.microsoft.com/office/drawing/2014/main" id="{974F22CF-11BB-FE3A-E208-748E791247D0}"/>
              </a:ext>
            </a:extLst>
          </p:cNvPr>
          <p:cNvPicPr>
            <a:picLocks noGrp="1" noChangeAspect="1"/>
          </p:cNvPicPr>
          <p:nvPr>
            <p:ph idx="1"/>
          </p:nvPr>
        </p:nvPicPr>
        <p:blipFill>
          <a:blip r:embed="rId2"/>
          <a:stretch>
            <a:fillRect/>
          </a:stretch>
        </p:blipFill>
        <p:spPr>
          <a:xfrm>
            <a:off x="914399" y="1270000"/>
            <a:ext cx="6591719" cy="5361912"/>
          </a:xfrm>
        </p:spPr>
      </p:pic>
    </p:spTree>
    <p:extLst>
      <p:ext uri="{BB962C8B-B14F-4D97-AF65-F5344CB8AC3E}">
        <p14:creationId xmlns:p14="http://schemas.microsoft.com/office/powerpoint/2010/main" val="29156236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687DB-E396-E626-B988-C7EED6F8A4D3}"/>
              </a:ext>
            </a:extLst>
          </p:cNvPr>
          <p:cNvSpPr>
            <a:spLocks noGrp="1"/>
          </p:cNvSpPr>
          <p:nvPr>
            <p:ph type="title"/>
          </p:nvPr>
        </p:nvSpPr>
        <p:spPr/>
        <p:txBody>
          <a:bodyPr/>
          <a:lstStyle/>
          <a:p>
            <a:r>
              <a:rPr lang="en-US" dirty="0"/>
              <a:t>CIE-RGB to CIE-XYZ</a:t>
            </a:r>
          </a:p>
        </p:txBody>
      </p:sp>
      <p:pic>
        <p:nvPicPr>
          <p:cNvPr id="5" name="Content Placeholder 4">
            <a:extLst>
              <a:ext uri="{FF2B5EF4-FFF2-40B4-BE49-F238E27FC236}">
                <a16:creationId xmlns:a16="http://schemas.microsoft.com/office/drawing/2014/main" id="{FB37D825-D2FD-52FF-568D-E1F00D47E6E6}"/>
              </a:ext>
            </a:extLst>
          </p:cNvPr>
          <p:cNvPicPr>
            <a:picLocks noGrp="1" noChangeAspect="1"/>
          </p:cNvPicPr>
          <p:nvPr>
            <p:ph idx="1"/>
          </p:nvPr>
        </p:nvPicPr>
        <p:blipFill>
          <a:blip r:embed="rId2"/>
          <a:stretch>
            <a:fillRect/>
          </a:stretch>
        </p:blipFill>
        <p:spPr>
          <a:xfrm>
            <a:off x="904352" y="1416818"/>
            <a:ext cx="5416061" cy="5154804"/>
          </a:xfrm>
        </p:spPr>
      </p:pic>
    </p:spTree>
    <p:extLst>
      <p:ext uri="{BB962C8B-B14F-4D97-AF65-F5344CB8AC3E}">
        <p14:creationId xmlns:p14="http://schemas.microsoft.com/office/powerpoint/2010/main" val="31754791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687DB-E396-E626-B988-C7EED6F8A4D3}"/>
              </a:ext>
            </a:extLst>
          </p:cNvPr>
          <p:cNvSpPr>
            <a:spLocks noGrp="1"/>
          </p:cNvSpPr>
          <p:nvPr>
            <p:ph type="title"/>
          </p:nvPr>
        </p:nvSpPr>
        <p:spPr/>
        <p:txBody>
          <a:bodyPr/>
          <a:lstStyle/>
          <a:p>
            <a:r>
              <a:rPr lang="en-US" dirty="0"/>
              <a:t>Colorimeters</a:t>
            </a:r>
          </a:p>
        </p:txBody>
      </p:sp>
      <p:pic>
        <p:nvPicPr>
          <p:cNvPr id="5" name="Content Placeholder 4">
            <a:extLst>
              <a:ext uri="{FF2B5EF4-FFF2-40B4-BE49-F238E27FC236}">
                <a16:creationId xmlns:a16="http://schemas.microsoft.com/office/drawing/2014/main" id="{6DEDE5D5-69D6-EC3D-EA6D-657CC21ED2D5}"/>
              </a:ext>
            </a:extLst>
          </p:cNvPr>
          <p:cNvPicPr>
            <a:picLocks noGrp="1" noChangeAspect="1"/>
          </p:cNvPicPr>
          <p:nvPr>
            <p:ph idx="1"/>
          </p:nvPr>
        </p:nvPicPr>
        <p:blipFill>
          <a:blip r:embed="rId2"/>
          <a:stretch>
            <a:fillRect/>
          </a:stretch>
        </p:blipFill>
        <p:spPr>
          <a:xfrm>
            <a:off x="1110438" y="1802093"/>
            <a:ext cx="3229499" cy="3881437"/>
          </a:xfrm>
        </p:spPr>
      </p:pic>
      <p:sp>
        <p:nvSpPr>
          <p:cNvPr id="9" name="TextBox 8">
            <a:extLst>
              <a:ext uri="{FF2B5EF4-FFF2-40B4-BE49-F238E27FC236}">
                <a16:creationId xmlns:a16="http://schemas.microsoft.com/office/drawing/2014/main" id="{A7240AB4-E0A0-4006-9AE7-E211180C4046}"/>
              </a:ext>
            </a:extLst>
          </p:cNvPr>
          <p:cNvSpPr txBox="1"/>
          <p:nvPr/>
        </p:nvSpPr>
        <p:spPr>
          <a:xfrm>
            <a:off x="4975668" y="1714006"/>
            <a:ext cx="4935417" cy="2031325"/>
          </a:xfrm>
          <a:prstGeom prst="rect">
            <a:avLst/>
          </a:prstGeom>
          <a:noFill/>
        </p:spPr>
        <p:txBody>
          <a:bodyPr wrap="square">
            <a:spAutoFit/>
          </a:bodyPr>
          <a:lstStyle/>
          <a:p>
            <a:pPr algn="just"/>
            <a:r>
              <a:rPr lang="en-US" dirty="0">
                <a:solidFill>
                  <a:srgbClr val="FF0000"/>
                </a:solidFill>
              </a:rPr>
              <a:t>A colorimeter is a light-sensing </a:t>
            </a:r>
            <a:r>
              <a:rPr lang="en-US" dirty="0"/>
              <a:t>device that is used to </a:t>
            </a:r>
            <a:r>
              <a:rPr lang="en-US" dirty="0">
                <a:solidFill>
                  <a:srgbClr val="FF0000"/>
                </a:solidFill>
              </a:rPr>
              <a:t>measure the absorbance and transmittance of light as it moves through a sample of liquid.</a:t>
            </a:r>
            <a:r>
              <a:rPr lang="en-US" dirty="0"/>
              <a:t> The main components of a colorimeter include: Illuminant: A specific, fixed light source that passes through the object.</a:t>
            </a:r>
          </a:p>
        </p:txBody>
      </p:sp>
      <p:sp>
        <p:nvSpPr>
          <p:cNvPr id="13" name="TextBox 12">
            <a:extLst>
              <a:ext uri="{FF2B5EF4-FFF2-40B4-BE49-F238E27FC236}">
                <a16:creationId xmlns:a16="http://schemas.microsoft.com/office/drawing/2014/main" id="{18A510A9-B6B1-2EA7-5A0B-437CDE92ED35}"/>
              </a:ext>
            </a:extLst>
          </p:cNvPr>
          <p:cNvSpPr txBox="1"/>
          <p:nvPr/>
        </p:nvSpPr>
        <p:spPr>
          <a:xfrm>
            <a:off x="4975668" y="4682329"/>
            <a:ext cx="6434294" cy="923330"/>
          </a:xfrm>
          <a:prstGeom prst="rect">
            <a:avLst/>
          </a:prstGeom>
          <a:noFill/>
        </p:spPr>
        <p:txBody>
          <a:bodyPr wrap="square">
            <a:spAutoFit/>
          </a:bodyPr>
          <a:lstStyle/>
          <a:p>
            <a:pPr algn="just"/>
            <a:r>
              <a:rPr lang="en-US" dirty="0">
                <a:solidFill>
                  <a:srgbClr val="FF0000"/>
                </a:solidFill>
              </a:rPr>
              <a:t>analysis of blood, water, soil </a:t>
            </a:r>
            <a:r>
              <a:rPr lang="en-US" dirty="0"/>
              <a:t>nutrients and foodstuffs, determination of solution concentration, determination of reaction levels, and determination of bacterial crop growth</a:t>
            </a:r>
          </a:p>
        </p:txBody>
      </p:sp>
    </p:spTree>
    <p:extLst>
      <p:ext uri="{BB962C8B-B14F-4D97-AF65-F5344CB8AC3E}">
        <p14:creationId xmlns:p14="http://schemas.microsoft.com/office/powerpoint/2010/main" val="16485332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687DB-E396-E626-B988-C7EED6F8A4D3}"/>
              </a:ext>
            </a:extLst>
          </p:cNvPr>
          <p:cNvSpPr>
            <a:spLocks noGrp="1"/>
          </p:cNvSpPr>
          <p:nvPr>
            <p:ph type="title"/>
          </p:nvPr>
        </p:nvSpPr>
        <p:spPr/>
        <p:txBody>
          <a:bodyPr>
            <a:normAutofit/>
          </a:bodyPr>
          <a:lstStyle/>
          <a:p>
            <a:r>
              <a:rPr lang="en-US" sz="2800" dirty="0"/>
              <a:t>Color matching function vs LMS(long medium short) –cone photoreceptor responses</a:t>
            </a:r>
          </a:p>
        </p:txBody>
      </p:sp>
      <p:pic>
        <p:nvPicPr>
          <p:cNvPr id="5" name="Content Placeholder 4">
            <a:extLst>
              <a:ext uri="{FF2B5EF4-FFF2-40B4-BE49-F238E27FC236}">
                <a16:creationId xmlns:a16="http://schemas.microsoft.com/office/drawing/2014/main" id="{AA921BE3-039F-58F2-8E0A-5B312F94E9E1}"/>
              </a:ext>
            </a:extLst>
          </p:cNvPr>
          <p:cNvPicPr>
            <a:picLocks noGrp="1" noChangeAspect="1"/>
          </p:cNvPicPr>
          <p:nvPr>
            <p:ph idx="1"/>
          </p:nvPr>
        </p:nvPicPr>
        <p:blipFill>
          <a:blip r:embed="rId2"/>
          <a:stretch>
            <a:fillRect/>
          </a:stretch>
        </p:blipFill>
        <p:spPr>
          <a:xfrm>
            <a:off x="1095271" y="1788799"/>
            <a:ext cx="6852975" cy="4903403"/>
          </a:xfrm>
        </p:spPr>
      </p:pic>
    </p:spTree>
    <p:extLst>
      <p:ext uri="{BB962C8B-B14F-4D97-AF65-F5344CB8AC3E}">
        <p14:creationId xmlns:p14="http://schemas.microsoft.com/office/powerpoint/2010/main" val="273256051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687DB-E396-E626-B988-C7EED6F8A4D3}"/>
              </a:ext>
            </a:extLst>
          </p:cNvPr>
          <p:cNvSpPr>
            <a:spLocks noGrp="1"/>
          </p:cNvSpPr>
          <p:nvPr>
            <p:ph type="title"/>
          </p:nvPr>
        </p:nvSpPr>
        <p:spPr/>
        <p:txBody>
          <a:bodyPr/>
          <a:lstStyle/>
          <a:p>
            <a:r>
              <a:rPr lang="en-US" dirty="0"/>
              <a:t>CIE -RGB</a:t>
            </a:r>
          </a:p>
        </p:txBody>
      </p:sp>
      <p:pic>
        <p:nvPicPr>
          <p:cNvPr id="5" name="Content Placeholder 4">
            <a:extLst>
              <a:ext uri="{FF2B5EF4-FFF2-40B4-BE49-F238E27FC236}">
                <a16:creationId xmlns:a16="http://schemas.microsoft.com/office/drawing/2014/main" id="{E57DC250-0E50-D19F-90EB-DFAD99A458B6}"/>
              </a:ext>
            </a:extLst>
          </p:cNvPr>
          <p:cNvPicPr>
            <a:picLocks noGrp="1" noChangeAspect="1"/>
          </p:cNvPicPr>
          <p:nvPr>
            <p:ph idx="1"/>
          </p:nvPr>
        </p:nvPicPr>
        <p:blipFill>
          <a:blip r:embed="rId2"/>
          <a:stretch>
            <a:fillRect/>
          </a:stretch>
        </p:blipFill>
        <p:spPr>
          <a:xfrm>
            <a:off x="1085222" y="2010787"/>
            <a:ext cx="5988818" cy="3797160"/>
          </a:xfrm>
        </p:spPr>
      </p:pic>
    </p:spTree>
    <p:extLst>
      <p:ext uri="{BB962C8B-B14F-4D97-AF65-F5344CB8AC3E}">
        <p14:creationId xmlns:p14="http://schemas.microsoft.com/office/powerpoint/2010/main" val="201814505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687DB-E396-E626-B988-C7EED6F8A4D3}"/>
              </a:ext>
            </a:extLst>
          </p:cNvPr>
          <p:cNvSpPr>
            <a:spLocks noGrp="1"/>
          </p:cNvSpPr>
          <p:nvPr>
            <p:ph type="title"/>
          </p:nvPr>
        </p:nvSpPr>
        <p:spPr/>
        <p:txBody>
          <a:bodyPr/>
          <a:lstStyle/>
          <a:p>
            <a:r>
              <a:rPr lang="en-US" dirty="0"/>
              <a:t>CIEXYZ Color Coordinate System</a:t>
            </a:r>
          </a:p>
        </p:txBody>
      </p:sp>
      <p:pic>
        <p:nvPicPr>
          <p:cNvPr id="5" name="Content Placeholder 4">
            <a:extLst>
              <a:ext uri="{FF2B5EF4-FFF2-40B4-BE49-F238E27FC236}">
                <a16:creationId xmlns:a16="http://schemas.microsoft.com/office/drawing/2014/main" id="{9C7781CE-0549-5B13-4572-9BDDAA159995}"/>
              </a:ext>
            </a:extLst>
          </p:cNvPr>
          <p:cNvPicPr>
            <a:picLocks noGrp="1" noChangeAspect="1"/>
          </p:cNvPicPr>
          <p:nvPr>
            <p:ph idx="1"/>
          </p:nvPr>
        </p:nvPicPr>
        <p:blipFill>
          <a:blip r:embed="rId2"/>
          <a:stretch>
            <a:fillRect/>
          </a:stretch>
        </p:blipFill>
        <p:spPr>
          <a:xfrm>
            <a:off x="954594" y="1557377"/>
            <a:ext cx="6842927" cy="5200140"/>
          </a:xfrm>
        </p:spPr>
      </p:pic>
    </p:spTree>
    <p:extLst>
      <p:ext uri="{BB962C8B-B14F-4D97-AF65-F5344CB8AC3E}">
        <p14:creationId xmlns:p14="http://schemas.microsoft.com/office/powerpoint/2010/main" val="26622354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687DB-E396-E626-B988-C7EED6F8A4D3}"/>
              </a:ext>
            </a:extLst>
          </p:cNvPr>
          <p:cNvSpPr>
            <a:spLocks noGrp="1"/>
          </p:cNvSpPr>
          <p:nvPr>
            <p:ph type="title"/>
          </p:nvPr>
        </p:nvSpPr>
        <p:spPr/>
        <p:txBody>
          <a:bodyPr/>
          <a:lstStyle/>
          <a:p>
            <a:r>
              <a:rPr lang="en-US" dirty="0"/>
              <a:t>CIE Chromaticity Diagram</a:t>
            </a:r>
          </a:p>
        </p:txBody>
      </p:sp>
      <p:pic>
        <p:nvPicPr>
          <p:cNvPr id="5" name="Content Placeholder 4">
            <a:extLst>
              <a:ext uri="{FF2B5EF4-FFF2-40B4-BE49-F238E27FC236}">
                <a16:creationId xmlns:a16="http://schemas.microsoft.com/office/drawing/2014/main" id="{03FCBF05-2C51-2D7D-619F-4CCAC1318338}"/>
              </a:ext>
            </a:extLst>
          </p:cNvPr>
          <p:cNvPicPr>
            <a:picLocks noGrp="1" noChangeAspect="1"/>
          </p:cNvPicPr>
          <p:nvPr>
            <p:ph idx="1"/>
          </p:nvPr>
        </p:nvPicPr>
        <p:blipFill rotWithShape="1">
          <a:blip r:embed="rId2"/>
          <a:srcRect r="1497" b="8415"/>
          <a:stretch/>
        </p:blipFill>
        <p:spPr>
          <a:xfrm>
            <a:off x="1529187" y="1376624"/>
            <a:ext cx="6097511" cy="5112044"/>
          </a:xfrm>
        </p:spPr>
      </p:pic>
      <p:sp>
        <p:nvSpPr>
          <p:cNvPr id="6" name="TextBox 5">
            <a:extLst>
              <a:ext uri="{FF2B5EF4-FFF2-40B4-BE49-F238E27FC236}">
                <a16:creationId xmlns:a16="http://schemas.microsoft.com/office/drawing/2014/main" id="{1795F0BC-CE45-2DD2-9034-76D0AF715619}"/>
              </a:ext>
            </a:extLst>
          </p:cNvPr>
          <p:cNvSpPr txBox="1"/>
          <p:nvPr/>
        </p:nvSpPr>
        <p:spPr>
          <a:xfrm>
            <a:off x="4039437" y="6488668"/>
            <a:ext cx="4368568" cy="369332"/>
          </a:xfrm>
          <a:prstGeom prst="rect">
            <a:avLst/>
          </a:prstGeom>
          <a:noFill/>
        </p:spPr>
        <p:txBody>
          <a:bodyPr wrap="none" rtlCol="0">
            <a:spAutoFit/>
          </a:bodyPr>
          <a:lstStyle/>
          <a:p>
            <a:r>
              <a:rPr lang="en-US" dirty="0"/>
              <a:t>A common representation of color signal</a:t>
            </a:r>
          </a:p>
        </p:txBody>
      </p:sp>
    </p:spTree>
    <p:extLst>
      <p:ext uri="{BB962C8B-B14F-4D97-AF65-F5344CB8AC3E}">
        <p14:creationId xmlns:p14="http://schemas.microsoft.com/office/powerpoint/2010/main" val="342994650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687DB-E396-E626-B988-C7EED6F8A4D3}"/>
              </a:ext>
            </a:extLst>
          </p:cNvPr>
          <p:cNvSpPr>
            <a:spLocks noGrp="1"/>
          </p:cNvSpPr>
          <p:nvPr>
            <p:ph type="title"/>
          </p:nvPr>
        </p:nvSpPr>
        <p:spPr/>
        <p:txBody>
          <a:bodyPr/>
          <a:lstStyle/>
          <a:p>
            <a:r>
              <a:rPr lang="en-US" dirty="0"/>
              <a:t>CIE Chromaticity Diagram</a:t>
            </a:r>
          </a:p>
        </p:txBody>
      </p:sp>
      <p:pic>
        <p:nvPicPr>
          <p:cNvPr id="5" name="Content Placeholder 4">
            <a:extLst>
              <a:ext uri="{FF2B5EF4-FFF2-40B4-BE49-F238E27FC236}">
                <a16:creationId xmlns:a16="http://schemas.microsoft.com/office/drawing/2014/main" id="{B5D89685-1C01-D9FB-071D-3CF89217F081}"/>
              </a:ext>
            </a:extLst>
          </p:cNvPr>
          <p:cNvPicPr>
            <a:picLocks noGrp="1" noChangeAspect="1"/>
          </p:cNvPicPr>
          <p:nvPr>
            <p:ph idx="1"/>
          </p:nvPr>
        </p:nvPicPr>
        <p:blipFill>
          <a:blip r:embed="rId2"/>
          <a:stretch>
            <a:fillRect/>
          </a:stretch>
        </p:blipFill>
        <p:spPr>
          <a:xfrm>
            <a:off x="1540242" y="1778559"/>
            <a:ext cx="6166844" cy="4734748"/>
          </a:xfrm>
        </p:spPr>
      </p:pic>
    </p:spTree>
    <p:extLst>
      <p:ext uri="{BB962C8B-B14F-4D97-AF65-F5344CB8AC3E}">
        <p14:creationId xmlns:p14="http://schemas.microsoft.com/office/powerpoint/2010/main" val="8392804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687DB-E396-E626-B988-C7EED6F8A4D3}"/>
              </a:ext>
            </a:extLst>
          </p:cNvPr>
          <p:cNvSpPr>
            <a:spLocks noGrp="1"/>
          </p:cNvSpPr>
          <p:nvPr>
            <p:ph type="title"/>
          </p:nvPr>
        </p:nvSpPr>
        <p:spPr/>
        <p:txBody>
          <a:bodyPr/>
          <a:lstStyle/>
          <a:p>
            <a:r>
              <a:rPr lang="en-US" dirty="0"/>
              <a:t>Color Naming</a:t>
            </a:r>
          </a:p>
        </p:txBody>
      </p:sp>
      <p:pic>
        <p:nvPicPr>
          <p:cNvPr id="5" name="Content Placeholder 4">
            <a:extLst>
              <a:ext uri="{FF2B5EF4-FFF2-40B4-BE49-F238E27FC236}">
                <a16:creationId xmlns:a16="http://schemas.microsoft.com/office/drawing/2014/main" id="{AE047215-5FBE-E921-923C-E08220E2FA73}"/>
              </a:ext>
            </a:extLst>
          </p:cNvPr>
          <p:cNvPicPr>
            <a:picLocks noGrp="1" noChangeAspect="1"/>
          </p:cNvPicPr>
          <p:nvPr>
            <p:ph idx="1"/>
          </p:nvPr>
        </p:nvPicPr>
        <p:blipFill>
          <a:blip r:embed="rId2"/>
          <a:stretch>
            <a:fillRect/>
          </a:stretch>
        </p:blipFill>
        <p:spPr>
          <a:xfrm>
            <a:off x="941875" y="1438958"/>
            <a:ext cx="6755162" cy="5419042"/>
          </a:xfrm>
        </p:spPr>
      </p:pic>
    </p:spTree>
    <p:extLst>
      <p:ext uri="{BB962C8B-B14F-4D97-AF65-F5344CB8AC3E}">
        <p14:creationId xmlns:p14="http://schemas.microsoft.com/office/powerpoint/2010/main" val="170190406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687DB-E396-E626-B988-C7EED6F8A4D3}"/>
              </a:ext>
            </a:extLst>
          </p:cNvPr>
          <p:cNvSpPr>
            <a:spLocks noGrp="1"/>
          </p:cNvSpPr>
          <p:nvPr>
            <p:ph type="title"/>
          </p:nvPr>
        </p:nvSpPr>
        <p:spPr/>
        <p:txBody>
          <a:bodyPr/>
          <a:lstStyle/>
          <a:p>
            <a:r>
              <a:rPr lang="en-US" dirty="0"/>
              <a:t>CIE-RGB Primaries</a:t>
            </a:r>
          </a:p>
        </p:txBody>
      </p:sp>
      <p:pic>
        <p:nvPicPr>
          <p:cNvPr id="5" name="Content Placeholder 4">
            <a:extLst>
              <a:ext uri="{FF2B5EF4-FFF2-40B4-BE49-F238E27FC236}">
                <a16:creationId xmlns:a16="http://schemas.microsoft.com/office/drawing/2014/main" id="{1EB6B1F1-0775-C690-EDA7-CD4A8CB157DF}"/>
              </a:ext>
            </a:extLst>
          </p:cNvPr>
          <p:cNvPicPr>
            <a:picLocks noGrp="1" noChangeAspect="1"/>
          </p:cNvPicPr>
          <p:nvPr>
            <p:ph idx="1"/>
          </p:nvPr>
        </p:nvPicPr>
        <p:blipFill>
          <a:blip r:embed="rId2"/>
          <a:stretch>
            <a:fillRect/>
          </a:stretch>
        </p:blipFill>
        <p:spPr>
          <a:xfrm>
            <a:off x="1346480" y="1669821"/>
            <a:ext cx="5637124" cy="5002283"/>
          </a:xfrm>
        </p:spPr>
      </p:pic>
    </p:spTree>
    <p:extLst>
      <p:ext uri="{BB962C8B-B14F-4D97-AF65-F5344CB8AC3E}">
        <p14:creationId xmlns:p14="http://schemas.microsoft.com/office/powerpoint/2010/main" val="239561849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43D51-1B14-CA78-F2C7-D78A331577CB}"/>
              </a:ext>
            </a:extLst>
          </p:cNvPr>
          <p:cNvSpPr>
            <a:spLocks noGrp="1"/>
          </p:cNvSpPr>
          <p:nvPr>
            <p:ph type="title"/>
          </p:nvPr>
        </p:nvSpPr>
        <p:spPr>
          <a:xfrm>
            <a:off x="677334" y="609600"/>
            <a:ext cx="10114596" cy="1018233"/>
          </a:xfrm>
        </p:spPr>
        <p:txBody>
          <a:bodyPr>
            <a:normAutofit/>
          </a:bodyPr>
          <a:lstStyle/>
          <a:p>
            <a:r>
              <a:rPr lang="en-US" sz="3200" dirty="0"/>
              <a:t>Blackbody Radiators and CIE standard Illuminants</a:t>
            </a:r>
          </a:p>
        </p:txBody>
      </p:sp>
      <p:pic>
        <p:nvPicPr>
          <p:cNvPr id="5" name="Content Placeholder 4">
            <a:extLst>
              <a:ext uri="{FF2B5EF4-FFF2-40B4-BE49-F238E27FC236}">
                <a16:creationId xmlns:a16="http://schemas.microsoft.com/office/drawing/2014/main" id="{B901E509-592B-2629-9291-0666533A4EC9}"/>
              </a:ext>
            </a:extLst>
          </p:cNvPr>
          <p:cNvPicPr>
            <a:picLocks noGrp="1" noChangeAspect="1"/>
          </p:cNvPicPr>
          <p:nvPr>
            <p:ph idx="1"/>
          </p:nvPr>
        </p:nvPicPr>
        <p:blipFill>
          <a:blip r:embed="rId2"/>
          <a:stretch>
            <a:fillRect/>
          </a:stretch>
        </p:blipFill>
        <p:spPr>
          <a:xfrm>
            <a:off x="1577590" y="1537398"/>
            <a:ext cx="6089301" cy="5225143"/>
          </a:xfrm>
        </p:spPr>
      </p:pic>
    </p:spTree>
    <p:extLst>
      <p:ext uri="{BB962C8B-B14F-4D97-AF65-F5344CB8AC3E}">
        <p14:creationId xmlns:p14="http://schemas.microsoft.com/office/powerpoint/2010/main" val="204149355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43D51-1B14-CA78-F2C7-D78A331577CB}"/>
              </a:ext>
            </a:extLst>
          </p:cNvPr>
          <p:cNvSpPr>
            <a:spLocks noGrp="1"/>
          </p:cNvSpPr>
          <p:nvPr>
            <p:ph type="title"/>
          </p:nvPr>
        </p:nvSpPr>
        <p:spPr/>
        <p:txBody>
          <a:bodyPr/>
          <a:lstStyle/>
          <a:p>
            <a:r>
              <a:rPr lang="en-US" dirty="0"/>
              <a:t>Television Primaries and Gamut</a:t>
            </a:r>
          </a:p>
        </p:txBody>
      </p:sp>
      <p:pic>
        <p:nvPicPr>
          <p:cNvPr id="5" name="Content Placeholder 4">
            <a:extLst>
              <a:ext uri="{FF2B5EF4-FFF2-40B4-BE49-F238E27FC236}">
                <a16:creationId xmlns:a16="http://schemas.microsoft.com/office/drawing/2014/main" id="{9B25E260-8932-0ABE-1813-54D37663426C}"/>
              </a:ext>
            </a:extLst>
          </p:cNvPr>
          <p:cNvPicPr>
            <a:picLocks noGrp="1" noChangeAspect="1"/>
          </p:cNvPicPr>
          <p:nvPr>
            <p:ph idx="1"/>
          </p:nvPr>
        </p:nvPicPr>
        <p:blipFill>
          <a:blip r:embed="rId3"/>
          <a:stretch>
            <a:fillRect/>
          </a:stretch>
        </p:blipFill>
        <p:spPr>
          <a:xfrm>
            <a:off x="677334" y="1550796"/>
            <a:ext cx="6016592" cy="4967294"/>
          </a:xfrm>
        </p:spPr>
      </p:pic>
      <p:sp>
        <p:nvSpPr>
          <p:cNvPr id="9" name="TextBox 8">
            <a:extLst>
              <a:ext uri="{FF2B5EF4-FFF2-40B4-BE49-F238E27FC236}">
                <a16:creationId xmlns:a16="http://schemas.microsoft.com/office/drawing/2014/main" id="{84765CD2-459B-CABB-9178-F7943C54EBE3}"/>
              </a:ext>
            </a:extLst>
          </p:cNvPr>
          <p:cNvSpPr txBox="1"/>
          <p:nvPr/>
        </p:nvSpPr>
        <p:spPr>
          <a:xfrm>
            <a:off x="6873073" y="3710353"/>
            <a:ext cx="4012643" cy="2031325"/>
          </a:xfrm>
          <a:prstGeom prst="rect">
            <a:avLst/>
          </a:prstGeom>
          <a:noFill/>
        </p:spPr>
        <p:txBody>
          <a:bodyPr wrap="square">
            <a:spAutoFit/>
          </a:bodyPr>
          <a:lstStyle/>
          <a:p>
            <a:pPr algn="just"/>
            <a:r>
              <a:rPr lang="en-US" dirty="0"/>
              <a:t>Gamut is a certain complete subset of colors. The most common usage refers to the subset of colors which can be accurately represented in a given circumstance, such as within a given color space or by a certain output device</a:t>
            </a:r>
          </a:p>
        </p:txBody>
      </p:sp>
      <p:sp>
        <p:nvSpPr>
          <p:cNvPr id="4" name="TextBox 3">
            <a:extLst>
              <a:ext uri="{FF2B5EF4-FFF2-40B4-BE49-F238E27FC236}">
                <a16:creationId xmlns:a16="http://schemas.microsoft.com/office/drawing/2014/main" id="{5E0E6B87-1793-ABB3-6672-A39A5B1A19A8}"/>
              </a:ext>
            </a:extLst>
          </p:cNvPr>
          <p:cNvSpPr txBox="1"/>
          <p:nvPr/>
        </p:nvSpPr>
        <p:spPr>
          <a:xfrm>
            <a:off x="6873073" y="2770908"/>
            <a:ext cx="4541854" cy="584775"/>
          </a:xfrm>
          <a:prstGeom prst="rect">
            <a:avLst/>
          </a:prstGeom>
          <a:noFill/>
        </p:spPr>
        <p:txBody>
          <a:bodyPr wrap="square">
            <a:spAutoFit/>
          </a:bodyPr>
          <a:lstStyle/>
          <a:p>
            <a:r>
              <a:rPr lang="en-US" sz="1400" b="1" i="0" dirty="0">
                <a:solidFill>
                  <a:srgbClr val="00B050"/>
                </a:solidFill>
                <a:effectLst/>
                <a:latin typeface="Arial" panose="020B0604020202020204" pitchFamily="34" charset="0"/>
              </a:rPr>
              <a:t>Phase Alternating Line</a:t>
            </a:r>
            <a:r>
              <a:rPr lang="en-US" sz="1400" b="0" i="0" dirty="0">
                <a:solidFill>
                  <a:srgbClr val="00B050"/>
                </a:solidFill>
                <a:effectLst/>
                <a:latin typeface="Arial" panose="020B0604020202020204" pitchFamily="34" charset="0"/>
              </a:rPr>
              <a:t> (</a:t>
            </a:r>
            <a:r>
              <a:rPr lang="en-US" sz="1400" b="1" i="0" dirty="0">
                <a:solidFill>
                  <a:srgbClr val="00B050"/>
                </a:solidFill>
                <a:effectLst/>
                <a:latin typeface="Arial" panose="020B0604020202020204" pitchFamily="34" charset="0"/>
              </a:rPr>
              <a:t>PAL</a:t>
            </a:r>
            <a:r>
              <a:rPr lang="en-US" sz="1400" b="0" i="0" dirty="0">
                <a:solidFill>
                  <a:srgbClr val="00B050"/>
                </a:solidFill>
                <a:effectLst/>
                <a:latin typeface="Arial" panose="020B0604020202020204" pitchFamily="34" charset="0"/>
              </a:rPr>
              <a:t>)</a:t>
            </a:r>
          </a:p>
          <a:p>
            <a:r>
              <a:rPr lang="en-US" dirty="0">
                <a:solidFill>
                  <a:srgbClr val="FF0000"/>
                </a:solidFill>
              </a:rPr>
              <a:t>National Television System Committee</a:t>
            </a:r>
          </a:p>
        </p:txBody>
      </p:sp>
      <p:sp>
        <p:nvSpPr>
          <p:cNvPr id="10" name="TextBox 9">
            <a:extLst>
              <a:ext uri="{FF2B5EF4-FFF2-40B4-BE49-F238E27FC236}">
                <a16:creationId xmlns:a16="http://schemas.microsoft.com/office/drawing/2014/main" id="{5E56BBEE-7958-88E5-459A-D608D25640B1}"/>
              </a:ext>
            </a:extLst>
          </p:cNvPr>
          <p:cNvSpPr txBox="1"/>
          <p:nvPr/>
        </p:nvSpPr>
        <p:spPr>
          <a:xfrm>
            <a:off x="506512" y="6488668"/>
            <a:ext cx="11370547" cy="369332"/>
          </a:xfrm>
          <a:prstGeom prst="rect">
            <a:avLst/>
          </a:prstGeom>
          <a:noFill/>
        </p:spPr>
        <p:txBody>
          <a:bodyPr wrap="square">
            <a:spAutoFit/>
          </a:bodyPr>
          <a:lstStyle/>
          <a:p>
            <a:r>
              <a:rPr lang="en-US" dirty="0">
                <a:solidFill>
                  <a:srgbClr val="0070C0"/>
                </a:solidFill>
              </a:rPr>
              <a:t>NTSC televisions broadcast 525 lines of resolution, while PAL televisions broadcast 625 lines of resolution.</a:t>
            </a:r>
          </a:p>
        </p:txBody>
      </p:sp>
    </p:spTree>
    <p:extLst>
      <p:ext uri="{BB962C8B-B14F-4D97-AF65-F5344CB8AC3E}">
        <p14:creationId xmlns:p14="http://schemas.microsoft.com/office/powerpoint/2010/main" val="288265609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43D51-1B14-CA78-F2C7-D78A331577CB}"/>
              </a:ext>
            </a:extLst>
          </p:cNvPr>
          <p:cNvSpPr>
            <a:spLocks noGrp="1"/>
          </p:cNvSpPr>
          <p:nvPr>
            <p:ph type="title"/>
          </p:nvPr>
        </p:nvSpPr>
        <p:spPr/>
        <p:txBody>
          <a:bodyPr/>
          <a:lstStyle/>
          <a:p>
            <a:r>
              <a:rPr lang="en-US" dirty="0"/>
              <a:t>XYZ Color space Hue vs Saturation</a:t>
            </a:r>
          </a:p>
        </p:txBody>
      </p:sp>
      <p:pic>
        <p:nvPicPr>
          <p:cNvPr id="5" name="Content Placeholder 4">
            <a:extLst>
              <a:ext uri="{FF2B5EF4-FFF2-40B4-BE49-F238E27FC236}">
                <a16:creationId xmlns:a16="http://schemas.microsoft.com/office/drawing/2014/main" id="{1136CE46-A7F5-BE92-2B56-A544580545FB}"/>
              </a:ext>
            </a:extLst>
          </p:cNvPr>
          <p:cNvPicPr>
            <a:picLocks noGrp="1" noChangeAspect="1"/>
          </p:cNvPicPr>
          <p:nvPr>
            <p:ph idx="1"/>
          </p:nvPr>
        </p:nvPicPr>
        <p:blipFill>
          <a:blip r:embed="rId2"/>
          <a:stretch>
            <a:fillRect/>
          </a:stretch>
        </p:blipFill>
        <p:spPr>
          <a:xfrm>
            <a:off x="1537366" y="1601486"/>
            <a:ext cx="5392351" cy="5148938"/>
          </a:xfrm>
        </p:spPr>
      </p:pic>
    </p:spTree>
    <p:extLst>
      <p:ext uri="{BB962C8B-B14F-4D97-AF65-F5344CB8AC3E}">
        <p14:creationId xmlns:p14="http://schemas.microsoft.com/office/powerpoint/2010/main" val="145344763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43D51-1B14-CA78-F2C7-D78A331577CB}"/>
              </a:ext>
            </a:extLst>
          </p:cNvPr>
          <p:cNvSpPr>
            <a:spLocks noGrp="1"/>
          </p:cNvSpPr>
          <p:nvPr>
            <p:ph type="title"/>
          </p:nvPr>
        </p:nvSpPr>
        <p:spPr/>
        <p:txBody>
          <a:bodyPr/>
          <a:lstStyle/>
          <a:p>
            <a:r>
              <a:rPr lang="en-US" dirty="0"/>
              <a:t>Chromaticity in Polar Coordinates</a:t>
            </a:r>
          </a:p>
        </p:txBody>
      </p:sp>
      <p:pic>
        <p:nvPicPr>
          <p:cNvPr id="5" name="Content Placeholder 4">
            <a:extLst>
              <a:ext uri="{FF2B5EF4-FFF2-40B4-BE49-F238E27FC236}">
                <a16:creationId xmlns:a16="http://schemas.microsoft.com/office/drawing/2014/main" id="{CA7C9CD8-EAD3-296C-1F61-5389DD2C9503}"/>
              </a:ext>
            </a:extLst>
          </p:cNvPr>
          <p:cNvPicPr>
            <a:picLocks noGrp="1" noChangeAspect="1"/>
          </p:cNvPicPr>
          <p:nvPr>
            <p:ph idx="1"/>
          </p:nvPr>
        </p:nvPicPr>
        <p:blipFill>
          <a:blip r:embed="rId2"/>
          <a:stretch>
            <a:fillRect/>
          </a:stretch>
        </p:blipFill>
        <p:spPr>
          <a:xfrm>
            <a:off x="1198044" y="1552663"/>
            <a:ext cx="5659956" cy="5064965"/>
          </a:xfrm>
        </p:spPr>
      </p:pic>
    </p:spTree>
    <p:extLst>
      <p:ext uri="{BB962C8B-B14F-4D97-AF65-F5344CB8AC3E}">
        <p14:creationId xmlns:p14="http://schemas.microsoft.com/office/powerpoint/2010/main" val="45880528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43D51-1B14-CA78-F2C7-D78A331577CB}"/>
              </a:ext>
            </a:extLst>
          </p:cNvPr>
          <p:cNvSpPr>
            <a:spLocks noGrp="1"/>
          </p:cNvSpPr>
          <p:nvPr>
            <p:ph type="title"/>
          </p:nvPr>
        </p:nvSpPr>
        <p:spPr>
          <a:xfrm>
            <a:off x="677334" y="609600"/>
            <a:ext cx="8596668" cy="646444"/>
          </a:xfrm>
        </p:spPr>
        <p:txBody>
          <a:bodyPr/>
          <a:lstStyle/>
          <a:p>
            <a:r>
              <a:rPr lang="en-US" dirty="0"/>
              <a:t>Chromaticity in Polar Coordinates</a:t>
            </a:r>
          </a:p>
        </p:txBody>
      </p:sp>
      <p:pic>
        <p:nvPicPr>
          <p:cNvPr id="5" name="Content Placeholder 4">
            <a:extLst>
              <a:ext uri="{FF2B5EF4-FFF2-40B4-BE49-F238E27FC236}">
                <a16:creationId xmlns:a16="http://schemas.microsoft.com/office/drawing/2014/main" id="{A2C04F9B-C0C2-89F9-D887-40798A0DB103}"/>
              </a:ext>
            </a:extLst>
          </p:cNvPr>
          <p:cNvPicPr>
            <a:picLocks noGrp="1" noChangeAspect="1"/>
          </p:cNvPicPr>
          <p:nvPr>
            <p:ph idx="1"/>
          </p:nvPr>
        </p:nvPicPr>
        <p:blipFill>
          <a:blip r:embed="rId2"/>
          <a:stretch>
            <a:fillRect/>
          </a:stretch>
        </p:blipFill>
        <p:spPr>
          <a:xfrm>
            <a:off x="992422" y="1376624"/>
            <a:ext cx="5981134" cy="5305530"/>
          </a:xfrm>
        </p:spPr>
      </p:pic>
    </p:spTree>
    <p:extLst>
      <p:ext uri="{BB962C8B-B14F-4D97-AF65-F5344CB8AC3E}">
        <p14:creationId xmlns:p14="http://schemas.microsoft.com/office/powerpoint/2010/main" val="255413383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43D51-1B14-CA78-F2C7-D78A331577CB}"/>
              </a:ext>
            </a:extLst>
          </p:cNvPr>
          <p:cNvSpPr>
            <a:spLocks noGrp="1"/>
          </p:cNvSpPr>
          <p:nvPr>
            <p:ph type="title"/>
          </p:nvPr>
        </p:nvSpPr>
        <p:spPr/>
        <p:txBody>
          <a:bodyPr/>
          <a:lstStyle/>
          <a:p>
            <a:r>
              <a:rPr lang="en-US" dirty="0"/>
              <a:t>Chromaticity in Polar Coordinates</a:t>
            </a:r>
          </a:p>
        </p:txBody>
      </p:sp>
      <p:pic>
        <p:nvPicPr>
          <p:cNvPr id="5" name="Content Placeholder 4">
            <a:extLst>
              <a:ext uri="{FF2B5EF4-FFF2-40B4-BE49-F238E27FC236}">
                <a16:creationId xmlns:a16="http://schemas.microsoft.com/office/drawing/2014/main" id="{5A76AA14-4FA7-ADE4-3705-27386BEC8C04}"/>
              </a:ext>
            </a:extLst>
          </p:cNvPr>
          <p:cNvPicPr>
            <a:picLocks noGrp="1" noChangeAspect="1"/>
          </p:cNvPicPr>
          <p:nvPr>
            <p:ph idx="1"/>
          </p:nvPr>
        </p:nvPicPr>
        <p:blipFill>
          <a:blip r:embed="rId2"/>
          <a:stretch>
            <a:fillRect/>
          </a:stretch>
        </p:blipFill>
        <p:spPr>
          <a:xfrm>
            <a:off x="914694" y="1510700"/>
            <a:ext cx="6364941" cy="5235387"/>
          </a:xfrm>
        </p:spPr>
      </p:pic>
    </p:spTree>
    <p:extLst>
      <p:ext uri="{BB962C8B-B14F-4D97-AF65-F5344CB8AC3E}">
        <p14:creationId xmlns:p14="http://schemas.microsoft.com/office/powerpoint/2010/main" val="307682285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43D51-1B14-CA78-F2C7-D78A331577CB}"/>
              </a:ext>
            </a:extLst>
          </p:cNvPr>
          <p:cNvSpPr>
            <a:spLocks noGrp="1"/>
          </p:cNvSpPr>
          <p:nvPr>
            <p:ph type="title"/>
          </p:nvPr>
        </p:nvSpPr>
        <p:spPr/>
        <p:txBody>
          <a:bodyPr/>
          <a:lstStyle/>
          <a:p>
            <a:r>
              <a:rPr lang="en-US" dirty="0"/>
              <a:t>Chromaticity in Polar Coordinates</a:t>
            </a:r>
          </a:p>
        </p:txBody>
      </p:sp>
      <p:pic>
        <p:nvPicPr>
          <p:cNvPr id="5" name="Content Placeholder 4">
            <a:extLst>
              <a:ext uri="{FF2B5EF4-FFF2-40B4-BE49-F238E27FC236}">
                <a16:creationId xmlns:a16="http://schemas.microsoft.com/office/drawing/2014/main" id="{AEA202B5-7095-6F28-9C67-D413C95CB55A}"/>
              </a:ext>
            </a:extLst>
          </p:cNvPr>
          <p:cNvPicPr>
            <a:picLocks noGrp="1" noChangeAspect="1"/>
          </p:cNvPicPr>
          <p:nvPr>
            <p:ph idx="1"/>
          </p:nvPr>
        </p:nvPicPr>
        <p:blipFill>
          <a:blip r:embed="rId2"/>
          <a:stretch>
            <a:fillRect/>
          </a:stretch>
        </p:blipFill>
        <p:spPr>
          <a:xfrm>
            <a:off x="1057836" y="1446964"/>
            <a:ext cx="5925670" cy="5013634"/>
          </a:xfrm>
        </p:spPr>
      </p:pic>
    </p:spTree>
    <p:extLst>
      <p:ext uri="{BB962C8B-B14F-4D97-AF65-F5344CB8AC3E}">
        <p14:creationId xmlns:p14="http://schemas.microsoft.com/office/powerpoint/2010/main" val="85599932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43D51-1B14-CA78-F2C7-D78A331577CB}"/>
              </a:ext>
            </a:extLst>
          </p:cNvPr>
          <p:cNvSpPr>
            <a:spLocks noGrp="1"/>
          </p:cNvSpPr>
          <p:nvPr>
            <p:ph type="title"/>
          </p:nvPr>
        </p:nvSpPr>
        <p:spPr/>
        <p:txBody>
          <a:bodyPr/>
          <a:lstStyle/>
          <a:p>
            <a:r>
              <a:rPr lang="en-US" dirty="0"/>
              <a:t>Chromaticity in Polar Coordinates</a:t>
            </a:r>
          </a:p>
        </p:txBody>
      </p:sp>
      <p:pic>
        <p:nvPicPr>
          <p:cNvPr id="5" name="Content Placeholder 4">
            <a:extLst>
              <a:ext uri="{FF2B5EF4-FFF2-40B4-BE49-F238E27FC236}">
                <a16:creationId xmlns:a16="http://schemas.microsoft.com/office/drawing/2014/main" id="{A24D872C-9B67-BD09-16F1-5D0BBCDC3BF7}"/>
              </a:ext>
            </a:extLst>
          </p:cNvPr>
          <p:cNvPicPr>
            <a:picLocks noGrp="1" noChangeAspect="1"/>
          </p:cNvPicPr>
          <p:nvPr>
            <p:ph idx="1"/>
          </p:nvPr>
        </p:nvPicPr>
        <p:blipFill>
          <a:blip r:embed="rId2"/>
          <a:stretch>
            <a:fillRect/>
          </a:stretch>
        </p:blipFill>
        <p:spPr>
          <a:xfrm>
            <a:off x="603986" y="1510047"/>
            <a:ext cx="5492014" cy="4965722"/>
          </a:xfrm>
        </p:spPr>
      </p:pic>
      <p:sp>
        <p:nvSpPr>
          <p:cNvPr id="9" name="TextBox 8">
            <a:extLst>
              <a:ext uri="{FF2B5EF4-FFF2-40B4-BE49-F238E27FC236}">
                <a16:creationId xmlns:a16="http://schemas.microsoft.com/office/drawing/2014/main" id="{529A7AC8-0931-749D-66E4-70C4B1E0096B}"/>
              </a:ext>
            </a:extLst>
          </p:cNvPr>
          <p:cNvSpPr txBox="1"/>
          <p:nvPr/>
        </p:nvSpPr>
        <p:spPr>
          <a:xfrm>
            <a:off x="5934302" y="3173275"/>
            <a:ext cx="5822269" cy="1754326"/>
          </a:xfrm>
          <a:prstGeom prst="rect">
            <a:avLst/>
          </a:prstGeom>
          <a:noFill/>
        </p:spPr>
        <p:txBody>
          <a:bodyPr wrap="square">
            <a:spAutoFit/>
          </a:bodyPr>
          <a:lstStyle/>
          <a:p>
            <a:r>
              <a:rPr lang="en-US" dirty="0"/>
              <a:t>Chromaticity is an objective specification of the quality of a color regardless of its luminance. Chromaticity consists of </a:t>
            </a:r>
            <a:r>
              <a:rPr lang="en-US" dirty="0">
                <a:solidFill>
                  <a:srgbClr val="0070C0"/>
                </a:solidFill>
              </a:rPr>
              <a:t>two independent parameters, often specified as hue (h) and colorfulness (s), </a:t>
            </a:r>
            <a:r>
              <a:rPr lang="en-US" dirty="0"/>
              <a:t>where the latter is alternatively called saturation, chroma, intensity, or excitation purity.</a:t>
            </a:r>
          </a:p>
        </p:txBody>
      </p:sp>
    </p:spTree>
    <p:extLst>
      <p:ext uri="{BB962C8B-B14F-4D97-AF65-F5344CB8AC3E}">
        <p14:creationId xmlns:p14="http://schemas.microsoft.com/office/powerpoint/2010/main" val="227243942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43D51-1B14-CA78-F2C7-D78A331577CB}"/>
              </a:ext>
            </a:extLst>
          </p:cNvPr>
          <p:cNvSpPr>
            <a:spLocks noGrp="1"/>
          </p:cNvSpPr>
          <p:nvPr>
            <p:ph type="title"/>
          </p:nvPr>
        </p:nvSpPr>
        <p:spPr/>
        <p:txBody>
          <a:bodyPr/>
          <a:lstStyle/>
          <a:p>
            <a:r>
              <a:rPr lang="en-US" dirty="0"/>
              <a:t>Color description</a:t>
            </a:r>
          </a:p>
        </p:txBody>
      </p:sp>
      <p:pic>
        <p:nvPicPr>
          <p:cNvPr id="5" name="Content Placeholder 4">
            <a:extLst>
              <a:ext uri="{FF2B5EF4-FFF2-40B4-BE49-F238E27FC236}">
                <a16:creationId xmlns:a16="http://schemas.microsoft.com/office/drawing/2014/main" id="{B0CB63B9-8322-D626-228E-F955E0D96D4B}"/>
              </a:ext>
            </a:extLst>
          </p:cNvPr>
          <p:cNvPicPr>
            <a:picLocks noGrp="1" noChangeAspect="1"/>
          </p:cNvPicPr>
          <p:nvPr>
            <p:ph idx="1"/>
          </p:nvPr>
        </p:nvPicPr>
        <p:blipFill>
          <a:blip r:embed="rId2"/>
          <a:stretch>
            <a:fillRect/>
          </a:stretch>
        </p:blipFill>
        <p:spPr>
          <a:xfrm>
            <a:off x="1286289" y="1425979"/>
            <a:ext cx="6113928" cy="5199530"/>
          </a:xfrm>
        </p:spPr>
      </p:pic>
    </p:spTree>
    <p:extLst>
      <p:ext uri="{BB962C8B-B14F-4D97-AF65-F5344CB8AC3E}">
        <p14:creationId xmlns:p14="http://schemas.microsoft.com/office/powerpoint/2010/main" val="226490880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7DA47-FC7B-BE06-BE75-51623B32753B}"/>
              </a:ext>
            </a:extLst>
          </p:cNvPr>
          <p:cNvSpPr>
            <a:spLocks noGrp="1"/>
          </p:cNvSpPr>
          <p:nvPr>
            <p:ph type="title"/>
          </p:nvPr>
        </p:nvSpPr>
        <p:spPr/>
        <p:txBody>
          <a:bodyPr/>
          <a:lstStyle/>
          <a:p>
            <a:r>
              <a:rPr lang="en-US" dirty="0"/>
              <a:t>Color stimuli</a:t>
            </a:r>
          </a:p>
        </p:txBody>
      </p:sp>
      <p:sp>
        <p:nvSpPr>
          <p:cNvPr id="3" name="Content Placeholder 2">
            <a:extLst>
              <a:ext uri="{FF2B5EF4-FFF2-40B4-BE49-F238E27FC236}">
                <a16:creationId xmlns:a16="http://schemas.microsoft.com/office/drawing/2014/main" id="{92915C3E-ABCD-D1D8-9264-417870FD956A}"/>
              </a:ext>
            </a:extLst>
          </p:cNvPr>
          <p:cNvSpPr>
            <a:spLocks noGrp="1"/>
          </p:cNvSpPr>
          <p:nvPr>
            <p:ph idx="1"/>
          </p:nvPr>
        </p:nvSpPr>
        <p:spPr/>
        <p:txBody>
          <a:bodyPr/>
          <a:lstStyle/>
          <a:p>
            <a:r>
              <a:rPr lang="en-US" sz="1800" b="0" i="0" dirty="0">
                <a:solidFill>
                  <a:srgbClr val="000000"/>
                </a:solidFill>
                <a:effectLst/>
                <a:latin typeface="CMR10"/>
              </a:rPr>
              <a:t>Color stimuli can be of different types as shown in </a:t>
            </a:r>
            <a:r>
              <a:rPr lang="en-US" sz="1800" b="0" i="0" dirty="0">
                <a:solidFill>
                  <a:srgbClr val="0000FF"/>
                </a:solidFill>
                <a:effectLst/>
                <a:latin typeface="CMR10"/>
              </a:rPr>
              <a:t>Figure 9.4</a:t>
            </a:r>
            <a:r>
              <a:rPr lang="en-US" sz="1800" b="0" i="0" dirty="0">
                <a:solidFill>
                  <a:srgbClr val="000000"/>
                </a:solidFill>
                <a:effectLst/>
                <a:latin typeface="CMR10"/>
              </a:rPr>
              <a:t>. </a:t>
            </a:r>
            <a:r>
              <a:rPr lang="en-US" sz="1800" b="0" i="0" dirty="0">
                <a:solidFill>
                  <a:srgbClr val="00B050"/>
                </a:solidFill>
                <a:effectLst/>
                <a:latin typeface="CMR10"/>
              </a:rPr>
              <a:t>When it has light of only one wavelength, it is called </a:t>
            </a:r>
            <a:r>
              <a:rPr lang="en-US" sz="1800" b="0" i="1" dirty="0">
                <a:solidFill>
                  <a:srgbClr val="00B050"/>
                </a:solidFill>
                <a:effectLst/>
                <a:latin typeface="CMTI10"/>
              </a:rPr>
              <a:t>monochromatic</a:t>
            </a:r>
            <a:r>
              <a:rPr lang="en-US" sz="1800" b="0" i="0" dirty="0">
                <a:solidFill>
                  <a:srgbClr val="00B050"/>
                </a:solidFill>
                <a:effectLst/>
                <a:latin typeface="CMR10"/>
              </a:rPr>
              <a:t>, e.g. a laser beam</a:t>
            </a:r>
            <a:r>
              <a:rPr lang="en-US" sz="1800" b="0" i="0" dirty="0">
                <a:solidFill>
                  <a:srgbClr val="000000"/>
                </a:solidFill>
                <a:effectLst/>
                <a:latin typeface="CMR10"/>
              </a:rPr>
              <a:t>. </a:t>
            </a:r>
            <a:r>
              <a:rPr lang="en-US" sz="1800" b="0" i="0" dirty="0">
                <a:solidFill>
                  <a:srgbClr val="92D050"/>
                </a:solidFill>
                <a:effectLst/>
                <a:latin typeface="CMR10"/>
              </a:rPr>
              <a:t>When the relative amount of light from all wavelengths is equal, then it is called </a:t>
            </a:r>
            <a:r>
              <a:rPr lang="en-US" sz="1800" b="0" i="1" dirty="0">
                <a:solidFill>
                  <a:srgbClr val="92D050"/>
                </a:solidFill>
                <a:effectLst/>
                <a:latin typeface="CMTI10"/>
              </a:rPr>
              <a:t>achromatic</a:t>
            </a:r>
            <a:r>
              <a:rPr lang="en-US" sz="1800" b="0" i="0" dirty="0">
                <a:solidFill>
                  <a:srgbClr val="92D050"/>
                </a:solidFill>
                <a:effectLst/>
                <a:latin typeface="CMR10"/>
              </a:rPr>
              <a:t>. The sunlight is close to achromatic in the day time</a:t>
            </a:r>
            <a:r>
              <a:rPr lang="en-US" sz="1800" b="0" i="0" dirty="0">
                <a:solidFill>
                  <a:srgbClr val="000000"/>
                </a:solidFill>
                <a:effectLst/>
                <a:latin typeface="CMR10"/>
              </a:rPr>
              <a:t>. Finally, if the stimulus has different amounts of light from different wavelengths, it is called </a:t>
            </a:r>
            <a:r>
              <a:rPr lang="en-US" sz="1800" b="0" i="1" dirty="0">
                <a:solidFill>
                  <a:srgbClr val="000000"/>
                </a:solidFill>
                <a:effectLst/>
                <a:latin typeface="CMTI10"/>
              </a:rPr>
              <a:t>polychromatic</a:t>
            </a:r>
            <a:r>
              <a:rPr lang="en-US" sz="1800" b="0" i="0" dirty="0">
                <a:solidFill>
                  <a:srgbClr val="000000"/>
                </a:solidFill>
                <a:effectLst/>
                <a:latin typeface="CMR10"/>
              </a:rPr>
              <a:t>. Most of the time we deal with polychromatic light. Most of the man made and natural color stimuli are smooth spectra of polychromatic light.</a:t>
            </a:r>
            <a:r>
              <a:rPr lang="en-US" dirty="0"/>
              <a:t> </a:t>
            </a:r>
            <a:br>
              <a:rPr lang="en-US" dirty="0"/>
            </a:br>
            <a:endParaRPr lang="en-US" dirty="0"/>
          </a:p>
        </p:txBody>
      </p:sp>
    </p:spTree>
    <p:extLst>
      <p:ext uri="{BB962C8B-B14F-4D97-AF65-F5344CB8AC3E}">
        <p14:creationId xmlns:p14="http://schemas.microsoft.com/office/powerpoint/2010/main" val="227901058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7DA47-FC7B-BE06-BE75-51623B32753B}"/>
              </a:ext>
            </a:extLst>
          </p:cNvPr>
          <p:cNvSpPr>
            <a:spLocks noGrp="1"/>
          </p:cNvSpPr>
          <p:nvPr>
            <p:ph type="title"/>
          </p:nvPr>
        </p:nvSpPr>
        <p:spPr/>
        <p:txBody>
          <a:bodyPr/>
          <a:lstStyle/>
          <a:p>
            <a:r>
              <a:rPr lang="en-US" dirty="0"/>
              <a:t>Color stimuli</a:t>
            </a:r>
          </a:p>
        </p:txBody>
      </p:sp>
      <p:pic>
        <p:nvPicPr>
          <p:cNvPr id="5" name="Content Placeholder 4">
            <a:extLst>
              <a:ext uri="{FF2B5EF4-FFF2-40B4-BE49-F238E27FC236}">
                <a16:creationId xmlns:a16="http://schemas.microsoft.com/office/drawing/2014/main" id="{9ABC6D67-1DE5-0C97-248B-65A3DF57834E}"/>
              </a:ext>
            </a:extLst>
          </p:cNvPr>
          <p:cNvPicPr>
            <a:picLocks noGrp="1" noChangeAspect="1"/>
          </p:cNvPicPr>
          <p:nvPr>
            <p:ph idx="1"/>
          </p:nvPr>
        </p:nvPicPr>
        <p:blipFill>
          <a:blip r:embed="rId2"/>
          <a:stretch>
            <a:fillRect/>
          </a:stretch>
        </p:blipFill>
        <p:spPr>
          <a:xfrm>
            <a:off x="484095" y="1524000"/>
            <a:ext cx="8503037" cy="5334000"/>
          </a:xfrm>
        </p:spPr>
      </p:pic>
    </p:spTree>
    <p:extLst>
      <p:ext uri="{BB962C8B-B14F-4D97-AF65-F5344CB8AC3E}">
        <p14:creationId xmlns:p14="http://schemas.microsoft.com/office/powerpoint/2010/main" val="207735825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a:t>
            </a:r>
          </a:p>
        </p:txBody>
      </p:sp>
      <p:sp>
        <p:nvSpPr>
          <p:cNvPr id="3" name="Content Placeholder 2"/>
          <p:cNvSpPr>
            <a:spLocks noGrp="1"/>
          </p:cNvSpPr>
          <p:nvPr>
            <p:ph idx="1"/>
          </p:nvPr>
        </p:nvSpPr>
        <p:spPr/>
        <p:txBody>
          <a:bodyPr/>
          <a:lstStyle/>
          <a:p>
            <a:r>
              <a:rPr lang="en-US" dirty="0"/>
              <a:t>Textbook</a:t>
            </a:r>
          </a:p>
          <a:p>
            <a:pPr marL="0" indent="0">
              <a:buNone/>
            </a:pPr>
            <a:endParaRPr lang="en-US" dirty="0"/>
          </a:p>
        </p:txBody>
      </p:sp>
      <p:sp>
        <p:nvSpPr>
          <p:cNvPr id="10" name="TextBox 9"/>
          <p:cNvSpPr txBox="1"/>
          <p:nvPr/>
        </p:nvSpPr>
        <p:spPr>
          <a:xfrm>
            <a:off x="875271" y="5377039"/>
            <a:ext cx="2281727" cy="307777"/>
          </a:xfrm>
          <a:prstGeom prst="rect">
            <a:avLst/>
          </a:prstGeom>
          <a:noFill/>
        </p:spPr>
        <p:txBody>
          <a:bodyPr wrap="square" rtlCol="0">
            <a:spAutoFit/>
          </a:bodyPr>
          <a:lstStyle/>
          <a:p>
            <a:r>
              <a:rPr lang="en-US" sz="1400" dirty="0"/>
              <a:t>Image processing</a:t>
            </a:r>
          </a:p>
        </p:txBody>
      </p:sp>
      <p:pic>
        <p:nvPicPr>
          <p:cNvPr id="6" name="Picture 5"/>
          <p:cNvPicPr>
            <a:picLocks noChangeAspect="1"/>
          </p:cNvPicPr>
          <p:nvPr/>
        </p:nvPicPr>
        <p:blipFill>
          <a:blip r:embed="rId2"/>
          <a:stretch>
            <a:fillRect/>
          </a:stretch>
        </p:blipFill>
        <p:spPr>
          <a:xfrm>
            <a:off x="975720" y="2716101"/>
            <a:ext cx="1864700" cy="2464435"/>
          </a:xfrm>
          <a:prstGeom prst="rect">
            <a:avLst/>
          </a:prstGeom>
        </p:spPr>
      </p:pic>
    </p:spTree>
    <p:extLst>
      <p:ext uri="{BB962C8B-B14F-4D97-AF65-F5344CB8AC3E}">
        <p14:creationId xmlns:p14="http://schemas.microsoft.com/office/powerpoint/2010/main" val="398561907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a:t>
            </a:r>
          </a:p>
        </p:txBody>
      </p:sp>
      <p:pic>
        <p:nvPicPr>
          <p:cNvPr id="30722" name="Picture 2"/>
          <p:cNvPicPr>
            <a:picLocks noGrp="1" noChangeAspect="1" noChangeArrowheads="1"/>
          </p:cNvPicPr>
          <p:nvPr>
            <p:ph idx="1"/>
          </p:nvPr>
        </p:nvPicPr>
        <p:blipFill>
          <a:blip r:embed="rId3"/>
          <a:srcRect/>
          <a:stretch>
            <a:fillRect/>
          </a:stretch>
        </p:blipFill>
        <p:spPr bwMode="auto">
          <a:xfrm>
            <a:off x="4495800" y="1600200"/>
            <a:ext cx="3395662" cy="3772958"/>
          </a:xfrm>
          <a:prstGeom prst="rect">
            <a:avLst/>
          </a:prstGeom>
          <a:noFill/>
          <a:ln w="9525">
            <a:noFill/>
            <a:miter lim="800000"/>
            <a:headEnd/>
            <a:tailEnd/>
          </a:ln>
          <a:effectLst/>
        </p:spPr>
      </p:pic>
    </p:spTree>
    <p:extLst>
      <p:ext uri="{BB962C8B-B14F-4D97-AF65-F5344CB8AC3E}">
        <p14:creationId xmlns:p14="http://schemas.microsoft.com/office/powerpoint/2010/main" val="128816457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 you</a:t>
            </a:r>
          </a:p>
        </p:txBody>
      </p:sp>
      <p:pic>
        <p:nvPicPr>
          <p:cNvPr id="31746" name="Picture 2"/>
          <p:cNvPicPr>
            <a:picLocks noGrp="1" noChangeAspect="1" noChangeArrowheads="1"/>
          </p:cNvPicPr>
          <p:nvPr>
            <p:ph idx="1"/>
          </p:nvPr>
        </p:nvPicPr>
        <p:blipFill>
          <a:blip r:embed="rId2"/>
          <a:srcRect/>
          <a:stretch>
            <a:fillRect/>
          </a:stretch>
        </p:blipFill>
        <p:spPr bwMode="auto">
          <a:xfrm>
            <a:off x="2971800" y="2057400"/>
            <a:ext cx="6553200" cy="3822700"/>
          </a:xfrm>
          <a:prstGeom prst="rect">
            <a:avLst/>
          </a:prstGeom>
          <a:noFill/>
          <a:ln w="9525">
            <a:noFill/>
            <a:miter lim="800000"/>
            <a:headEnd/>
            <a:tailEnd/>
          </a:ln>
          <a:effectLst/>
        </p:spPr>
      </p:pic>
    </p:spTree>
    <p:extLst>
      <p:ext uri="{BB962C8B-B14F-4D97-AF65-F5344CB8AC3E}">
        <p14:creationId xmlns:p14="http://schemas.microsoft.com/office/powerpoint/2010/main" val="128213883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7187</TotalTime>
  <Words>2550</Words>
  <Application>Microsoft Office PowerPoint</Application>
  <PresentationFormat>Widescreen</PresentationFormat>
  <Paragraphs>252</Paragraphs>
  <Slides>71</Slides>
  <Notes>9</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71</vt:i4>
      </vt:variant>
    </vt:vector>
  </HeadingPairs>
  <TitlesOfParts>
    <vt:vector size="83" baseType="lpstr">
      <vt:lpstr>Arial</vt:lpstr>
      <vt:lpstr>Calibri</vt:lpstr>
      <vt:lpstr>CMMI10</vt:lpstr>
      <vt:lpstr>CMMI7</vt:lpstr>
      <vt:lpstr>CMR10</vt:lpstr>
      <vt:lpstr>CMTI10</vt:lpstr>
      <vt:lpstr>Google Sans</vt:lpstr>
      <vt:lpstr>Source Sans Pro Web</vt:lpstr>
      <vt:lpstr>Trebuchet MS</vt:lpstr>
      <vt:lpstr>Wingdings</vt:lpstr>
      <vt:lpstr>Wingdings 3</vt:lpstr>
      <vt:lpstr>Facet</vt:lpstr>
      <vt:lpstr>Multimedia Computing</vt:lpstr>
      <vt:lpstr>Content</vt:lpstr>
      <vt:lpstr>Coordinate Convention</vt:lpstr>
      <vt:lpstr>Matrix Flattening</vt:lpstr>
      <vt:lpstr>Radiometry</vt:lpstr>
      <vt:lpstr>Radiometry</vt:lpstr>
      <vt:lpstr>Photometry</vt:lpstr>
      <vt:lpstr>Visual sensitivity</vt:lpstr>
      <vt:lpstr>Scotopic and photopic vision</vt:lpstr>
      <vt:lpstr>Photometry and Color</vt:lpstr>
      <vt:lpstr>Basic information on Light</vt:lpstr>
      <vt:lpstr>Achromatic light</vt:lpstr>
      <vt:lpstr>Radiance</vt:lpstr>
      <vt:lpstr>Luminance</vt:lpstr>
      <vt:lpstr>Brightness</vt:lpstr>
      <vt:lpstr>Energy Source of Image</vt:lpstr>
      <vt:lpstr>Two Major Tasks</vt:lpstr>
      <vt:lpstr>Image formation model</vt:lpstr>
      <vt:lpstr>Illumination and Reflectance</vt:lpstr>
      <vt:lpstr>Resolution</vt:lpstr>
      <vt:lpstr>Neighbor of a pixel</vt:lpstr>
      <vt:lpstr>Connectivity</vt:lpstr>
      <vt:lpstr>Connectivity</vt:lpstr>
      <vt:lpstr>M-Connectivity</vt:lpstr>
      <vt:lpstr>Path</vt:lpstr>
      <vt:lpstr>Adjacent</vt:lpstr>
      <vt:lpstr>Adjacent</vt:lpstr>
      <vt:lpstr>Adjacent</vt:lpstr>
      <vt:lpstr>Adjacent</vt:lpstr>
      <vt:lpstr>Distance measures</vt:lpstr>
      <vt:lpstr>Euclidean Distance</vt:lpstr>
      <vt:lpstr>City block distance</vt:lpstr>
      <vt:lpstr>Chessboard Distance</vt:lpstr>
      <vt:lpstr>M-connectivity distance</vt:lpstr>
      <vt:lpstr>Arithmetic operation</vt:lpstr>
      <vt:lpstr>Logical operations</vt:lpstr>
      <vt:lpstr>Color Image</vt:lpstr>
      <vt:lpstr>Munsell Color System (1915)</vt:lpstr>
      <vt:lpstr>Three dimensions of color</vt:lpstr>
      <vt:lpstr>Three dimensions of color</vt:lpstr>
      <vt:lpstr>Color representation</vt:lpstr>
      <vt:lpstr>CIE XYZ Color Coordinate system </vt:lpstr>
      <vt:lpstr>CIE XYZ Color Coordinate system </vt:lpstr>
      <vt:lpstr>Calculate CIE XYZ Color Coordinate system </vt:lpstr>
      <vt:lpstr>Calculate CIE XYZ Color Coordinate system </vt:lpstr>
      <vt:lpstr>Luminous-Efficiency function of the human eye</vt:lpstr>
      <vt:lpstr>CIE XYZ Color coordinate system</vt:lpstr>
      <vt:lpstr>CIE-RGB to CIE-XYZ</vt:lpstr>
      <vt:lpstr>CIE-RGB to CIE-XYZ</vt:lpstr>
      <vt:lpstr>Colorimeters</vt:lpstr>
      <vt:lpstr>Color matching function vs LMS(long medium short) –cone photoreceptor responses</vt:lpstr>
      <vt:lpstr>CIE -RGB</vt:lpstr>
      <vt:lpstr>CIEXYZ Color Coordinate System</vt:lpstr>
      <vt:lpstr>CIE Chromaticity Diagram</vt:lpstr>
      <vt:lpstr>CIE Chromaticity Diagram</vt:lpstr>
      <vt:lpstr>Color Naming</vt:lpstr>
      <vt:lpstr>CIE-RGB Primaries</vt:lpstr>
      <vt:lpstr>Blackbody Radiators and CIE standard Illuminants</vt:lpstr>
      <vt:lpstr>Television Primaries and Gamut</vt:lpstr>
      <vt:lpstr>XYZ Color space Hue vs Saturation</vt:lpstr>
      <vt:lpstr>Chromaticity in Polar Coordinates</vt:lpstr>
      <vt:lpstr>Chromaticity in Polar Coordinates</vt:lpstr>
      <vt:lpstr>Chromaticity in Polar Coordinates</vt:lpstr>
      <vt:lpstr>Chromaticity in Polar Coordinates</vt:lpstr>
      <vt:lpstr>Chromaticity in Polar Coordinates</vt:lpstr>
      <vt:lpstr>Color description</vt:lpstr>
      <vt:lpstr>Color stimuli</vt:lpstr>
      <vt:lpstr>Color stimuli</vt:lpstr>
      <vt:lpstr>Reference</vt:lpstr>
      <vt:lpstr>Question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Multimedia Computing</dc:title>
  <dc:creator>Ahmed Minhaz Uddin</dc:creator>
  <cp:lastModifiedBy>Minhaz Uddin Ahmed</cp:lastModifiedBy>
  <cp:revision>86</cp:revision>
  <dcterms:created xsi:type="dcterms:W3CDTF">2020-01-20T15:08:40Z</dcterms:created>
  <dcterms:modified xsi:type="dcterms:W3CDTF">2026-09-28T06:51:17Z</dcterms:modified>
</cp:coreProperties>
</file>