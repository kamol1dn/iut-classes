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49"/>
  </p:notesMasterIdLst>
  <p:sldIdLst>
    <p:sldId id="256" r:id="rId2"/>
    <p:sldId id="258" r:id="rId3"/>
    <p:sldId id="333" r:id="rId4"/>
    <p:sldId id="334" r:id="rId5"/>
    <p:sldId id="335" r:id="rId6"/>
    <p:sldId id="336" r:id="rId7"/>
    <p:sldId id="337" r:id="rId8"/>
    <p:sldId id="338" r:id="rId9"/>
    <p:sldId id="339"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11" r:id="rId46"/>
    <p:sldId id="299" r:id="rId47"/>
    <p:sldId id="300"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633" autoAdjust="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1</a:t>
            </a:fld>
            <a:endParaRPr lang="en-US"/>
          </a:p>
        </p:txBody>
      </p:sp>
    </p:spTree>
    <p:extLst>
      <p:ext uri="{BB962C8B-B14F-4D97-AF65-F5344CB8AC3E}">
        <p14:creationId xmlns:p14="http://schemas.microsoft.com/office/powerpoint/2010/main" val="464836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a:t>
            </a:fld>
            <a:endParaRPr lang="en-US"/>
          </a:p>
        </p:txBody>
      </p:sp>
    </p:spTree>
    <p:extLst>
      <p:ext uri="{BB962C8B-B14F-4D97-AF65-F5344CB8AC3E}">
        <p14:creationId xmlns:p14="http://schemas.microsoft.com/office/powerpoint/2010/main" val="150070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https://www.youtube.com/watch?v=B8EMI3_0TO0</a:t>
            </a:r>
          </a:p>
          <a:p>
            <a:r>
              <a:rPr lang="en-US" dirty="0"/>
              <a:t>https://www.youtube.com/watch?v=Ddxf2YESIgw</a:t>
            </a:r>
          </a:p>
          <a:p>
            <a:r>
              <a:rPr lang="en-US" dirty="0"/>
              <a:t>https://www.youtube.com/watch?v=UaKho805vCE</a:t>
            </a:r>
          </a:p>
        </p:txBody>
      </p:sp>
      <p:sp>
        <p:nvSpPr>
          <p:cNvPr id="4" name="Slide Number Placeholder 3"/>
          <p:cNvSpPr>
            <a:spLocks noGrp="1"/>
          </p:cNvSpPr>
          <p:nvPr>
            <p:ph type="sldNum" sz="quarter" idx="5"/>
          </p:nvPr>
        </p:nvSpPr>
        <p:spPr/>
        <p:txBody>
          <a:bodyPr/>
          <a:lstStyle/>
          <a:p>
            <a:fld id="{118BD2CD-5368-43DB-9451-734A67620D4E}" type="slidenum">
              <a:rPr lang="en-US" smtClean="0"/>
              <a:t>3</a:t>
            </a:fld>
            <a:endParaRPr lang="en-US"/>
          </a:p>
        </p:txBody>
      </p:sp>
    </p:spTree>
    <p:extLst>
      <p:ext uri="{BB962C8B-B14F-4D97-AF65-F5344CB8AC3E}">
        <p14:creationId xmlns:p14="http://schemas.microsoft.com/office/powerpoint/2010/main" val="4061110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The difference between the original signal and the reconstructed signal is the quantization error</a:t>
            </a:r>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7</a:t>
            </a:fld>
            <a:endParaRPr lang="en-US"/>
          </a:p>
        </p:txBody>
      </p:sp>
    </p:spTree>
    <p:extLst>
      <p:ext uri="{BB962C8B-B14F-4D97-AF65-F5344CB8AC3E}">
        <p14:creationId xmlns:p14="http://schemas.microsoft.com/office/powerpoint/2010/main" val="165349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46</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68626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0730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49422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61919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77476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90447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6155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433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9/14/2026</a:t>
            </a:fld>
            <a:endParaRPr lang="en-US"/>
          </a:p>
        </p:txBody>
      </p:sp>
    </p:spTree>
    <p:extLst>
      <p:ext uri="{BB962C8B-B14F-4D97-AF65-F5344CB8AC3E}">
        <p14:creationId xmlns:p14="http://schemas.microsoft.com/office/powerpoint/2010/main" val="68657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504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0546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505348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0195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97054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37758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84383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9/14/2026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36463482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nhaz.ahme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sz="1400" dirty="0"/>
              <a:t>By </a:t>
            </a:r>
          </a:p>
          <a:p>
            <a:pPr algn="ctr"/>
            <a:r>
              <a:rPr lang="en-US" dirty="0"/>
              <a:t>Minhaz Uddin Ahmed, PhD</a:t>
            </a:r>
          </a:p>
          <a:p>
            <a:pPr algn="ctr"/>
            <a:r>
              <a:rPr lang="en-US" dirty="0"/>
              <a:t>Department of Computer Engineering</a:t>
            </a:r>
          </a:p>
          <a:p>
            <a:pPr algn="ctr"/>
            <a:r>
              <a:rPr lang="en-US" err="1"/>
              <a:t>Inha</a:t>
            </a:r>
            <a:r>
              <a:rPr lang="en-US"/>
              <a:t> University Tashkent.</a:t>
            </a:r>
            <a:endParaRPr lang="en-US" dirty="0"/>
          </a:p>
          <a:p>
            <a:pPr algn="ctr"/>
            <a:r>
              <a:rPr lang="en-US" dirty="0"/>
              <a:t>Email: </a:t>
            </a:r>
            <a:r>
              <a:rPr lang="en-US" dirty="0">
                <a:hlinkClick r:id="rId3"/>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77334" y="1343402"/>
            <a:ext cx="8596668" cy="3880773"/>
          </a:xfrm>
        </p:spPr>
        <p:txBody>
          <a:bodyPr>
            <a:noAutofit/>
          </a:bodyPr>
          <a:lstStyle/>
          <a:p>
            <a:pPr marL="0" indent="0">
              <a:buNone/>
            </a:pPr>
            <a:endParaRPr lang="en-US" sz="1600" dirty="0"/>
          </a:p>
          <a:p>
            <a:pPr marL="0" indent="0">
              <a:buNone/>
            </a:pPr>
            <a:r>
              <a:rPr lang="en-US" sz="1600" dirty="0"/>
              <a:t>Signal to Noise Ratio (SNR)</a:t>
            </a:r>
          </a:p>
          <a:p>
            <a:pPr marL="0" indent="0">
              <a:buNone/>
            </a:pPr>
            <a:r>
              <a:rPr lang="en-US" sz="1600" dirty="0"/>
              <a:t>Signal to quantization Noise Ratio (SQNR)</a:t>
            </a:r>
          </a:p>
          <a:p>
            <a:pPr marL="0" indent="0">
              <a:buNone/>
            </a:pPr>
            <a:r>
              <a:rPr lang="en-US" sz="1600" dirty="0"/>
              <a:t>Audio Filtering</a:t>
            </a:r>
          </a:p>
          <a:p>
            <a:pPr marL="0" indent="0">
              <a:buNone/>
            </a:pPr>
            <a:r>
              <a:rPr lang="en-US" sz="1600" dirty="0"/>
              <a:t>Audio Quality vs Data rate</a:t>
            </a:r>
          </a:p>
          <a:p>
            <a:pPr marL="0" indent="0">
              <a:buNone/>
            </a:pPr>
            <a:r>
              <a:rPr lang="en-US" sz="1600" dirty="0"/>
              <a:t>Synthetic sounds</a:t>
            </a:r>
          </a:p>
          <a:p>
            <a:pPr marL="0" indent="0">
              <a:buNone/>
            </a:pPr>
            <a:r>
              <a:rPr lang="en-US" sz="1600" dirty="0"/>
              <a:t>Midi: Musical Instrument Digital Interface</a:t>
            </a:r>
          </a:p>
          <a:p>
            <a:pPr marL="0" indent="0">
              <a:buNone/>
            </a:pPr>
            <a:r>
              <a:rPr lang="en-US" sz="1600" dirty="0"/>
              <a:t>Hardware Aspect of MIDI</a:t>
            </a:r>
          </a:p>
          <a:p>
            <a:pPr marL="0" indent="0">
              <a:buNone/>
            </a:pPr>
            <a:r>
              <a:rPr lang="en-US" sz="1600" dirty="0"/>
              <a:t>Coding of Audio</a:t>
            </a:r>
          </a:p>
          <a:p>
            <a:pPr marL="0" indent="0">
              <a:buNone/>
            </a:pPr>
            <a:r>
              <a:rPr lang="en-US" sz="1600" dirty="0"/>
              <a:t>PCM code modulation</a:t>
            </a:r>
          </a:p>
          <a:p>
            <a:pPr marL="0" indent="0">
              <a:buNone/>
            </a:pPr>
            <a:endParaRPr lang="en-US" sz="1600" dirty="0"/>
          </a:p>
        </p:txBody>
      </p:sp>
    </p:spTree>
    <p:extLst>
      <p:ext uri="{BB962C8B-B14F-4D97-AF65-F5344CB8AC3E}">
        <p14:creationId xmlns:p14="http://schemas.microsoft.com/office/powerpoint/2010/main" val="203595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p:txBody>
          <a:bodyPr/>
          <a:lstStyle/>
          <a:p>
            <a:r>
              <a:rPr lang="en-US" dirty="0"/>
              <a:t>Aliasing in the Temporal Domain</a:t>
            </a:r>
          </a:p>
          <a:p>
            <a:endParaRPr lang="en-US" dirty="0"/>
          </a:p>
          <a:p>
            <a:pPr algn="just"/>
            <a:r>
              <a:rPr lang="en-US" dirty="0"/>
              <a:t>Examples of temporal aliasing can be seen in western movies, by observing the motion of stagecoach wheels. As the stagecoach starts to move, we observe its wheels rotating in the expected forward direction. As the stagecoach speeds up, we see that the wheels appear to rotate in the opposite direction to the initial one.</a:t>
            </a:r>
          </a:p>
          <a:p>
            <a:r>
              <a:rPr lang="en-US" dirty="0">
                <a:solidFill>
                  <a:srgbClr val="0070C0"/>
                </a:solidFill>
              </a:rPr>
              <a:t>This occurs because the movie camera has under sampled the wheels’ motion</a:t>
            </a:r>
          </a:p>
        </p:txBody>
      </p:sp>
    </p:spTree>
    <p:extLst>
      <p:ext uri="{BB962C8B-B14F-4D97-AF65-F5344CB8AC3E}">
        <p14:creationId xmlns:p14="http://schemas.microsoft.com/office/powerpoint/2010/main" val="3980196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D605-376D-8ECD-B70B-432ABF6B0970}"/>
              </a:ext>
            </a:extLst>
          </p:cNvPr>
          <p:cNvSpPr>
            <a:spLocks noGrp="1"/>
          </p:cNvSpPr>
          <p:nvPr>
            <p:ph type="title"/>
          </p:nvPr>
        </p:nvSpPr>
        <p:spPr/>
        <p:txBody>
          <a:bodyPr/>
          <a:lstStyle/>
          <a:p>
            <a:r>
              <a:rPr lang="en-US" sz="3600" dirty="0"/>
              <a:t>Signal to Noise Ratio (SNR)</a:t>
            </a:r>
            <a:br>
              <a:rPr lang="en-US" sz="3600" dirty="0"/>
            </a:br>
            <a:endParaRPr lang="en-US" dirty="0"/>
          </a:p>
        </p:txBody>
      </p:sp>
      <p:sp>
        <p:nvSpPr>
          <p:cNvPr id="3" name="Content Placeholder 2">
            <a:extLst>
              <a:ext uri="{FF2B5EF4-FFF2-40B4-BE49-F238E27FC236}">
                <a16:creationId xmlns:a16="http://schemas.microsoft.com/office/drawing/2014/main" id="{DE103341-5A1E-9025-6F74-EB1F12B43AC5}"/>
              </a:ext>
            </a:extLst>
          </p:cNvPr>
          <p:cNvSpPr>
            <a:spLocks noGrp="1"/>
          </p:cNvSpPr>
          <p:nvPr>
            <p:ph idx="1"/>
          </p:nvPr>
        </p:nvSpPr>
        <p:spPr/>
        <p:txBody>
          <a:bodyPr/>
          <a:lstStyle/>
          <a:p>
            <a:r>
              <a:rPr lang="en-US" dirty="0"/>
              <a:t>In any analog system, </a:t>
            </a:r>
            <a:r>
              <a:rPr lang="en-US" dirty="0">
                <a:solidFill>
                  <a:srgbClr val="00B050"/>
                </a:solidFill>
              </a:rPr>
              <a:t>random fluctuations produce noise added to the signal, and the measured voltage is thus incorrect</a:t>
            </a:r>
            <a:r>
              <a:rPr lang="en-US" dirty="0"/>
              <a:t>. </a:t>
            </a:r>
            <a:r>
              <a:rPr lang="en-US" dirty="0">
                <a:solidFill>
                  <a:srgbClr val="FFC000"/>
                </a:solidFill>
              </a:rPr>
              <a:t>The ratio of the power of the correct signal to the noise is called the signal-to-noise ratio (SNR</a:t>
            </a:r>
            <a:r>
              <a:rPr lang="en-US" dirty="0"/>
              <a:t>). Therefore, the SNR is a measure of the quality of the signal. The SNR is usually measured in decibels (dB), where 1 dB is a tenth of a bel. The SNR value, in units of dB, is defined in terms of base-10 logarithms of squared .</a:t>
            </a:r>
          </a:p>
          <a:p>
            <a:endParaRPr lang="en-US" dirty="0"/>
          </a:p>
          <a:p>
            <a:r>
              <a:rPr lang="en-US" dirty="0">
                <a:solidFill>
                  <a:srgbClr val="040C28"/>
                </a:solidFill>
                <a:latin typeface="Google Sans"/>
              </a:rPr>
              <a:t>Bel : </a:t>
            </a:r>
            <a:r>
              <a:rPr lang="en-US" b="0" i="0" dirty="0">
                <a:solidFill>
                  <a:srgbClr val="040C28"/>
                </a:solidFill>
                <a:effectLst/>
                <a:latin typeface="Google Sans"/>
              </a:rPr>
              <a:t>a unit used for measuring sound intensity, equal to 10 decibels</a:t>
            </a:r>
            <a:endParaRPr lang="en-US" dirty="0"/>
          </a:p>
        </p:txBody>
      </p:sp>
    </p:spTree>
    <p:extLst>
      <p:ext uri="{BB962C8B-B14F-4D97-AF65-F5344CB8AC3E}">
        <p14:creationId xmlns:p14="http://schemas.microsoft.com/office/powerpoint/2010/main" val="2538607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sz="3600" dirty="0"/>
              <a:t>Signal to Noise Ratio (SNR)</a:t>
            </a:r>
            <a:endParaRPr lang="en-US" dirty="0"/>
          </a:p>
        </p:txBody>
      </p:sp>
      <p:pic>
        <p:nvPicPr>
          <p:cNvPr id="5" name="Content Placeholder 4">
            <a:extLst>
              <a:ext uri="{FF2B5EF4-FFF2-40B4-BE49-F238E27FC236}">
                <a16:creationId xmlns:a16="http://schemas.microsoft.com/office/drawing/2014/main" id="{A66A8929-E8EC-AEA6-C590-3CFB41B54C46}"/>
              </a:ext>
            </a:extLst>
          </p:cNvPr>
          <p:cNvPicPr>
            <a:picLocks noGrp="1" noChangeAspect="1"/>
          </p:cNvPicPr>
          <p:nvPr>
            <p:ph idx="1"/>
          </p:nvPr>
        </p:nvPicPr>
        <p:blipFill>
          <a:blip r:embed="rId2"/>
          <a:stretch>
            <a:fillRect/>
          </a:stretch>
        </p:blipFill>
        <p:spPr>
          <a:xfrm>
            <a:off x="1809577" y="1581469"/>
            <a:ext cx="5273059" cy="3695062"/>
          </a:xfrm>
        </p:spPr>
      </p:pic>
      <p:sp>
        <p:nvSpPr>
          <p:cNvPr id="7" name="TextBox 6">
            <a:extLst>
              <a:ext uri="{FF2B5EF4-FFF2-40B4-BE49-F238E27FC236}">
                <a16:creationId xmlns:a16="http://schemas.microsoft.com/office/drawing/2014/main" id="{81F198FD-7DB5-C10E-5EE4-212EC31EF7BE}"/>
              </a:ext>
            </a:extLst>
          </p:cNvPr>
          <p:cNvSpPr txBox="1"/>
          <p:nvPr/>
        </p:nvSpPr>
        <p:spPr>
          <a:xfrm>
            <a:off x="1925128" y="5621774"/>
            <a:ext cx="6101080" cy="369332"/>
          </a:xfrm>
          <a:prstGeom prst="rect">
            <a:avLst/>
          </a:prstGeom>
          <a:noFill/>
        </p:spPr>
        <p:txBody>
          <a:bodyPr wrap="square">
            <a:spAutoFit/>
          </a:bodyPr>
          <a:lstStyle/>
          <a:p>
            <a:r>
              <a:rPr lang="en-US" dirty="0"/>
              <a:t>Table: 1 Magnitudes of common sounds, in decibels</a:t>
            </a:r>
          </a:p>
        </p:txBody>
      </p:sp>
    </p:spTree>
    <p:extLst>
      <p:ext uri="{BB962C8B-B14F-4D97-AF65-F5344CB8AC3E}">
        <p14:creationId xmlns:p14="http://schemas.microsoft.com/office/powerpoint/2010/main" val="3438865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sz="3600" dirty="0"/>
              <a:t>Signal to Noise Ratio (SNR)</a:t>
            </a:r>
            <a:endParaRPr lang="en-US" dirty="0"/>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a:xfrm>
            <a:off x="677333" y="2160589"/>
            <a:ext cx="9360969" cy="3880773"/>
          </a:xfrm>
        </p:spPr>
        <p:txBody>
          <a:bodyPr>
            <a:normAutofit/>
          </a:bodyPr>
          <a:lstStyle/>
          <a:p>
            <a:endParaRPr lang="en-US" dirty="0"/>
          </a:p>
          <a:p>
            <a:endParaRPr lang="en-US" dirty="0"/>
          </a:p>
          <a:p>
            <a:endParaRPr lang="en-US" dirty="0"/>
          </a:p>
          <a:p>
            <a:endParaRPr lang="en-US" dirty="0"/>
          </a:p>
          <a:p>
            <a:r>
              <a:rPr lang="en-US" dirty="0">
                <a:solidFill>
                  <a:srgbClr val="00B050"/>
                </a:solidFill>
              </a:rPr>
              <a:t>The power in a signal is proportional to the square of the voltage</a:t>
            </a:r>
            <a:r>
              <a:rPr lang="en-US" dirty="0"/>
              <a:t>. For example, if the signal voltage </a:t>
            </a:r>
            <a:r>
              <a:rPr lang="en-US" dirty="0" err="1"/>
              <a:t>Vsignal</a:t>
            </a:r>
            <a:r>
              <a:rPr lang="en-US" dirty="0"/>
              <a:t> is 10 times the noise, the SNR is 20 × log10(10) = 20 dB</a:t>
            </a:r>
          </a:p>
          <a:p>
            <a:endParaRPr lang="en-US" dirty="0"/>
          </a:p>
          <a:p>
            <a:r>
              <a:rPr lang="en-US" dirty="0"/>
              <a:t>The term “decibels” as applied to sounds in our environment usually is in comparison to a just-audible sound with frequency 1 kHz. The levels of sound we hear around us are described in terms of decibels, as a ratio to the quietest sound we are capable of hearing</a:t>
            </a:r>
          </a:p>
        </p:txBody>
      </p:sp>
      <p:pic>
        <p:nvPicPr>
          <p:cNvPr id="7" name="Picture 6">
            <a:extLst>
              <a:ext uri="{FF2B5EF4-FFF2-40B4-BE49-F238E27FC236}">
                <a16:creationId xmlns:a16="http://schemas.microsoft.com/office/drawing/2014/main" id="{B31B5808-1ACC-A952-CE47-845F046AF472}"/>
              </a:ext>
            </a:extLst>
          </p:cNvPr>
          <p:cNvPicPr>
            <a:picLocks noChangeAspect="1"/>
          </p:cNvPicPr>
          <p:nvPr/>
        </p:nvPicPr>
        <p:blipFill>
          <a:blip r:embed="rId2"/>
          <a:stretch>
            <a:fillRect/>
          </a:stretch>
        </p:blipFill>
        <p:spPr>
          <a:xfrm>
            <a:off x="1456484" y="2241524"/>
            <a:ext cx="6559756" cy="963956"/>
          </a:xfrm>
          <a:prstGeom prst="rect">
            <a:avLst/>
          </a:prstGeom>
        </p:spPr>
      </p:pic>
    </p:spTree>
    <p:extLst>
      <p:ext uri="{BB962C8B-B14F-4D97-AF65-F5344CB8AC3E}">
        <p14:creationId xmlns:p14="http://schemas.microsoft.com/office/powerpoint/2010/main" val="1695102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Signal-to-Quantization-Noise Ratio (SQNR)</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lnSpcReduction="10000"/>
          </a:bodyPr>
          <a:lstStyle/>
          <a:p>
            <a:r>
              <a:rPr lang="en-US" dirty="0">
                <a:solidFill>
                  <a:srgbClr val="00B050"/>
                </a:solidFill>
              </a:rPr>
              <a:t>For digital signals, we must take into account the fact that only quantized values are stored</a:t>
            </a:r>
            <a:r>
              <a:rPr lang="en-US" dirty="0"/>
              <a:t>. For a digital audio signal, the precision of each sample is determined by the number of bits per sample, typically 8 or 16.</a:t>
            </a:r>
          </a:p>
          <a:p>
            <a:endParaRPr lang="en-US" dirty="0"/>
          </a:p>
          <a:p>
            <a:r>
              <a:rPr lang="en-US" dirty="0">
                <a:solidFill>
                  <a:srgbClr val="00B050"/>
                </a:solidFill>
              </a:rPr>
              <a:t>Aside from any noise that may have been present in the original analog signal, additional error results from quantization</a:t>
            </a:r>
            <a:r>
              <a:rPr lang="en-US" dirty="0"/>
              <a:t>. That is, if voltages are in the range of 0 to 1 but we have only 8 bits in which to store values, we effectively force all continuous values of voltage into only 256 different values.</a:t>
            </a:r>
          </a:p>
          <a:p>
            <a:endParaRPr lang="en-US" dirty="0"/>
          </a:p>
          <a:p>
            <a:r>
              <a:rPr lang="en-US" dirty="0">
                <a:solidFill>
                  <a:srgbClr val="00B050"/>
                </a:solidFill>
              </a:rPr>
              <a:t>Inevitably, this introduces a roundoff error. Although it is not really “noise,” it is called quantization noise (or quantization error). </a:t>
            </a:r>
            <a:r>
              <a:rPr lang="en-US" dirty="0"/>
              <a:t>The association with the concept of noise is that such errors will essentially occur randomly from sample to sample.</a:t>
            </a:r>
          </a:p>
          <a:p>
            <a:endParaRPr lang="en-US" dirty="0"/>
          </a:p>
        </p:txBody>
      </p:sp>
    </p:spTree>
    <p:extLst>
      <p:ext uri="{BB962C8B-B14F-4D97-AF65-F5344CB8AC3E}">
        <p14:creationId xmlns:p14="http://schemas.microsoft.com/office/powerpoint/2010/main" val="147088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Signal-to-Quantization-Noise Ratio (SQNR)</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The quality of the quantization is characterized by the signal-to-quantization noise ratio (SQNR). </a:t>
            </a:r>
            <a:r>
              <a:rPr lang="en-US" dirty="0"/>
              <a:t>Quantization noise is defined as the difference between the value of the analog signal, for the particular sampling time, and the nearest quantization interval value. At most, this error can be as much as half of the interval</a:t>
            </a:r>
          </a:p>
          <a:p>
            <a:endParaRPr lang="en-US" dirty="0"/>
          </a:p>
          <a:p>
            <a:r>
              <a:rPr lang="en-US" dirty="0"/>
              <a:t>The SQNR reflects the relationship between the maximum nominal signal strength and the quantization error (also known as quantization noise) introduced in the analog-to-digital conversion.</a:t>
            </a:r>
          </a:p>
          <a:p>
            <a:endParaRPr lang="en-US" dirty="0"/>
          </a:p>
        </p:txBody>
      </p:sp>
    </p:spTree>
    <p:extLst>
      <p:ext uri="{BB962C8B-B14F-4D97-AF65-F5344CB8AC3E}">
        <p14:creationId xmlns:p14="http://schemas.microsoft.com/office/powerpoint/2010/main" val="505306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Signal-to-Quantization-Noise Ratio (SQNR)</a:t>
            </a:r>
          </a:p>
        </p:txBody>
      </p:sp>
      <p:pic>
        <p:nvPicPr>
          <p:cNvPr id="5" name="Content Placeholder 4">
            <a:extLst>
              <a:ext uri="{FF2B5EF4-FFF2-40B4-BE49-F238E27FC236}">
                <a16:creationId xmlns:a16="http://schemas.microsoft.com/office/drawing/2014/main" id="{D62B5A31-EE01-730A-EB05-CB93263FF1B9}"/>
              </a:ext>
            </a:extLst>
          </p:cNvPr>
          <p:cNvPicPr>
            <a:picLocks noGrp="1" noChangeAspect="1"/>
          </p:cNvPicPr>
          <p:nvPr>
            <p:ph idx="1"/>
          </p:nvPr>
        </p:nvPicPr>
        <p:blipFill>
          <a:blip r:embed="rId2"/>
          <a:stretch>
            <a:fillRect/>
          </a:stretch>
        </p:blipFill>
        <p:spPr>
          <a:xfrm>
            <a:off x="1258800" y="1466235"/>
            <a:ext cx="6178544" cy="1168945"/>
          </a:xfrm>
        </p:spPr>
      </p:pic>
      <p:sp>
        <p:nvSpPr>
          <p:cNvPr id="7" name="TextBox 6">
            <a:extLst>
              <a:ext uri="{FF2B5EF4-FFF2-40B4-BE49-F238E27FC236}">
                <a16:creationId xmlns:a16="http://schemas.microsoft.com/office/drawing/2014/main" id="{62DBE6EF-A6C0-2D23-A5F7-4C8B0BC8D910}"/>
              </a:ext>
            </a:extLst>
          </p:cNvPr>
          <p:cNvSpPr txBox="1"/>
          <p:nvPr/>
        </p:nvSpPr>
        <p:spPr>
          <a:xfrm>
            <a:off x="967925" y="3216424"/>
            <a:ext cx="8176260" cy="2585323"/>
          </a:xfrm>
          <a:prstGeom prst="rect">
            <a:avLst/>
          </a:prstGeom>
          <a:noFill/>
        </p:spPr>
        <p:txBody>
          <a:bodyPr wrap="square">
            <a:spAutoFit/>
          </a:bodyPr>
          <a:lstStyle/>
          <a:p>
            <a:pPr algn="just"/>
            <a:r>
              <a:rPr lang="en-US" dirty="0"/>
              <a:t>In other words, each bit adds about 6 dB of resolution, so 16 bits provide a maximum SQNR of 96 </a:t>
            </a:r>
            <a:r>
              <a:rPr lang="en-US" dirty="0" err="1"/>
              <a:t>dB.</a:t>
            </a:r>
            <a:r>
              <a:rPr lang="en-US" dirty="0"/>
              <a:t> we assume that the input signal is sinusoidal, that quantization error is statistically independent, and that its magnitude is uniformly distributed between 0 and half the interval</a:t>
            </a:r>
          </a:p>
          <a:p>
            <a:endParaRPr lang="en-US" dirty="0"/>
          </a:p>
          <a:p>
            <a:r>
              <a:rPr lang="en-US" dirty="0"/>
              <a:t>SQNR = 6.02N + 1.76(dB)</a:t>
            </a:r>
          </a:p>
          <a:p>
            <a:endParaRPr lang="en-US" dirty="0"/>
          </a:p>
          <a:p>
            <a:r>
              <a:rPr lang="en-US" dirty="0"/>
              <a:t>Since larger is better, this shows that a more realistic approximation gives a better characterization number for the quality of a system.</a:t>
            </a:r>
          </a:p>
        </p:txBody>
      </p:sp>
    </p:spTree>
    <p:extLst>
      <p:ext uri="{BB962C8B-B14F-4D97-AF65-F5344CB8AC3E}">
        <p14:creationId xmlns:p14="http://schemas.microsoft.com/office/powerpoint/2010/main" val="399990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Audio Filtering</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lnSpcReduction="10000"/>
          </a:bodyPr>
          <a:lstStyle/>
          <a:p>
            <a:r>
              <a:rPr lang="en-US" dirty="0">
                <a:solidFill>
                  <a:srgbClr val="00B050"/>
                </a:solidFill>
              </a:rPr>
              <a:t>The audio signal is filtered to remove unwanted frequencies. </a:t>
            </a:r>
            <a:r>
              <a:rPr lang="en-US" dirty="0"/>
              <a:t>The frequencies kept depend on the application. For speech, typically from 50 Hz to 10 kHz is retained. Other frequencies are blocked.</a:t>
            </a:r>
          </a:p>
          <a:p>
            <a:endParaRPr lang="en-US" dirty="0"/>
          </a:p>
          <a:p>
            <a:pPr algn="just"/>
            <a:r>
              <a:rPr lang="en-US" dirty="0">
                <a:solidFill>
                  <a:srgbClr val="00B050"/>
                </a:solidFill>
              </a:rPr>
              <a:t>by a bandpass filter, also called a band-limiting filter, which screens out lower and higher frequencies. </a:t>
            </a:r>
            <a:r>
              <a:rPr lang="en-US" dirty="0"/>
              <a:t>An audio music signal will typically contain from about 20 Hz up to 20 kHz. So the bandpass filter for music will screen out frequencies outside this range. At the DA converter end, even though we have removed high frequencies that are likely just noise in any event, they reappear in the output. The reason is that because of sampling and then quantization. Therefore, at the decoder side, a low-pass filter is used after the DA circuit, making use of the same cutoff as at the high-frequency end of the coder’s bandpass filter. </a:t>
            </a:r>
          </a:p>
        </p:txBody>
      </p:sp>
    </p:spTree>
    <p:extLst>
      <p:ext uri="{BB962C8B-B14F-4D97-AF65-F5344CB8AC3E}">
        <p14:creationId xmlns:p14="http://schemas.microsoft.com/office/powerpoint/2010/main" val="1462191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Audio Quality Versus Data Rate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r>
              <a:rPr lang="en-US" dirty="0"/>
              <a:t>The uncompressed data rate increases as more bits are used for quantization. Stereo information, as opposed to mono, doubles the bitrate needed to transmit a digital audio signal. Table 6.2 shows how audio quality is related to bitrate and bandwidth.</a:t>
            </a:r>
          </a:p>
        </p:txBody>
      </p:sp>
      <p:pic>
        <p:nvPicPr>
          <p:cNvPr id="5" name="Picture 4">
            <a:extLst>
              <a:ext uri="{FF2B5EF4-FFF2-40B4-BE49-F238E27FC236}">
                <a16:creationId xmlns:a16="http://schemas.microsoft.com/office/drawing/2014/main" id="{3F75DE6B-785F-E6F7-0FA0-E5E9DAF48992}"/>
              </a:ext>
            </a:extLst>
          </p:cNvPr>
          <p:cNvPicPr>
            <a:picLocks noChangeAspect="1"/>
          </p:cNvPicPr>
          <p:nvPr/>
        </p:nvPicPr>
        <p:blipFill>
          <a:blip r:embed="rId2"/>
          <a:stretch>
            <a:fillRect/>
          </a:stretch>
        </p:blipFill>
        <p:spPr>
          <a:xfrm>
            <a:off x="1192718" y="3514526"/>
            <a:ext cx="7271009" cy="2757025"/>
          </a:xfrm>
          <a:prstGeom prst="rect">
            <a:avLst/>
          </a:prstGeom>
        </p:spPr>
      </p:pic>
    </p:spTree>
    <p:extLst>
      <p:ext uri="{BB962C8B-B14F-4D97-AF65-F5344CB8AC3E}">
        <p14:creationId xmlns:p14="http://schemas.microsoft.com/office/powerpoint/2010/main" val="2442266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Audio Quality Versus Data Rate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So for analog devices, the bandwidth was expressed in the frequency unit, called Hertz (Hz), which is cycles per second.</a:t>
            </a:r>
          </a:p>
          <a:p>
            <a:pPr algn="just"/>
            <a:r>
              <a:rPr lang="en-US" dirty="0"/>
              <a:t>In contrast, in Computer Networking, the term bandwidth refers to the data rate (bps) that the network or transmission link can deliver.</a:t>
            </a:r>
          </a:p>
          <a:p>
            <a:pPr algn="just"/>
            <a:endParaRPr lang="en-US" dirty="0"/>
          </a:p>
          <a:p>
            <a:pPr algn="just"/>
            <a:r>
              <a:rPr lang="en-US" dirty="0"/>
              <a:t>The standard sampling frequencies used in audio are 5.0125 kHz, 11.025 kHz, 22.05 kHz, and 44.1 kHz, with some exceptions, and these frequencies are supported by most sound cards.</a:t>
            </a:r>
          </a:p>
        </p:txBody>
      </p:sp>
    </p:spTree>
    <p:extLst>
      <p:ext uri="{BB962C8B-B14F-4D97-AF65-F5344CB8AC3E}">
        <p14:creationId xmlns:p14="http://schemas.microsoft.com/office/powerpoint/2010/main" val="455506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Synthetic Sounds</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r>
              <a:rPr lang="en-US" dirty="0"/>
              <a:t>Digitized sound must still be converted to analog, for us to hear it. There are two fundamentally different approaches to handling stored sampled audio. The first is termed FM, for </a:t>
            </a:r>
            <a:r>
              <a:rPr lang="en-US" dirty="0">
                <a:solidFill>
                  <a:srgbClr val="00B050"/>
                </a:solidFill>
              </a:rPr>
              <a:t>frequency modulation</a:t>
            </a:r>
            <a:r>
              <a:rPr lang="en-US" dirty="0"/>
              <a:t>. The second is called </a:t>
            </a:r>
            <a:r>
              <a:rPr lang="en-US" dirty="0">
                <a:solidFill>
                  <a:srgbClr val="00B050"/>
                </a:solidFill>
              </a:rPr>
              <a:t>Wave Table</a:t>
            </a:r>
            <a:r>
              <a:rPr lang="en-US" dirty="0"/>
              <a:t>, or just Wave, sound.</a:t>
            </a:r>
          </a:p>
          <a:p>
            <a:endParaRPr lang="en-US" dirty="0"/>
          </a:p>
          <a:p>
            <a:r>
              <a:rPr lang="en-US" dirty="0"/>
              <a:t>FM is short for frequency modulation, </a:t>
            </a:r>
            <a:r>
              <a:rPr lang="en-US" dirty="0">
                <a:solidFill>
                  <a:srgbClr val="00B050"/>
                </a:solidFill>
              </a:rPr>
              <a:t>which refers to the means of encoding the audio signal on the carrier frequency</a:t>
            </a:r>
            <a:r>
              <a:rPr lang="en-US" dirty="0"/>
              <a:t>. FM full power, low power, translator and booster stations operate in the 88 – 108 MHz band. There are many classes of radio stations.</a:t>
            </a:r>
          </a:p>
        </p:txBody>
      </p:sp>
    </p:spTree>
    <p:extLst>
      <p:ext uri="{BB962C8B-B14F-4D97-AF65-F5344CB8AC3E}">
        <p14:creationId xmlns:p14="http://schemas.microsoft.com/office/powerpoint/2010/main" val="149587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Synthetic Sounds</a:t>
            </a:r>
          </a:p>
        </p:txBody>
      </p:sp>
      <p:pic>
        <p:nvPicPr>
          <p:cNvPr id="5" name="Content Placeholder 4">
            <a:extLst>
              <a:ext uri="{FF2B5EF4-FFF2-40B4-BE49-F238E27FC236}">
                <a16:creationId xmlns:a16="http://schemas.microsoft.com/office/drawing/2014/main" id="{6F814D2E-F015-BF55-53AD-DC8BFC952799}"/>
              </a:ext>
            </a:extLst>
          </p:cNvPr>
          <p:cNvPicPr>
            <a:picLocks noGrp="1" noChangeAspect="1"/>
          </p:cNvPicPr>
          <p:nvPr>
            <p:ph idx="1"/>
          </p:nvPr>
        </p:nvPicPr>
        <p:blipFill>
          <a:blip r:embed="rId2"/>
          <a:stretch>
            <a:fillRect/>
          </a:stretch>
        </p:blipFill>
        <p:spPr>
          <a:xfrm>
            <a:off x="677334" y="1270000"/>
            <a:ext cx="8132096" cy="5336166"/>
          </a:xfrm>
        </p:spPr>
      </p:pic>
    </p:spTree>
    <p:extLst>
      <p:ext uri="{BB962C8B-B14F-4D97-AF65-F5344CB8AC3E}">
        <p14:creationId xmlns:p14="http://schemas.microsoft.com/office/powerpoint/2010/main" val="2584211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MIDI, which dates from the early 1980s, is an acronym that stands for Musical Instrument Digital Interface. It forms a protocol adopted by the electronic music industry that enables computers, synthesizers, keyboards, and other musical devices to communicate with each other. </a:t>
            </a:r>
          </a:p>
          <a:p>
            <a:pPr algn="just"/>
            <a:r>
              <a:rPr lang="en-US" dirty="0"/>
              <a:t>The MIDI standard is supported by most synthesizers, so sounds created on one can be played and manipulated on another and sound reasonably close. Computers must have a special MIDI interface, but this is incorporated into most sound cards. The sound card must also have both DA and AD converters. </a:t>
            </a:r>
          </a:p>
        </p:txBody>
      </p:sp>
    </p:spTree>
    <p:extLst>
      <p:ext uri="{BB962C8B-B14F-4D97-AF65-F5344CB8AC3E}">
        <p14:creationId xmlns:p14="http://schemas.microsoft.com/office/powerpoint/2010/main" val="276155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MIDI is a scripting language—</a:t>
            </a:r>
            <a:r>
              <a:rPr lang="en-US" dirty="0">
                <a:solidFill>
                  <a:srgbClr val="00B050"/>
                </a:solidFill>
              </a:rPr>
              <a:t>it codes “events” that stand for the production of certain sounds. Therefore, MIDI files are generally very small</a:t>
            </a:r>
            <a:r>
              <a:rPr lang="en-US" dirty="0"/>
              <a:t>. For example, a MIDI event might include values for the pitch of a single note, its volume, and what instrument sound to play.</a:t>
            </a:r>
          </a:p>
          <a:p>
            <a:pPr algn="just"/>
            <a:endParaRPr lang="en-US" dirty="0"/>
          </a:p>
          <a:p>
            <a:pPr algn="just"/>
            <a:r>
              <a:rPr lang="en-US" dirty="0"/>
              <a:t>Role of MIDI: </a:t>
            </a:r>
            <a:r>
              <a:rPr lang="en-US" dirty="0">
                <a:solidFill>
                  <a:srgbClr val="00B050"/>
                </a:solidFill>
              </a:rPr>
              <a:t>MIDI makes music notes </a:t>
            </a:r>
            <a:r>
              <a:rPr lang="en-US" dirty="0"/>
              <a:t>, </a:t>
            </a:r>
            <a:r>
              <a:rPr lang="en-US" dirty="0">
                <a:solidFill>
                  <a:srgbClr val="00B050"/>
                </a:solidFill>
              </a:rPr>
              <a:t>so is useful for inventing, editing, and exchanging musical ideas that can be encapsulated as notes.</a:t>
            </a:r>
            <a:r>
              <a:rPr lang="en-US" dirty="0"/>
              <a:t>, MIDI is aimed at music, which can then be altered as the “user” wishes. Since MIDI is intimately related to music composition programs, MIDI is a very useful vehicle for music education.</a:t>
            </a:r>
          </a:p>
        </p:txBody>
      </p:sp>
      <p:pic>
        <p:nvPicPr>
          <p:cNvPr id="5" name="Picture 4">
            <a:extLst>
              <a:ext uri="{FF2B5EF4-FFF2-40B4-BE49-F238E27FC236}">
                <a16:creationId xmlns:a16="http://schemas.microsoft.com/office/drawing/2014/main" id="{83C652AA-814B-1928-8AD7-A48147C176A0}"/>
              </a:ext>
            </a:extLst>
          </p:cNvPr>
          <p:cNvPicPr>
            <a:picLocks noChangeAspect="1"/>
          </p:cNvPicPr>
          <p:nvPr/>
        </p:nvPicPr>
        <p:blipFill>
          <a:blip r:embed="rId2"/>
          <a:stretch>
            <a:fillRect/>
          </a:stretch>
        </p:blipFill>
        <p:spPr>
          <a:xfrm>
            <a:off x="8584632" y="5707280"/>
            <a:ext cx="3101609" cy="1150720"/>
          </a:xfrm>
          <a:prstGeom prst="rect">
            <a:avLst/>
          </a:prstGeom>
        </p:spPr>
      </p:pic>
    </p:spTree>
    <p:extLst>
      <p:ext uri="{BB962C8B-B14F-4D97-AF65-F5344CB8AC3E}">
        <p14:creationId xmlns:p14="http://schemas.microsoft.com/office/powerpoint/2010/main" val="4176689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fontScale="92500"/>
          </a:bodyPr>
          <a:lstStyle/>
          <a:p>
            <a:pPr algn="just"/>
            <a:r>
              <a:rPr lang="en-US" dirty="0"/>
              <a:t>MIDI-based musical communication is the availability of a single MIDI instrument to control other MIDI instruments, allowing a master slave relationship: the other MIDI instruments must play the same music, in part, as the master instrument, thus allowing interesting music. For example, suppose a keyboard mimics a traditional instrument well, but generates poor actual sound with a </a:t>
            </a:r>
            <a:r>
              <a:rPr lang="en-US" dirty="0" err="1"/>
              <a:t>builtin</a:t>
            </a:r>
            <a:r>
              <a:rPr lang="en-US" dirty="0"/>
              <a:t> synthesizer. Then “daisy-chaining” to a different synthesizer, one that generates excellent sound, may make an overall good combination. </a:t>
            </a:r>
            <a:r>
              <a:rPr lang="en-US" dirty="0">
                <a:solidFill>
                  <a:srgbClr val="00B050"/>
                </a:solidFill>
              </a:rPr>
              <a:t>Since MIDI comes with a built-in timecode, the master’s clock can be used to synchronize all the slave timecodes, making for more exact synchronization. </a:t>
            </a:r>
          </a:p>
          <a:p>
            <a:pPr algn="just"/>
            <a:r>
              <a:rPr lang="en-US" dirty="0"/>
              <a:t>A so-called “sequencer-sampler” can be used to reorder and manipulate sets of digital-audio samples and/or sequences of MIDI. In a Digital Audio Workstation, running </a:t>
            </a:r>
            <a:r>
              <a:rPr lang="en-US" dirty="0" err="1"/>
              <a:t>ProTools</a:t>
            </a:r>
            <a:r>
              <a:rPr lang="en-US" dirty="0"/>
              <a:t> for example, multitrack recording is possible, either sequentially or concurrently. </a:t>
            </a:r>
            <a:r>
              <a:rPr lang="en-US" dirty="0">
                <a:solidFill>
                  <a:srgbClr val="00B050"/>
                </a:solidFill>
              </a:rPr>
              <a:t>For example, one could simultaneously record 8 vocal tracks and 8 instrument tracks.</a:t>
            </a:r>
          </a:p>
        </p:txBody>
      </p:sp>
    </p:spTree>
    <p:extLst>
      <p:ext uri="{BB962C8B-B14F-4D97-AF65-F5344CB8AC3E}">
        <p14:creationId xmlns:p14="http://schemas.microsoft.com/office/powerpoint/2010/main" val="2621199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r>
              <a:rPr lang="en-US" dirty="0"/>
              <a:t>MIDI Concepts</a:t>
            </a:r>
          </a:p>
          <a:p>
            <a:pPr algn="just"/>
            <a:r>
              <a:rPr lang="en-US" dirty="0">
                <a:solidFill>
                  <a:srgbClr val="00B050"/>
                </a:solidFill>
              </a:rPr>
              <a:t>Music is organized into tracks in a sequencer. Each track can be turned on or off on recording or playing back. Usually, a particular instrument is associated with a MIDI channel</a:t>
            </a:r>
            <a:r>
              <a:rPr lang="en-US" dirty="0"/>
              <a:t>. MIDI channels are used to separate messages. There are </a:t>
            </a:r>
            <a:r>
              <a:rPr lang="en-US" dirty="0">
                <a:solidFill>
                  <a:srgbClr val="00B050"/>
                </a:solidFill>
              </a:rPr>
              <a:t>16 channels</a:t>
            </a:r>
            <a:r>
              <a:rPr lang="en-US" dirty="0"/>
              <a:t>, numbered </a:t>
            </a:r>
            <a:r>
              <a:rPr lang="en-US" dirty="0">
                <a:solidFill>
                  <a:srgbClr val="00B050"/>
                </a:solidFill>
              </a:rPr>
              <a:t>from 0 to 15</a:t>
            </a:r>
            <a:r>
              <a:rPr lang="en-US" dirty="0"/>
              <a:t>. The channel forms the last four bits (the least significant bits) of that do refer to the channel. </a:t>
            </a:r>
            <a:r>
              <a:rPr lang="en-US" dirty="0">
                <a:solidFill>
                  <a:srgbClr val="00B050"/>
                </a:solidFill>
              </a:rPr>
              <a:t>The idea is that each channel is associated with a particular instrument—for example, channel 1 is the piano, channel 10 is the drums.</a:t>
            </a:r>
            <a:r>
              <a:rPr lang="en-US" dirty="0"/>
              <a:t> Nevertheless, you can switch instruments midstream, if desired, and associate another instrument with any channel.</a:t>
            </a:r>
          </a:p>
        </p:txBody>
      </p:sp>
      <p:pic>
        <p:nvPicPr>
          <p:cNvPr id="5" name="Picture 4">
            <a:extLst>
              <a:ext uri="{FF2B5EF4-FFF2-40B4-BE49-F238E27FC236}">
                <a16:creationId xmlns:a16="http://schemas.microsoft.com/office/drawing/2014/main" id="{6F97201E-5B2D-CDB0-B90B-6BB9A954EC1D}"/>
              </a:ext>
            </a:extLst>
          </p:cNvPr>
          <p:cNvPicPr>
            <a:picLocks noChangeAspect="1"/>
          </p:cNvPicPr>
          <p:nvPr/>
        </p:nvPicPr>
        <p:blipFill>
          <a:blip r:embed="rId2"/>
          <a:stretch>
            <a:fillRect/>
          </a:stretch>
        </p:blipFill>
        <p:spPr>
          <a:xfrm>
            <a:off x="8878046" y="4702780"/>
            <a:ext cx="3313954" cy="2022672"/>
          </a:xfrm>
          <a:prstGeom prst="rect">
            <a:avLst/>
          </a:prstGeom>
        </p:spPr>
      </p:pic>
    </p:spTree>
    <p:extLst>
      <p:ext uri="{BB962C8B-B14F-4D97-AF65-F5344CB8AC3E}">
        <p14:creationId xmlns:p14="http://schemas.microsoft.com/office/powerpoint/2010/main" val="2224074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Along with channel messages (which include a channel number), several other types of messages are sent, such as a general message for all instruments indicating a change in tuning or timing; these are called system messages</a:t>
            </a:r>
            <a:r>
              <a:rPr lang="en-US" dirty="0"/>
              <a:t>. </a:t>
            </a:r>
          </a:p>
          <a:p>
            <a:pPr algn="just"/>
            <a:r>
              <a:rPr lang="en-US" dirty="0">
                <a:solidFill>
                  <a:srgbClr val="FFC000"/>
                </a:solidFill>
              </a:rPr>
              <a:t>The way a synthetic musical instrument responds to a MIDI message is usually by simply ignoring any “play sound” message that is not for its channel</a:t>
            </a:r>
            <a:r>
              <a:rPr lang="en-US" dirty="0"/>
              <a:t>. If several messages are for its channel, say several simultaneous notes being played on a piano, then the instrument responds, provided it is multi-voice—that is, can play more than a single note at once</a:t>
            </a:r>
          </a:p>
        </p:txBody>
      </p:sp>
    </p:spTree>
    <p:extLst>
      <p:ext uri="{BB962C8B-B14F-4D97-AF65-F5344CB8AC3E}">
        <p14:creationId xmlns:p14="http://schemas.microsoft.com/office/powerpoint/2010/main" val="1520271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a:bodyPr>
          <a:lstStyle/>
          <a:p>
            <a:r>
              <a:rPr lang="en-US" dirty="0"/>
              <a:t>MIDI Terminology</a:t>
            </a:r>
          </a:p>
          <a:p>
            <a:r>
              <a:rPr lang="en-US" dirty="0">
                <a:solidFill>
                  <a:srgbClr val="00B050"/>
                </a:solidFill>
              </a:rPr>
              <a:t>A synthesizer was, and still can be, a stand-alone sound generator that can vary pitch, loudness, and tone color</a:t>
            </a:r>
            <a:r>
              <a:rPr lang="en-US" dirty="0"/>
              <a:t>. A good (musician’s) synthesizer often has a microprocessor, keyboard, control panels, memory, and so on. However, inexpensive synthesizers are also included on PC sound cards. </a:t>
            </a:r>
            <a:r>
              <a:rPr lang="en-US" dirty="0">
                <a:solidFill>
                  <a:srgbClr val="00B050"/>
                </a:solidFill>
              </a:rPr>
              <a:t>Units that generate sound are referred to as tone modules or sound modules.</a:t>
            </a:r>
          </a:p>
          <a:p>
            <a:r>
              <a:rPr lang="en-US" dirty="0"/>
              <a:t>A sequencer started off as a special hardware device for storing and editing a sequence of musical events, in the form of MIDI data. </a:t>
            </a:r>
            <a:r>
              <a:rPr lang="en-US" dirty="0">
                <a:solidFill>
                  <a:srgbClr val="00B050"/>
                </a:solidFill>
              </a:rPr>
              <a:t>Now it is more often a software music editor on the computer.</a:t>
            </a:r>
          </a:p>
        </p:txBody>
      </p:sp>
    </p:spTree>
    <p:extLst>
      <p:ext uri="{BB962C8B-B14F-4D97-AF65-F5344CB8AC3E}">
        <p14:creationId xmlns:p14="http://schemas.microsoft.com/office/powerpoint/2010/main" val="2576519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A MIDI keyboard produces no sound, instead generating sequences of MIDI instructions, called MIDI messages(but can also include a synthesizer for generating sound). </a:t>
            </a:r>
            <a:r>
              <a:rPr lang="en-US" dirty="0">
                <a:solidFill>
                  <a:srgbClr val="00B050"/>
                </a:solidFill>
              </a:rPr>
              <a:t>MIDI messages are rather like assembler code and usually consist of just a few bytes. Stored as a sequence of MIDI messages, you might have 3 minutes of music, say, stored in only 3 kB. In comparison, a wave table file (WAV) stores 1 minute of music in about 10 MB</a:t>
            </a:r>
            <a:r>
              <a:rPr lang="en-US" dirty="0"/>
              <a:t>. </a:t>
            </a:r>
          </a:p>
          <a:p>
            <a:pPr algn="just"/>
            <a:r>
              <a:rPr lang="en-US" dirty="0"/>
              <a:t>we are trying to emulate—for example, a piano as opposed to a violin. It is the quality of the sound. </a:t>
            </a:r>
            <a:r>
              <a:rPr lang="en-US" dirty="0">
                <a:solidFill>
                  <a:srgbClr val="00B050"/>
                </a:solidFill>
              </a:rPr>
              <a:t>An instrument (or sound card) that is multi-timbral is capable of playing many different sounds at the same time, (e.g., piano, brass, drums)</a:t>
            </a:r>
          </a:p>
        </p:txBody>
      </p:sp>
      <p:pic>
        <p:nvPicPr>
          <p:cNvPr id="5" name="Picture 4">
            <a:extLst>
              <a:ext uri="{FF2B5EF4-FFF2-40B4-BE49-F238E27FC236}">
                <a16:creationId xmlns:a16="http://schemas.microsoft.com/office/drawing/2014/main" id="{5F61D981-CD24-D728-6E42-E4FF1922D8E7}"/>
              </a:ext>
            </a:extLst>
          </p:cNvPr>
          <p:cNvPicPr>
            <a:picLocks noChangeAspect="1"/>
          </p:cNvPicPr>
          <p:nvPr/>
        </p:nvPicPr>
        <p:blipFill>
          <a:blip r:embed="rId2"/>
          <a:stretch>
            <a:fillRect/>
          </a:stretch>
        </p:blipFill>
        <p:spPr>
          <a:xfrm>
            <a:off x="8772740" y="5193492"/>
            <a:ext cx="3419260" cy="1664508"/>
          </a:xfrm>
          <a:prstGeom prst="rect">
            <a:avLst/>
          </a:prstGeom>
        </p:spPr>
      </p:pic>
    </p:spTree>
    <p:extLst>
      <p:ext uri="{BB962C8B-B14F-4D97-AF65-F5344CB8AC3E}">
        <p14:creationId xmlns:p14="http://schemas.microsoft.com/office/powerpoint/2010/main" val="2149780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the term “voice”, while sometimes used by musicians to mean the same thing as timbre, </a:t>
            </a:r>
            <a:r>
              <a:rPr lang="en-US" dirty="0"/>
              <a:t>is used in MIDI to mean every different timbre and pitch that the tone module can produce at the same time. Synthesizers can have many (typically 16, 32, 64, 256, etc.) voices. Each voice works independently and simultaneously to produce sounds of different timbre and pitch.</a:t>
            </a:r>
          </a:p>
        </p:txBody>
      </p:sp>
      <p:pic>
        <p:nvPicPr>
          <p:cNvPr id="5" name="Picture 4">
            <a:extLst>
              <a:ext uri="{FF2B5EF4-FFF2-40B4-BE49-F238E27FC236}">
                <a16:creationId xmlns:a16="http://schemas.microsoft.com/office/drawing/2014/main" id="{31814FE2-C02F-DC2E-ECD7-25CB9BE7089D}"/>
              </a:ext>
            </a:extLst>
          </p:cNvPr>
          <p:cNvPicPr>
            <a:picLocks noChangeAspect="1"/>
          </p:cNvPicPr>
          <p:nvPr/>
        </p:nvPicPr>
        <p:blipFill>
          <a:blip r:embed="rId2"/>
          <a:stretch>
            <a:fillRect/>
          </a:stretch>
        </p:blipFill>
        <p:spPr>
          <a:xfrm>
            <a:off x="1244344" y="4217572"/>
            <a:ext cx="6528055" cy="2559148"/>
          </a:xfrm>
          <a:prstGeom prst="rect">
            <a:avLst/>
          </a:prstGeom>
        </p:spPr>
      </p:pic>
    </p:spTree>
    <p:extLst>
      <p:ext uri="{BB962C8B-B14F-4D97-AF65-F5344CB8AC3E}">
        <p14:creationId xmlns:p14="http://schemas.microsoft.com/office/powerpoint/2010/main" val="1730331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r>
              <a:rPr lang="en-US" dirty="0"/>
              <a:t>The term polyphony refers to the number of voices that can be produced at the same time. So a typical tone module may be able to produce “64 voices of polyphony” (64 different notes at once) and be “</a:t>
            </a:r>
            <a:r>
              <a:rPr lang="en-US" dirty="0">
                <a:solidFill>
                  <a:srgbClr val="00B050"/>
                </a:solidFill>
              </a:rPr>
              <a:t>16-part multi-timbral” (can produce sounds like 16 different instruments at once).</a:t>
            </a:r>
          </a:p>
        </p:txBody>
      </p:sp>
    </p:spTree>
    <p:extLst>
      <p:ext uri="{BB962C8B-B14F-4D97-AF65-F5344CB8AC3E}">
        <p14:creationId xmlns:p14="http://schemas.microsoft.com/office/powerpoint/2010/main" val="1853767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r>
              <a:rPr lang="en-US" dirty="0"/>
              <a:t>MIDI Specifics </a:t>
            </a:r>
          </a:p>
          <a:p>
            <a:pPr algn="just"/>
            <a:r>
              <a:rPr lang="en-US" dirty="0">
                <a:solidFill>
                  <a:srgbClr val="00B050"/>
                </a:solidFill>
              </a:rPr>
              <a:t>How different timbres are produced digitally is by using a patch, which is the set of control settings that define a particular timbre. Patches are often organized into databases, called banks. For true aficionados, software patch editors are available. </a:t>
            </a:r>
          </a:p>
          <a:p>
            <a:pPr algn="just"/>
            <a:r>
              <a:rPr lang="en-US" dirty="0"/>
              <a:t>A standard mapping specifying just what instruments (patches) will be associated with what channels has been agreed on and is called General MIDI. In General MIDI, there are 128 patches associated with standard instruments, and channel 10 is reserved for percussion instruments</a:t>
            </a:r>
          </a:p>
        </p:txBody>
      </p:sp>
    </p:spTree>
    <p:extLst>
      <p:ext uri="{BB962C8B-B14F-4D97-AF65-F5344CB8AC3E}">
        <p14:creationId xmlns:p14="http://schemas.microsoft.com/office/powerpoint/2010/main" val="3245715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The data in a MIDI status byte is between 128 and 255; each of the data bytes is between 0 and 127. </a:t>
            </a:r>
            <a:r>
              <a:rPr lang="en-US" dirty="0">
                <a:solidFill>
                  <a:srgbClr val="00B050"/>
                </a:solidFill>
              </a:rPr>
              <a:t>Actual MIDI bytes are 8 bit, plus a 0 start and stop bit, making them 10-bit “bytes</a:t>
            </a:r>
            <a:r>
              <a:rPr lang="en-US" dirty="0"/>
              <a:t>”. Figure 6.9 shows the MIDI data stream.</a:t>
            </a:r>
          </a:p>
          <a:p>
            <a:pPr algn="just"/>
            <a:r>
              <a:rPr lang="en-US" dirty="0">
                <a:solidFill>
                  <a:srgbClr val="00B050"/>
                </a:solidFill>
              </a:rPr>
              <a:t>A MIDI device often is capable of programmability, which means it has filters available for changing the bass and treble response and can also change the “envelope” describing how the amplitude of a sound changes over time</a:t>
            </a:r>
            <a:r>
              <a:rPr lang="en-US" dirty="0"/>
              <a:t>. Figure 6.10 shows a model of a digital instrument’s response to Note On/Note Off messages. </a:t>
            </a:r>
          </a:p>
        </p:txBody>
      </p:sp>
    </p:spTree>
    <p:extLst>
      <p:ext uri="{BB962C8B-B14F-4D97-AF65-F5344CB8AC3E}">
        <p14:creationId xmlns:p14="http://schemas.microsoft.com/office/powerpoint/2010/main" val="2331401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pic>
        <p:nvPicPr>
          <p:cNvPr id="5" name="Content Placeholder 4">
            <a:extLst>
              <a:ext uri="{FF2B5EF4-FFF2-40B4-BE49-F238E27FC236}">
                <a16:creationId xmlns:a16="http://schemas.microsoft.com/office/drawing/2014/main" id="{5CB8CFA6-98E2-FBE9-FF94-9160575C8F7F}"/>
              </a:ext>
            </a:extLst>
          </p:cNvPr>
          <p:cNvPicPr>
            <a:picLocks noGrp="1" noChangeAspect="1"/>
          </p:cNvPicPr>
          <p:nvPr>
            <p:ph idx="1"/>
          </p:nvPr>
        </p:nvPicPr>
        <p:blipFill>
          <a:blip r:embed="rId2"/>
          <a:stretch>
            <a:fillRect/>
          </a:stretch>
        </p:blipFill>
        <p:spPr>
          <a:xfrm>
            <a:off x="515509" y="2260373"/>
            <a:ext cx="8686458" cy="3683228"/>
          </a:xfrm>
        </p:spPr>
      </p:pic>
    </p:spTree>
    <p:extLst>
      <p:ext uri="{BB962C8B-B14F-4D97-AF65-F5344CB8AC3E}">
        <p14:creationId xmlns:p14="http://schemas.microsoft.com/office/powerpoint/2010/main" val="878343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MIDI sequencers (editors) allow you to work with standard music notation or get right into the data, if desired. MIDI files can also store wave table data. The advantage of wave-table data (WAV files) is that it much more precisely stores the exact sound of an instrument</a:t>
            </a:r>
            <a:r>
              <a:rPr lang="en-US" dirty="0"/>
              <a:t>. A sampler is used to sample the audio data—for example, a “drum machine” always stores wave table data of real drums. So one could have a music editor using MIDI on one track plus digital audio such as vocals, say, on another track</a:t>
            </a:r>
          </a:p>
        </p:txBody>
      </p:sp>
    </p:spTree>
    <p:extLst>
      <p:ext uri="{BB962C8B-B14F-4D97-AF65-F5344CB8AC3E}">
        <p14:creationId xmlns:p14="http://schemas.microsoft.com/office/powerpoint/2010/main" val="3576899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MIDI provides a full messaging protocol that can be used for whatever one likes, for example for controlling lights in a theater</a:t>
            </a:r>
            <a:r>
              <a:rPr lang="en-US" dirty="0"/>
              <a:t>. There is a MIDI message for sending any kind and any number of bytes, which can then be used as the programmer desire</a:t>
            </a:r>
          </a:p>
          <a:p>
            <a:pPr algn="just"/>
            <a:endParaRPr lang="en-US" dirty="0"/>
          </a:p>
          <a:p>
            <a:pPr algn="just"/>
            <a:r>
              <a:rPr lang="en-US" dirty="0">
                <a:solidFill>
                  <a:srgbClr val="00B050"/>
                </a:solidFill>
              </a:rPr>
              <a:t>Sequencers employ several techniques for producing more music from what is actually available. </a:t>
            </a:r>
            <a:r>
              <a:rPr lang="en-US" dirty="0"/>
              <a:t>For example, looping over (repeating) a few bars can be more or less convincing. Volume can be easily controlled over time—this is called time varying amplitude modulation. More interestingly, sequencers can also accomplish time compression or expansion with no pitch change.</a:t>
            </a:r>
          </a:p>
          <a:p>
            <a:pPr algn="just"/>
            <a:endParaRPr lang="en-US" dirty="0"/>
          </a:p>
        </p:txBody>
      </p:sp>
    </p:spTree>
    <p:extLst>
      <p:ext uri="{BB962C8B-B14F-4D97-AF65-F5344CB8AC3E}">
        <p14:creationId xmlns:p14="http://schemas.microsoft.com/office/powerpoint/2010/main" val="2668062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a:bodyPr>
          <a:lstStyle/>
          <a:p>
            <a:pPr algn="just"/>
            <a:endParaRPr lang="en-US" sz="1600" dirty="0"/>
          </a:p>
          <a:p>
            <a:pPr algn="just"/>
            <a:r>
              <a:rPr lang="en-US" dirty="0"/>
              <a:t> While it is possible to change the pitch of a sampled instrument, if the key change is large, the resulting sound begins to sound displeasing. For this reason, samplers employ multisampling. A sound is recorded using several bandpass filters, and the resulting recordings are assigned to different keyboard keys. This makes frequency shifting for a change of key more reliable, since less shift is involved for each note</a:t>
            </a:r>
          </a:p>
        </p:txBody>
      </p:sp>
    </p:spTree>
    <p:extLst>
      <p:ext uri="{BB962C8B-B14F-4D97-AF65-F5344CB8AC3E}">
        <p14:creationId xmlns:p14="http://schemas.microsoft.com/office/powerpoint/2010/main" val="821154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normAutofit/>
          </a:bodyPr>
          <a:lstStyle/>
          <a:p>
            <a:r>
              <a:rPr lang="en-US" sz="3200" dirty="0"/>
              <a:t>MIDI: Musical Instrument Digital Interface</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MIDI Machine Control (MMC) is a subset of the MIDI specification that can be used for controlling recording equipment, e.g. multitrack recorders. The most common use of this facility is to effectively press “Play” on a remote device. An example usage would be if a MIDI device has a poor timer, then the master could activate it at just the right time. In general, MIDI can be used for controlling and synchronizing musical instrument synthesizers and recording equipment, and even control lighting</a:t>
            </a:r>
          </a:p>
        </p:txBody>
      </p:sp>
      <p:pic>
        <p:nvPicPr>
          <p:cNvPr id="5" name="Picture 4">
            <a:extLst>
              <a:ext uri="{FF2B5EF4-FFF2-40B4-BE49-F238E27FC236}">
                <a16:creationId xmlns:a16="http://schemas.microsoft.com/office/drawing/2014/main" id="{2FAAD399-A67A-0623-2460-3F5D29D8F6BA}"/>
              </a:ext>
            </a:extLst>
          </p:cNvPr>
          <p:cNvPicPr>
            <a:picLocks noChangeAspect="1"/>
          </p:cNvPicPr>
          <p:nvPr/>
        </p:nvPicPr>
        <p:blipFill>
          <a:blip r:embed="rId2"/>
          <a:stretch>
            <a:fillRect/>
          </a:stretch>
        </p:blipFill>
        <p:spPr>
          <a:xfrm>
            <a:off x="1187214" y="4245510"/>
            <a:ext cx="5448772" cy="2309060"/>
          </a:xfrm>
          <a:prstGeom prst="rect">
            <a:avLst/>
          </a:prstGeom>
        </p:spPr>
      </p:pic>
    </p:spTree>
    <p:extLst>
      <p:ext uri="{BB962C8B-B14F-4D97-AF65-F5344CB8AC3E}">
        <p14:creationId xmlns:p14="http://schemas.microsoft.com/office/powerpoint/2010/main" val="3267246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Hardware Aspects of MIDI</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a:bodyPr>
          <a:lstStyle/>
          <a:p>
            <a:pPr algn="just"/>
            <a:r>
              <a:rPr lang="en-US" dirty="0">
                <a:solidFill>
                  <a:srgbClr val="00B050"/>
                </a:solidFill>
              </a:rPr>
              <a:t>The MIDI hardware setup consists of a 31.25 kbps serial connection, with the 10-bit bytes including a 0 start and stop bit.</a:t>
            </a:r>
            <a:r>
              <a:rPr lang="en-US" dirty="0"/>
              <a:t> </a:t>
            </a:r>
            <a:r>
              <a:rPr lang="en-US" dirty="0">
                <a:solidFill>
                  <a:srgbClr val="0070C0"/>
                </a:solidFill>
              </a:rPr>
              <a:t>Usually, MIDI-capable units are either input devices or output devices, not both. </a:t>
            </a:r>
          </a:p>
          <a:p>
            <a:pPr algn="just"/>
            <a:r>
              <a:rPr lang="en-US" dirty="0"/>
              <a:t>Figure 6.11 shows a traditional synthesizer. The modulation wheel adds vibrato. Pitch bend alters the frequency, much like pulling a guitar string over slightly. </a:t>
            </a:r>
          </a:p>
          <a:p>
            <a:pPr algn="just"/>
            <a:r>
              <a:rPr lang="en-US" dirty="0"/>
              <a:t>The physical MIDI ports consist of 5-pin connectors labeled IN and OUT and there can also be a third connector, THRU. This last data channel simply copies data entering the IN channel. MIDI communication is half-duplex. MIDI IN is the connector via which the device receives all MIDI data. MIDI OUT is the connector through which the device transmits all the MIDI data it generates itself.</a:t>
            </a:r>
          </a:p>
        </p:txBody>
      </p:sp>
    </p:spTree>
    <p:extLst>
      <p:ext uri="{BB962C8B-B14F-4D97-AF65-F5344CB8AC3E}">
        <p14:creationId xmlns:p14="http://schemas.microsoft.com/office/powerpoint/2010/main" val="3820257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Hardware Aspects of MIDI</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solidFill>
                  <a:srgbClr val="00B050"/>
                </a:solidFill>
              </a:rPr>
              <a:t>Figure 6.12 shows a typical MIDI sequencer setup. </a:t>
            </a:r>
            <a:r>
              <a:rPr lang="en-US" dirty="0"/>
              <a:t>Here, the MIDI OUT of the keyboard is connected to the MIDI IN of a synthesizer and then THRU to each of the additional sound modules. During recording, a keyboard-equipped synthesizer sends MIDI messages to a sequencer, which records them. During playback, messages are sent from the sequencer to all the sound modules and the synthesizer, which play the music. </a:t>
            </a:r>
          </a:p>
        </p:txBody>
      </p:sp>
    </p:spTree>
    <p:extLst>
      <p:ext uri="{BB962C8B-B14F-4D97-AF65-F5344CB8AC3E}">
        <p14:creationId xmlns:p14="http://schemas.microsoft.com/office/powerpoint/2010/main" val="3666556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Hardware Aspects of MIDI</a:t>
            </a:r>
          </a:p>
        </p:txBody>
      </p:sp>
      <p:pic>
        <p:nvPicPr>
          <p:cNvPr id="5" name="Content Placeholder 4">
            <a:extLst>
              <a:ext uri="{FF2B5EF4-FFF2-40B4-BE49-F238E27FC236}">
                <a16:creationId xmlns:a16="http://schemas.microsoft.com/office/drawing/2014/main" id="{EC0662F0-B56E-52F4-49B6-CF01D5510C2F}"/>
              </a:ext>
            </a:extLst>
          </p:cNvPr>
          <p:cNvPicPr>
            <a:picLocks noGrp="1" noChangeAspect="1"/>
          </p:cNvPicPr>
          <p:nvPr>
            <p:ph idx="1"/>
          </p:nvPr>
        </p:nvPicPr>
        <p:blipFill>
          <a:blip r:embed="rId2"/>
          <a:stretch>
            <a:fillRect/>
          </a:stretch>
        </p:blipFill>
        <p:spPr>
          <a:xfrm>
            <a:off x="1118839" y="1649048"/>
            <a:ext cx="5593460" cy="4206366"/>
          </a:xfrm>
        </p:spPr>
      </p:pic>
    </p:spTree>
    <p:extLst>
      <p:ext uri="{BB962C8B-B14F-4D97-AF65-F5344CB8AC3E}">
        <p14:creationId xmlns:p14="http://schemas.microsoft.com/office/powerpoint/2010/main" val="582873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MIDI Message Transmission</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normAutofit/>
          </a:bodyPr>
          <a:lstStyle/>
          <a:p>
            <a:pPr algn="just"/>
            <a:r>
              <a:rPr lang="en-US" dirty="0"/>
              <a:t>The 31.25 kbps data rate is actually quite restrictive. To initiate playing a note, a 3-byte message is sent . </a:t>
            </a:r>
            <a:r>
              <a:rPr lang="en-US" dirty="0">
                <a:solidFill>
                  <a:srgbClr val="00B050"/>
                </a:solidFill>
              </a:rPr>
              <a:t>If my hands are playing chords with all ten fingers, then a single crashing chord will take ten notes at 30 bits each, requiring transmission of 300 bits. </a:t>
            </a:r>
            <a:r>
              <a:rPr lang="en-US" dirty="0"/>
              <a:t>At 31.25 kbps transmission of this chord will take about 0.01 sec, at a speed of about 0.001 seconds per note—and all this not counting the additional messages we’ll have to send to turn off these ten notes. </a:t>
            </a:r>
          </a:p>
          <a:p>
            <a:pPr algn="just"/>
            <a:r>
              <a:rPr lang="en-US" dirty="0"/>
              <a:t>using the pitch bend and modulation wheels in a synthesizer could generate many messages as well. </a:t>
            </a:r>
          </a:p>
        </p:txBody>
      </p:sp>
    </p:spTree>
    <p:extLst>
      <p:ext uri="{BB962C8B-B14F-4D97-AF65-F5344CB8AC3E}">
        <p14:creationId xmlns:p14="http://schemas.microsoft.com/office/powerpoint/2010/main" val="902112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DC95-3A7F-05C9-1DF6-DEC1123B8935}"/>
              </a:ext>
            </a:extLst>
          </p:cNvPr>
          <p:cNvSpPr>
            <a:spLocks noGrp="1"/>
          </p:cNvSpPr>
          <p:nvPr>
            <p:ph type="title"/>
          </p:nvPr>
        </p:nvSpPr>
        <p:spPr/>
        <p:txBody>
          <a:bodyPr/>
          <a:lstStyle/>
          <a:p>
            <a:r>
              <a:rPr lang="en-US" dirty="0"/>
              <a:t>Structure of MIDI Messages</a:t>
            </a:r>
          </a:p>
        </p:txBody>
      </p:sp>
      <p:sp>
        <p:nvSpPr>
          <p:cNvPr id="3" name="Content Placeholder 2">
            <a:extLst>
              <a:ext uri="{FF2B5EF4-FFF2-40B4-BE49-F238E27FC236}">
                <a16:creationId xmlns:a16="http://schemas.microsoft.com/office/drawing/2014/main" id="{348E0EA3-8D87-AF17-B104-9C3A27C3A414}"/>
              </a:ext>
            </a:extLst>
          </p:cNvPr>
          <p:cNvSpPr>
            <a:spLocks noGrp="1"/>
          </p:cNvSpPr>
          <p:nvPr>
            <p:ph idx="1"/>
          </p:nvPr>
        </p:nvSpPr>
        <p:spPr/>
        <p:txBody>
          <a:bodyPr/>
          <a:lstStyle/>
          <a:p>
            <a:pPr algn="just"/>
            <a:r>
              <a:rPr lang="en-US" dirty="0"/>
              <a:t>MIDI messages can be classified into two types</a:t>
            </a:r>
          </a:p>
          <a:p>
            <a:pPr algn="just"/>
            <a:endParaRPr lang="en-US" dirty="0"/>
          </a:p>
          <a:p>
            <a:pPr algn="just"/>
            <a:r>
              <a:rPr lang="en-US" dirty="0"/>
              <a:t>Channel Messages</a:t>
            </a:r>
            <a:r>
              <a:rPr lang="en-US" dirty="0">
                <a:solidFill>
                  <a:srgbClr val="00B050"/>
                </a:solidFill>
              </a:rPr>
              <a:t>. A channel message can have up to 3 bytes; the first is the status byte and has its most significant bit set to 1. The four low order bits identify which of the 16 possible channels this message belongs to, with the three remaining bits holding the message</a:t>
            </a:r>
            <a:r>
              <a:rPr lang="en-US" dirty="0"/>
              <a:t>. For a data byte, the most significant bit is set to zero. </a:t>
            </a:r>
          </a:p>
          <a:p>
            <a:pPr algn="just"/>
            <a:r>
              <a:rPr lang="en-US" dirty="0"/>
              <a:t>Voice Messages. This type of channel message controls a voice—that is, sends information </a:t>
            </a:r>
            <a:r>
              <a:rPr lang="en-US" dirty="0">
                <a:solidFill>
                  <a:srgbClr val="00B050"/>
                </a:solidFill>
              </a:rPr>
              <a:t>specifying which note to play or to turn off—and encodes key pressure. Voice messages are also used to specify controller effects, such as sustain, vibrato, tremolo, and the pitch wheel</a:t>
            </a:r>
            <a:r>
              <a:rPr lang="en-US" dirty="0"/>
              <a:t>. Table 6.3 lists these operations. </a:t>
            </a:r>
          </a:p>
        </p:txBody>
      </p:sp>
    </p:spTree>
    <p:extLst>
      <p:ext uri="{BB962C8B-B14F-4D97-AF65-F5344CB8AC3E}">
        <p14:creationId xmlns:p14="http://schemas.microsoft.com/office/powerpoint/2010/main" val="4136226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Structure of MIDI Messages</a:t>
            </a:r>
          </a:p>
        </p:txBody>
      </p:sp>
      <p:pic>
        <p:nvPicPr>
          <p:cNvPr id="5" name="Content Placeholder 4">
            <a:extLst>
              <a:ext uri="{FF2B5EF4-FFF2-40B4-BE49-F238E27FC236}">
                <a16:creationId xmlns:a16="http://schemas.microsoft.com/office/drawing/2014/main" id="{35D9066D-FFB0-EFD8-4C89-3A3DFC52E57D}"/>
              </a:ext>
            </a:extLst>
          </p:cNvPr>
          <p:cNvPicPr>
            <a:picLocks noGrp="1" noChangeAspect="1"/>
          </p:cNvPicPr>
          <p:nvPr>
            <p:ph idx="1"/>
          </p:nvPr>
        </p:nvPicPr>
        <p:blipFill>
          <a:blip r:embed="rId2"/>
          <a:stretch>
            <a:fillRect/>
          </a:stretch>
        </p:blipFill>
        <p:spPr>
          <a:xfrm>
            <a:off x="677334" y="1930400"/>
            <a:ext cx="7620136" cy="2561213"/>
          </a:xfrm>
        </p:spPr>
      </p:pic>
    </p:spTree>
    <p:extLst>
      <p:ext uri="{BB962C8B-B14F-4D97-AF65-F5344CB8AC3E}">
        <p14:creationId xmlns:p14="http://schemas.microsoft.com/office/powerpoint/2010/main" val="2270737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Structure of MIDI Messages</a:t>
            </a:r>
          </a:p>
        </p:txBody>
      </p:sp>
      <p:pic>
        <p:nvPicPr>
          <p:cNvPr id="5" name="Content Placeholder 4">
            <a:extLst>
              <a:ext uri="{FF2B5EF4-FFF2-40B4-BE49-F238E27FC236}">
                <a16:creationId xmlns:a16="http://schemas.microsoft.com/office/drawing/2014/main" id="{B5A75193-2DC2-FA63-3B26-88AA9AD6F67C}"/>
              </a:ext>
            </a:extLst>
          </p:cNvPr>
          <p:cNvPicPr>
            <a:picLocks noGrp="1" noChangeAspect="1"/>
          </p:cNvPicPr>
          <p:nvPr>
            <p:ph idx="1"/>
          </p:nvPr>
        </p:nvPicPr>
        <p:blipFill>
          <a:blip r:embed="rId2"/>
          <a:stretch>
            <a:fillRect/>
          </a:stretch>
        </p:blipFill>
        <p:spPr>
          <a:xfrm>
            <a:off x="526609" y="2074949"/>
            <a:ext cx="8381754" cy="3572223"/>
          </a:xfrm>
        </p:spPr>
      </p:pic>
    </p:spTree>
    <p:extLst>
      <p:ext uri="{BB962C8B-B14F-4D97-AF65-F5344CB8AC3E}">
        <p14:creationId xmlns:p14="http://schemas.microsoft.com/office/powerpoint/2010/main" val="3146258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Structure of MIDI Messages</a:t>
            </a:r>
          </a:p>
        </p:txBody>
      </p:sp>
      <p:pic>
        <p:nvPicPr>
          <p:cNvPr id="5" name="Content Placeholder 4">
            <a:extLst>
              <a:ext uri="{FF2B5EF4-FFF2-40B4-BE49-F238E27FC236}">
                <a16:creationId xmlns:a16="http://schemas.microsoft.com/office/drawing/2014/main" id="{4321DAA5-D1DC-29A5-9828-B3B4378D2BA4}"/>
              </a:ext>
            </a:extLst>
          </p:cNvPr>
          <p:cNvPicPr>
            <a:picLocks noGrp="1" noChangeAspect="1"/>
          </p:cNvPicPr>
          <p:nvPr>
            <p:ph idx="1"/>
          </p:nvPr>
        </p:nvPicPr>
        <p:blipFill>
          <a:blip r:embed="rId2"/>
          <a:stretch>
            <a:fillRect/>
          </a:stretch>
        </p:blipFill>
        <p:spPr>
          <a:xfrm>
            <a:off x="576849" y="2294228"/>
            <a:ext cx="8948375" cy="3352945"/>
          </a:xfrm>
        </p:spPr>
      </p:pic>
    </p:spTree>
    <p:extLst>
      <p:ext uri="{BB962C8B-B14F-4D97-AF65-F5344CB8AC3E}">
        <p14:creationId xmlns:p14="http://schemas.microsoft.com/office/powerpoint/2010/main" val="3510363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Structure of MIDI Messages</a:t>
            </a:r>
          </a:p>
        </p:txBody>
      </p:sp>
      <p:pic>
        <p:nvPicPr>
          <p:cNvPr id="5" name="Content Placeholder 4">
            <a:extLst>
              <a:ext uri="{FF2B5EF4-FFF2-40B4-BE49-F238E27FC236}">
                <a16:creationId xmlns:a16="http://schemas.microsoft.com/office/drawing/2014/main" id="{2266DC61-C242-35F9-A9D4-670317BBB8AE}"/>
              </a:ext>
            </a:extLst>
          </p:cNvPr>
          <p:cNvPicPr>
            <a:picLocks noGrp="1" noChangeAspect="1"/>
          </p:cNvPicPr>
          <p:nvPr>
            <p:ph idx="1"/>
          </p:nvPr>
        </p:nvPicPr>
        <p:blipFill>
          <a:blip r:embed="rId2"/>
          <a:stretch>
            <a:fillRect/>
          </a:stretch>
        </p:blipFill>
        <p:spPr>
          <a:xfrm>
            <a:off x="760763" y="2090174"/>
            <a:ext cx="8252607" cy="2079891"/>
          </a:xfrm>
        </p:spPr>
      </p:pic>
      <p:pic>
        <p:nvPicPr>
          <p:cNvPr id="7" name="Picture 6">
            <a:extLst>
              <a:ext uri="{FF2B5EF4-FFF2-40B4-BE49-F238E27FC236}">
                <a16:creationId xmlns:a16="http://schemas.microsoft.com/office/drawing/2014/main" id="{5D61C025-3015-73D0-A758-59E74428BDF0}"/>
              </a:ext>
            </a:extLst>
          </p:cNvPr>
          <p:cNvPicPr>
            <a:picLocks noChangeAspect="1"/>
          </p:cNvPicPr>
          <p:nvPr/>
        </p:nvPicPr>
        <p:blipFill>
          <a:blip r:embed="rId3"/>
          <a:stretch>
            <a:fillRect/>
          </a:stretch>
        </p:blipFill>
        <p:spPr>
          <a:xfrm>
            <a:off x="1069594" y="4404200"/>
            <a:ext cx="6073666" cy="1844200"/>
          </a:xfrm>
          <a:prstGeom prst="rect">
            <a:avLst/>
          </a:prstGeom>
        </p:spPr>
      </p:pic>
    </p:spTree>
    <p:extLst>
      <p:ext uri="{BB962C8B-B14F-4D97-AF65-F5344CB8AC3E}">
        <p14:creationId xmlns:p14="http://schemas.microsoft.com/office/powerpoint/2010/main" val="782354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General MIDI</a:t>
            </a:r>
          </a:p>
        </p:txBody>
      </p:sp>
      <p:sp>
        <p:nvSpPr>
          <p:cNvPr id="3" name="Content Placeholder 2">
            <a:extLst>
              <a:ext uri="{FF2B5EF4-FFF2-40B4-BE49-F238E27FC236}">
                <a16:creationId xmlns:a16="http://schemas.microsoft.com/office/drawing/2014/main" id="{FB5E4FCF-370A-306C-0097-F709FEDDDEE9}"/>
              </a:ext>
            </a:extLst>
          </p:cNvPr>
          <p:cNvSpPr>
            <a:spLocks noGrp="1"/>
          </p:cNvSpPr>
          <p:nvPr>
            <p:ph idx="1"/>
          </p:nvPr>
        </p:nvSpPr>
        <p:spPr/>
        <p:txBody>
          <a:bodyPr/>
          <a:lstStyle/>
          <a:p>
            <a:pPr algn="just"/>
            <a:r>
              <a:rPr lang="en-US" dirty="0"/>
              <a:t>For MIDI music to sound more or less the same on every machine, we would at least like to have the same patch numbers associated with the same instruments—for example, patch 1 should always be a piano, not a flugelhorn. A standard percussion map also specifies 47 percussion sounds. Where a “note” appears on a musical score determines just what percussion element is being struck. MIDI device must support all 16 channels; must be multi-timbral (i.e., each channel can play a different instrument/program); must be polyphonic (i.e., each channel is able to play many voices); and must have a minimum of 24 dynamically allocated voices.</a:t>
            </a:r>
          </a:p>
        </p:txBody>
      </p:sp>
    </p:spTree>
    <p:extLst>
      <p:ext uri="{BB962C8B-B14F-4D97-AF65-F5344CB8AC3E}">
        <p14:creationId xmlns:p14="http://schemas.microsoft.com/office/powerpoint/2010/main" val="2582522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925-2C72-7B66-FE02-D71AE9E66C72}"/>
              </a:ext>
            </a:extLst>
          </p:cNvPr>
          <p:cNvSpPr>
            <a:spLocks noGrp="1"/>
          </p:cNvSpPr>
          <p:nvPr>
            <p:ph type="title"/>
          </p:nvPr>
        </p:nvSpPr>
        <p:spPr/>
        <p:txBody>
          <a:bodyPr/>
          <a:lstStyle/>
          <a:p>
            <a:r>
              <a:rPr lang="en-US" dirty="0"/>
              <a:t>MIDI-to-WAV Conversion</a:t>
            </a:r>
          </a:p>
        </p:txBody>
      </p:sp>
      <p:sp>
        <p:nvSpPr>
          <p:cNvPr id="3" name="Content Placeholder 2">
            <a:extLst>
              <a:ext uri="{FF2B5EF4-FFF2-40B4-BE49-F238E27FC236}">
                <a16:creationId xmlns:a16="http://schemas.microsoft.com/office/drawing/2014/main" id="{FB5E4FCF-370A-306C-0097-F709FEDDDEE9}"/>
              </a:ext>
            </a:extLst>
          </p:cNvPr>
          <p:cNvSpPr>
            <a:spLocks noGrp="1"/>
          </p:cNvSpPr>
          <p:nvPr>
            <p:ph idx="1"/>
          </p:nvPr>
        </p:nvSpPr>
        <p:spPr/>
        <p:txBody>
          <a:bodyPr/>
          <a:lstStyle/>
          <a:p>
            <a:pPr algn="just"/>
            <a:r>
              <a:rPr lang="en-US" dirty="0"/>
              <a:t>early versions of Adobe Premiere, cannot include MIDI files—instead, they insist on WAV format files. Various shareware programs can approximate a reasonable conversion between these formats. The programs essentially consist of large lookup files that try to do a reasonable job of substituting predefined or shifted WAV output for some MIDI messages, with inconsistent success.</a:t>
            </a:r>
          </a:p>
        </p:txBody>
      </p:sp>
    </p:spTree>
    <p:extLst>
      <p:ext uri="{BB962C8B-B14F-4D97-AF65-F5344CB8AC3E}">
        <p14:creationId xmlns:p14="http://schemas.microsoft.com/office/powerpoint/2010/main" val="3630641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6001-13E9-1604-175B-616A7195B77C}"/>
              </a:ext>
            </a:extLst>
          </p:cNvPr>
          <p:cNvSpPr>
            <a:spLocks noGrp="1"/>
          </p:cNvSpPr>
          <p:nvPr>
            <p:ph type="title"/>
          </p:nvPr>
        </p:nvSpPr>
        <p:spPr/>
        <p:txBody>
          <a:bodyPr/>
          <a:lstStyle/>
          <a:p>
            <a:r>
              <a:rPr lang="en-US" dirty="0"/>
              <a:t>Coding of Audio</a:t>
            </a:r>
          </a:p>
        </p:txBody>
      </p:sp>
      <p:sp>
        <p:nvSpPr>
          <p:cNvPr id="3" name="Content Placeholder 2">
            <a:extLst>
              <a:ext uri="{FF2B5EF4-FFF2-40B4-BE49-F238E27FC236}">
                <a16:creationId xmlns:a16="http://schemas.microsoft.com/office/drawing/2014/main" id="{35D948CF-B314-7DB9-4CCD-40F6BF55832D}"/>
              </a:ext>
            </a:extLst>
          </p:cNvPr>
          <p:cNvSpPr>
            <a:spLocks noGrp="1"/>
          </p:cNvSpPr>
          <p:nvPr>
            <p:ph idx="1"/>
          </p:nvPr>
        </p:nvSpPr>
        <p:spPr/>
        <p:txBody>
          <a:bodyPr/>
          <a:lstStyle/>
          <a:p>
            <a:pPr algn="just"/>
            <a:r>
              <a:rPr lang="en-US" dirty="0">
                <a:solidFill>
                  <a:srgbClr val="00B050"/>
                </a:solidFill>
              </a:rPr>
              <a:t>Quantization and transformation of data are collectively known as coding of the data. </a:t>
            </a:r>
            <a:r>
              <a:rPr lang="en-US" dirty="0"/>
              <a:t>For audio, the µ-law technique for </a:t>
            </a:r>
            <a:r>
              <a:rPr lang="en-US" dirty="0" err="1"/>
              <a:t>companding</a:t>
            </a:r>
            <a:r>
              <a:rPr lang="en-US" dirty="0"/>
              <a:t> (reduce the SNR of (a signal) using a </a:t>
            </a:r>
            <a:r>
              <a:rPr lang="en-US" dirty="0" err="1"/>
              <a:t>compander</a:t>
            </a:r>
            <a:r>
              <a:rPr lang="en-US" dirty="0"/>
              <a:t>.) audio signals is usually combined with a simple algorithm that exploits the temporal redundancy present in audio signals. </a:t>
            </a:r>
          </a:p>
        </p:txBody>
      </p:sp>
    </p:spTree>
    <p:extLst>
      <p:ext uri="{BB962C8B-B14F-4D97-AF65-F5344CB8AC3E}">
        <p14:creationId xmlns:p14="http://schemas.microsoft.com/office/powerpoint/2010/main" val="397298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9BB5B-6679-104D-6D78-CC581CEDF00D}"/>
              </a:ext>
            </a:extLst>
          </p:cNvPr>
          <p:cNvSpPr>
            <a:spLocks noGrp="1"/>
          </p:cNvSpPr>
          <p:nvPr>
            <p:ph type="title"/>
          </p:nvPr>
        </p:nvSpPr>
        <p:spPr/>
        <p:txBody>
          <a:bodyPr/>
          <a:lstStyle/>
          <a:p>
            <a:r>
              <a:rPr lang="en-US" dirty="0"/>
              <a:t>PCM in general </a:t>
            </a:r>
          </a:p>
        </p:txBody>
      </p:sp>
      <p:sp>
        <p:nvSpPr>
          <p:cNvPr id="3" name="Content Placeholder 2">
            <a:extLst>
              <a:ext uri="{FF2B5EF4-FFF2-40B4-BE49-F238E27FC236}">
                <a16:creationId xmlns:a16="http://schemas.microsoft.com/office/drawing/2014/main" id="{F46C4B95-CC45-8352-7343-3F125B3624EB}"/>
              </a:ext>
            </a:extLst>
          </p:cNvPr>
          <p:cNvSpPr>
            <a:spLocks noGrp="1"/>
          </p:cNvSpPr>
          <p:nvPr>
            <p:ph idx="1"/>
          </p:nvPr>
        </p:nvSpPr>
        <p:spPr/>
        <p:txBody>
          <a:bodyPr/>
          <a:lstStyle/>
          <a:p>
            <a:r>
              <a:rPr lang="en-US" dirty="0"/>
              <a:t>Every compression scheme has three stages: </a:t>
            </a:r>
          </a:p>
          <a:p>
            <a:pPr algn="just"/>
            <a:r>
              <a:rPr lang="en-US" dirty="0"/>
              <a:t>1. </a:t>
            </a:r>
            <a:r>
              <a:rPr lang="en-US" dirty="0">
                <a:solidFill>
                  <a:srgbClr val="00B050"/>
                </a:solidFill>
              </a:rPr>
              <a:t>Transformation</a:t>
            </a:r>
            <a:r>
              <a:rPr lang="en-US" dirty="0"/>
              <a:t>. The input data is transformed to a new representation that is easier or more efficient to compress. For example, in Predictive Coding,  we predict the next signal from previous ones and transmit the prediction error.</a:t>
            </a:r>
          </a:p>
          <a:p>
            <a:pPr algn="just"/>
            <a:r>
              <a:rPr lang="en-US" dirty="0"/>
              <a:t>2. </a:t>
            </a:r>
            <a:r>
              <a:rPr lang="en-US" dirty="0">
                <a:solidFill>
                  <a:srgbClr val="00B050"/>
                </a:solidFill>
              </a:rPr>
              <a:t>Loss</a:t>
            </a:r>
            <a:r>
              <a:rPr lang="en-US" dirty="0"/>
              <a:t>. We may introduce loss of information. Quantization is the main lossy step. Here, we use a limited number of reconstruction levels fewer than in the original signal. Therefore, quantization necessitates some loss of information. </a:t>
            </a:r>
          </a:p>
          <a:p>
            <a:pPr algn="just"/>
            <a:r>
              <a:rPr lang="en-US" dirty="0"/>
              <a:t>3. </a:t>
            </a:r>
            <a:r>
              <a:rPr lang="en-US" dirty="0">
                <a:solidFill>
                  <a:srgbClr val="00B050"/>
                </a:solidFill>
              </a:rPr>
              <a:t>Coding</a:t>
            </a:r>
            <a:r>
              <a:rPr lang="en-US" dirty="0"/>
              <a:t>. Here, we assign a codeword (thus forming a binary bitstream) to each output level or symbol. This could be a fixed-length code or a variable-length code, such as Huffman coding</a:t>
            </a:r>
          </a:p>
        </p:txBody>
      </p:sp>
    </p:spTree>
    <p:extLst>
      <p:ext uri="{BB962C8B-B14F-4D97-AF65-F5344CB8AC3E}">
        <p14:creationId xmlns:p14="http://schemas.microsoft.com/office/powerpoint/2010/main" val="527374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4AA87-0B57-E3CF-820D-0AAB5F63E07E}"/>
              </a:ext>
            </a:extLst>
          </p:cNvPr>
          <p:cNvSpPr>
            <a:spLocks noGrp="1"/>
          </p:cNvSpPr>
          <p:nvPr>
            <p:ph type="title"/>
          </p:nvPr>
        </p:nvSpPr>
        <p:spPr/>
        <p:txBody>
          <a:bodyPr/>
          <a:lstStyle/>
          <a:p>
            <a:r>
              <a:rPr lang="en-US" dirty="0"/>
              <a:t>PCM in general </a:t>
            </a:r>
          </a:p>
        </p:txBody>
      </p:sp>
      <p:pic>
        <p:nvPicPr>
          <p:cNvPr id="5" name="Content Placeholder 4">
            <a:extLst>
              <a:ext uri="{FF2B5EF4-FFF2-40B4-BE49-F238E27FC236}">
                <a16:creationId xmlns:a16="http://schemas.microsoft.com/office/drawing/2014/main" id="{A18EE25A-FC18-97BC-8CE3-22AF7AFA6560}"/>
              </a:ext>
            </a:extLst>
          </p:cNvPr>
          <p:cNvPicPr>
            <a:picLocks noGrp="1" noChangeAspect="1"/>
          </p:cNvPicPr>
          <p:nvPr>
            <p:ph idx="1"/>
          </p:nvPr>
        </p:nvPicPr>
        <p:blipFill>
          <a:blip r:embed="rId2"/>
          <a:stretch>
            <a:fillRect/>
          </a:stretch>
        </p:blipFill>
        <p:spPr>
          <a:xfrm>
            <a:off x="1423955" y="2595117"/>
            <a:ext cx="6119390" cy="2530059"/>
          </a:xfrm>
        </p:spPr>
      </p:pic>
    </p:spTree>
    <p:extLst>
      <p:ext uri="{BB962C8B-B14F-4D97-AF65-F5344CB8AC3E}">
        <p14:creationId xmlns:p14="http://schemas.microsoft.com/office/powerpoint/2010/main" val="1674932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a:extLst>
              <a:ext uri="{FF2B5EF4-FFF2-40B4-BE49-F238E27FC236}">
                <a16:creationId xmlns:a16="http://schemas.microsoft.com/office/drawing/2014/main" id="{ECFA7744-D23A-842C-7785-CA418AD7E10F}"/>
              </a:ext>
            </a:extLst>
          </p:cNvPr>
          <p:cNvPicPr>
            <a:picLocks noChangeAspect="1"/>
          </p:cNvPicPr>
          <p:nvPr/>
        </p:nvPicPr>
        <p:blipFill>
          <a:blip r:embed="rId2"/>
          <a:stretch>
            <a:fillRect/>
          </a:stretch>
        </p:blipFill>
        <p:spPr>
          <a:xfrm>
            <a:off x="954287" y="1670591"/>
            <a:ext cx="3031362" cy="3871480"/>
          </a:xfrm>
          <a:prstGeom prst="rect">
            <a:avLst/>
          </a:prstGeom>
        </p:spPr>
      </p:pic>
      <p:sp>
        <p:nvSpPr>
          <p:cNvPr id="7" name="TextBox 6">
            <a:extLst>
              <a:ext uri="{FF2B5EF4-FFF2-40B4-BE49-F238E27FC236}">
                <a16:creationId xmlns:a16="http://schemas.microsoft.com/office/drawing/2014/main" id="{11D83A39-8077-4141-8FBF-159AF4CDB031}"/>
              </a:ext>
            </a:extLst>
          </p:cNvPr>
          <p:cNvSpPr txBox="1"/>
          <p:nvPr/>
        </p:nvSpPr>
        <p:spPr>
          <a:xfrm>
            <a:off x="954288" y="5878286"/>
            <a:ext cx="1427172" cy="369332"/>
          </a:xfrm>
          <a:prstGeom prst="rect">
            <a:avLst/>
          </a:prstGeom>
          <a:noFill/>
        </p:spPr>
        <p:txBody>
          <a:bodyPr wrap="square" rtlCol="0">
            <a:spAutoFit/>
          </a:bodyPr>
          <a:lstStyle/>
          <a:p>
            <a:r>
              <a:rPr lang="en-US" dirty="0"/>
              <a:t>Chapter 6</a:t>
            </a:r>
          </a:p>
        </p:txBody>
      </p:sp>
    </p:spTree>
    <p:extLst>
      <p:ext uri="{BB962C8B-B14F-4D97-AF65-F5344CB8AC3E}">
        <p14:creationId xmlns:p14="http://schemas.microsoft.com/office/powerpoint/2010/main" val="2706916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7042</TotalTime>
  <Words>3795</Words>
  <Application>Microsoft Office PowerPoint</Application>
  <PresentationFormat>Widescreen</PresentationFormat>
  <Paragraphs>158</Paragraphs>
  <Slides>47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Google Sans</vt:lpstr>
      <vt:lpstr>Trebuchet MS</vt:lpstr>
      <vt:lpstr>Wingdings 3</vt:lpstr>
      <vt:lpstr>Facet</vt:lpstr>
      <vt:lpstr>Multimedia Computing</vt:lpstr>
      <vt:lpstr>Content</vt:lpstr>
      <vt:lpstr>SAMPLING THEOREM AND ALIASING</vt:lpstr>
      <vt:lpstr>Signal to Noise Ratio (SNR) </vt:lpstr>
      <vt:lpstr>Signal to Noise Ratio (SNR)</vt:lpstr>
      <vt:lpstr>Signal to Noise Ratio (SNR)</vt:lpstr>
      <vt:lpstr>Signal-to-Quantization-Noise Ratio (SQNR)</vt:lpstr>
      <vt:lpstr>Signal-to-Quantization-Noise Ratio (SQNR)</vt:lpstr>
      <vt:lpstr>Signal-to-Quantization-Noise Ratio (SQNR)</vt:lpstr>
      <vt:lpstr>Audio Filtering</vt:lpstr>
      <vt:lpstr>Audio Quality Versus Data Rate</vt:lpstr>
      <vt:lpstr>Audio Quality Versus Data Rate</vt:lpstr>
      <vt:lpstr>Synthetic Sounds</vt:lpstr>
      <vt:lpstr>Synthetic Sounds</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MIDI: Musical Instrument Digital Interface</vt:lpstr>
      <vt:lpstr>Hardware Aspects of MIDI</vt:lpstr>
      <vt:lpstr>Hardware Aspects of MIDI</vt:lpstr>
      <vt:lpstr>Hardware Aspects of MIDI</vt:lpstr>
      <vt:lpstr>MIDI Message Transmission</vt:lpstr>
      <vt:lpstr>Structure of MIDI Messages</vt:lpstr>
      <vt:lpstr>Structure of MIDI Messages</vt:lpstr>
      <vt:lpstr>Structure of MIDI Messages</vt:lpstr>
      <vt:lpstr>Structure of MIDI Messages</vt:lpstr>
      <vt:lpstr>Structure of MIDI Messages</vt:lpstr>
      <vt:lpstr>General MIDI</vt:lpstr>
      <vt:lpstr>MIDI-to-WAV Conversion</vt:lpstr>
      <vt:lpstr>Coding of Audio</vt:lpstr>
      <vt:lpstr>PCM in general </vt:lpstr>
      <vt:lpstr>PCM in general </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58</cp:revision>
  <dcterms:created xsi:type="dcterms:W3CDTF">2020-01-27T14:45:02Z</dcterms:created>
  <dcterms:modified xsi:type="dcterms:W3CDTF">2026-09-14T05:44:46Z</dcterms:modified>
</cp:coreProperties>
</file>