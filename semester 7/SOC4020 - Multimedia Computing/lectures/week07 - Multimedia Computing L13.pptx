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46"/>
  </p:notesMasterIdLst>
  <p:sldIdLst>
    <p:sldId id="256" r:id="rId2"/>
    <p:sldId id="341" r:id="rId3"/>
    <p:sldId id="452" r:id="rId4"/>
    <p:sldId id="453" r:id="rId5"/>
    <p:sldId id="454" r:id="rId6"/>
    <p:sldId id="468" r:id="rId7"/>
    <p:sldId id="469" r:id="rId8"/>
    <p:sldId id="483" r:id="rId9"/>
    <p:sldId id="484" r:id="rId10"/>
    <p:sldId id="485" r:id="rId11"/>
    <p:sldId id="486" r:id="rId12"/>
    <p:sldId id="487" r:id="rId13"/>
    <p:sldId id="455" r:id="rId14"/>
    <p:sldId id="456" r:id="rId15"/>
    <p:sldId id="476" r:id="rId16"/>
    <p:sldId id="477" r:id="rId17"/>
    <p:sldId id="478" r:id="rId18"/>
    <p:sldId id="479" r:id="rId19"/>
    <p:sldId id="480" r:id="rId20"/>
    <p:sldId id="457" r:id="rId21"/>
    <p:sldId id="458" r:id="rId22"/>
    <p:sldId id="459" r:id="rId23"/>
    <p:sldId id="460" r:id="rId24"/>
    <p:sldId id="461" r:id="rId25"/>
    <p:sldId id="462" r:id="rId26"/>
    <p:sldId id="463" r:id="rId27"/>
    <p:sldId id="475" r:id="rId28"/>
    <p:sldId id="464" r:id="rId29"/>
    <p:sldId id="488" r:id="rId30"/>
    <p:sldId id="490" r:id="rId31"/>
    <p:sldId id="491" r:id="rId32"/>
    <p:sldId id="492" r:id="rId33"/>
    <p:sldId id="489" r:id="rId34"/>
    <p:sldId id="465" r:id="rId35"/>
    <p:sldId id="481" r:id="rId36"/>
    <p:sldId id="466" r:id="rId37"/>
    <p:sldId id="482" r:id="rId38"/>
    <p:sldId id="493" r:id="rId39"/>
    <p:sldId id="467" r:id="rId40"/>
    <p:sldId id="470" r:id="rId41"/>
    <p:sldId id="471" r:id="rId42"/>
    <p:sldId id="451" r:id="rId43"/>
    <p:sldId id="299" r:id="rId44"/>
    <p:sldId id="300" r:id="rId4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8752" autoAdjust="0"/>
  </p:normalViewPr>
  <p:slideViewPr>
    <p:cSldViewPr snapToGrid="0">
      <p:cViewPr varScale="1">
        <p:scale>
          <a:sx n="67" d="100"/>
          <a:sy n="67" d="100"/>
        </p:scale>
        <p:origin x="1267"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E53E55-EC9A-434C-8BE2-CD78882C9BC0}" type="datetimeFigureOut">
              <a:rPr lang="en-US" smtClean="0"/>
              <a:t>10/21/2025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8BD2CD-5368-43DB-9451-734A67620D4E}" type="slidenum">
              <a:rPr lang="en-US" smtClean="0"/>
              <a:t>‹#›</a:t>
            </a:fld>
            <a:endParaRPr lang="en-US"/>
          </a:p>
        </p:txBody>
      </p:sp>
    </p:spTree>
    <p:extLst>
      <p:ext uri="{BB962C8B-B14F-4D97-AF65-F5344CB8AC3E}">
        <p14:creationId xmlns:p14="http://schemas.microsoft.com/office/powerpoint/2010/main" val="7803440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compression is the process of reducing the amount of data required to represent an image.</a:t>
            </a:r>
          </a:p>
        </p:txBody>
      </p:sp>
      <p:sp>
        <p:nvSpPr>
          <p:cNvPr id="4" name="Slide Number Placeholder 3"/>
          <p:cNvSpPr>
            <a:spLocks noGrp="1"/>
          </p:cNvSpPr>
          <p:nvPr>
            <p:ph type="sldNum" sz="quarter" idx="5"/>
          </p:nvPr>
        </p:nvSpPr>
        <p:spPr/>
        <p:txBody>
          <a:bodyPr/>
          <a:lstStyle/>
          <a:p>
            <a:fld id="{118BD2CD-5368-43DB-9451-734A67620D4E}" type="slidenum">
              <a:rPr lang="en-US" smtClean="0"/>
              <a:t>6</a:t>
            </a:fld>
            <a:endParaRPr lang="en-US"/>
          </a:p>
        </p:txBody>
      </p:sp>
    </p:spTree>
    <p:extLst>
      <p:ext uri="{BB962C8B-B14F-4D97-AF65-F5344CB8AC3E}">
        <p14:creationId xmlns:p14="http://schemas.microsoft.com/office/powerpoint/2010/main" val="31177636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lossless</a:t>
            </a:r>
          </a:p>
        </p:txBody>
      </p:sp>
      <p:sp>
        <p:nvSpPr>
          <p:cNvPr id="4" name="Slide Number Placeholder 3"/>
          <p:cNvSpPr>
            <a:spLocks noGrp="1"/>
          </p:cNvSpPr>
          <p:nvPr>
            <p:ph type="sldNum" sz="quarter" idx="5"/>
          </p:nvPr>
        </p:nvSpPr>
        <p:spPr/>
        <p:txBody>
          <a:bodyPr/>
          <a:lstStyle/>
          <a:p>
            <a:fld id="{118BD2CD-5368-43DB-9451-734A67620D4E}" type="slidenum">
              <a:rPr lang="en-US" smtClean="0"/>
              <a:t>8</a:t>
            </a:fld>
            <a:endParaRPr lang="en-US"/>
          </a:p>
        </p:txBody>
      </p:sp>
    </p:spTree>
    <p:extLst>
      <p:ext uri="{BB962C8B-B14F-4D97-AF65-F5344CB8AC3E}">
        <p14:creationId xmlns:p14="http://schemas.microsoft.com/office/powerpoint/2010/main" val="42130132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RD -&gt; </a:t>
            </a:r>
            <a:r>
              <a:rPr lang="en-US" dirty="0" err="1"/>
              <a:t>redundacy</a:t>
            </a:r>
            <a:endParaRPr lang="en-US" dirty="0"/>
          </a:p>
        </p:txBody>
      </p:sp>
      <p:sp>
        <p:nvSpPr>
          <p:cNvPr id="4" name="Slide Number Placeholder 3"/>
          <p:cNvSpPr>
            <a:spLocks noGrp="1"/>
          </p:cNvSpPr>
          <p:nvPr>
            <p:ph type="sldNum" sz="quarter" idx="5"/>
          </p:nvPr>
        </p:nvSpPr>
        <p:spPr/>
        <p:txBody>
          <a:bodyPr/>
          <a:lstStyle/>
          <a:p>
            <a:fld id="{118BD2CD-5368-43DB-9451-734A67620D4E}" type="slidenum">
              <a:rPr lang="en-US" smtClean="0"/>
              <a:t>28</a:t>
            </a:fld>
            <a:endParaRPr lang="en-US"/>
          </a:p>
        </p:txBody>
      </p:sp>
    </p:spTree>
    <p:extLst>
      <p:ext uri="{BB962C8B-B14F-4D97-AF65-F5344CB8AC3E}">
        <p14:creationId xmlns:p14="http://schemas.microsoft.com/office/powerpoint/2010/main" val="5337151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0" i="0" dirty="0">
              <a:effectLst/>
              <a:latin typeface="Menlo"/>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0" i="0" dirty="0">
              <a:effectLst/>
              <a:latin typeface="Menlo"/>
            </a:endParaRPr>
          </a:p>
          <a:p>
            <a:endParaRPr lang="en-US" dirty="0"/>
          </a:p>
        </p:txBody>
      </p:sp>
      <p:sp>
        <p:nvSpPr>
          <p:cNvPr id="4" name="Slide Number Placeholder 3"/>
          <p:cNvSpPr>
            <a:spLocks noGrp="1"/>
          </p:cNvSpPr>
          <p:nvPr>
            <p:ph type="sldNum" sz="quarter" idx="5"/>
          </p:nvPr>
        </p:nvSpPr>
        <p:spPr/>
        <p:txBody>
          <a:bodyPr/>
          <a:lstStyle/>
          <a:p>
            <a:fld id="{118BD2CD-5368-43DB-9451-734A67620D4E}" type="slidenum">
              <a:rPr lang="en-US" smtClean="0"/>
              <a:t>37</a:t>
            </a:fld>
            <a:endParaRPr lang="en-US"/>
          </a:p>
        </p:txBody>
      </p:sp>
    </p:spTree>
    <p:extLst>
      <p:ext uri="{BB962C8B-B14F-4D97-AF65-F5344CB8AC3E}">
        <p14:creationId xmlns:p14="http://schemas.microsoft.com/office/powerpoint/2010/main" val="9097080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18BD2CD-5368-43DB-9451-734A67620D4E}" type="slidenum">
              <a:rPr lang="en-US" smtClean="0"/>
              <a:t>38</a:t>
            </a:fld>
            <a:endParaRPr lang="en-US"/>
          </a:p>
        </p:txBody>
      </p:sp>
    </p:spTree>
    <p:extLst>
      <p:ext uri="{BB962C8B-B14F-4D97-AF65-F5344CB8AC3E}">
        <p14:creationId xmlns:p14="http://schemas.microsoft.com/office/powerpoint/2010/main" val="11412665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faithfulness</a:t>
            </a:r>
          </a:p>
        </p:txBody>
      </p:sp>
      <p:sp>
        <p:nvSpPr>
          <p:cNvPr id="4" name="Slide Number Placeholder 3"/>
          <p:cNvSpPr>
            <a:spLocks noGrp="1"/>
          </p:cNvSpPr>
          <p:nvPr>
            <p:ph type="sldNum" sz="quarter" idx="5"/>
          </p:nvPr>
        </p:nvSpPr>
        <p:spPr/>
        <p:txBody>
          <a:bodyPr/>
          <a:lstStyle/>
          <a:p>
            <a:fld id="{118BD2CD-5368-43DB-9451-734A67620D4E}" type="slidenum">
              <a:rPr lang="en-US" smtClean="0"/>
              <a:t>39</a:t>
            </a:fld>
            <a:endParaRPr lang="en-US"/>
          </a:p>
        </p:txBody>
      </p:sp>
    </p:spTree>
    <p:extLst>
      <p:ext uri="{BB962C8B-B14F-4D97-AF65-F5344CB8AC3E}">
        <p14:creationId xmlns:p14="http://schemas.microsoft.com/office/powerpoint/2010/main" val="1332507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0AABCEA9-342F-49DA-8846-1F2209C1EED6}" type="slidenum">
              <a:rPr lang="en-US" smtClean="0"/>
              <a:pPr/>
              <a:t>43</a:t>
            </a:fld>
            <a:endParaRPr lang="en-US"/>
          </a:p>
        </p:txBody>
      </p:sp>
    </p:spTree>
    <p:extLst>
      <p:ext uri="{BB962C8B-B14F-4D97-AF65-F5344CB8AC3E}">
        <p14:creationId xmlns:p14="http://schemas.microsoft.com/office/powerpoint/2010/main" val="39016476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116D2BA-BFE1-4F18-980D-42A06CD3627B}"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12992232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16D2BA-BFE1-4F18-980D-42A06CD3627B}"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31074960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16D2BA-BFE1-4F18-980D-42A06CD3627B}"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7695385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116D2BA-BFE1-4F18-980D-42A06CD3627B}" type="datetimeFigureOut">
              <a:rPr lang="en-US" smtClean="0"/>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17405337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116D2BA-BFE1-4F18-980D-42A06CD3627B}" type="datetimeFigureOut">
              <a:rPr lang="en-US" smtClean="0"/>
              <a:t>10/21/2025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36458838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116D2BA-BFE1-4F18-980D-42A06CD3627B}" type="datetimeFigureOut">
              <a:rPr lang="en-US" smtClean="0"/>
              <a:t>10/21/2025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42671319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116D2BA-BFE1-4F18-980D-42A06CD3627B}" type="datetimeFigureOut">
              <a:rPr lang="en-US" smtClean="0"/>
              <a:t>10/21/2025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15186769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116D2BA-BFE1-4F18-980D-42A06CD3627B}" type="datetimeFigureOut">
              <a:rPr lang="en-US" smtClean="0"/>
              <a:t>10/21/2025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35671698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836B74-D967-44D7-A95F-6356689A3BC9}" type="slidenum">
              <a:rPr lang="en-US" smtClean="0"/>
              <a:t>‹#›</a:t>
            </a:fld>
            <a:endParaRPr lang="en-US"/>
          </a:p>
        </p:txBody>
      </p:sp>
      <p:sp>
        <p:nvSpPr>
          <p:cNvPr id="5" name="Date Placeholder 4"/>
          <p:cNvSpPr>
            <a:spLocks noGrp="1"/>
          </p:cNvSpPr>
          <p:nvPr>
            <p:ph type="dt" sz="half" idx="10"/>
          </p:nvPr>
        </p:nvSpPr>
        <p:spPr/>
        <p:txBody>
          <a:bodyPr/>
          <a:lstStyle/>
          <a:p>
            <a:fld id="{0116D2BA-BFE1-4F18-980D-42A06CD3627B}" type="datetimeFigureOut">
              <a:rPr lang="en-US" smtClean="0"/>
              <a:t>10/21/2025</a:t>
            </a:fld>
            <a:endParaRPr lang="en-US"/>
          </a:p>
        </p:txBody>
      </p:sp>
    </p:spTree>
    <p:extLst>
      <p:ext uri="{BB962C8B-B14F-4D97-AF65-F5344CB8AC3E}">
        <p14:creationId xmlns:p14="http://schemas.microsoft.com/office/powerpoint/2010/main" val="16980510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16D2BA-BFE1-4F18-980D-42A06CD3627B}"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37857644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16D2BA-BFE1-4F18-980D-42A06CD3627B}"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170401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16D2BA-BFE1-4F18-980D-42A06CD3627B}"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42336946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16D2BA-BFE1-4F18-980D-42A06CD3627B}"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766937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116D2BA-BFE1-4F18-980D-42A06CD3627B}"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4444473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16D2BA-BFE1-4F18-980D-42A06CD3627B}"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38980847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16D2BA-BFE1-4F18-980D-42A06CD3627B}" type="datetimeFigureOut">
              <a:rPr lang="en-US" smtClean="0"/>
              <a:t>10/21/2025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836B74-D967-44D7-A95F-6356689A3BC9}" type="slidenum">
              <a:rPr lang="en-US" smtClean="0"/>
              <a:t>‹#›</a:t>
            </a:fld>
            <a:endParaRPr lang="en-US"/>
          </a:p>
        </p:txBody>
      </p:sp>
    </p:spTree>
    <p:extLst>
      <p:ext uri="{BB962C8B-B14F-4D97-AF65-F5344CB8AC3E}">
        <p14:creationId xmlns:p14="http://schemas.microsoft.com/office/powerpoint/2010/main" val="31250057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116D2BA-BFE1-4F18-980D-42A06CD3627B}" type="datetimeFigureOut">
              <a:rPr lang="en-US" smtClean="0"/>
              <a:t>10/21/2025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C836B74-D967-44D7-A95F-6356689A3BC9}" type="slidenum">
              <a:rPr lang="en-US" smtClean="0"/>
              <a:t>‹#›</a:t>
            </a:fld>
            <a:endParaRPr lang="en-US"/>
          </a:p>
        </p:txBody>
      </p:sp>
    </p:spTree>
    <p:extLst>
      <p:ext uri="{BB962C8B-B14F-4D97-AF65-F5344CB8AC3E}">
        <p14:creationId xmlns:p14="http://schemas.microsoft.com/office/powerpoint/2010/main" val="622164095"/>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minhaz.ahmed@gmail.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Multimedia Computing</a:t>
            </a:r>
            <a:endParaRPr lang="en-US" dirty="0"/>
          </a:p>
        </p:txBody>
      </p:sp>
      <p:sp>
        <p:nvSpPr>
          <p:cNvPr id="3" name="Subtitle 2"/>
          <p:cNvSpPr>
            <a:spLocks noGrp="1"/>
          </p:cNvSpPr>
          <p:nvPr>
            <p:ph type="subTitle" idx="1"/>
          </p:nvPr>
        </p:nvSpPr>
        <p:spPr/>
        <p:txBody>
          <a:bodyPr>
            <a:noAutofit/>
          </a:bodyPr>
          <a:lstStyle/>
          <a:p>
            <a:pPr algn="ctr"/>
            <a:r>
              <a:rPr lang="en-US" dirty="0"/>
              <a:t>By </a:t>
            </a:r>
          </a:p>
          <a:p>
            <a:pPr algn="ctr"/>
            <a:r>
              <a:rPr lang="en-US" sz="1600" dirty="0"/>
              <a:t>Minhaz Uddin Ahmed, PhD</a:t>
            </a:r>
          </a:p>
          <a:p>
            <a:pPr algn="ctr"/>
            <a:r>
              <a:rPr lang="en-US" sz="1600" dirty="0"/>
              <a:t>Department of Computer Engineering</a:t>
            </a:r>
          </a:p>
          <a:p>
            <a:pPr algn="ctr"/>
            <a:r>
              <a:rPr lang="en-US" sz="1600" err="1"/>
              <a:t>Inha</a:t>
            </a:r>
            <a:r>
              <a:rPr lang="en-US" sz="1600"/>
              <a:t> University in Tashkent.</a:t>
            </a:r>
            <a:endParaRPr lang="en-US" sz="1600" dirty="0"/>
          </a:p>
          <a:p>
            <a:pPr algn="ctr"/>
            <a:r>
              <a:rPr lang="en-US" sz="1600" dirty="0"/>
              <a:t>Email: </a:t>
            </a:r>
            <a:r>
              <a:rPr lang="en-US" sz="1600" dirty="0">
                <a:hlinkClick r:id="rId2"/>
              </a:rPr>
              <a:t>minhaz.ahmed@gmail.com</a:t>
            </a:r>
            <a:endParaRPr lang="en-US" sz="1600" dirty="0"/>
          </a:p>
          <a:p>
            <a:pPr algn="ctr"/>
            <a:endParaRPr lang="en-US" dirty="0"/>
          </a:p>
        </p:txBody>
      </p:sp>
    </p:spTree>
    <p:extLst>
      <p:ext uri="{BB962C8B-B14F-4D97-AF65-F5344CB8AC3E}">
        <p14:creationId xmlns:p14="http://schemas.microsoft.com/office/powerpoint/2010/main" val="37607357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Content</a:t>
            </a:r>
          </a:p>
        </p:txBody>
      </p:sp>
      <p:sp>
        <p:nvSpPr>
          <p:cNvPr id="3" name="Content Placeholder 2"/>
          <p:cNvSpPr>
            <a:spLocks noGrp="1"/>
          </p:cNvSpPr>
          <p:nvPr>
            <p:ph idx="1"/>
          </p:nvPr>
        </p:nvSpPr>
        <p:spPr>
          <a:xfrm>
            <a:off x="677334" y="1837859"/>
            <a:ext cx="8596668" cy="3880773"/>
          </a:xfrm>
        </p:spPr>
        <p:txBody>
          <a:bodyPr>
            <a:normAutofit/>
          </a:bodyPr>
          <a:lstStyle/>
          <a:p>
            <a:r>
              <a:rPr lang="en-US" sz="2400" dirty="0"/>
              <a:t>Chapter - 8 (Gonzalez books)</a:t>
            </a:r>
          </a:p>
          <a:p>
            <a:r>
              <a:rPr lang="en-US" sz="2400" dirty="0"/>
              <a:t>Image compression</a:t>
            </a:r>
          </a:p>
          <a:p>
            <a:r>
              <a:rPr lang="en-US" sz="2400" dirty="0"/>
              <a:t>Discrete Cosine Transform (DCT)</a:t>
            </a:r>
          </a:p>
          <a:p>
            <a:r>
              <a:rPr lang="en-US" sz="2400" dirty="0"/>
              <a:t>Coding Redundancy</a:t>
            </a:r>
          </a:p>
          <a:p>
            <a:r>
              <a:rPr lang="en-US" sz="2400" dirty="0"/>
              <a:t>Interpixel Redundancy </a:t>
            </a:r>
          </a:p>
          <a:p>
            <a:r>
              <a:rPr lang="en-US" sz="2400" dirty="0"/>
              <a:t>Psychovisual Redundancy</a:t>
            </a:r>
          </a:p>
          <a:p>
            <a:r>
              <a:rPr lang="en-US" sz="2400" dirty="0"/>
              <a:t>Lossy and lossless example</a:t>
            </a:r>
          </a:p>
          <a:p>
            <a:endParaRPr lang="en-US" dirty="0"/>
          </a:p>
        </p:txBody>
      </p:sp>
    </p:spTree>
    <p:extLst>
      <p:ext uri="{BB962C8B-B14F-4D97-AF65-F5344CB8AC3E}">
        <p14:creationId xmlns:p14="http://schemas.microsoft.com/office/powerpoint/2010/main" val="1528980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B6ED4-043F-EB05-44ED-014387D98651}"/>
              </a:ext>
            </a:extLst>
          </p:cNvPr>
          <p:cNvSpPr>
            <a:spLocks noGrp="1"/>
          </p:cNvSpPr>
          <p:nvPr>
            <p:ph type="title"/>
          </p:nvPr>
        </p:nvSpPr>
        <p:spPr/>
        <p:txBody>
          <a:bodyPr/>
          <a:lstStyle/>
          <a:p>
            <a:r>
              <a:rPr lang="en-US" dirty="0"/>
              <a:t>Objective</a:t>
            </a:r>
          </a:p>
        </p:txBody>
      </p:sp>
      <p:sp>
        <p:nvSpPr>
          <p:cNvPr id="3" name="Content Placeholder 2">
            <a:extLst>
              <a:ext uri="{FF2B5EF4-FFF2-40B4-BE49-F238E27FC236}">
                <a16:creationId xmlns:a16="http://schemas.microsoft.com/office/drawing/2014/main" id="{5FE1A270-7896-DEA9-D857-82E8CCD7EF79}"/>
              </a:ext>
            </a:extLst>
          </p:cNvPr>
          <p:cNvSpPr>
            <a:spLocks noGrp="1"/>
          </p:cNvSpPr>
          <p:nvPr>
            <p:ph idx="1"/>
          </p:nvPr>
        </p:nvSpPr>
        <p:spPr>
          <a:xfrm>
            <a:off x="677334" y="2160589"/>
            <a:ext cx="9023714" cy="3880773"/>
          </a:xfrm>
        </p:spPr>
        <p:txBody>
          <a:bodyPr/>
          <a:lstStyle/>
          <a:p>
            <a:r>
              <a:rPr lang="en-US" altLang="en-US" sz="2400" dirty="0"/>
              <a:t>Reduce the number of bytes required to represent a digital image</a:t>
            </a:r>
          </a:p>
          <a:p>
            <a:pPr lvl="1"/>
            <a:r>
              <a:rPr lang="en-US" altLang="en-US" sz="2400" dirty="0"/>
              <a:t>Redundant data reduction</a:t>
            </a:r>
          </a:p>
          <a:p>
            <a:pPr lvl="1"/>
            <a:r>
              <a:rPr lang="en-US" altLang="en-US" sz="2400" dirty="0"/>
              <a:t>Remove patterns </a:t>
            </a:r>
          </a:p>
          <a:p>
            <a:pPr lvl="1"/>
            <a:r>
              <a:rPr lang="en-US" altLang="en-US" sz="2400" dirty="0"/>
              <a:t>Uncorrelated data confirms redundant data elimination</a:t>
            </a:r>
          </a:p>
          <a:p>
            <a:pPr marL="914400" lvl="2" indent="0">
              <a:buNone/>
            </a:pPr>
            <a:endParaRPr lang="en-US" dirty="0"/>
          </a:p>
        </p:txBody>
      </p:sp>
    </p:spTree>
    <p:extLst>
      <p:ext uri="{BB962C8B-B14F-4D97-AF65-F5344CB8AC3E}">
        <p14:creationId xmlns:p14="http://schemas.microsoft.com/office/powerpoint/2010/main" val="15189982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3587B-61B0-3DB9-F19A-13B3FC72D160}"/>
              </a:ext>
            </a:extLst>
          </p:cNvPr>
          <p:cNvSpPr>
            <a:spLocks noGrp="1"/>
          </p:cNvSpPr>
          <p:nvPr>
            <p:ph type="title"/>
          </p:nvPr>
        </p:nvSpPr>
        <p:spPr/>
        <p:txBody>
          <a:bodyPr/>
          <a:lstStyle/>
          <a:p>
            <a:r>
              <a:rPr lang="en-US" altLang="en-US" dirty="0"/>
              <a:t>Enabling Technology</a:t>
            </a:r>
            <a:endParaRPr lang="en-US" dirty="0"/>
          </a:p>
        </p:txBody>
      </p:sp>
      <p:sp>
        <p:nvSpPr>
          <p:cNvPr id="3" name="Content Placeholder 2">
            <a:extLst>
              <a:ext uri="{FF2B5EF4-FFF2-40B4-BE49-F238E27FC236}">
                <a16:creationId xmlns:a16="http://schemas.microsoft.com/office/drawing/2014/main" id="{15A89E6E-4C86-0A5B-A177-433DAA1FF309}"/>
              </a:ext>
            </a:extLst>
          </p:cNvPr>
          <p:cNvSpPr>
            <a:spLocks noGrp="1"/>
          </p:cNvSpPr>
          <p:nvPr>
            <p:ph idx="1"/>
          </p:nvPr>
        </p:nvSpPr>
        <p:spPr/>
        <p:txBody>
          <a:bodyPr/>
          <a:lstStyle/>
          <a:p>
            <a:r>
              <a:rPr lang="en-US" altLang="en-US" sz="2400" dirty="0"/>
              <a:t>Compressions is used in </a:t>
            </a:r>
          </a:p>
          <a:p>
            <a:pPr lvl="1"/>
            <a:r>
              <a:rPr lang="en-US" altLang="en-US" sz="2000" dirty="0"/>
              <a:t>FAX</a:t>
            </a:r>
          </a:p>
          <a:p>
            <a:pPr lvl="1"/>
            <a:r>
              <a:rPr lang="en-US" altLang="en-US" sz="2000" dirty="0"/>
              <a:t>Teleconference</a:t>
            </a:r>
          </a:p>
          <a:p>
            <a:pPr lvl="1"/>
            <a:r>
              <a:rPr lang="en-US" altLang="en-US" sz="2000" dirty="0"/>
              <a:t>REMOTE DEMO</a:t>
            </a:r>
          </a:p>
          <a:p>
            <a:pPr lvl="1"/>
            <a:r>
              <a:rPr lang="en-US" altLang="en-US" sz="2000" dirty="0" err="1"/>
              <a:t>etc</a:t>
            </a:r>
            <a:endParaRPr lang="en-US" altLang="en-US" sz="2000" dirty="0"/>
          </a:p>
          <a:p>
            <a:endParaRPr lang="en-US" dirty="0"/>
          </a:p>
        </p:txBody>
      </p:sp>
    </p:spTree>
    <p:extLst>
      <p:ext uri="{BB962C8B-B14F-4D97-AF65-F5344CB8AC3E}">
        <p14:creationId xmlns:p14="http://schemas.microsoft.com/office/powerpoint/2010/main" val="11674365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3587B-61B0-3DB9-F19A-13B3FC72D160}"/>
              </a:ext>
            </a:extLst>
          </p:cNvPr>
          <p:cNvSpPr>
            <a:spLocks noGrp="1"/>
          </p:cNvSpPr>
          <p:nvPr>
            <p:ph type="title"/>
          </p:nvPr>
        </p:nvSpPr>
        <p:spPr/>
        <p:txBody>
          <a:bodyPr/>
          <a:lstStyle/>
          <a:p>
            <a:r>
              <a:rPr lang="en-US" altLang="en-US" dirty="0"/>
              <a:t>Review</a:t>
            </a:r>
            <a:endParaRPr lang="en-US" dirty="0"/>
          </a:p>
        </p:txBody>
      </p:sp>
      <p:sp>
        <p:nvSpPr>
          <p:cNvPr id="3" name="Content Placeholder 2">
            <a:extLst>
              <a:ext uri="{FF2B5EF4-FFF2-40B4-BE49-F238E27FC236}">
                <a16:creationId xmlns:a16="http://schemas.microsoft.com/office/drawing/2014/main" id="{15A89E6E-4C86-0A5B-A177-433DAA1FF309}"/>
              </a:ext>
            </a:extLst>
          </p:cNvPr>
          <p:cNvSpPr>
            <a:spLocks noGrp="1"/>
          </p:cNvSpPr>
          <p:nvPr>
            <p:ph idx="1"/>
          </p:nvPr>
        </p:nvSpPr>
        <p:spPr>
          <a:xfrm>
            <a:off x="677334" y="1806499"/>
            <a:ext cx="8596668" cy="4234864"/>
          </a:xfrm>
        </p:spPr>
        <p:txBody>
          <a:bodyPr/>
          <a:lstStyle/>
          <a:p>
            <a:r>
              <a:rPr lang="en-US" altLang="en-US" sz="2400" dirty="0"/>
              <a:t>What and how to exploit data redundancy</a:t>
            </a:r>
          </a:p>
          <a:p>
            <a:r>
              <a:rPr lang="en-US" altLang="en-US" sz="2400" dirty="0"/>
              <a:t>Model based approach to compression</a:t>
            </a:r>
          </a:p>
          <a:p>
            <a:r>
              <a:rPr lang="en-US" altLang="en-US" sz="2400" dirty="0"/>
              <a:t>Information theory principles</a:t>
            </a:r>
          </a:p>
          <a:p>
            <a:endParaRPr lang="en-US" altLang="en-US" dirty="0"/>
          </a:p>
          <a:p>
            <a:endParaRPr lang="en-US" altLang="en-US" dirty="0"/>
          </a:p>
          <a:p>
            <a:r>
              <a:rPr lang="en-US" altLang="en-US" sz="2400" dirty="0"/>
              <a:t>Types of compression</a:t>
            </a:r>
          </a:p>
          <a:p>
            <a:pPr lvl="1"/>
            <a:r>
              <a:rPr lang="en-US" altLang="en-US" sz="2400" dirty="0">
                <a:solidFill>
                  <a:srgbClr val="00B050"/>
                </a:solidFill>
              </a:rPr>
              <a:t>Lossless, lossy</a:t>
            </a:r>
          </a:p>
          <a:p>
            <a:endParaRPr lang="en-US" dirty="0"/>
          </a:p>
        </p:txBody>
      </p:sp>
    </p:spTree>
    <p:extLst>
      <p:ext uri="{BB962C8B-B14F-4D97-AF65-F5344CB8AC3E}">
        <p14:creationId xmlns:p14="http://schemas.microsoft.com/office/powerpoint/2010/main" val="31654802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FA090-DFC7-A279-8F47-0DEF3522F97A}"/>
              </a:ext>
            </a:extLst>
          </p:cNvPr>
          <p:cNvSpPr>
            <a:spLocks noGrp="1"/>
          </p:cNvSpPr>
          <p:nvPr>
            <p:ph type="title"/>
          </p:nvPr>
        </p:nvSpPr>
        <p:spPr/>
        <p:txBody>
          <a:bodyPr/>
          <a:lstStyle/>
          <a:p>
            <a:r>
              <a:rPr lang="en-US" dirty="0"/>
              <a:t>Image compression</a:t>
            </a:r>
            <a:br>
              <a:rPr lang="en-US" dirty="0"/>
            </a:br>
            <a:endParaRPr lang="en-US" dirty="0"/>
          </a:p>
        </p:txBody>
      </p:sp>
      <p:pic>
        <p:nvPicPr>
          <p:cNvPr id="5" name="Content Placeholder 4">
            <a:extLst>
              <a:ext uri="{FF2B5EF4-FFF2-40B4-BE49-F238E27FC236}">
                <a16:creationId xmlns:a16="http://schemas.microsoft.com/office/drawing/2014/main" id="{0E1A8D14-97D8-ADE9-2312-36BB15008FD6}"/>
              </a:ext>
            </a:extLst>
          </p:cNvPr>
          <p:cNvPicPr>
            <a:picLocks noGrp="1" noChangeAspect="1"/>
          </p:cNvPicPr>
          <p:nvPr>
            <p:ph idx="1"/>
          </p:nvPr>
        </p:nvPicPr>
        <p:blipFill>
          <a:blip r:embed="rId3"/>
          <a:srcRect t="69482"/>
          <a:stretch/>
        </p:blipFill>
        <p:spPr>
          <a:xfrm>
            <a:off x="677334" y="4927601"/>
            <a:ext cx="8322287" cy="1641641"/>
          </a:xfrm>
        </p:spPr>
      </p:pic>
      <p:pic>
        <p:nvPicPr>
          <p:cNvPr id="7" name="Picture 6">
            <a:extLst>
              <a:ext uri="{FF2B5EF4-FFF2-40B4-BE49-F238E27FC236}">
                <a16:creationId xmlns:a16="http://schemas.microsoft.com/office/drawing/2014/main" id="{52EEC027-EB02-58C4-12DB-FEC25E5E5574}"/>
              </a:ext>
            </a:extLst>
          </p:cNvPr>
          <p:cNvPicPr>
            <a:picLocks noChangeAspect="1"/>
          </p:cNvPicPr>
          <p:nvPr/>
        </p:nvPicPr>
        <p:blipFill>
          <a:blip r:embed="rId4"/>
          <a:stretch>
            <a:fillRect/>
          </a:stretch>
        </p:blipFill>
        <p:spPr>
          <a:xfrm>
            <a:off x="1900059" y="2541598"/>
            <a:ext cx="6068570" cy="2484405"/>
          </a:xfrm>
          <a:prstGeom prst="rect">
            <a:avLst/>
          </a:prstGeom>
        </p:spPr>
      </p:pic>
      <p:sp>
        <p:nvSpPr>
          <p:cNvPr id="9" name="TextBox 8">
            <a:extLst>
              <a:ext uri="{FF2B5EF4-FFF2-40B4-BE49-F238E27FC236}">
                <a16:creationId xmlns:a16="http://schemas.microsoft.com/office/drawing/2014/main" id="{8F04416C-E339-74C7-3CEB-682A17798048}"/>
              </a:ext>
            </a:extLst>
          </p:cNvPr>
          <p:cNvSpPr txBox="1"/>
          <p:nvPr/>
        </p:nvSpPr>
        <p:spPr>
          <a:xfrm>
            <a:off x="790903" y="1895267"/>
            <a:ext cx="8483099" cy="646331"/>
          </a:xfrm>
          <a:prstGeom prst="rect">
            <a:avLst/>
          </a:prstGeom>
          <a:noFill/>
        </p:spPr>
        <p:txBody>
          <a:bodyPr wrap="square">
            <a:spAutoFit/>
          </a:bodyPr>
          <a:lstStyle/>
          <a:p>
            <a:r>
              <a:rPr lang="en-US" dirty="0"/>
              <a:t>Image compression is the process of reducing the amount of data required to represent an image.</a:t>
            </a:r>
          </a:p>
        </p:txBody>
      </p:sp>
    </p:spTree>
    <p:extLst>
      <p:ext uri="{BB962C8B-B14F-4D97-AF65-F5344CB8AC3E}">
        <p14:creationId xmlns:p14="http://schemas.microsoft.com/office/powerpoint/2010/main" val="15627416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1B367-C98E-3F71-9501-2ADC94582661}"/>
              </a:ext>
            </a:extLst>
          </p:cNvPr>
          <p:cNvSpPr>
            <a:spLocks noGrp="1"/>
          </p:cNvSpPr>
          <p:nvPr>
            <p:ph type="title"/>
          </p:nvPr>
        </p:nvSpPr>
        <p:spPr/>
        <p:txBody>
          <a:bodyPr/>
          <a:lstStyle/>
          <a:p>
            <a:r>
              <a:rPr lang="en-US" dirty="0"/>
              <a:t>Image compression general models</a:t>
            </a:r>
          </a:p>
        </p:txBody>
      </p:sp>
      <p:pic>
        <p:nvPicPr>
          <p:cNvPr id="5" name="Content Placeholder 4">
            <a:extLst>
              <a:ext uri="{FF2B5EF4-FFF2-40B4-BE49-F238E27FC236}">
                <a16:creationId xmlns:a16="http://schemas.microsoft.com/office/drawing/2014/main" id="{6D348858-97B6-D19F-D2EC-7D13B15194B8}"/>
              </a:ext>
            </a:extLst>
          </p:cNvPr>
          <p:cNvPicPr>
            <a:picLocks noGrp="1" noChangeAspect="1"/>
          </p:cNvPicPr>
          <p:nvPr>
            <p:ph idx="1"/>
          </p:nvPr>
        </p:nvPicPr>
        <p:blipFill>
          <a:blip r:embed="rId2"/>
          <a:srcRect b="45076"/>
          <a:stretch/>
        </p:blipFill>
        <p:spPr>
          <a:xfrm>
            <a:off x="1061654" y="1623094"/>
            <a:ext cx="6564631" cy="2502067"/>
          </a:xfrm>
        </p:spPr>
      </p:pic>
      <p:sp>
        <p:nvSpPr>
          <p:cNvPr id="6" name="TextBox 5">
            <a:extLst>
              <a:ext uri="{FF2B5EF4-FFF2-40B4-BE49-F238E27FC236}">
                <a16:creationId xmlns:a16="http://schemas.microsoft.com/office/drawing/2014/main" id="{680293C7-163B-0E25-0021-1058DC5335FB}"/>
              </a:ext>
            </a:extLst>
          </p:cNvPr>
          <p:cNvSpPr txBox="1"/>
          <p:nvPr/>
        </p:nvSpPr>
        <p:spPr>
          <a:xfrm>
            <a:off x="1140642" y="4634741"/>
            <a:ext cx="6363093" cy="1200329"/>
          </a:xfrm>
          <a:prstGeom prst="rect">
            <a:avLst/>
          </a:prstGeom>
          <a:noFill/>
        </p:spPr>
        <p:txBody>
          <a:bodyPr wrap="square" rtlCol="0">
            <a:spAutoFit/>
          </a:bodyPr>
          <a:lstStyle/>
          <a:p>
            <a:r>
              <a:rPr lang="en-US" dirty="0"/>
              <a:t>Some Image compression standard</a:t>
            </a:r>
          </a:p>
          <a:p>
            <a:pPr marL="285750" indent="-285750">
              <a:buFont typeface="Arial" panose="020B0604020202020204" pitchFamily="34" charset="0"/>
              <a:buChar char="•"/>
            </a:pPr>
            <a:r>
              <a:rPr lang="en-US" dirty="0"/>
              <a:t>JPEG-based on DCT   (discrete cosine transform)</a:t>
            </a:r>
          </a:p>
          <a:p>
            <a:pPr marL="285750" indent="-285750">
              <a:buFont typeface="Arial" panose="020B0604020202020204" pitchFamily="34" charset="0"/>
              <a:buChar char="•"/>
            </a:pPr>
            <a:r>
              <a:rPr lang="en-US" dirty="0"/>
              <a:t>JPEG 2000 based on DWT (discrete wavelet transform)</a:t>
            </a:r>
          </a:p>
          <a:p>
            <a:pPr marL="285750" indent="-285750">
              <a:buFont typeface="Arial" panose="020B0604020202020204" pitchFamily="34" charset="0"/>
              <a:buChar char="•"/>
            </a:pPr>
            <a:r>
              <a:rPr lang="en-US" dirty="0"/>
              <a:t>GIF-graphics Interchange Format etc.</a:t>
            </a:r>
          </a:p>
        </p:txBody>
      </p:sp>
    </p:spTree>
    <p:extLst>
      <p:ext uri="{BB962C8B-B14F-4D97-AF65-F5344CB8AC3E}">
        <p14:creationId xmlns:p14="http://schemas.microsoft.com/office/powerpoint/2010/main" val="32902920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9261B-EDBA-D89B-7B51-0C6FAC267FF7}"/>
              </a:ext>
            </a:extLst>
          </p:cNvPr>
          <p:cNvSpPr>
            <a:spLocks noGrp="1"/>
          </p:cNvSpPr>
          <p:nvPr>
            <p:ph type="title"/>
          </p:nvPr>
        </p:nvSpPr>
        <p:spPr/>
        <p:txBody>
          <a:bodyPr/>
          <a:lstStyle/>
          <a:p>
            <a:r>
              <a:rPr lang="en-US" dirty="0"/>
              <a:t>Discrete cosine transform</a:t>
            </a:r>
          </a:p>
        </p:txBody>
      </p:sp>
      <p:sp>
        <p:nvSpPr>
          <p:cNvPr id="3" name="Content Placeholder 2">
            <a:extLst>
              <a:ext uri="{FF2B5EF4-FFF2-40B4-BE49-F238E27FC236}">
                <a16:creationId xmlns:a16="http://schemas.microsoft.com/office/drawing/2014/main" id="{5F1205AF-A254-B8A1-04E8-611031D728BA}"/>
              </a:ext>
            </a:extLst>
          </p:cNvPr>
          <p:cNvSpPr>
            <a:spLocks noGrp="1"/>
          </p:cNvSpPr>
          <p:nvPr>
            <p:ph idx="1"/>
          </p:nvPr>
        </p:nvSpPr>
        <p:spPr/>
        <p:txBody>
          <a:bodyPr/>
          <a:lstStyle/>
          <a:p>
            <a:pPr algn="just"/>
            <a:r>
              <a:rPr lang="en-US" dirty="0"/>
              <a:t>The </a:t>
            </a:r>
            <a:r>
              <a:rPr lang="en-US" b="1" dirty="0"/>
              <a:t>Discrete Cosine Transform (DCT)</a:t>
            </a:r>
            <a:r>
              <a:rPr lang="en-US" dirty="0"/>
              <a:t> is a widely used technique in image and signal processing, especially for compression. It </a:t>
            </a:r>
            <a:r>
              <a:rPr lang="en-US" dirty="0">
                <a:solidFill>
                  <a:srgbClr val="00B050"/>
                </a:solidFill>
              </a:rPr>
              <a:t>transforms</a:t>
            </a:r>
            <a:r>
              <a:rPr lang="en-US" dirty="0"/>
              <a:t> a signal or image from the </a:t>
            </a:r>
            <a:r>
              <a:rPr lang="en-US" b="1" dirty="0">
                <a:solidFill>
                  <a:srgbClr val="00B050"/>
                </a:solidFill>
              </a:rPr>
              <a:t>spatial domain</a:t>
            </a:r>
            <a:r>
              <a:rPr lang="en-US" dirty="0">
                <a:solidFill>
                  <a:srgbClr val="00B050"/>
                </a:solidFill>
              </a:rPr>
              <a:t> (e.g., pixel intensities) to the </a:t>
            </a:r>
            <a:r>
              <a:rPr lang="en-US" b="1" dirty="0">
                <a:solidFill>
                  <a:srgbClr val="00B050"/>
                </a:solidFill>
              </a:rPr>
              <a:t>frequency domain</a:t>
            </a:r>
            <a:r>
              <a:rPr lang="en-US" dirty="0"/>
              <a:t>. The DCT is primarily used in image compression techniques such as </a:t>
            </a:r>
            <a:r>
              <a:rPr lang="en-US" b="1" dirty="0"/>
              <a:t>JPEG</a:t>
            </a:r>
            <a:r>
              <a:rPr lang="en-US" dirty="0"/>
              <a:t> because it has the property of concentrating most of the image's information in a small number of frequency components.</a:t>
            </a:r>
          </a:p>
          <a:p>
            <a:pPr algn="just"/>
            <a:r>
              <a:rPr lang="en-US" dirty="0"/>
              <a:t>DCT transforms a set of data points (e.g., pixels in an image) into a sum of cosine functions oscillating at different frequencies.</a:t>
            </a:r>
          </a:p>
          <a:p>
            <a:pPr algn="just"/>
            <a:r>
              <a:rPr lang="en-US" dirty="0">
                <a:solidFill>
                  <a:srgbClr val="00B050"/>
                </a:solidFill>
              </a:rPr>
              <a:t>In image compression, the DCT is used to decompose an image into its frequency components, where the less important (higher frequency) components can be discarded, significantly reducing the size of the image while maintaining a similar visual appearance</a:t>
            </a:r>
            <a:r>
              <a:rPr lang="en-US" dirty="0"/>
              <a:t>.</a:t>
            </a:r>
          </a:p>
          <a:p>
            <a:endParaRPr lang="en-US" dirty="0"/>
          </a:p>
          <a:p>
            <a:endParaRPr lang="en-US" dirty="0"/>
          </a:p>
          <a:p>
            <a:endParaRPr lang="en-US" dirty="0"/>
          </a:p>
        </p:txBody>
      </p:sp>
    </p:spTree>
    <p:extLst>
      <p:ext uri="{BB962C8B-B14F-4D97-AF65-F5344CB8AC3E}">
        <p14:creationId xmlns:p14="http://schemas.microsoft.com/office/powerpoint/2010/main" val="1405570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5FD69-4791-3114-9AA7-0538F69FF553}"/>
              </a:ext>
            </a:extLst>
          </p:cNvPr>
          <p:cNvSpPr>
            <a:spLocks noGrp="1"/>
          </p:cNvSpPr>
          <p:nvPr>
            <p:ph type="title"/>
          </p:nvPr>
        </p:nvSpPr>
        <p:spPr/>
        <p:txBody>
          <a:bodyPr/>
          <a:lstStyle/>
          <a:p>
            <a:r>
              <a:rPr lang="en-US" dirty="0"/>
              <a:t>2D Discrete Cosine Transform (DCT):</a:t>
            </a:r>
          </a:p>
        </p:txBody>
      </p:sp>
      <p:sp>
        <p:nvSpPr>
          <p:cNvPr id="3" name="Content Placeholder 2">
            <a:extLst>
              <a:ext uri="{FF2B5EF4-FFF2-40B4-BE49-F238E27FC236}">
                <a16:creationId xmlns:a16="http://schemas.microsoft.com/office/drawing/2014/main" id="{2C1F087D-01E1-4943-8015-721C033302BA}"/>
              </a:ext>
            </a:extLst>
          </p:cNvPr>
          <p:cNvSpPr>
            <a:spLocks noGrp="1"/>
          </p:cNvSpPr>
          <p:nvPr>
            <p:ph idx="1"/>
          </p:nvPr>
        </p:nvSpPr>
        <p:spPr>
          <a:xfrm>
            <a:off x="677334" y="2060228"/>
            <a:ext cx="8596668" cy="3880773"/>
          </a:xfrm>
        </p:spPr>
        <p:txBody>
          <a:bodyPr/>
          <a:lstStyle/>
          <a:p>
            <a:r>
              <a:rPr lang="en-US" sz="1600" dirty="0"/>
              <a:t>For images, the </a:t>
            </a:r>
            <a:r>
              <a:rPr lang="en-US" sz="1600" b="1" dirty="0"/>
              <a:t>2D DCT</a:t>
            </a:r>
            <a:r>
              <a:rPr lang="en-US" sz="1600" dirty="0"/>
              <a:t> is used to transform blocks of the image (typically 8x8 pixel blocks). </a:t>
            </a:r>
            <a:r>
              <a:rPr lang="en-US" sz="1600" dirty="0">
                <a:solidFill>
                  <a:srgbClr val="00B050"/>
                </a:solidFill>
              </a:rPr>
              <a:t>The DCT transforms the pixel intensities into a set of frequency coefficients</a:t>
            </a:r>
            <a:r>
              <a:rPr lang="en-US" sz="1600" dirty="0"/>
              <a:t>.</a:t>
            </a:r>
          </a:p>
          <a:p>
            <a:endParaRPr lang="en-US" dirty="0"/>
          </a:p>
        </p:txBody>
      </p:sp>
      <p:pic>
        <p:nvPicPr>
          <p:cNvPr id="5" name="Picture 4">
            <a:extLst>
              <a:ext uri="{FF2B5EF4-FFF2-40B4-BE49-F238E27FC236}">
                <a16:creationId xmlns:a16="http://schemas.microsoft.com/office/drawing/2014/main" id="{BB07B6F0-98CE-673E-51AC-239AC32DB508}"/>
              </a:ext>
            </a:extLst>
          </p:cNvPr>
          <p:cNvPicPr>
            <a:picLocks noChangeAspect="1"/>
          </p:cNvPicPr>
          <p:nvPr/>
        </p:nvPicPr>
        <p:blipFill>
          <a:blip r:embed="rId2"/>
          <a:stretch>
            <a:fillRect/>
          </a:stretch>
        </p:blipFill>
        <p:spPr>
          <a:xfrm>
            <a:off x="1059365" y="2788906"/>
            <a:ext cx="7471317" cy="3979884"/>
          </a:xfrm>
          <a:prstGeom prst="rect">
            <a:avLst/>
          </a:prstGeom>
        </p:spPr>
      </p:pic>
    </p:spTree>
    <p:extLst>
      <p:ext uri="{BB962C8B-B14F-4D97-AF65-F5344CB8AC3E}">
        <p14:creationId xmlns:p14="http://schemas.microsoft.com/office/powerpoint/2010/main" val="8655436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FADF2-9A06-EA9A-49E9-EBE3E891C35B}"/>
              </a:ext>
            </a:extLst>
          </p:cNvPr>
          <p:cNvSpPr>
            <a:spLocks noGrp="1"/>
          </p:cNvSpPr>
          <p:nvPr>
            <p:ph type="title"/>
          </p:nvPr>
        </p:nvSpPr>
        <p:spPr/>
        <p:txBody>
          <a:bodyPr/>
          <a:lstStyle/>
          <a:p>
            <a:r>
              <a:rPr lang="en-US" dirty="0"/>
              <a:t>2D Discrete Cosine Transform (DCT):</a:t>
            </a:r>
          </a:p>
        </p:txBody>
      </p:sp>
      <p:sp>
        <p:nvSpPr>
          <p:cNvPr id="3" name="Content Placeholder 2">
            <a:extLst>
              <a:ext uri="{FF2B5EF4-FFF2-40B4-BE49-F238E27FC236}">
                <a16:creationId xmlns:a16="http://schemas.microsoft.com/office/drawing/2014/main" id="{CF7E586D-6A80-BCEF-FB11-86BDDD940885}"/>
              </a:ext>
            </a:extLst>
          </p:cNvPr>
          <p:cNvSpPr>
            <a:spLocks noGrp="1"/>
          </p:cNvSpPr>
          <p:nvPr>
            <p:ph idx="1"/>
          </p:nvPr>
        </p:nvSpPr>
        <p:spPr>
          <a:xfrm>
            <a:off x="585894" y="1735727"/>
            <a:ext cx="9003876" cy="3880773"/>
          </a:xfrm>
        </p:spPr>
        <p:txBody>
          <a:bodyPr>
            <a:normAutofit lnSpcReduction="10000"/>
          </a:bodyPr>
          <a:lstStyle/>
          <a:p>
            <a:r>
              <a:rPr lang="en-US" dirty="0"/>
              <a:t>Steps in Image Compression with DCT:</a:t>
            </a:r>
          </a:p>
          <a:p>
            <a:endParaRPr lang="en-US" dirty="0"/>
          </a:p>
          <a:p>
            <a:r>
              <a:rPr lang="en-US" dirty="0"/>
              <a:t>1.Block the image: </a:t>
            </a:r>
            <a:r>
              <a:rPr lang="en-US" dirty="0">
                <a:solidFill>
                  <a:srgbClr val="00B050"/>
                </a:solidFill>
              </a:rPr>
              <a:t>Split the image into non-overlapping 8x8 blocks</a:t>
            </a:r>
            <a:r>
              <a:rPr lang="en-US" dirty="0"/>
              <a:t>.</a:t>
            </a:r>
          </a:p>
          <a:p>
            <a:r>
              <a:rPr lang="en-US" dirty="0"/>
              <a:t>2. Apply 2D DCT: </a:t>
            </a:r>
            <a:r>
              <a:rPr lang="en-US" dirty="0">
                <a:solidFill>
                  <a:srgbClr val="00B050"/>
                </a:solidFill>
              </a:rPr>
              <a:t>For each block, compute the DCT </a:t>
            </a:r>
            <a:r>
              <a:rPr lang="en-US" dirty="0"/>
              <a:t>to transform the spatial domain pixel values into frequency domain coefficients.</a:t>
            </a:r>
          </a:p>
          <a:p>
            <a:r>
              <a:rPr lang="en-US" dirty="0"/>
              <a:t>3.Quantization: </a:t>
            </a:r>
            <a:r>
              <a:rPr lang="en-US" dirty="0">
                <a:solidFill>
                  <a:srgbClr val="00B050"/>
                </a:solidFill>
              </a:rPr>
              <a:t>The DCT coefficients are quantized to reduce the amount of data</a:t>
            </a:r>
            <a:r>
              <a:rPr lang="en-US" dirty="0"/>
              <a:t>. This step introduces compression by discarding less important high-frequency components.</a:t>
            </a:r>
          </a:p>
          <a:p>
            <a:r>
              <a:rPr lang="en-US" dirty="0"/>
              <a:t>4.Zigzag scan: </a:t>
            </a:r>
            <a:r>
              <a:rPr lang="en-US" dirty="0">
                <a:solidFill>
                  <a:srgbClr val="00B050"/>
                </a:solidFill>
              </a:rPr>
              <a:t>The quantized coefficients are ordered in a zigzag pattern to prioritize low-frequency coefficients</a:t>
            </a:r>
            <a:r>
              <a:rPr lang="en-US" dirty="0"/>
              <a:t>.</a:t>
            </a:r>
          </a:p>
          <a:p>
            <a:r>
              <a:rPr lang="en-US" dirty="0"/>
              <a:t>5.Entropy encoding: </a:t>
            </a:r>
            <a:r>
              <a:rPr lang="en-US" dirty="0">
                <a:solidFill>
                  <a:srgbClr val="00B050"/>
                </a:solidFill>
              </a:rPr>
              <a:t>Techniques like Huffman coding are applied to further compress the data.</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42477511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AFA6C-C9AE-37C2-1135-6CB95D8ADFB2}"/>
              </a:ext>
            </a:extLst>
          </p:cNvPr>
          <p:cNvSpPr>
            <a:spLocks noGrp="1"/>
          </p:cNvSpPr>
          <p:nvPr>
            <p:ph type="title"/>
          </p:nvPr>
        </p:nvSpPr>
        <p:spPr/>
        <p:txBody>
          <a:bodyPr/>
          <a:lstStyle/>
          <a:p>
            <a:r>
              <a:rPr lang="en-US" dirty="0"/>
              <a:t>DCT Example</a:t>
            </a:r>
          </a:p>
        </p:txBody>
      </p:sp>
      <p:pic>
        <p:nvPicPr>
          <p:cNvPr id="5" name="Content Placeholder 4">
            <a:extLst>
              <a:ext uri="{FF2B5EF4-FFF2-40B4-BE49-F238E27FC236}">
                <a16:creationId xmlns:a16="http://schemas.microsoft.com/office/drawing/2014/main" id="{84DDD82E-D034-FF39-3267-6A7BA2D4784E}"/>
              </a:ext>
            </a:extLst>
          </p:cNvPr>
          <p:cNvPicPr>
            <a:picLocks noGrp="1" noChangeAspect="1"/>
          </p:cNvPicPr>
          <p:nvPr>
            <p:ph idx="1"/>
          </p:nvPr>
        </p:nvPicPr>
        <p:blipFill>
          <a:blip r:embed="rId2"/>
          <a:stretch>
            <a:fillRect/>
          </a:stretch>
        </p:blipFill>
        <p:spPr>
          <a:xfrm>
            <a:off x="772756" y="3592073"/>
            <a:ext cx="8501246" cy="3030371"/>
          </a:xfrm>
          <a:prstGeom prst="rect">
            <a:avLst/>
          </a:prstGeom>
        </p:spPr>
      </p:pic>
      <p:pic>
        <p:nvPicPr>
          <p:cNvPr id="6" name="Picture 5">
            <a:extLst>
              <a:ext uri="{FF2B5EF4-FFF2-40B4-BE49-F238E27FC236}">
                <a16:creationId xmlns:a16="http://schemas.microsoft.com/office/drawing/2014/main" id="{D28BE0FC-0D76-9B2E-088E-D1AAD09EC4AC}"/>
              </a:ext>
            </a:extLst>
          </p:cNvPr>
          <p:cNvPicPr>
            <a:picLocks noChangeAspect="1"/>
          </p:cNvPicPr>
          <p:nvPr/>
        </p:nvPicPr>
        <p:blipFill>
          <a:blip r:embed="rId3"/>
          <a:stretch>
            <a:fillRect/>
          </a:stretch>
        </p:blipFill>
        <p:spPr>
          <a:xfrm>
            <a:off x="1103584" y="1561170"/>
            <a:ext cx="3278846" cy="1813009"/>
          </a:xfrm>
          <a:prstGeom prst="rect">
            <a:avLst/>
          </a:prstGeom>
        </p:spPr>
      </p:pic>
      <p:sp>
        <p:nvSpPr>
          <p:cNvPr id="7" name="TextBox 6">
            <a:extLst>
              <a:ext uri="{FF2B5EF4-FFF2-40B4-BE49-F238E27FC236}">
                <a16:creationId xmlns:a16="http://schemas.microsoft.com/office/drawing/2014/main" id="{1289AEB7-5198-F3E3-FAD8-EC1BEAB1767B}"/>
              </a:ext>
            </a:extLst>
          </p:cNvPr>
          <p:cNvSpPr txBox="1"/>
          <p:nvPr/>
        </p:nvSpPr>
        <p:spPr>
          <a:xfrm>
            <a:off x="5018049" y="2453268"/>
            <a:ext cx="2286000" cy="369332"/>
          </a:xfrm>
          <a:prstGeom prst="rect">
            <a:avLst/>
          </a:prstGeom>
          <a:noFill/>
        </p:spPr>
        <p:txBody>
          <a:bodyPr wrap="square" rtlCol="0">
            <a:spAutoFit/>
          </a:bodyPr>
          <a:lstStyle/>
          <a:p>
            <a:r>
              <a:rPr lang="en-US" dirty="0"/>
              <a:t>Color image</a:t>
            </a:r>
          </a:p>
        </p:txBody>
      </p:sp>
    </p:spTree>
    <p:extLst>
      <p:ext uri="{BB962C8B-B14F-4D97-AF65-F5344CB8AC3E}">
        <p14:creationId xmlns:p14="http://schemas.microsoft.com/office/powerpoint/2010/main" val="248382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00D5E-1CD1-A6B2-0E5E-59DB1028AC2E}"/>
              </a:ext>
            </a:extLst>
          </p:cNvPr>
          <p:cNvSpPr>
            <a:spLocks noGrp="1"/>
          </p:cNvSpPr>
          <p:nvPr>
            <p:ph type="title"/>
          </p:nvPr>
        </p:nvSpPr>
        <p:spPr/>
        <p:txBody>
          <a:bodyPr/>
          <a:lstStyle/>
          <a:p>
            <a:r>
              <a:rPr lang="en-US" dirty="0"/>
              <a:t>DCT Example</a:t>
            </a:r>
          </a:p>
        </p:txBody>
      </p:sp>
      <p:sp>
        <p:nvSpPr>
          <p:cNvPr id="3" name="Content Placeholder 2">
            <a:extLst>
              <a:ext uri="{FF2B5EF4-FFF2-40B4-BE49-F238E27FC236}">
                <a16:creationId xmlns:a16="http://schemas.microsoft.com/office/drawing/2014/main" id="{8AB84EED-7ED0-C2EB-DAC2-A5C6BBCB5008}"/>
              </a:ext>
            </a:extLst>
          </p:cNvPr>
          <p:cNvSpPr>
            <a:spLocks noGrp="1"/>
          </p:cNvSpPr>
          <p:nvPr>
            <p:ph idx="1"/>
          </p:nvPr>
        </p:nvSpPr>
        <p:spPr>
          <a:xfrm>
            <a:off x="677334" y="1672683"/>
            <a:ext cx="8596668" cy="4368679"/>
          </a:xfrm>
        </p:spPr>
        <p:txBody>
          <a:bodyPr>
            <a:normAutofit fontScale="92500" lnSpcReduction="10000"/>
          </a:bodyPr>
          <a:lstStyle/>
          <a:p>
            <a:pPr marL="0" indent="0">
              <a:buNone/>
            </a:pPr>
            <a:r>
              <a:rPr lang="en-US" sz="1400" dirty="0"/>
              <a:t> % Read the image</a:t>
            </a:r>
          </a:p>
          <a:p>
            <a:pPr marL="0" indent="0">
              <a:buNone/>
            </a:pPr>
            <a:r>
              <a:rPr lang="en-US" sz="1400" dirty="0"/>
              <a:t>I = </a:t>
            </a:r>
            <a:r>
              <a:rPr lang="en-US" sz="1400" dirty="0" err="1"/>
              <a:t>imread</a:t>
            </a:r>
            <a:r>
              <a:rPr lang="en-US" sz="1400" dirty="0"/>
              <a:t>('12.jpg');</a:t>
            </a:r>
          </a:p>
          <a:p>
            <a:pPr marL="0" indent="0">
              <a:buNone/>
            </a:pPr>
            <a:r>
              <a:rPr lang="en-US" sz="1400" dirty="0" err="1"/>
              <a:t>I_gray</a:t>
            </a:r>
            <a:r>
              <a:rPr lang="en-US" sz="1400" dirty="0"/>
              <a:t> = rgb2gray(I); % Convert to grayscale if it's a color image</a:t>
            </a:r>
          </a:p>
          <a:p>
            <a:pPr marL="0" indent="0">
              <a:buNone/>
            </a:pPr>
            <a:r>
              <a:rPr lang="en-US" sz="1400" dirty="0"/>
              <a:t>% Perform DCT on the 8x8 blocks</a:t>
            </a:r>
          </a:p>
          <a:p>
            <a:pPr marL="0" indent="0">
              <a:buNone/>
            </a:pPr>
            <a:r>
              <a:rPr lang="en-US" sz="1400" dirty="0" err="1"/>
              <a:t>block_size</a:t>
            </a:r>
            <a:r>
              <a:rPr lang="en-US" sz="1400" dirty="0"/>
              <a:t> = 8;</a:t>
            </a:r>
          </a:p>
          <a:p>
            <a:pPr marL="0" indent="0">
              <a:buNone/>
            </a:pPr>
            <a:r>
              <a:rPr lang="en-US" sz="1400" dirty="0" err="1"/>
              <a:t>dct_transform</a:t>
            </a:r>
            <a:r>
              <a:rPr lang="en-US" sz="1400" dirty="0"/>
              <a:t> = @(block_struct) dct2(</a:t>
            </a:r>
            <a:r>
              <a:rPr lang="en-US" sz="1400" dirty="0" err="1"/>
              <a:t>block_struct.data</a:t>
            </a:r>
            <a:r>
              <a:rPr lang="en-US" sz="1400" dirty="0"/>
              <a:t>);</a:t>
            </a:r>
          </a:p>
          <a:p>
            <a:pPr marL="0" indent="0">
              <a:buNone/>
            </a:pPr>
            <a:r>
              <a:rPr lang="en-US" sz="1400" dirty="0" err="1"/>
              <a:t>DCT_image</a:t>
            </a:r>
            <a:r>
              <a:rPr lang="en-US" sz="1400" dirty="0"/>
              <a:t> = </a:t>
            </a:r>
            <a:r>
              <a:rPr lang="en-US" sz="1400" dirty="0" err="1"/>
              <a:t>blockproc</a:t>
            </a:r>
            <a:r>
              <a:rPr lang="en-US" sz="1400" dirty="0"/>
              <a:t>(</a:t>
            </a:r>
            <a:r>
              <a:rPr lang="en-US" sz="1400" dirty="0" err="1"/>
              <a:t>I_gray</a:t>
            </a:r>
            <a:r>
              <a:rPr lang="en-US" sz="1400" dirty="0"/>
              <a:t>, [</a:t>
            </a:r>
            <a:r>
              <a:rPr lang="en-US" sz="1400" dirty="0" err="1"/>
              <a:t>block_size</a:t>
            </a:r>
            <a:r>
              <a:rPr lang="en-US" sz="1400" dirty="0"/>
              <a:t> </a:t>
            </a:r>
            <a:r>
              <a:rPr lang="en-US" sz="1400" dirty="0" err="1"/>
              <a:t>block_size</a:t>
            </a:r>
            <a:r>
              <a:rPr lang="en-US" sz="1400" dirty="0"/>
              <a:t>], </a:t>
            </a:r>
            <a:r>
              <a:rPr lang="en-US" sz="1400" dirty="0" err="1"/>
              <a:t>dct_transform</a:t>
            </a:r>
            <a:r>
              <a:rPr lang="en-US" sz="1400" dirty="0"/>
              <a:t>);  %%computes the 2D DCT in MATLAB.</a:t>
            </a:r>
          </a:p>
          <a:p>
            <a:pPr marL="0" indent="0">
              <a:buNone/>
            </a:pPr>
            <a:r>
              <a:rPr lang="en-US" sz="1400" dirty="0"/>
              <a:t>% Display original and DCT-transformed images</a:t>
            </a:r>
          </a:p>
          <a:p>
            <a:pPr marL="0" indent="0">
              <a:buNone/>
            </a:pPr>
            <a:r>
              <a:rPr lang="en-US" sz="1400" dirty="0"/>
              <a:t>subplot(1, 2, 1);</a:t>
            </a:r>
          </a:p>
          <a:p>
            <a:pPr marL="0" indent="0">
              <a:buNone/>
            </a:pPr>
            <a:r>
              <a:rPr lang="en-US" sz="1400" dirty="0" err="1"/>
              <a:t>imshow</a:t>
            </a:r>
            <a:r>
              <a:rPr lang="en-US" sz="1400" dirty="0"/>
              <a:t>(</a:t>
            </a:r>
            <a:r>
              <a:rPr lang="en-US" sz="1400" dirty="0" err="1"/>
              <a:t>I_gray</a:t>
            </a:r>
            <a:r>
              <a:rPr lang="en-US" sz="1400" dirty="0"/>
              <a:t>);</a:t>
            </a:r>
          </a:p>
          <a:p>
            <a:pPr marL="0" indent="0">
              <a:buNone/>
            </a:pPr>
            <a:r>
              <a:rPr lang="en-US" sz="1400" dirty="0"/>
              <a:t>title('Original Image');</a:t>
            </a:r>
          </a:p>
          <a:p>
            <a:pPr marL="0" indent="0">
              <a:buNone/>
            </a:pPr>
            <a:r>
              <a:rPr lang="en-US" sz="1400" dirty="0"/>
              <a:t> subplot(1, 2, 2);</a:t>
            </a:r>
          </a:p>
          <a:p>
            <a:pPr marL="0" indent="0">
              <a:buNone/>
            </a:pPr>
            <a:r>
              <a:rPr lang="en-US" sz="1400" dirty="0" err="1"/>
              <a:t>imshow</a:t>
            </a:r>
            <a:r>
              <a:rPr lang="en-US" sz="1400" dirty="0"/>
              <a:t>(log(abs(</a:t>
            </a:r>
            <a:r>
              <a:rPr lang="en-US" sz="1400" dirty="0" err="1"/>
              <a:t>DCT_image</a:t>
            </a:r>
            <a:r>
              <a:rPr lang="en-US" sz="1400" dirty="0"/>
              <a:t>)), []);</a:t>
            </a:r>
          </a:p>
          <a:p>
            <a:pPr marL="0" indent="0">
              <a:buNone/>
            </a:pPr>
            <a:r>
              <a:rPr lang="en-US" sz="1400" dirty="0"/>
              <a:t>title('DCT Transformed Image');</a:t>
            </a:r>
          </a:p>
        </p:txBody>
      </p:sp>
    </p:spTree>
    <p:extLst>
      <p:ext uri="{BB962C8B-B14F-4D97-AF65-F5344CB8AC3E}">
        <p14:creationId xmlns:p14="http://schemas.microsoft.com/office/powerpoint/2010/main" val="20541880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3587B-61B0-3DB9-F19A-13B3FC72D160}"/>
              </a:ext>
            </a:extLst>
          </p:cNvPr>
          <p:cNvSpPr>
            <a:spLocks noGrp="1"/>
          </p:cNvSpPr>
          <p:nvPr>
            <p:ph type="title"/>
          </p:nvPr>
        </p:nvSpPr>
        <p:spPr/>
        <p:txBody>
          <a:bodyPr/>
          <a:lstStyle/>
          <a:p>
            <a:r>
              <a:rPr lang="en-US" altLang="en-US" dirty="0"/>
              <a:t>Information recovery</a:t>
            </a:r>
            <a:endParaRPr lang="en-US" dirty="0"/>
          </a:p>
        </p:txBody>
      </p:sp>
      <p:sp>
        <p:nvSpPr>
          <p:cNvPr id="3" name="Content Placeholder 2">
            <a:extLst>
              <a:ext uri="{FF2B5EF4-FFF2-40B4-BE49-F238E27FC236}">
                <a16:creationId xmlns:a16="http://schemas.microsoft.com/office/drawing/2014/main" id="{15A89E6E-4C86-0A5B-A177-433DAA1FF309}"/>
              </a:ext>
            </a:extLst>
          </p:cNvPr>
          <p:cNvSpPr>
            <a:spLocks noGrp="1"/>
          </p:cNvSpPr>
          <p:nvPr>
            <p:ph idx="1"/>
          </p:nvPr>
        </p:nvSpPr>
        <p:spPr>
          <a:xfrm>
            <a:off x="875297" y="3550895"/>
            <a:ext cx="8596668" cy="1320800"/>
          </a:xfrm>
        </p:spPr>
        <p:txBody>
          <a:bodyPr/>
          <a:lstStyle/>
          <a:p>
            <a:pPr>
              <a:lnSpc>
                <a:spcPct val="90000"/>
              </a:lnSpc>
            </a:pPr>
            <a:r>
              <a:rPr lang="en-US" altLang="en-US" sz="1800" dirty="0"/>
              <a:t>We want to recover the information, with reduced data volumes.  </a:t>
            </a:r>
          </a:p>
          <a:p>
            <a:pPr>
              <a:lnSpc>
                <a:spcPct val="90000"/>
              </a:lnSpc>
            </a:pPr>
            <a:r>
              <a:rPr lang="en-US" altLang="en-US" sz="1800" dirty="0"/>
              <a:t>Reduce data redundancy.</a:t>
            </a:r>
          </a:p>
          <a:p>
            <a:pPr>
              <a:lnSpc>
                <a:spcPct val="90000"/>
              </a:lnSpc>
            </a:pPr>
            <a:r>
              <a:rPr lang="en-US" altLang="en-US" sz="1800" dirty="0"/>
              <a:t>How to measure the data redundancy.</a:t>
            </a:r>
          </a:p>
          <a:p>
            <a:endParaRPr lang="en-US" dirty="0"/>
          </a:p>
        </p:txBody>
      </p:sp>
      <p:sp>
        <p:nvSpPr>
          <p:cNvPr id="4" name="Rectangle 3">
            <a:extLst>
              <a:ext uri="{FF2B5EF4-FFF2-40B4-BE49-F238E27FC236}">
                <a16:creationId xmlns:a16="http://schemas.microsoft.com/office/drawing/2014/main" id="{FC443F82-73AA-96BB-DAA7-4292F0ECE1C0}"/>
              </a:ext>
            </a:extLst>
          </p:cNvPr>
          <p:cNvSpPr>
            <a:spLocks noChangeArrowheads="1"/>
          </p:cNvSpPr>
          <p:nvPr/>
        </p:nvSpPr>
        <p:spPr bwMode="auto">
          <a:xfrm>
            <a:off x="2858873" y="2123781"/>
            <a:ext cx="1676400" cy="838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algn="ctr"/>
            <a:r>
              <a:rPr lang="en-US" altLang="en-US"/>
              <a:t>Processing</a:t>
            </a:r>
          </a:p>
        </p:txBody>
      </p:sp>
      <p:sp>
        <p:nvSpPr>
          <p:cNvPr id="5" name="Line 7">
            <a:extLst>
              <a:ext uri="{FF2B5EF4-FFF2-40B4-BE49-F238E27FC236}">
                <a16:creationId xmlns:a16="http://schemas.microsoft.com/office/drawing/2014/main" id="{E95A6D9A-2629-7414-C453-0F107E5D0E77}"/>
              </a:ext>
            </a:extLst>
          </p:cNvPr>
          <p:cNvSpPr>
            <a:spLocks noChangeShapeType="1"/>
          </p:cNvSpPr>
          <p:nvPr/>
        </p:nvSpPr>
        <p:spPr bwMode="auto">
          <a:xfrm>
            <a:off x="4535273" y="2580981"/>
            <a:ext cx="990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algn="l" rtl="0" fontAlgn="base">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endParaRPr lang="en-US"/>
          </a:p>
        </p:txBody>
      </p:sp>
      <p:sp>
        <p:nvSpPr>
          <p:cNvPr id="6" name="Text Box 8">
            <a:extLst>
              <a:ext uri="{FF2B5EF4-FFF2-40B4-BE49-F238E27FC236}">
                <a16:creationId xmlns:a16="http://schemas.microsoft.com/office/drawing/2014/main" id="{9AF6E2B3-A0F2-922C-C8BB-40C8E123ACEB}"/>
              </a:ext>
            </a:extLst>
          </p:cNvPr>
          <p:cNvSpPr txBox="1">
            <a:spLocks noChangeArrowheads="1"/>
          </p:cNvSpPr>
          <p:nvPr/>
        </p:nvSpPr>
        <p:spPr bwMode="auto">
          <a:xfrm>
            <a:off x="1033248" y="2314281"/>
            <a:ext cx="7588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lgn="l" rtl="0" fontAlgn="base">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r>
              <a:rPr lang="en-US" altLang="en-US" dirty="0"/>
              <a:t>Data</a:t>
            </a:r>
          </a:p>
        </p:txBody>
      </p:sp>
      <p:sp>
        <p:nvSpPr>
          <p:cNvPr id="7" name="Text Box 9">
            <a:extLst>
              <a:ext uri="{FF2B5EF4-FFF2-40B4-BE49-F238E27FC236}">
                <a16:creationId xmlns:a16="http://schemas.microsoft.com/office/drawing/2014/main" id="{10F45516-AF06-CAAE-6B39-7D0042A51641}"/>
              </a:ext>
            </a:extLst>
          </p:cNvPr>
          <p:cNvSpPr txBox="1">
            <a:spLocks noChangeArrowheads="1"/>
          </p:cNvSpPr>
          <p:nvPr/>
        </p:nvSpPr>
        <p:spPr bwMode="auto">
          <a:xfrm>
            <a:off x="5602073" y="2352381"/>
            <a:ext cx="1638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lgn="l" rtl="0" fontAlgn="base">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r>
              <a:rPr lang="en-US" altLang="en-US"/>
              <a:t>Information</a:t>
            </a:r>
          </a:p>
        </p:txBody>
      </p:sp>
      <p:cxnSp>
        <p:nvCxnSpPr>
          <p:cNvPr id="9" name="Straight Arrow Connector 8">
            <a:extLst>
              <a:ext uri="{FF2B5EF4-FFF2-40B4-BE49-F238E27FC236}">
                <a16:creationId xmlns:a16="http://schemas.microsoft.com/office/drawing/2014/main" id="{D6AC7793-22A3-5DE4-6C63-11FCD0755313}"/>
              </a:ext>
            </a:extLst>
          </p:cNvPr>
          <p:cNvCxnSpPr>
            <a:stCxn id="6" idx="3"/>
            <a:endCxn id="4" idx="1"/>
          </p:cNvCxnSpPr>
          <p:nvPr/>
        </p:nvCxnSpPr>
        <p:spPr>
          <a:xfrm>
            <a:off x="1792073" y="2542881"/>
            <a:ext cx="1066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D7F873C9-9C4C-5FCC-549F-22BDAAE45E73}"/>
              </a:ext>
            </a:extLst>
          </p:cNvPr>
          <p:cNvPicPr>
            <a:picLocks noChangeAspect="1"/>
          </p:cNvPicPr>
          <p:nvPr/>
        </p:nvPicPr>
        <p:blipFill>
          <a:blip r:embed="rId2"/>
          <a:stretch>
            <a:fillRect/>
          </a:stretch>
        </p:blipFill>
        <p:spPr>
          <a:xfrm>
            <a:off x="1297749" y="4871695"/>
            <a:ext cx="4427604" cy="1510997"/>
          </a:xfrm>
          <a:prstGeom prst="rect">
            <a:avLst/>
          </a:prstGeom>
        </p:spPr>
      </p:pic>
    </p:spTree>
    <p:extLst>
      <p:ext uri="{BB962C8B-B14F-4D97-AF65-F5344CB8AC3E}">
        <p14:creationId xmlns:p14="http://schemas.microsoft.com/office/powerpoint/2010/main" val="2527959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3587B-61B0-3DB9-F19A-13B3FC72D160}"/>
              </a:ext>
            </a:extLst>
          </p:cNvPr>
          <p:cNvSpPr>
            <a:spLocks noGrp="1"/>
          </p:cNvSpPr>
          <p:nvPr>
            <p:ph type="title"/>
          </p:nvPr>
        </p:nvSpPr>
        <p:spPr/>
        <p:txBody>
          <a:bodyPr/>
          <a:lstStyle/>
          <a:p>
            <a:r>
              <a:rPr lang="en-US" altLang="en-US" dirty="0"/>
              <a:t>Relative Data Redundancy</a:t>
            </a:r>
            <a:endParaRPr lang="en-US" dirty="0"/>
          </a:p>
        </p:txBody>
      </p:sp>
      <p:sp>
        <p:nvSpPr>
          <p:cNvPr id="3" name="Content Placeholder 2">
            <a:extLst>
              <a:ext uri="{FF2B5EF4-FFF2-40B4-BE49-F238E27FC236}">
                <a16:creationId xmlns:a16="http://schemas.microsoft.com/office/drawing/2014/main" id="{15A89E6E-4C86-0A5B-A177-433DAA1FF309}"/>
              </a:ext>
            </a:extLst>
          </p:cNvPr>
          <p:cNvSpPr>
            <a:spLocks noGrp="1"/>
          </p:cNvSpPr>
          <p:nvPr>
            <p:ph idx="1"/>
          </p:nvPr>
        </p:nvSpPr>
        <p:spPr/>
        <p:txBody>
          <a:bodyPr>
            <a:normAutofit fontScale="92500" lnSpcReduction="10000"/>
          </a:bodyPr>
          <a:lstStyle/>
          <a:p>
            <a:r>
              <a:rPr lang="en-US" altLang="en-US" sz="2800" dirty="0"/>
              <a:t>Assume that we have two data sets D</a:t>
            </a:r>
            <a:r>
              <a:rPr lang="en-US" altLang="en-US" sz="2800" baseline="-25000" dirty="0"/>
              <a:t>1</a:t>
            </a:r>
            <a:r>
              <a:rPr lang="en-US" altLang="en-US" sz="2800" dirty="0"/>
              <a:t> and D</a:t>
            </a:r>
            <a:r>
              <a:rPr lang="en-US" altLang="en-US" sz="2800" baseline="-25000" dirty="0"/>
              <a:t>2</a:t>
            </a:r>
            <a:r>
              <a:rPr lang="en-US" altLang="en-US" sz="2800" dirty="0"/>
              <a:t>.</a:t>
            </a:r>
          </a:p>
          <a:p>
            <a:pPr lvl="1"/>
            <a:r>
              <a:rPr lang="en-US" altLang="en-US" sz="2400" dirty="0"/>
              <a:t>Both on processing yield the same information.</a:t>
            </a:r>
          </a:p>
          <a:p>
            <a:pPr lvl="1"/>
            <a:r>
              <a:rPr lang="en-US" altLang="en-US" sz="2400" dirty="0"/>
              <a:t>Let n</a:t>
            </a:r>
            <a:r>
              <a:rPr lang="en-US" altLang="en-US" sz="2400" baseline="-25000" dirty="0"/>
              <a:t>1</a:t>
            </a:r>
            <a:r>
              <a:rPr lang="en-US" altLang="en-US" sz="2400" dirty="0"/>
              <a:t> and n</a:t>
            </a:r>
            <a:r>
              <a:rPr lang="en-US" altLang="en-US" sz="2400" baseline="-25000" dirty="0"/>
              <a:t>2</a:t>
            </a:r>
            <a:r>
              <a:rPr lang="en-US" altLang="en-US" sz="2400" dirty="0"/>
              <a:t> be the info – carrying units of the respective data sets.</a:t>
            </a:r>
          </a:p>
          <a:p>
            <a:pPr lvl="1"/>
            <a:r>
              <a:rPr lang="en-US" altLang="en-US" sz="2400" dirty="0"/>
              <a:t>Relative data redundancy is defined on comparing the relative dataset sizes</a:t>
            </a:r>
          </a:p>
          <a:p>
            <a:pPr>
              <a:buFontTx/>
              <a:buNone/>
            </a:pPr>
            <a:r>
              <a:rPr lang="en-US" altLang="en-US" sz="2800" dirty="0"/>
              <a:t>		</a:t>
            </a:r>
            <a:r>
              <a:rPr lang="en-US" altLang="en-US" sz="2600" dirty="0"/>
              <a:t>R</a:t>
            </a:r>
            <a:r>
              <a:rPr lang="en-US" altLang="en-US" sz="2600" baseline="-25000" dirty="0"/>
              <a:t>D</a:t>
            </a:r>
            <a:r>
              <a:rPr lang="en-US" altLang="en-US" sz="2600" dirty="0"/>
              <a:t> = 1 – 1/C</a:t>
            </a:r>
            <a:r>
              <a:rPr lang="en-US" altLang="en-US" sz="2600" baseline="-25000" dirty="0"/>
              <a:t>R</a:t>
            </a:r>
          </a:p>
          <a:p>
            <a:pPr>
              <a:buFontTx/>
              <a:buNone/>
            </a:pPr>
            <a:r>
              <a:rPr lang="en-US" altLang="en-US" sz="2600" dirty="0"/>
              <a:t>		where C</a:t>
            </a:r>
            <a:r>
              <a:rPr lang="en-US" altLang="en-US" sz="2600" baseline="-25000" dirty="0"/>
              <a:t>R </a:t>
            </a:r>
            <a:r>
              <a:rPr lang="en-US" altLang="en-US" sz="2600" dirty="0"/>
              <a:t>is the compression ratio</a:t>
            </a:r>
          </a:p>
          <a:p>
            <a:pPr>
              <a:buFontTx/>
              <a:buNone/>
            </a:pPr>
            <a:r>
              <a:rPr lang="en-US" altLang="en-US" sz="2600" dirty="0"/>
              <a:t>		 C</a:t>
            </a:r>
            <a:r>
              <a:rPr lang="en-US" altLang="en-US" sz="2600" baseline="-25000" dirty="0"/>
              <a:t>R</a:t>
            </a:r>
            <a:r>
              <a:rPr lang="en-US" altLang="en-US" sz="2600" dirty="0"/>
              <a:t> =  n</a:t>
            </a:r>
            <a:r>
              <a:rPr lang="en-US" altLang="en-US" sz="2600" baseline="-25000" dirty="0"/>
              <a:t>1 </a:t>
            </a:r>
            <a:r>
              <a:rPr lang="en-US" altLang="en-US" sz="2600" dirty="0"/>
              <a:t>/ n</a:t>
            </a:r>
            <a:r>
              <a:rPr lang="en-US" altLang="en-US" sz="2600" baseline="-25000" dirty="0"/>
              <a:t>2</a:t>
            </a:r>
          </a:p>
          <a:p>
            <a:endParaRPr lang="en-US" dirty="0"/>
          </a:p>
        </p:txBody>
      </p:sp>
    </p:spTree>
    <p:extLst>
      <p:ext uri="{BB962C8B-B14F-4D97-AF65-F5344CB8AC3E}">
        <p14:creationId xmlns:p14="http://schemas.microsoft.com/office/powerpoint/2010/main" val="590555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7114B-20E5-4503-08BB-843D4DF4AEB9}"/>
              </a:ext>
            </a:extLst>
          </p:cNvPr>
          <p:cNvSpPr>
            <a:spLocks noGrp="1"/>
          </p:cNvSpPr>
          <p:nvPr>
            <p:ph type="title"/>
          </p:nvPr>
        </p:nvSpPr>
        <p:spPr/>
        <p:txBody>
          <a:bodyPr/>
          <a:lstStyle/>
          <a:p>
            <a:r>
              <a:rPr lang="en-US" altLang="en-US" dirty="0"/>
              <a:t>Relative Data Redundancy</a:t>
            </a:r>
            <a:endParaRPr lang="en-US" dirty="0"/>
          </a:p>
        </p:txBody>
      </p:sp>
      <p:pic>
        <p:nvPicPr>
          <p:cNvPr id="5" name="Content Placeholder 4">
            <a:extLst>
              <a:ext uri="{FF2B5EF4-FFF2-40B4-BE49-F238E27FC236}">
                <a16:creationId xmlns:a16="http://schemas.microsoft.com/office/drawing/2014/main" id="{4952F31B-A50E-C7BA-07E5-ADFEC3E13747}"/>
              </a:ext>
            </a:extLst>
          </p:cNvPr>
          <p:cNvPicPr>
            <a:picLocks noGrp="1" noChangeAspect="1"/>
          </p:cNvPicPr>
          <p:nvPr>
            <p:ph idx="1"/>
          </p:nvPr>
        </p:nvPicPr>
        <p:blipFill>
          <a:blip r:embed="rId2"/>
          <a:stretch>
            <a:fillRect/>
          </a:stretch>
        </p:blipFill>
        <p:spPr>
          <a:xfrm>
            <a:off x="342861" y="1414215"/>
            <a:ext cx="7973726" cy="5359564"/>
          </a:xfrm>
        </p:spPr>
      </p:pic>
    </p:spTree>
    <p:extLst>
      <p:ext uri="{BB962C8B-B14F-4D97-AF65-F5344CB8AC3E}">
        <p14:creationId xmlns:p14="http://schemas.microsoft.com/office/powerpoint/2010/main" val="28652590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78613-DE8F-349C-C723-E243D344AD51}"/>
              </a:ext>
            </a:extLst>
          </p:cNvPr>
          <p:cNvSpPr>
            <a:spLocks noGrp="1"/>
          </p:cNvSpPr>
          <p:nvPr>
            <p:ph type="title"/>
          </p:nvPr>
        </p:nvSpPr>
        <p:spPr/>
        <p:txBody>
          <a:bodyPr/>
          <a:lstStyle/>
          <a:p>
            <a:r>
              <a:rPr lang="en-US" dirty="0"/>
              <a:t>Code lossy</a:t>
            </a:r>
          </a:p>
        </p:txBody>
      </p:sp>
      <p:sp>
        <p:nvSpPr>
          <p:cNvPr id="4" name="Rectangle 1">
            <a:extLst>
              <a:ext uri="{FF2B5EF4-FFF2-40B4-BE49-F238E27FC236}">
                <a16:creationId xmlns:a16="http://schemas.microsoft.com/office/drawing/2014/main" id="{0496199C-A4A0-3E64-82A5-AF828AF4003E}"/>
              </a:ext>
            </a:extLst>
          </p:cNvPr>
          <p:cNvSpPr>
            <a:spLocks noGrp="1" noChangeArrowheads="1"/>
          </p:cNvSpPr>
          <p:nvPr>
            <p:ph idx="1"/>
          </p:nvPr>
        </p:nvSpPr>
        <p:spPr bwMode="auto">
          <a:xfrm>
            <a:off x="677334" y="1556158"/>
            <a:ext cx="7899107" cy="4185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enlo"/>
              </a:rPr>
              <a:t>&gt;&gt; </a:t>
            </a:r>
            <a:r>
              <a:rPr kumimoji="0" lang="en-US" altLang="en-US" sz="1600" b="0" i="0" u="none" strike="noStrike" cap="none" normalizeH="0" baseline="0" dirty="0" err="1">
                <a:ln>
                  <a:noFill/>
                </a:ln>
                <a:solidFill>
                  <a:schemeClr val="tx1"/>
                </a:solidFill>
                <a:effectLst/>
                <a:latin typeface="Menlo"/>
              </a:rPr>
              <a:t>img</a:t>
            </a:r>
            <a:r>
              <a:rPr kumimoji="0" lang="en-US" altLang="en-US" sz="1600" b="0" i="0" u="none" strike="noStrike" cap="none" normalizeH="0" baseline="0" dirty="0">
                <a:ln>
                  <a:noFill/>
                </a:ln>
                <a:solidFill>
                  <a:schemeClr val="tx1"/>
                </a:solidFill>
                <a:effectLst/>
                <a:latin typeface="Menlo"/>
              </a:rPr>
              <a:t> = </a:t>
            </a:r>
            <a:r>
              <a:rPr kumimoji="0" lang="en-US" altLang="en-US" sz="1600" b="0" i="0" u="none" strike="noStrike" cap="none" normalizeH="0" baseline="0" dirty="0" err="1">
                <a:ln>
                  <a:noFill/>
                </a:ln>
                <a:solidFill>
                  <a:schemeClr val="tx1"/>
                </a:solidFill>
                <a:effectLst/>
                <a:latin typeface="Menlo"/>
              </a:rPr>
              <a:t>imread</a:t>
            </a:r>
            <a:r>
              <a:rPr kumimoji="0" lang="en-US" altLang="en-US" sz="1600" b="0" i="0" u="none" strike="noStrike" cap="none" normalizeH="0" baseline="0" dirty="0">
                <a:ln>
                  <a:noFill/>
                </a:ln>
                <a:solidFill>
                  <a:schemeClr val="tx1"/>
                </a:solidFill>
                <a:effectLst/>
                <a:latin typeface="Menlo"/>
              </a:rPr>
              <a:t>(</a:t>
            </a:r>
            <a:r>
              <a:rPr kumimoji="0" lang="en-US" altLang="en-US" sz="1600" b="0" i="0" u="none" strike="noStrike" cap="none" normalizeH="0" baseline="0" dirty="0">
                <a:ln>
                  <a:noFill/>
                </a:ln>
                <a:solidFill>
                  <a:srgbClr val="A709F5"/>
                </a:solidFill>
                <a:effectLst/>
                <a:latin typeface="Menlo"/>
              </a:rPr>
              <a:t>'peppers.png'</a:t>
            </a:r>
            <a:r>
              <a:rPr kumimoji="0" lang="en-US" altLang="en-US" sz="1600" b="0" i="0" u="none" strike="noStrike" cap="none" normalizeH="0" baseline="0" dirty="0">
                <a:ln>
                  <a:noFill/>
                </a:ln>
                <a:solidFill>
                  <a:schemeClr val="tx1"/>
                </a:solidFill>
                <a:effectLst/>
                <a:latin typeface="Menlo"/>
              </a:rPr>
              <a:t>);</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enlo"/>
              </a:rPr>
              <a:t>&gt;&gt; </a:t>
            </a:r>
            <a:r>
              <a:rPr kumimoji="0" lang="en-US" altLang="en-US" sz="1600" b="0" i="0" u="none" strike="noStrike" cap="none" normalizeH="0" baseline="0" dirty="0" err="1">
                <a:ln>
                  <a:noFill/>
                </a:ln>
                <a:solidFill>
                  <a:schemeClr val="tx1"/>
                </a:solidFill>
                <a:effectLst/>
                <a:latin typeface="Menlo"/>
              </a:rPr>
              <a:t>imshow</a:t>
            </a:r>
            <a:r>
              <a:rPr kumimoji="0" lang="en-US" altLang="en-US" sz="1600" b="0" i="0" u="none" strike="noStrike" cap="none" normalizeH="0" baseline="0" dirty="0">
                <a:ln>
                  <a:noFill/>
                </a:ln>
                <a:solidFill>
                  <a:schemeClr val="tx1"/>
                </a:solidFill>
                <a:effectLst/>
                <a:latin typeface="Menlo"/>
              </a:rPr>
              <a:t>(</a:t>
            </a:r>
            <a:r>
              <a:rPr kumimoji="0" lang="en-US" altLang="en-US" sz="1600" b="0" i="0" u="none" strike="noStrike" cap="none" normalizeH="0" baseline="0" dirty="0" err="1">
                <a:ln>
                  <a:noFill/>
                </a:ln>
                <a:solidFill>
                  <a:schemeClr val="tx1"/>
                </a:solidFill>
                <a:effectLst/>
                <a:latin typeface="Menlo"/>
              </a:rPr>
              <a:t>img</a:t>
            </a:r>
            <a:r>
              <a:rPr kumimoji="0" lang="en-US" altLang="en-US" sz="1600" b="0" i="0" u="none" strike="noStrike" cap="none" normalizeH="0" baseline="0" dirty="0">
                <a:ln>
                  <a:noFill/>
                </a:ln>
                <a:solidFill>
                  <a:schemeClr val="tx1"/>
                </a:solidFill>
                <a:effectLst/>
                <a:latin typeface="Menlo"/>
              </a:rPr>
              <a:t>), title(</a:t>
            </a:r>
            <a:r>
              <a:rPr kumimoji="0" lang="en-US" altLang="en-US" sz="1600" b="0" i="0" u="none" strike="noStrike" cap="none" normalizeH="0" baseline="0" dirty="0">
                <a:ln>
                  <a:noFill/>
                </a:ln>
                <a:solidFill>
                  <a:srgbClr val="A709F5"/>
                </a:solidFill>
                <a:effectLst/>
                <a:latin typeface="Menlo"/>
              </a:rPr>
              <a:t>'Original Image'</a:t>
            </a:r>
            <a:r>
              <a:rPr kumimoji="0" lang="en-US" altLang="en-US" sz="1600" b="0" i="0" u="none" strike="noStrike" cap="none" normalizeH="0" baseline="0" dirty="0">
                <a:ln>
                  <a:noFill/>
                </a:ln>
                <a:solidFill>
                  <a:schemeClr val="tx1"/>
                </a:solidFill>
                <a:effectLst/>
                <a:latin typeface="Menlo"/>
              </a:rPr>
              <a:t>);</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enlo"/>
              </a:rPr>
              <a:t>&gt;&gt; </a:t>
            </a:r>
            <a:r>
              <a:rPr kumimoji="0" lang="en-US" altLang="en-US" sz="1600" b="0" i="0" u="none" strike="noStrike" cap="none" normalizeH="0" baseline="0" dirty="0">
                <a:ln>
                  <a:noFill/>
                </a:ln>
                <a:solidFill>
                  <a:srgbClr val="008013"/>
                </a:solidFill>
                <a:effectLst/>
                <a:latin typeface="Menlo"/>
              </a:rPr>
              <a:t>% Step 2: Save the image with different JPEG quality levels</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chemeClr val="tx1"/>
                </a:solidFill>
                <a:effectLst/>
                <a:latin typeface="Menlo"/>
              </a:rPr>
              <a:t>imwrite</a:t>
            </a:r>
            <a:r>
              <a:rPr kumimoji="0" lang="en-US" altLang="en-US" sz="1600" b="0" i="0" u="none" strike="noStrike" cap="none" normalizeH="0" baseline="0" dirty="0">
                <a:ln>
                  <a:noFill/>
                </a:ln>
                <a:solidFill>
                  <a:schemeClr val="tx1"/>
                </a:solidFill>
                <a:effectLst/>
                <a:latin typeface="Menlo"/>
              </a:rPr>
              <a:t>(</a:t>
            </a:r>
            <a:r>
              <a:rPr kumimoji="0" lang="en-US" altLang="en-US" sz="1600" b="0" i="0" u="none" strike="noStrike" cap="none" normalizeH="0" baseline="0" dirty="0" err="1">
                <a:ln>
                  <a:noFill/>
                </a:ln>
                <a:solidFill>
                  <a:schemeClr val="tx1"/>
                </a:solidFill>
                <a:effectLst/>
                <a:latin typeface="Menlo"/>
              </a:rPr>
              <a:t>img</a:t>
            </a:r>
            <a:r>
              <a:rPr kumimoji="0" lang="en-US" altLang="en-US" sz="1600" b="0" i="0" u="none" strike="noStrike" cap="none" normalizeH="0" baseline="0" dirty="0">
                <a:ln>
                  <a:noFill/>
                </a:ln>
                <a:solidFill>
                  <a:schemeClr val="tx1"/>
                </a:solidFill>
                <a:effectLst/>
                <a:latin typeface="Menlo"/>
              </a:rPr>
              <a:t>, </a:t>
            </a:r>
            <a:r>
              <a:rPr kumimoji="0" lang="en-US" altLang="en-US" sz="1600" b="0" i="0" u="none" strike="noStrike" cap="none" normalizeH="0" baseline="0" dirty="0">
                <a:ln>
                  <a:noFill/>
                </a:ln>
                <a:solidFill>
                  <a:srgbClr val="A709F5"/>
                </a:solidFill>
                <a:effectLst/>
                <a:latin typeface="Menlo"/>
              </a:rPr>
              <a:t>'compressed_image_90.jpg'</a:t>
            </a:r>
            <a:r>
              <a:rPr kumimoji="0" lang="en-US" altLang="en-US" sz="1600" b="0" i="0" u="none" strike="noStrike" cap="none" normalizeH="0" baseline="0" dirty="0">
                <a:ln>
                  <a:noFill/>
                </a:ln>
                <a:solidFill>
                  <a:schemeClr val="tx1"/>
                </a:solidFill>
                <a:effectLst/>
                <a:latin typeface="Menlo"/>
              </a:rPr>
              <a:t>, </a:t>
            </a:r>
            <a:r>
              <a:rPr kumimoji="0" lang="en-US" altLang="en-US" sz="1600" b="0" i="0" u="none" strike="noStrike" cap="none" normalizeH="0" baseline="0" dirty="0">
                <a:ln>
                  <a:noFill/>
                </a:ln>
                <a:solidFill>
                  <a:srgbClr val="A709F5"/>
                </a:solidFill>
                <a:effectLst/>
                <a:latin typeface="Menlo"/>
              </a:rPr>
              <a:t>'jpg'</a:t>
            </a:r>
            <a:r>
              <a:rPr kumimoji="0" lang="en-US" altLang="en-US" sz="1600" b="0" i="0" u="none" strike="noStrike" cap="none" normalizeH="0" baseline="0" dirty="0">
                <a:ln>
                  <a:noFill/>
                </a:ln>
                <a:solidFill>
                  <a:schemeClr val="tx1"/>
                </a:solidFill>
                <a:effectLst/>
                <a:latin typeface="Menlo"/>
              </a:rPr>
              <a:t>, </a:t>
            </a:r>
            <a:r>
              <a:rPr kumimoji="0" lang="en-US" altLang="en-US" sz="1600" b="0" i="0" u="none" strike="noStrike" cap="none" normalizeH="0" baseline="0" dirty="0">
                <a:ln>
                  <a:noFill/>
                </a:ln>
                <a:solidFill>
                  <a:srgbClr val="A709F5"/>
                </a:solidFill>
                <a:effectLst/>
                <a:latin typeface="Menlo"/>
              </a:rPr>
              <a:t>'Quality'</a:t>
            </a:r>
            <a:r>
              <a:rPr kumimoji="0" lang="en-US" altLang="en-US" sz="1600" b="0" i="0" u="none" strike="noStrike" cap="none" normalizeH="0" baseline="0" dirty="0">
                <a:ln>
                  <a:noFill/>
                </a:ln>
                <a:solidFill>
                  <a:schemeClr val="tx1"/>
                </a:solidFill>
                <a:effectLst/>
                <a:latin typeface="Menlo"/>
              </a:rPr>
              <a:t>, 90); </a:t>
            </a:r>
            <a:r>
              <a:rPr kumimoji="0" lang="en-US" altLang="en-US" sz="1600" b="0" i="0" u="none" strike="noStrike" cap="none" normalizeH="0" baseline="0" dirty="0">
                <a:ln>
                  <a:noFill/>
                </a:ln>
                <a:solidFill>
                  <a:srgbClr val="008013"/>
                </a:solidFill>
                <a:effectLst/>
                <a:latin typeface="Menlo"/>
              </a:rPr>
              <a:t>% 90% quality</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chemeClr val="tx1"/>
                </a:solidFill>
                <a:effectLst/>
                <a:latin typeface="Menlo"/>
              </a:rPr>
              <a:t>imwrite</a:t>
            </a:r>
            <a:r>
              <a:rPr kumimoji="0" lang="en-US" altLang="en-US" sz="1600" b="0" i="0" u="none" strike="noStrike" cap="none" normalizeH="0" baseline="0" dirty="0">
                <a:ln>
                  <a:noFill/>
                </a:ln>
                <a:solidFill>
                  <a:schemeClr val="tx1"/>
                </a:solidFill>
                <a:effectLst/>
                <a:latin typeface="Menlo"/>
              </a:rPr>
              <a:t>(</a:t>
            </a:r>
            <a:r>
              <a:rPr kumimoji="0" lang="en-US" altLang="en-US" sz="1600" b="0" i="0" u="none" strike="noStrike" cap="none" normalizeH="0" baseline="0" dirty="0" err="1">
                <a:ln>
                  <a:noFill/>
                </a:ln>
                <a:solidFill>
                  <a:schemeClr val="tx1"/>
                </a:solidFill>
                <a:effectLst/>
                <a:latin typeface="Menlo"/>
              </a:rPr>
              <a:t>img</a:t>
            </a:r>
            <a:r>
              <a:rPr kumimoji="0" lang="en-US" altLang="en-US" sz="1600" b="0" i="0" u="none" strike="noStrike" cap="none" normalizeH="0" baseline="0" dirty="0">
                <a:ln>
                  <a:noFill/>
                </a:ln>
                <a:solidFill>
                  <a:schemeClr val="tx1"/>
                </a:solidFill>
                <a:effectLst/>
                <a:latin typeface="Menlo"/>
              </a:rPr>
              <a:t>, </a:t>
            </a:r>
            <a:r>
              <a:rPr kumimoji="0" lang="en-US" altLang="en-US" sz="1600" b="0" i="0" u="none" strike="noStrike" cap="none" normalizeH="0" baseline="0" dirty="0">
                <a:ln>
                  <a:noFill/>
                </a:ln>
                <a:solidFill>
                  <a:srgbClr val="A709F5"/>
                </a:solidFill>
                <a:effectLst/>
                <a:latin typeface="Menlo"/>
              </a:rPr>
              <a:t>'compressed_image_50.jpg'</a:t>
            </a:r>
            <a:r>
              <a:rPr kumimoji="0" lang="en-US" altLang="en-US" sz="1600" b="0" i="0" u="none" strike="noStrike" cap="none" normalizeH="0" baseline="0" dirty="0">
                <a:ln>
                  <a:noFill/>
                </a:ln>
                <a:solidFill>
                  <a:schemeClr val="tx1"/>
                </a:solidFill>
                <a:effectLst/>
                <a:latin typeface="Menlo"/>
              </a:rPr>
              <a:t>, </a:t>
            </a:r>
            <a:r>
              <a:rPr kumimoji="0" lang="en-US" altLang="en-US" sz="1600" b="0" i="0" u="none" strike="noStrike" cap="none" normalizeH="0" baseline="0" dirty="0">
                <a:ln>
                  <a:noFill/>
                </a:ln>
                <a:solidFill>
                  <a:srgbClr val="A709F5"/>
                </a:solidFill>
                <a:effectLst/>
                <a:latin typeface="Menlo"/>
              </a:rPr>
              <a:t>'jpg'</a:t>
            </a:r>
            <a:r>
              <a:rPr kumimoji="0" lang="en-US" altLang="en-US" sz="1600" b="0" i="0" u="none" strike="noStrike" cap="none" normalizeH="0" baseline="0" dirty="0">
                <a:ln>
                  <a:noFill/>
                </a:ln>
                <a:solidFill>
                  <a:schemeClr val="tx1"/>
                </a:solidFill>
                <a:effectLst/>
                <a:latin typeface="Menlo"/>
              </a:rPr>
              <a:t>, </a:t>
            </a:r>
            <a:r>
              <a:rPr kumimoji="0" lang="en-US" altLang="en-US" sz="1600" b="0" i="0" u="none" strike="noStrike" cap="none" normalizeH="0" baseline="0" dirty="0">
                <a:ln>
                  <a:noFill/>
                </a:ln>
                <a:solidFill>
                  <a:srgbClr val="A709F5"/>
                </a:solidFill>
                <a:effectLst/>
                <a:latin typeface="Menlo"/>
              </a:rPr>
              <a:t>'Quality'</a:t>
            </a:r>
            <a:r>
              <a:rPr kumimoji="0" lang="en-US" altLang="en-US" sz="1600" b="0" i="0" u="none" strike="noStrike" cap="none" normalizeH="0" baseline="0" dirty="0">
                <a:ln>
                  <a:noFill/>
                </a:ln>
                <a:solidFill>
                  <a:schemeClr val="tx1"/>
                </a:solidFill>
                <a:effectLst/>
                <a:latin typeface="Menlo"/>
              </a:rPr>
              <a:t>, 50); </a:t>
            </a:r>
            <a:r>
              <a:rPr kumimoji="0" lang="en-US" altLang="en-US" sz="1600" b="0" i="0" u="none" strike="noStrike" cap="none" normalizeH="0" baseline="0" dirty="0">
                <a:ln>
                  <a:noFill/>
                </a:ln>
                <a:solidFill>
                  <a:srgbClr val="008013"/>
                </a:solidFill>
                <a:effectLst/>
                <a:latin typeface="Menlo"/>
              </a:rPr>
              <a:t>% 50% quality</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chemeClr val="tx1"/>
                </a:solidFill>
                <a:effectLst/>
                <a:latin typeface="Menlo"/>
              </a:rPr>
              <a:t>imwrite</a:t>
            </a:r>
            <a:r>
              <a:rPr kumimoji="0" lang="en-US" altLang="en-US" sz="1600" b="0" i="0" u="none" strike="noStrike" cap="none" normalizeH="0" baseline="0" dirty="0">
                <a:ln>
                  <a:noFill/>
                </a:ln>
                <a:solidFill>
                  <a:schemeClr val="tx1"/>
                </a:solidFill>
                <a:effectLst/>
                <a:latin typeface="Menlo"/>
              </a:rPr>
              <a:t>(</a:t>
            </a:r>
            <a:r>
              <a:rPr kumimoji="0" lang="en-US" altLang="en-US" sz="1600" b="0" i="0" u="none" strike="noStrike" cap="none" normalizeH="0" baseline="0" dirty="0" err="1">
                <a:ln>
                  <a:noFill/>
                </a:ln>
                <a:solidFill>
                  <a:schemeClr val="tx1"/>
                </a:solidFill>
                <a:effectLst/>
                <a:latin typeface="Menlo"/>
              </a:rPr>
              <a:t>img</a:t>
            </a:r>
            <a:r>
              <a:rPr kumimoji="0" lang="en-US" altLang="en-US" sz="1600" b="0" i="0" u="none" strike="noStrike" cap="none" normalizeH="0" baseline="0" dirty="0">
                <a:ln>
                  <a:noFill/>
                </a:ln>
                <a:solidFill>
                  <a:schemeClr val="tx1"/>
                </a:solidFill>
                <a:effectLst/>
                <a:latin typeface="Menlo"/>
              </a:rPr>
              <a:t>, </a:t>
            </a:r>
            <a:r>
              <a:rPr kumimoji="0" lang="en-US" altLang="en-US" sz="1600" b="0" i="0" u="none" strike="noStrike" cap="none" normalizeH="0" baseline="0" dirty="0">
                <a:ln>
                  <a:noFill/>
                </a:ln>
                <a:solidFill>
                  <a:srgbClr val="A709F5"/>
                </a:solidFill>
                <a:effectLst/>
                <a:latin typeface="Menlo"/>
              </a:rPr>
              <a:t>'compressed_image_10.jpg'</a:t>
            </a:r>
            <a:r>
              <a:rPr kumimoji="0" lang="en-US" altLang="en-US" sz="1600" b="0" i="0" u="none" strike="noStrike" cap="none" normalizeH="0" baseline="0" dirty="0">
                <a:ln>
                  <a:noFill/>
                </a:ln>
                <a:solidFill>
                  <a:schemeClr val="tx1"/>
                </a:solidFill>
                <a:effectLst/>
                <a:latin typeface="Menlo"/>
              </a:rPr>
              <a:t>, </a:t>
            </a:r>
            <a:r>
              <a:rPr kumimoji="0" lang="en-US" altLang="en-US" sz="1600" b="0" i="0" u="none" strike="noStrike" cap="none" normalizeH="0" baseline="0" dirty="0">
                <a:ln>
                  <a:noFill/>
                </a:ln>
                <a:solidFill>
                  <a:srgbClr val="A709F5"/>
                </a:solidFill>
                <a:effectLst/>
                <a:latin typeface="Menlo"/>
              </a:rPr>
              <a:t>'jpg'</a:t>
            </a:r>
            <a:r>
              <a:rPr kumimoji="0" lang="en-US" altLang="en-US" sz="1600" b="0" i="0" u="none" strike="noStrike" cap="none" normalizeH="0" baseline="0" dirty="0">
                <a:ln>
                  <a:noFill/>
                </a:ln>
                <a:solidFill>
                  <a:schemeClr val="tx1"/>
                </a:solidFill>
                <a:effectLst/>
                <a:latin typeface="Menlo"/>
              </a:rPr>
              <a:t>, </a:t>
            </a:r>
            <a:r>
              <a:rPr kumimoji="0" lang="en-US" altLang="en-US" sz="1600" b="0" i="0" u="none" strike="noStrike" cap="none" normalizeH="0" baseline="0" dirty="0">
                <a:ln>
                  <a:noFill/>
                </a:ln>
                <a:solidFill>
                  <a:srgbClr val="A709F5"/>
                </a:solidFill>
                <a:effectLst/>
                <a:latin typeface="Menlo"/>
              </a:rPr>
              <a:t>'Quality'</a:t>
            </a:r>
            <a:r>
              <a:rPr kumimoji="0" lang="en-US" altLang="en-US" sz="1600" b="0" i="0" u="none" strike="noStrike" cap="none" normalizeH="0" baseline="0" dirty="0">
                <a:ln>
                  <a:noFill/>
                </a:ln>
                <a:solidFill>
                  <a:schemeClr val="tx1"/>
                </a:solidFill>
                <a:effectLst/>
                <a:latin typeface="Menlo"/>
              </a:rPr>
              <a:t>, 10); </a:t>
            </a:r>
            <a:r>
              <a:rPr kumimoji="0" lang="en-US" altLang="en-US" sz="1600" b="0" i="0" u="none" strike="noStrike" cap="none" normalizeH="0" baseline="0" dirty="0">
                <a:ln>
                  <a:noFill/>
                </a:ln>
                <a:solidFill>
                  <a:srgbClr val="008013"/>
                </a:solidFill>
                <a:effectLst/>
                <a:latin typeface="Menlo"/>
              </a:rPr>
              <a:t>% 10% quality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enlo"/>
              </a:rPr>
              <a:t>&gt;&gt; </a:t>
            </a:r>
            <a:r>
              <a:rPr kumimoji="0" lang="en-US" altLang="en-US" sz="1600" b="0" i="0" u="none" strike="noStrike" cap="none" normalizeH="0" baseline="0" dirty="0">
                <a:ln>
                  <a:noFill/>
                </a:ln>
                <a:solidFill>
                  <a:srgbClr val="008013"/>
                </a:solidFill>
                <a:effectLst/>
                <a:latin typeface="Menlo"/>
              </a:rPr>
              <a:t>% Step 3: Read and display the compressed images</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enlo"/>
              </a:rPr>
              <a:t>img_90 = </a:t>
            </a:r>
            <a:r>
              <a:rPr kumimoji="0" lang="en-US" altLang="en-US" sz="1600" b="0" i="0" u="none" strike="noStrike" cap="none" normalizeH="0" baseline="0" dirty="0" err="1">
                <a:ln>
                  <a:noFill/>
                </a:ln>
                <a:solidFill>
                  <a:schemeClr val="tx1"/>
                </a:solidFill>
                <a:effectLst/>
                <a:latin typeface="Menlo"/>
              </a:rPr>
              <a:t>imread</a:t>
            </a:r>
            <a:r>
              <a:rPr kumimoji="0" lang="en-US" altLang="en-US" sz="1600" b="0" i="0" u="none" strike="noStrike" cap="none" normalizeH="0" baseline="0" dirty="0">
                <a:ln>
                  <a:noFill/>
                </a:ln>
                <a:solidFill>
                  <a:schemeClr val="tx1"/>
                </a:solidFill>
                <a:effectLst/>
                <a:latin typeface="Menlo"/>
              </a:rPr>
              <a:t>(</a:t>
            </a:r>
            <a:r>
              <a:rPr kumimoji="0" lang="en-US" altLang="en-US" sz="1600" b="0" i="0" u="none" strike="noStrike" cap="none" normalizeH="0" baseline="0" dirty="0">
                <a:ln>
                  <a:noFill/>
                </a:ln>
                <a:solidFill>
                  <a:srgbClr val="A709F5"/>
                </a:solidFill>
                <a:effectLst/>
                <a:latin typeface="Menlo"/>
              </a:rPr>
              <a:t>'compressed_image_90.jpg'</a:t>
            </a:r>
            <a:r>
              <a:rPr kumimoji="0" lang="en-US" altLang="en-US" sz="1600" b="0" i="0" u="none" strike="noStrike" cap="none" normalizeH="0" baseline="0" dirty="0">
                <a:ln>
                  <a:noFill/>
                </a:ln>
                <a:solidFill>
                  <a:schemeClr val="tx1"/>
                </a:solidFill>
                <a:effectLst/>
                <a:latin typeface="Menlo"/>
              </a:rPr>
              <a:t>);</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enlo"/>
              </a:rPr>
              <a:t>img_50 = </a:t>
            </a:r>
            <a:r>
              <a:rPr kumimoji="0" lang="en-US" altLang="en-US" sz="1600" b="0" i="0" u="none" strike="noStrike" cap="none" normalizeH="0" baseline="0" dirty="0" err="1">
                <a:ln>
                  <a:noFill/>
                </a:ln>
                <a:solidFill>
                  <a:schemeClr val="tx1"/>
                </a:solidFill>
                <a:effectLst/>
                <a:latin typeface="Menlo"/>
              </a:rPr>
              <a:t>imread</a:t>
            </a:r>
            <a:r>
              <a:rPr kumimoji="0" lang="en-US" altLang="en-US" sz="1600" b="0" i="0" u="none" strike="noStrike" cap="none" normalizeH="0" baseline="0" dirty="0">
                <a:ln>
                  <a:noFill/>
                </a:ln>
                <a:solidFill>
                  <a:schemeClr val="tx1"/>
                </a:solidFill>
                <a:effectLst/>
                <a:latin typeface="Menlo"/>
              </a:rPr>
              <a:t>(</a:t>
            </a:r>
            <a:r>
              <a:rPr kumimoji="0" lang="en-US" altLang="en-US" sz="1600" b="0" i="0" u="none" strike="noStrike" cap="none" normalizeH="0" baseline="0" dirty="0">
                <a:ln>
                  <a:noFill/>
                </a:ln>
                <a:solidFill>
                  <a:srgbClr val="A709F5"/>
                </a:solidFill>
                <a:effectLst/>
                <a:latin typeface="Menlo"/>
              </a:rPr>
              <a:t>'compressed_image_50.jpg'</a:t>
            </a:r>
            <a:r>
              <a:rPr kumimoji="0" lang="en-US" altLang="en-US" sz="1600" b="0" i="0" u="none" strike="noStrike" cap="none" normalizeH="0" baseline="0" dirty="0">
                <a:ln>
                  <a:noFill/>
                </a:ln>
                <a:solidFill>
                  <a:schemeClr val="tx1"/>
                </a:solidFill>
                <a:effectLst/>
                <a:latin typeface="Menlo"/>
              </a:rPr>
              <a:t>);</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enlo"/>
              </a:rPr>
              <a:t>img_10 = </a:t>
            </a:r>
            <a:r>
              <a:rPr kumimoji="0" lang="en-US" altLang="en-US" sz="1600" b="0" i="0" u="none" strike="noStrike" cap="none" normalizeH="0" baseline="0" dirty="0" err="1">
                <a:ln>
                  <a:noFill/>
                </a:ln>
                <a:solidFill>
                  <a:schemeClr val="tx1"/>
                </a:solidFill>
                <a:effectLst/>
                <a:latin typeface="Menlo"/>
              </a:rPr>
              <a:t>imread</a:t>
            </a:r>
            <a:r>
              <a:rPr kumimoji="0" lang="en-US" altLang="en-US" sz="1600" b="0" i="0" u="none" strike="noStrike" cap="none" normalizeH="0" baseline="0" dirty="0">
                <a:ln>
                  <a:noFill/>
                </a:ln>
                <a:solidFill>
                  <a:schemeClr val="tx1"/>
                </a:solidFill>
                <a:effectLst/>
                <a:latin typeface="Menlo"/>
              </a:rPr>
              <a:t>(</a:t>
            </a:r>
            <a:r>
              <a:rPr kumimoji="0" lang="en-US" altLang="en-US" sz="1600" b="0" i="0" u="none" strike="noStrike" cap="none" normalizeH="0" baseline="0" dirty="0">
                <a:ln>
                  <a:noFill/>
                </a:ln>
                <a:solidFill>
                  <a:srgbClr val="A709F5"/>
                </a:solidFill>
                <a:effectLst/>
                <a:latin typeface="Menlo"/>
              </a:rPr>
              <a:t>'compressed_image_10.jpg'</a:t>
            </a:r>
            <a:r>
              <a:rPr kumimoji="0" lang="en-US" altLang="en-US" sz="1600" b="0" i="0" u="none" strike="noStrike" cap="none" normalizeH="0" baseline="0" dirty="0">
                <a:ln>
                  <a:noFill/>
                </a:ln>
                <a:solidFill>
                  <a:schemeClr val="tx1"/>
                </a:solidFill>
                <a:effectLst/>
                <a:latin typeface="Menlo"/>
              </a:rPr>
              <a:t>);</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enlo"/>
              </a:rPr>
              <a:t>&gt;&gt; figure;</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enlo"/>
              </a:rPr>
              <a:t>subplot(2, 2, 1), </a:t>
            </a:r>
            <a:r>
              <a:rPr kumimoji="0" lang="en-US" altLang="en-US" sz="1600" b="0" i="0" u="none" strike="noStrike" cap="none" normalizeH="0" baseline="0" dirty="0" err="1">
                <a:ln>
                  <a:noFill/>
                </a:ln>
                <a:solidFill>
                  <a:schemeClr val="tx1"/>
                </a:solidFill>
                <a:effectLst/>
                <a:latin typeface="Menlo"/>
              </a:rPr>
              <a:t>imshow</a:t>
            </a:r>
            <a:r>
              <a:rPr kumimoji="0" lang="en-US" altLang="en-US" sz="1600" b="0" i="0" u="none" strike="noStrike" cap="none" normalizeH="0" baseline="0" dirty="0">
                <a:ln>
                  <a:noFill/>
                </a:ln>
                <a:solidFill>
                  <a:schemeClr val="tx1"/>
                </a:solidFill>
                <a:effectLst/>
                <a:latin typeface="Menlo"/>
              </a:rPr>
              <a:t>(</a:t>
            </a:r>
            <a:r>
              <a:rPr kumimoji="0" lang="en-US" altLang="en-US" sz="1600" b="0" i="0" u="none" strike="noStrike" cap="none" normalizeH="0" baseline="0" dirty="0" err="1">
                <a:ln>
                  <a:noFill/>
                </a:ln>
                <a:solidFill>
                  <a:schemeClr val="tx1"/>
                </a:solidFill>
                <a:effectLst/>
                <a:latin typeface="Menlo"/>
              </a:rPr>
              <a:t>img</a:t>
            </a:r>
            <a:r>
              <a:rPr kumimoji="0" lang="en-US" altLang="en-US" sz="1600" b="0" i="0" u="none" strike="noStrike" cap="none" normalizeH="0" baseline="0" dirty="0">
                <a:ln>
                  <a:noFill/>
                </a:ln>
                <a:solidFill>
                  <a:schemeClr val="tx1"/>
                </a:solidFill>
                <a:effectLst/>
                <a:latin typeface="Menlo"/>
              </a:rPr>
              <a:t>), title(</a:t>
            </a:r>
            <a:r>
              <a:rPr kumimoji="0" lang="en-US" altLang="en-US" sz="1600" b="0" i="0" u="none" strike="noStrike" cap="none" normalizeH="0" baseline="0" dirty="0">
                <a:ln>
                  <a:noFill/>
                </a:ln>
                <a:solidFill>
                  <a:srgbClr val="A709F5"/>
                </a:solidFill>
                <a:effectLst/>
                <a:latin typeface="Menlo"/>
              </a:rPr>
              <a:t>'Original Image'</a:t>
            </a:r>
            <a:r>
              <a:rPr kumimoji="0" lang="en-US" altLang="en-US" sz="1600" b="0" i="0" u="none" strike="noStrike" cap="none" normalizeH="0" baseline="0" dirty="0">
                <a:ln>
                  <a:noFill/>
                </a:ln>
                <a:solidFill>
                  <a:schemeClr val="tx1"/>
                </a:solidFill>
                <a:effectLst/>
                <a:latin typeface="Menlo"/>
              </a:rPr>
              <a:t>);</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enlo"/>
              </a:rPr>
              <a:t>subplot(2, 2, 2), </a:t>
            </a:r>
            <a:r>
              <a:rPr kumimoji="0" lang="en-US" altLang="en-US" sz="1600" b="0" i="0" u="none" strike="noStrike" cap="none" normalizeH="0" baseline="0" dirty="0" err="1">
                <a:ln>
                  <a:noFill/>
                </a:ln>
                <a:solidFill>
                  <a:schemeClr val="tx1"/>
                </a:solidFill>
                <a:effectLst/>
                <a:latin typeface="Menlo"/>
              </a:rPr>
              <a:t>imshow</a:t>
            </a:r>
            <a:r>
              <a:rPr kumimoji="0" lang="en-US" altLang="en-US" sz="1600" b="0" i="0" u="none" strike="noStrike" cap="none" normalizeH="0" baseline="0" dirty="0">
                <a:ln>
                  <a:noFill/>
                </a:ln>
                <a:solidFill>
                  <a:schemeClr val="tx1"/>
                </a:solidFill>
                <a:effectLst/>
                <a:latin typeface="Menlo"/>
              </a:rPr>
              <a:t>(img_90), title(</a:t>
            </a:r>
            <a:r>
              <a:rPr kumimoji="0" lang="en-US" altLang="en-US" sz="1600" b="0" i="0" u="none" strike="noStrike" cap="none" normalizeH="0" baseline="0" dirty="0">
                <a:ln>
                  <a:noFill/>
                </a:ln>
                <a:solidFill>
                  <a:srgbClr val="A709F5"/>
                </a:solidFill>
                <a:effectLst/>
                <a:latin typeface="Menlo"/>
              </a:rPr>
              <a:t>'JPEG Compressed 90% Quality'</a:t>
            </a:r>
            <a:r>
              <a:rPr kumimoji="0" lang="en-US" altLang="en-US" sz="1600" b="0" i="0" u="none" strike="noStrike" cap="none" normalizeH="0" baseline="0" dirty="0">
                <a:ln>
                  <a:noFill/>
                </a:ln>
                <a:solidFill>
                  <a:schemeClr val="tx1"/>
                </a:solidFill>
                <a:effectLst/>
                <a:latin typeface="Menlo"/>
              </a:rPr>
              <a:t>);</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enlo"/>
              </a:rPr>
              <a:t>subplot(2, 2, 3), </a:t>
            </a:r>
            <a:r>
              <a:rPr kumimoji="0" lang="en-US" altLang="en-US" sz="1600" b="0" i="0" u="none" strike="noStrike" cap="none" normalizeH="0" baseline="0" dirty="0" err="1">
                <a:ln>
                  <a:noFill/>
                </a:ln>
                <a:solidFill>
                  <a:schemeClr val="tx1"/>
                </a:solidFill>
                <a:effectLst/>
                <a:latin typeface="Menlo"/>
              </a:rPr>
              <a:t>imshow</a:t>
            </a:r>
            <a:r>
              <a:rPr kumimoji="0" lang="en-US" altLang="en-US" sz="1600" b="0" i="0" u="none" strike="noStrike" cap="none" normalizeH="0" baseline="0" dirty="0">
                <a:ln>
                  <a:noFill/>
                </a:ln>
                <a:solidFill>
                  <a:schemeClr val="tx1"/>
                </a:solidFill>
                <a:effectLst/>
                <a:latin typeface="Menlo"/>
              </a:rPr>
              <a:t>(img_50), title(</a:t>
            </a:r>
            <a:r>
              <a:rPr kumimoji="0" lang="en-US" altLang="en-US" sz="1600" b="0" i="0" u="none" strike="noStrike" cap="none" normalizeH="0" baseline="0" dirty="0">
                <a:ln>
                  <a:noFill/>
                </a:ln>
                <a:solidFill>
                  <a:srgbClr val="A709F5"/>
                </a:solidFill>
                <a:effectLst/>
                <a:latin typeface="Menlo"/>
              </a:rPr>
              <a:t>'JPEG Compressed 50% Quality'</a:t>
            </a:r>
            <a:r>
              <a:rPr kumimoji="0" lang="en-US" altLang="en-US" sz="1600" b="0" i="0" u="none" strike="noStrike" cap="none" normalizeH="0" baseline="0" dirty="0">
                <a:ln>
                  <a:noFill/>
                </a:ln>
                <a:solidFill>
                  <a:schemeClr val="tx1"/>
                </a:solidFill>
                <a:effectLst/>
                <a:latin typeface="Menlo"/>
              </a:rPr>
              <a:t>);</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enlo"/>
              </a:rPr>
              <a:t>subplot(2, 2, 4), </a:t>
            </a:r>
            <a:r>
              <a:rPr kumimoji="0" lang="en-US" altLang="en-US" sz="1600" b="0" i="0" u="none" strike="noStrike" cap="none" normalizeH="0" baseline="0" dirty="0" err="1">
                <a:ln>
                  <a:noFill/>
                </a:ln>
                <a:solidFill>
                  <a:schemeClr val="tx1"/>
                </a:solidFill>
                <a:effectLst/>
                <a:latin typeface="Menlo"/>
              </a:rPr>
              <a:t>imshow</a:t>
            </a:r>
            <a:r>
              <a:rPr kumimoji="0" lang="en-US" altLang="en-US" sz="1600" b="0" i="0" u="none" strike="noStrike" cap="none" normalizeH="0" baseline="0" dirty="0">
                <a:ln>
                  <a:noFill/>
                </a:ln>
                <a:solidFill>
                  <a:schemeClr val="tx1"/>
                </a:solidFill>
                <a:effectLst/>
                <a:latin typeface="Menlo"/>
              </a:rPr>
              <a:t>(img_10), title(</a:t>
            </a:r>
            <a:r>
              <a:rPr kumimoji="0" lang="en-US" altLang="en-US" sz="1600" b="0" i="0" u="none" strike="noStrike" cap="none" normalizeH="0" baseline="0" dirty="0">
                <a:ln>
                  <a:noFill/>
                </a:ln>
                <a:solidFill>
                  <a:srgbClr val="A709F5"/>
                </a:solidFill>
                <a:effectLst/>
                <a:latin typeface="Menlo"/>
              </a:rPr>
              <a:t>'JPEG Compressed 10% Quality'</a:t>
            </a:r>
            <a:r>
              <a:rPr kumimoji="0" lang="en-US" altLang="en-US" sz="1600" b="0" i="0" u="none" strike="noStrike" cap="none" normalizeH="0" baseline="0" dirty="0">
                <a:ln>
                  <a:noFill/>
                </a:ln>
                <a:solidFill>
                  <a:schemeClr val="tx1"/>
                </a:solidFill>
                <a:effectLst/>
                <a:latin typeface="Menlo"/>
              </a:rPr>
              <a:t>);</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enlo"/>
              </a:rPr>
              <a:t>&gt;&gt; </a:t>
            </a: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05ABE0BD-2309-8DDC-B76E-C50BDB22984B}"/>
              </a:ext>
            </a:extLst>
          </p:cNvPr>
          <p:cNvSpPr txBox="1"/>
          <p:nvPr/>
        </p:nvSpPr>
        <p:spPr>
          <a:xfrm>
            <a:off x="591207" y="5925234"/>
            <a:ext cx="8100848" cy="646331"/>
          </a:xfrm>
          <a:prstGeom prst="rect">
            <a:avLst/>
          </a:prstGeom>
          <a:noFill/>
        </p:spPr>
        <p:txBody>
          <a:bodyPr wrap="square">
            <a:spAutoFit/>
          </a:bodyPr>
          <a:lstStyle/>
          <a:p>
            <a:r>
              <a:rPr lang="en-US" dirty="0"/>
              <a:t>Lower quality values result in more compression but also greater loss of image fidelity.</a:t>
            </a:r>
          </a:p>
        </p:txBody>
      </p:sp>
    </p:spTree>
    <p:extLst>
      <p:ext uri="{BB962C8B-B14F-4D97-AF65-F5344CB8AC3E}">
        <p14:creationId xmlns:p14="http://schemas.microsoft.com/office/powerpoint/2010/main" val="32478070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EC20B-BDD5-1B8A-AEB7-58D093306E4D}"/>
              </a:ext>
            </a:extLst>
          </p:cNvPr>
          <p:cNvSpPr>
            <a:spLocks noGrp="1"/>
          </p:cNvSpPr>
          <p:nvPr>
            <p:ph type="title"/>
          </p:nvPr>
        </p:nvSpPr>
        <p:spPr/>
        <p:txBody>
          <a:bodyPr/>
          <a:lstStyle/>
          <a:p>
            <a:r>
              <a:rPr lang="en-US" dirty="0"/>
              <a:t>Loss less</a:t>
            </a:r>
          </a:p>
        </p:txBody>
      </p:sp>
      <p:pic>
        <p:nvPicPr>
          <p:cNvPr id="5" name="Content Placeholder 4">
            <a:extLst>
              <a:ext uri="{FF2B5EF4-FFF2-40B4-BE49-F238E27FC236}">
                <a16:creationId xmlns:a16="http://schemas.microsoft.com/office/drawing/2014/main" id="{ED4C7B03-A329-929D-2353-807AB619F83C}"/>
              </a:ext>
            </a:extLst>
          </p:cNvPr>
          <p:cNvPicPr>
            <a:picLocks noGrp="1" noChangeAspect="1"/>
          </p:cNvPicPr>
          <p:nvPr>
            <p:ph idx="1"/>
          </p:nvPr>
        </p:nvPicPr>
        <p:blipFill>
          <a:blip r:embed="rId2"/>
          <a:stretch>
            <a:fillRect/>
          </a:stretch>
        </p:blipFill>
        <p:spPr>
          <a:xfrm>
            <a:off x="874985" y="1716277"/>
            <a:ext cx="8163911" cy="3639568"/>
          </a:xfrm>
        </p:spPr>
      </p:pic>
      <p:sp>
        <p:nvSpPr>
          <p:cNvPr id="6" name="TextBox 5">
            <a:extLst>
              <a:ext uri="{FF2B5EF4-FFF2-40B4-BE49-F238E27FC236}">
                <a16:creationId xmlns:a16="http://schemas.microsoft.com/office/drawing/2014/main" id="{61D76346-5C2C-EB52-D726-8479BF59C603}"/>
              </a:ext>
            </a:extLst>
          </p:cNvPr>
          <p:cNvSpPr txBox="1"/>
          <p:nvPr/>
        </p:nvSpPr>
        <p:spPr>
          <a:xfrm>
            <a:off x="874986" y="5355845"/>
            <a:ext cx="7838090" cy="923330"/>
          </a:xfrm>
          <a:prstGeom prst="rect">
            <a:avLst/>
          </a:prstGeom>
          <a:noFill/>
        </p:spPr>
        <p:txBody>
          <a:bodyPr wrap="square">
            <a:spAutoFit/>
          </a:bodyPr>
          <a:lstStyle/>
          <a:p>
            <a:r>
              <a:rPr lang="en-US" dirty="0"/>
              <a:t>PNG uses lossless compression, meaning the compressed image will be exactly the same as the original in terms of pixel values, but with a smaller file size.</a:t>
            </a:r>
          </a:p>
        </p:txBody>
      </p:sp>
    </p:spTree>
    <p:extLst>
      <p:ext uri="{BB962C8B-B14F-4D97-AF65-F5344CB8AC3E}">
        <p14:creationId xmlns:p14="http://schemas.microsoft.com/office/powerpoint/2010/main" val="18272170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45207-6159-4539-5751-004A73A3686F}"/>
              </a:ext>
            </a:extLst>
          </p:cNvPr>
          <p:cNvSpPr>
            <a:spLocks noGrp="1"/>
          </p:cNvSpPr>
          <p:nvPr>
            <p:ph type="title"/>
          </p:nvPr>
        </p:nvSpPr>
        <p:spPr/>
        <p:txBody>
          <a:bodyPr/>
          <a:lstStyle/>
          <a:p>
            <a:r>
              <a:rPr lang="en-US" dirty="0"/>
              <a:t>Code lossless</a:t>
            </a:r>
          </a:p>
        </p:txBody>
      </p:sp>
      <p:sp>
        <p:nvSpPr>
          <p:cNvPr id="4" name="Rectangle 1">
            <a:extLst>
              <a:ext uri="{FF2B5EF4-FFF2-40B4-BE49-F238E27FC236}">
                <a16:creationId xmlns:a16="http://schemas.microsoft.com/office/drawing/2014/main" id="{AA722848-9379-0F56-C0FE-FC5FC902B99F}"/>
              </a:ext>
            </a:extLst>
          </p:cNvPr>
          <p:cNvSpPr>
            <a:spLocks noGrp="1" noChangeArrowheads="1"/>
          </p:cNvSpPr>
          <p:nvPr>
            <p:ph idx="1"/>
          </p:nvPr>
        </p:nvSpPr>
        <p:spPr bwMode="auto">
          <a:xfrm>
            <a:off x="771928" y="2065421"/>
            <a:ext cx="6024085"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Menlo"/>
              </a:rPr>
              <a:t>&gt;&gt; </a:t>
            </a:r>
            <a:r>
              <a:rPr kumimoji="0" lang="en-US" altLang="en-US" sz="1600" b="0" i="0" u="none" strike="noStrike" cap="none" normalizeH="0" baseline="0" dirty="0" err="1">
                <a:ln>
                  <a:noFill/>
                </a:ln>
                <a:solidFill>
                  <a:schemeClr val="tx1"/>
                </a:solidFill>
                <a:effectLst/>
                <a:latin typeface="Menlo"/>
              </a:rPr>
              <a:t>img</a:t>
            </a:r>
            <a:r>
              <a:rPr kumimoji="0" lang="en-US" altLang="en-US" sz="1600" b="0" i="0" u="none" strike="noStrike" cap="none" normalizeH="0" baseline="0" dirty="0">
                <a:ln>
                  <a:noFill/>
                </a:ln>
                <a:solidFill>
                  <a:schemeClr val="tx1"/>
                </a:solidFill>
                <a:effectLst/>
                <a:latin typeface="Menlo"/>
              </a:rPr>
              <a:t> = </a:t>
            </a:r>
            <a:r>
              <a:rPr kumimoji="0" lang="en-US" altLang="en-US" sz="1600" b="0" i="0" u="none" strike="noStrike" cap="none" normalizeH="0" baseline="0" dirty="0" err="1">
                <a:ln>
                  <a:noFill/>
                </a:ln>
                <a:solidFill>
                  <a:schemeClr val="tx1"/>
                </a:solidFill>
                <a:effectLst/>
                <a:latin typeface="Menlo"/>
              </a:rPr>
              <a:t>imread</a:t>
            </a:r>
            <a:r>
              <a:rPr kumimoji="0" lang="en-US" altLang="en-US" sz="1600" b="0" i="0" u="none" strike="noStrike" cap="none" normalizeH="0" baseline="0" dirty="0">
                <a:ln>
                  <a:noFill/>
                </a:ln>
                <a:solidFill>
                  <a:schemeClr val="tx1"/>
                </a:solidFill>
                <a:effectLst/>
                <a:latin typeface="Menlo"/>
              </a:rPr>
              <a:t>(</a:t>
            </a:r>
            <a:r>
              <a:rPr kumimoji="0" lang="en-US" altLang="en-US" sz="1600" b="0" i="0" u="none" strike="noStrike" cap="none" normalizeH="0" baseline="0" dirty="0">
                <a:ln>
                  <a:noFill/>
                </a:ln>
                <a:solidFill>
                  <a:srgbClr val="A709F5"/>
                </a:solidFill>
                <a:effectLst/>
                <a:latin typeface="Menlo"/>
              </a:rPr>
              <a:t>'peppers.png'</a:t>
            </a:r>
            <a:r>
              <a:rPr kumimoji="0" lang="en-US" altLang="en-US" sz="1600" b="0" i="0" u="none" strike="noStrike" cap="none" normalizeH="0" baseline="0" dirty="0">
                <a:ln>
                  <a:noFill/>
                </a:ln>
                <a:solidFill>
                  <a:schemeClr val="tx1"/>
                </a:solidFill>
                <a:effectLst/>
                <a:latin typeface="Menlo"/>
              </a:rPr>
              <a:t>); </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enlo"/>
              </a:rPr>
              <a:t>&gt;&gt; </a:t>
            </a:r>
            <a:r>
              <a:rPr kumimoji="0" lang="en-US" altLang="en-US" sz="1600" b="0" i="0" u="none" strike="noStrike" cap="none" normalizeH="0" baseline="0" dirty="0" err="1">
                <a:ln>
                  <a:noFill/>
                </a:ln>
                <a:solidFill>
                  <a:schemeClr val="tx1"/>
                </a:solidFill>
                <a:effectLst/>
                <a:latin typeface="Menlo"/>
              </a:rPr>
              <a:t>imwrite</a:t>
            </a:r>
            <a:r>
              <a:rPr kumimoji="0" lang="en-US" altLang="en-US" sz="1600" b="0" i="0" u="none" strike="noStrike" cap="none" normalizeH="0" baseline="0" dirty="0">
                <a:ln>
                  <a:noFill/>
                </a:ln>
                <a:solidFill>
                  <a:schemeClr val="tx1"/>
                </a:solidFill>
                <a:effectLst/>
                <a:latin typeface="Menlo"/>
              </a:rPr>
              <a:t>(</a:t>
            </a:r>
            <a:r>
              <a:rPr kumimoji="0" lang="en-US" altLang="en-US" sz="1600" b="0" i="0" u="none" strike="noStrike" cap="none" normalizeH="0" baseline="0" dirty="0" err="1">
                <a:ln>
                  <a:noFill/>
                </a:ln>
                <a:solidFill>
                  <a:schemeClr val="tx1"/>
                </a:solidFill>
                <a:effectLst/>
                <a:latin typeface="Menlo"/>
              </a:rPr>
              <a:t>img</a:t>
            </a:r>
            <a:r>
              <a:rPr kumimoji="0" lang="en-US" altLang="en-US" sz="1600" b="0" i="0" u="none" strike="noStrike" cap="none" normalizeH="0" baseline="0" dirty="0">
                <a:ln>
                  <a:noFill/>
                </a:ln>
                <a:solidFill>
                  <a:schemeClr val="tx1"/>
                </a:solidFill>
                <a:effectLst/>
                <a:latin typeface="Menlo"/>
              </a:rPr>
              <a:t>, </a:t>
            </a:r>
            <a:r>
              <a:rPr kumimoji="0" lang="en-US" altLang="en-US" sz="1600" b="0" i="0" u="none" strike="noStrike" cap="none" normalizeH="0" baseline="0" dirty="0">
                <a:ln>
                  <a:noFill/>
                </a:ln>
                <a:solidFill>
                  <a:srgbClr val="A709F5"/>
                </a:solidFill>
                <a:effectLst/>
                <a:latin typeface="Menlo"/>
              </a:rPr>
              <a:t>'compressed_image_lossless.png'</a:t>
            </a:r>
            <a:r>
              <a:rPr kumimoji="0" lang="en-US" altLang="en-US" sz="1600" b="0" i="0" u="none" strike="noStrike" cap="none" normalizeH="0" baseline="0" dirty="0">
                <a:ln>
                  <a:noFill/>
                </a:ln>
                <a:solidFill>
                  <a:schemeClr val="tx1"/>
                </a:solidFill>
                <a:effectLst/>
                <a:latin typeface="Menlo"/>
              </a:rPr>
              <a:t>, </a:t>
            </a:r>
            <a:r>
              <a:rPr kumimoji="0" lang="en-US" altLang="en-US" sz="1600" b="0" i="0" u="none" strike="noStrike" cap="none" normalizeH="0" baseline="0" dirty="0">
                <a:ln>
                  <a:noFill/>
                </a:ln>
                <a:solidFill>
                  <a:srgbClr val="A709F5"/>
                </a:solidFill>
                <a:effectLst/>
                <a:latin typeface="Menlo"/>
              </a:rPr>
              <a:t>'</a:t>
            </a:r>
            <a:r>
              <a:rPr kumimoji="0" lang="en-US" altLang="en-US" sz="1600" b="0" i="0" u="none" strike="noStrike" cap="none" normalizeH="0" baseline="0" dirty="0" err="1">
                <a:ln>
                  <a:noFill/>
                </a:ln>
                <a:solidFill>
                  <a:srgbClr val="A709F5"/>
                </a:solidFill>
                <a:effectLst/>
                <a:latin typeface="Menlo"/>
              </a:rPr>
              <a:t>png</a:t>
            </a:r>
            <a:r>
              <a:rPr kumimoji="0" lang="en-US" altLang="en-US" sz="1600" b="0" i="0" u="none" strike="noStrike" cap="none" normalizeH="0" baseline="0" dirty="0">
                <a:ln>
                  <a:noFill/>
                </a:ln>
                <a:solidFill>
                  <a:srgbClr val="A709F5"/>
                </a:solidFill>
                <a:effectLst/>
                <a:latin typeface="Menlo"/>
              </a:rPr>
              <a:t>'</a:t>
            </a:r>
            <a:r>
              <a:rPr kumimoji="0" lang="en-US" altLang="en-US" sz="1600" b="0" i="0" u="none" strike="noStrike" cap="none" normalizeH="0" baseline="0" dirty="0">
                <a:ln>
                  <a:noFill/>
                </a:ln>
                <a:solidFill>
                  <a:schemeClr val="tx1"/>
                </a:solidFill>
                <a:effectLst/>
                <a:latin typeface="Menlo"/>
              </a:rPr>
              <a:t>);</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enlo"/>
              </a:rPr>
              <a:t>&gt;&gt; </a:t>
            </a:r>
            <a:r>
              <a:rPr kumimoji="0" lang="en-US" altLang="en-US" sz="1600" b="0" i="0" u="none" strike="noStrike" cap="none" normalizeH="0" baseline="0" dirty="0" err="1">
                <a:ln>
                  <a:noFill/>
                </a:ln>
                <a:solidFill>
                  <a:schemeClr val="tx1"/>
                </a:solidFill>
                <a:effectLst/>
                <a:latin typeface="Menlo"/>
              </a:rPr>
              <a:t>img_png</a:t>
            </a:r>
            <a:r>
              <a:rPr kumimoji="0" lang="en-US" altLang="en-US" sz="1600" b="0" i="0" u="none" strike="noStrike" cap="none" normalizeH="0" baseline="0" dirty="0">
                <a:ln>
                  <a:noFill/>
                </a:ln>
                <a:solidFill>
                  <a:schemeClr val="tx1"/>
                </a:solidFill>
                <a:effectLst/>
                <a:latin typeface="Menlo"/>
              </a:rPr>
              <a:t> = </a:t>
            </a:r>
            <a:r>
              <a:rPr kumimoji="0" lang="en-US" altLang="en-US" sz="1600" b="0" i="0" u="none" strike="noStrike" cap="none" normalizeH="0" baseline="0" dirty="0" err="1">
                <a:ln>
                  <a:noFill/>
                </a:ln>
                <a:solidFill>
                  <a:schemeClr val="tx1"/>
                </a:solidFill>
                <a:effectLst/>
                <a:latin typeface="Menlo"/>
              </a:rPr>
              <a:t>imread</a:t>
            </a:r>
            <a:r>
              <a:rPr kumimoji="0" lang="en-US" altLang="en-US" sz="1600" b="0" i="0" u="none" strike="noStrike" cap="none" normalizeH="0" baseline="0" dirty="0">
                <a:ln>
                  <a:noFill/>
                </a:ln>
                <a:solidFill>
                  <a:schemeClr val="tx1"/>
                </a:solidFill>
                <a:effectLst/>
                <a:latin typeface="Menlo"/>
              </a:rPr>
              <a:t>(</a:t>
            </a:r>
            <a:r>
              <a:rPr kumimoji="0" lang="en-US" altLang="en-US" sz="1600" b="0" i="0" u="none" strike="noStrike" cap="none" normalizeH="0" baseline="0" dirty="0">
                <a:ln>
                  <a:noFill/>
                </a:ln>
                <a:solidFill>
                  <a:srgbClr val="A709F5"/>
                </a:solidFill>
                <a:effectLst/>
                <a:latin typeface="Menlo"/>
              </a:rPr>
              <a:t>'compressed_image_lossless.png'</a:t>
            </a:r>
            <a:r>
              <a:rPr kumimoji="0" lang="en-US" altLang="en-US" sz="1600" b="0" i="0" u="none" strike="noStrike" cap="none" normalizeH="0" baseline="0" dirty="0">
                <a:ln>
                  <a:noFill/>
                </a:ln>
                <a:solidFill>
                  <a:schemeClr val="tx1"/>
                </a:solidFill>
                <a:effectLst/>
                <a:latin typeface="Menlo"/>
              </a:rPr>
              <a:t>);</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enlo"/>
              </a:rPr>
              <a:t>&gt;&gt; figure;</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enlo"/>
              </a:rPr>
              <a:t>subplot(1, 2, 1), </a:t>
            </a:r>
            <a:r>
              <a:rPr kumimoji="0" lang="en-US" altLang="en-US" sz="1600" b="0" i="0" u="none" strike="noStrike" cap="none" normalizeH="0" baseline="0" dirty="0" err="1">
                <a:ln>
                  <a:noFill/>
                </a:ln>
                <a:solidFill>
                  <a:schemeClr val="tx1"/>
                </a:solidFill>
                <a:effectLst/>
                <a:latin typeface="Menlo"/>
              </a:rPr>
              <a:t>imshow</a:t>
            </a:r>
            <a:r>
              <a:rPr kumimoji="0" lang="en-US" altLang="en-US" sz="1600" b="0" i="0" u="none" strike="noStrike" cap="none" normalizeH="0" baseline="0" dirty="0">
                <a:ln>
                  <a:noFill/>
                </a:ln>
                <a:solidFill>
                  <a:schemeClr val="tx1"/>
                </a:solidFill>
                <a:effectLst/>
                <a:latin typeface="Menlo"/>
              </a:rPr>
              <a:t>(</a:t>
            </a:r>
            <a:r>
              <a:rPr kumimoji="0" lang="en-US" altLang="en-US" sz="1600" b="0" i="0" u="none" strike="noStrike" cap="none" normalizeH="0" baseline="0" dirty="0" err="1">
                <a:ln>
                  <a:noFill/>
                </a:ln>
                <a:solidFill>
                  <a:schemeClr val="tx1"/>
                </a:solidFill>
                <a:effectLst/>
                <a:latin typeface="Menlo"/>
              </a:rPr>
              <a:t>img</a:t>
            </a:r>
            <a:r>
              <a:rPr kumimoji="0" lang="en-US" altLang="en-US" sz="1600" b="0" i="0" u="none" strike="noStrike" cap="none" normalizeH="0" baseline="0" dirty="0">
                <a:ln>
                  <a:noFill/>
                </a:ln>
                <a:solidFill>
                  <a:schemeClr val="tx1"/>
                </a:solidFill>
                <a:effectLst/>
                <a:latin typeface="Menlo"/>
              </a:rPr>
              <a:t>), title(</a:t>
            </a:r>
            <a:r>
              <a:rPr kumimoji="0" lang="en-US" altLang="en-US" sz="1600" b="0" i="0" u="none" strike="noStrike" cap="none" normalizeH="0" baseline="0" dirty="0">
                <a:ln>
                  <a:noFill/>
                </a:ln>
                <a:solidFill>
                  <a:srgbClr val="A709F5"/>
                </a:solidFill>
                <a:effectLst/>
                <a:latin typeface="Menlo"/>
              </a:rPr>
              <a:t>'Original Image'</a:t>
            </a:r>
            <a:r>
              <a:rPr kumimoji="0" lang="en-US" altLang="en-US" sz="1600" b="0" i="0" u="none" strike="noStrike" cap="none" normalizeH="0" baseline="0" dirty="0">
                <a:ln>
                  <a:noFill/>
                </a:ln>
                <a:solidFill>
                  <a:schemeClr val="tx1"/>
                </a:solidFill>
                <a:effectLst/>
                <a:latin typeface="Menlo"/>
              </a:rPr>
              <a:t>);</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enlo"/>
              </a:rPr>
              <a:t>subplot(1, 2, 2), </a:t>
            </a:r>
            <a:r>
              <a:rPr kumimoji="0" lang="en-US" altLang="en-US" sz="1600" b="0" i="0" u="none" strike="noStrike" cap="none" normalizeH="0" baseline="0" dirty="0" err="1">
                <a:ln>
                  <a:noFill/>
                </a:ln>
                <a:solidFill>
                  <a:schemeClr val="tx1"/>
                </a:solidFill>
                <a:effectLst/>
                <a:latin typeface="Menlo"/>
              </a:rPr>
              <a:t>imshow</a:t>
            </a:r>
            <a:r>
              <a:rPr kumimoji="0" lang="en-US" altLang="en-US" sz="1600" b="0" i="0" u="none" strike="noStrike" cap="none" normalizeH="0" baseline="0" dirty="0">
                <a:ln>
                  <a:noFill/>
                </a:ln>
                <a:solidFill>
                  <a:schemeClr val="tx1"/>
                </a:solidFill>
                <a:effectLst/>
                <a:latin typeface="Menlo"/>
              </a:rPr>
              <a:t>(</a:t>
            </a:r>
            <a:r>
              <a:rPr kumimoji="0" lang="en-US" altLang="en-US" sz="1600" b="0" i="0" u="none" strike="noStrike" cap="none" normalizeH="0" baseline="0" dirty="0" err="1">
                <a:ln>
                  <a:noFill/>
                </a:ln>
                <a:solidFill>
                  <a:schemeClr val="tx1"/>
                </a:solidFill>
                <a:effectLst/>
                <a:latin typeface="Menlo"/>
              </a:rPr>
              <a:t>img_png</a:t>
            </a:r>
            <a:r>
              <a:rPr kumimoji="0" lang="en-US" altLang="en-US" sz="1600" b="0" i="0" u="none" strike="noStrike" cap="none" normalizeH="0" baseline="0" dirty="0">
                <a:ln>
                  <a:noFill/>
                </a:ln>
                <a:solidFill>
                  <a:schemeClr val="tx1"/>
                </a:solidFill>
                <a:effectLst/>
                <a:latin typeface="Menlo"/>
              </a:rPr>
              <a:t>), title(</a:t>
            </a:r>
            <a:r>
              <a:rPr kumimoji="0" lang="en-US" altLang="en-US" sz="1600" b="0" i="0" u="none" strike="noStrike" cap="none" normalizeH="0" baseline="0" dirty="0">
                <a:ln>
                  <a:noFill/>
                </a:ln>
                <a:solidFill>
                  <a:srgbClr val="A709F5"/>
                </a:solidFill>
                <a:effectLst/>
                <a:latin typeface="Menlo"/>
              </a:rPr>
              <a:t>'PNG Compressed (Lossless)'</a:t>
            </a:r>
            <a:r>
              <a:rPr kumimoji="0" lang="en-US" altLang="en-US" sz="1600" b="0" i="0" u="none" strike="noStrike" cap="none" normalizeH="0" baseline="0" dirty="0">
                <a:ln>
                  <a:noFill/>
                </a:ln>
                <a:solidFill>
                  <a:schemeClr val="tx1"/>
                </a:solidFill>
                <a:effectLst/>
                <a:latin typeface="Menlo"/>
              </a:rPr>
              <a:t>);</a:t>
            </a: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071292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CA478-0B5E-653C-099D-FF3B363976E5}"/>
              </a:ext>
            </a:extLst>
          </p:cNvPr>
          <p:cNvSpPr>
            <a:spLocks noGrp="1"/>
          </p:cNvSpPr>
          <p:nvPr>
            <p:ph type="title"/>
          </p:nvPr>
        </p:nvSpPr>
        <p:spPr/>
        <p:txBody>
          <a:bodyPr/>
          <a:lstStyle/>
          <a:p>
            <a:r>
              <a:rPr lang="en-US" dirty="0"/>
              <a:t>File size of compressed image</a:t>
            </a:r>
          </a:p>
        </p:txBody>
      </p:sp>
      <p:sp>
        <p:nvSpPr>
          <p:cNvPr id="4" name="Rectangle 1">
            <a:extLst>
              <a:ext uri="{FF2B5EF4-FFF2-40B4-BE49-F238E27FC236}">
                <a16:creationId xmlns:a16="http://schemas.microsoft.com/office/drawing/2014/main" id="{681F9380-C18A-A765-D4FC-E69CAEBFA820}"/>
              </a:ext>
            </a:extLst>
          </p:cNvPr>
          <p:cNvSpPr>
            <a:spLocks noGrp="1" noChangeArrowheads="1"/>
          </p:cNvSpPr>
          <p:nvPr>
            <p:ph idx="1"/>
          </p:nvPr>
        </p:nvSpPr>
        <p:spPr bwMode="auto">
          <a:xfrm>
            <a:off x="677334" y="2031742"/>
            <a:ext cx="7383824"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8013"/>
                </a:solidFill>
                <a:effectLst/>
                <a:latin typeface="Menlo"/>
              </a:rPr>
              <a:t>% Check the file sizes of the compressed images</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chemeClr val="tx1"/>
                </a:solidFill>
                <a:effectLst/>
                <a:latin typeface="Menlo"/>
              </a:rPr>
              <a:t>original_info</a:t>
            </a:r>
            <a:r>
              <a:rPr kumimoji="0" lang="en-US" altLang="en-US" sz="1600" b="0" i="0" u="none" strike="noStrike" cap="none" normalizeH="0" baseline="0" dirty="0">
                <a:ln>
                  <a:noFill/>
                </a:ln>
                <a:solidFill>
                  <a:schemeClr val="tx1"/>
                </a:solidFill>
                <a:effectLst/>
                <a:latin typeface="Menlo"/>
              </a:rPr>
              <a:t> = </a:t>
            </a:r>
            <a:r>
              <a:rPr kumimoji="0" lang="en-US" altLang="en-US" sz="1600" b="0" i="0" u="none" strike="noStrike" cap="none" normalizeH="0" baseline="0" dirty="0" err="1">
                <a:ln>
                  <a:noFill/>
                </a:ln>
                <a:solidFill>
                  <a:schemeClr val="tx1"/>
                </a:solidFill>
                <a:effectLst/>
                <a:latin typeface="Menlo"/>
              </a:rPr>
              <a:t>dir</a:t>
            </a:r>
            <a:r>
              <a:rPr kumimoji="0" lang="en-US" altLang="en-US" sz="1600" b="0" i="0" u="none" strike="noStrike" cap="none" normalizeH="0" baseline="0" dirty="0">
                <a:ln>
                  <a:noFill/>
                </a:ln>
                <a:solidFill>
                  <a:schemeClr val="tx1"/>
                </a:solidFill>
                <a:effectLst/>
                <a:latin typeface="Menlo"/>
              </a:rPr>
              <a:t>(</a:t>
            </a:r>
            <a:r>
              <a:rPr kumimoji="0" lang="en-US" altLang="en-US" sz="1600" b="0" i="0" u="none" strike="noStrike" cap="none" normalizeH="0" baseline="0" dirty="0">
                <a:ln>
                  <a:noFill/>
                </a:ln>
                <a:solidFill>
                  <a:srgbClr val="A709F5"/>
                </a:solidFill>
                <a:effectLst/>
                <a:latin typeface="Menlo"/>
              </a:rPr>
              <a:t>'peppers.png'</a:t>
            </a:r>
            <a:r>
              <a:rPr kumimoji="0" lang="en-US" altLang="en-US" sz="1600" b="0" i="0" u="none" strike="noStrike" cap="none" normalizeH="0" baseline="0" dirty="0">
                <a:ln>
                  <a:noFill/>
                </a:ln>
                <a:solidFill>
                  <a:schemeClr val="tx1"/>
                </a:solidFill>
                <a:effectLst/>
                <a:latin typeface="Menlo"/>
              </a:rPr>
              <a:t>);</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enlo"/>
              </a:rPr>
              <a:t>jpeg_90_info = </a:t>
            </a:r>
            <a:r>
              <a:rPr kumimoji="0" lang="en-US" altLang="en-US" sz="1600" b="0" i="0" u="none" strike="noStrike" cap="none" normalizeH="0" baseline="0" dirty="0" err="1">
                <a:ln>
                  <a:noFill/>
                </a:ln>
                <a:solidFill>
                  <a:schemeClr val="tx1"/>
                </a:solidFill>
                <a:effectLst/>
                <a:latin typeface="Menlo"/>
              </a:rPr>
              <a:t>dir</a:t>
            </a:r>
            <a:r>
              <a:rPr kumimoji="0" lang="en-US" altLang="en-US" sz="1600" b="0" i="0" u="none" strike="noStrike" cap="none" normalizeH="0" baseline="0" dirty="0">
                <a:ln>
                  <a:noFill/>
                </a:ln>
                <a:solidFill>
                  <a:schemeClr val="tx1"/>
                </a:solidFill>
                <a:effectLst/>
                <a:latin typeface="Menlo"/>
              </a:rPr>
              <a:t>(</a:t>
            </a:r>
            <a:r>
              <a:rPr kumimoji="0" lang="en-US" altLang="en-US" sz="1600" b="0" i="0" u="none" strike="noStrike" cap="none" normalizeH="0" baseline="0" dirty="0">
                <a:ln>
                  <a:noFill/>
                </a:ln>
                <a:solidFill>
                  <a:srgbClr val="A709F5"/>
                </a:solidFill>
                <a:effectLst/>
                <a:latin typeface="Menlo"/>
              </a:rPr>
              <a:t>'compressed_image_90.jpg'</a:t>
            </a:r>
            <a:r>
              <a:rPr kumimoji="0" lang="en-US" altLang="en-US" sz="1600" b="0" i="0" u="none" strike="noStrike" cap="none" normalizeH="0" baseline="0" dirty="0">
                <a:ln>
                  <a:noFill/>
                </a:ln>
                <a:solidFill>
                  <a:schemeClr val="tx1"/>
                </a:solidFill>
                <a:effectLst/>
                <a:latin typeface="Menlo"/>
              </a:rPr>
              <a:t>);</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enlo"/>
              </a:rPr>
              <a:t>jpeg_50_info = </a:t>
            </a:r>
            <a:r>
              <a:rPr kumimoji="0" lang="en-US" altLang="en-US" sz="1600" b="0" i="0" u="none" strike="noStrike" cap="none" normalizeH="0" baseline="0" dirty="0" err="1">
                <a:ln>
                  <a:noFill/>
                </a:ln>
                <a:solidFill>
                  <a:schemeClr val="tx1"/>
                </a:solidFill>
                <a:effectLst/>
                <a:latin typeface="Menlo"/>
              </a:rPr>
              <a:t>dir</a:t>
            </a:r>
            <a:r>
              <a:rPr kumimoji="0" lang="en-US" altLang="en-US" sz="1600" b="0" i="0" u="none" strike="noStrike" cap="none" normalizeH="0" baseline="0" dirty="0">
                <a:ln>
                  <a:noFill/>
                </a:ln>
                <a:solidFill>
                  <a:schemeClr val="tx1"/>
                </a:solidFill>
                <a:effectLst/>
                <a:latin typeface="Menlo"/>
              </a:rPr>
              <a:t>(</a:t>
            </a:r>
            <a:r>
              <a:rPr kumimoji="0" lang="en-US" altLang="en-US" sz="1600" b="0" i="0" u="none" strike="noStrike" cap="none" normalizeH="0" baseline="0" dirty="0">
                <a:ln>
                  <a:noFill/>
                </a:ln>
                <a:solidFill>
                  <a:srgbClr val="A709F5"/>
                </a:solidFill>
                <a:effectLst/>
                <a:latin typeface="Menlo"/>
              </a:rPr>
              <a:t>'compressed_image_50.jpg'</a:t>
            </a:r>
            <a:r>
              <a:rPr kumimoji="0" lang="en-US" altLang="en-US" sz="1600" b="0" i="0" u="none" strike="noStrike" cap="none" normalizeH="0" baseline="0" dirty="0">
                <a:ln>
                  <a:noFill/>
                </a:ln>
                <a:solidFill>
                  <a:schemeClr val="tx1"/>
                </a:solidFill>
                <a:effectLst/>
                <a:latin typeface="Menlo"/>
              </a:rPr>
              <a:t>);</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enlo"/>
              </a:rPr>
              <a:t>jpeg_10_info = </a:t>
            </a:r>
            <a:r>
              <a:rPr kumimoji="0" lang="en-US" altLang="en-US" sz="1600" b="0" i="0" u="none" strike="noStrike" cap="none" normalizeH="0" baseline="0" dirty="0" err="1">
                <a:ln>
                  <a:noFill/>
                </a:ln>
                <a:solidFill>
                  <a:schemeClr val="tx1"/>
                </a:solidFill>
                <a:effectLst/>
                <a:latin typeface="Menlo"/>
              </a:rPr>
              <a:t>dir</a:t>
            </a:r>
            <a:r>
              <a:rPr kumimoji="0" lang="en-US" altLang="en-US" sz="1600" b="0" i="0" u="none" strike="noStrike" cap="none" normalizeH="0" baseline="0" dirty="0">
                <a:ln>
                  <a:noFill/>
                </a:ln>
                <a:solidFill>
                  <a:schemeClr val="tx1"/>
                </a:solidFill>
                <a:effectLst/>
                <a:latin typeface="Menlo"/>
              </a:rPr>
              <a:t>(</a:t>
            </a:r>
            <a:r>
              <a:rPr kumimoji="0" lang="en-US" altLang="en-US" sz="1600" b="0" i="0" u="none" strike="noStrike" cap="none" normalizeH="0" baseline="0" dirty="0">
                <a:ln>
                  <a:noFill/>
                </a:ln>
                <a:solidFill>
                  <a:srgbClr val="A709F5"/>
                </a:solidFill>
                <a:effectLst/>
                <a:latin typeface="Menlo"/>
              </a:rPr>
              <a:t>'compressed_image_10.jpg'</a:t>
            </a:r>
            <a:r>
              <a:rPr kumimoji="0" lang="en-US" altLang="en-US" sz="1600" b="0" i="0" u="none" strike="noStrike" cap="none" normalizeH="0" baseline="0" dirty="0">
                <a:ln>
                  <a:noFill/>
                </a:ln>
                <a:solidFill>
                  <a:schemeClr val="tx1"/>
                </a:solidFill>
                <a:effectLst/>
                <a:latin typeface="Menlo"/>
              </a:rPr>
              <a:t>);</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chemeClr val="tx1"/>
                </a:solidFill>
                <a:effectLst/>
                <a:latin typeface="Menlo"/>
              </a:rPr>
              <a:t>png_info</a:t>
            </a:r>
            <a:r>
              <a:rPr kumimoji="0" lang="en-US" altLang="en-US" sz="1600" b="0" i="0" u="none" strike="noStrike" cap="none" normalizeH="0" baseline="0" dirty="0">
                <a:ln>
                  <a:noFill/>
                </a:ln>
                <a:solidFill>
                  <a:schemeClr val="tx1"/>
                </a:solidFill>
                <a:effectLst/>
                <a:latin typeface="Menlo"/>
              </a:rPr>
              <a:t> = </a:t>
            </a:r>
            <a:r>
              <a:rPr kumimoji="0" lang="en-US" altLang="en-US" sz="1600" b="0" i="0" u="none" strike="noStrike" cap="none" normalizeH="0" baseline="0" dirty="0" err="1">
                <a:ln>
                  <a:noFill/>
                </a:ln>
                <a:solidFill>
                  <a:schemeClr val="tx1"/>
                </a:solidFill>
                <a:effectLst/>
                <a:latin typeface="Menlo"/>
              </a:rPr>
              <a:t>dir</a:t>
            </a:r>
            <a:r>
              <a:rPr kumimoji="0" lang="en-US" altLang="en-US" sz="1600" b="0" i="0" u="none" strike="noStrike" cap="none" normalizeH="0" baseline="0" dirty="0">
                <a:ln>
                  <a:noFill/>
                </a:ln>
                <a:solidFill>
                  <a:schemeClr val="tx1"/>
                </a:solidFill>
                <a:effectLst/>
                <a:latin typeface="Menlo"/>
              </a:rPr>
              <a:t>(</a:t>
            </a:r>
            <a:r>
              <a:rPr kumimoji="0" lang="en-US" altLang="en-US" sz="1600" b="0" i="0" u="none" strike="noStrike" cap="none" normalizeH="0" baseline="0" dirty="0">
                <a:ln>
                  <a:noFill/>
                </a:ln>
                <a:solidFill>
                  <a:srgbClr val="A709F5"/>
                </a:solidFill>
                <a:effectLst/>
                <a:latin typeface="Menlo"/>
              </a:rPr>
              <a:t>'compressed_image_lossless.png'</a:t>
            </a:r>
            <a:r>
              <a:rPr kumimoji="0" lang="en-US" altLang="en-US" sz="1600" b="0" i="0" u="none" strike="noStrike" cap="none" normalizeH="0" baseline="0" dirty="0">
                <a:ln>
                  <a:noFill/>
                </a:ln>
                <a:solidFill>
                  <a:schemeClr val="tx1"/>
                </a:solidFill>
                <a:effectLst/>
                <a:latin typeface="Menlo"/>
              </a:rPr>
              <a:t>);</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600" b="0" i="0" u="none" strike="noStrike" cap="none" normalizeH="0" baseline="0" dirty="0">
                <a:ln>
                  <a:noFill/>
                </a:ln>
                <a:solidFill>
                  <a:schemeClr val="tx1"/>
                </a:solidFill>
                <a:effectLst/>
                <a:latin typeface="Menlo"/>
              </a:rPr>
            </a:b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chemeClr val="tx1"/>
                </a:solidFill>
                <a:effectLst/>
                <a:latin typeface="Menlo"/>
              </a:rPr>
              <a:t>fprintf</a:t>
            </a:r>
            <a:r>
              <a:rPr kumimoji="0" lang="en-US" altLang="en-US" sz="1600" b="0" i="0" u="none" strike="noStrike" cap="none" normalizeH="0" baseline="0" dirty="0">
                <a:ln>
                  <a:noFill/>
                </a:ln>
                <a:solidFill>
                  <a:schemeClr val="tx1"/>
                </a:solidFill>
                <a:effectLst/>
                <a:latin typeface="Menlo"/>
              </a:rPr>
              <a:t>(</a:t>
            </a:r>
            <a:r>
              <a:rPr kumimoji="0" lang="en-US" altLang="en-US" sz="1600" b="0" i="0" u="none" strike="noStrike" cap="none" normalizeH="0" baseline="0" dirty="0">
                <a:ln>
                  <a:noFill/>
                </a:ln>
                <a:solidFill>
                  <a:srgbClr val="A709F5"/>
                </a:solidFill>
                <a:effectLst/>
                <a:latin typeface="Menlo"/>
              </a:rPr>
              <a:t>'Original Image Size: %d bytes\n'</a:t>
            </a:r>
            <a:r>
              <a:rPr kumimoji="0" lang="en-US" altLang="en-US" sz="1600" b="0" i="0" u="none" strike="noStrike" cap="none" normalizeH="0" baseline="0" dirty="0">
                <a:ln>
                  <a:noFill/>
                </a:ln>
                <a:solidFill>
                  <a:schemeClr val="tx1"/>
                </a:solidFill>
                <a:effectLst/>
                <a:latin typeface="Menlo"/>
              </a:rPr>
              <a:t>, </a:t>
            </a:r>
            <a:r>
              <a:rPr kumimoji="0" lang="en-US" altLang="en-US" sz="1600" b="0" i="0" u="none" strike="noStrike" cap="none" normalizeH="0" baseline="0" dirty="0" err="1">
                <a:ln>
                  <a:noFill/>
                </a:ln>
                <a:solidFill>
                  <a:schemeClr val="tx1"/>
                </a:solidFill>
                <a:effectLst/>
                <a:latin typeface="Menlo"/>
              </a:rPr>
              <a:t>original_info.bytes</a:t>
            </a:r>
            <a:r>
              <a:rPr kumimoji="0" lang="en-US" altLang="en-US" sz="1600" b="0" i="0" u="none" strike="noStrike" cap="none" normalizeH="0" baseline="0" dirty="0">
                <a:ln>
                  <a:noFill/>
                </a:ln>
                <a:solidFill>
                  <a:schemeClr val="tx1"/>
                </a:solidFill>
                <a:effectLst/>
                <a:latin typeface="Menlo"/>
              </a:rPr>
              <a:t>);</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chemeClr val="tx1"/>
                </a:solidFill>
                <a:effectLst/>
                <a:latin typeface="Menlo"/>
              </a:rPr>
              <a:t>fprintf</a:t>
            </a:r>
            <a:r>
              <a:rPr kumimoji="0" lang="en-US" altLang="en-US" sz="1600" b="0" i="0" u="none" strike="noStrike" cap="none" normalizeH="0" baseline="0" dirty="0">
                <a:ln>
                  <a:noFill/>
                </a:ln>
                <a:solidFill>
                  <a:schemeClr val="tx1"/>
                </a:solidFill>
                <a:effectLst/>
                <a:latin typeface="Menlo"/>
              </a:rPr>
              <a:t>(</a:t>
            </a:r>
            <a:r>
              <a:rPr kumimoji="0" lang="en-US" altLang="en-US" sz="1600" b="0" i="0" u="none" strike="noStrike" cap="none" normalizeH="0" baseline="0" dirty="0">
                <a:ln>
                  <a:noFill/>
                </a:ln>
                <a:solidFill>
                  <a:srgbClr val="A709F5"/>
                </a:solidFill>
                <a:effectLst/>
                <a:latin typeface="Menlo"/>
              </a:rPr>
              <a:t>'JPEG 90%% Quality Size: %d bytes\n'</a:t>
            </a:r>
            <a:r>
              <a:rPr kumimoji="0" lang="en-US" altLang="en-US" sz="1600" b="0" i="0" u="none" strike="noStrike" cap="none" normalizeH="0" baseline="0" dirty="0">
                <a:ln>
                  <a:noFill/>
                </a:ln>
                <a:solidFill>
                  <a:schemeClr val="tx1"/>
                </a:solidFill>
                <a:effectLst/>
                <a:latin typeface="Menlo"/>
              </a:rPr>
              <a:t>, jpeg_90_info.bytes);</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chemeClr val="tx1"/>
                </a:solidFill>
                <a:effectLst/>
                <a:latin typeface="Menlo"/>
              </a:rPr>
              <a:t>fprintf</a:t>
            </a:r>
            <a:r>
              <a:rPr kumimoji="0" lang="en-US" altLang="en-US" sz="1600" b="0" i="0" u="none" strike="noStrike" cap="none" normalizeH="0" baseline="0" dirty="0">
                <a:ln>
                  <a:noFill/>
                </a:ln>
                <a:solidFill>
                  <a:schemeClr val="tx1"/>
                </a:solidFill>
                <a:effectLst/>
                <a:latin typeface="Menlo"/>
              </a:rPr>
              <a:t>(</a:t>
            </a:r>
            <a:r>
              <a:rPr kumimoji="0" lang="en-US" altLang="en-US" sz="1600" b="0" i="0" u="none" strike="noStrike" cap="none" normalizeH="0" baseline="0" dirty="0">
                <a:ln>
                  <a:noFill/>
                </a:ln>
                <a:solidFill>
                  <a:srgbClr val="A709F5"/>
                </a:solidFill>
                <a:effectLst/>
                <a:latin typeface="Menlo"/>
              </a:rPr>
              <a:t>'JPEG 50%% Quality Size: %d bytes\n'</a:t>
            </a:r>
            <a:r>
              <a:rPr kumimoji="0" lang="en-US" altLang="en-US" sz="1600" b="0" i="0" u="none" strike="noStrike" cap="none" normalizeH="0" baseline="0" dirty="0">
                <a:ln>
                  <a:noFill/>
                </a:ln>
                <a:solidFill>
                  <a:schemeClr val="tx1"/>
                </a:solidFill>
                <a:effectLst/>
                <a:latin typeface="Menlo"/>
              </a:rPr>
              <a:t>, jpeg_50_info.bytes);</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chemeClr val="tx1"/>
                </a:solidFill>
                <a:effectLst/>
                <a:latin typeface="Menlo"/>
              </a:rPr>
              <a:t>fprintf</a:t>
            </a:r>
            <a:r>
              <a:rPr kumimoji="0" lang="en-US" altLang="en-US" sz="1600" b="0" i="0" u="none" strike="noStrike" cap="none" normalizeH="0" baseline="0" dirty="0">
                <a:ln>
                  <a:noFill/>
                </a:ln>
                <a:solidFill>
                  <a:schemeClr val="tx1"/>
                </a:solidFill>
                <a:effectLst/>
                <a:latin typeface="Menlo"/>
              </a:rPr>
              <a:t>(</a:t>
            </a:r>
            <a:r>
              <a:rPr kumimoji="0" lang="en-US" altLang="en-US" sz="1600" b="0" i="0" u="none" strike="noStrike" cap="none" normalizeH="0" baseline="0" dirty="0">
                <a:ln>
                  <a:noFill/>
                </a:ln>
                <a:solidFill>
                  <a:srgbClr val="A709F5"/>
                </a:solidFill>
                <a:effectLst/>
                <a:latin typeface="Menlo"/>
              </a:rPr>
              <a:t>'JPEG 10%% Quality Size: %d bytes\n'</a:t>
            </a:r>
            <a:r>
              <a:rPr kumimoji="0" lang="en-US" altLang="en-US" sz="1600" b="0" i="0" u="none" strike="noStrike" cap="none" normalizeH="0" baseline="0" dirty="0">
                <a:ln>
                  <a:noFill/>
                </a:ln>
                <a:solidFill>
                  <a:schemeClr val="tx1"/>
                </a:solidFill>
                <a:effectLst/>
                <a:latin typeface="Menlo"/>
              </a:rPr>
              <a:t>, jpeg_10_info.bytes);</a:t>
            </a:r>
            <a:endParaRPr kumimoji="0" lang="en-US" altLang="en-US" sz="12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chemeClr val="tx1"/>
                </a:solidFill>
                <a:effectLst/>
                <a:latin typeface="Menlo"/>
              </a:rPr>
              <a:t>fprintf</a:t>
            </a:r>
            <a:r>
              <a:rPr kumimoji="0" lang="en-US" altLang="en-US" sz="1600" b="0" i="0" u="none" strike="noStrike" cap="none" normalizeH="0" baseline="0" dirty="0">
                <a:ln>
                  <a:noFill/>
                </a:ln>
                <a:solidFill>
                  <a:schemeClr val="tx1"/>
                </a:solidFill>
                <a:effectLst/>
                <a:latin typeface="Menlo"/>
              </a:rPr>
              <a:t>(</a:t>
            </a:r>
            <a:r>
              <a:rPr kumimoji="0" lang="en-US" altLang="en-US" sz="1600" b="0" i="0" u="none" strike="noStrike" cap="none" normalizeH="0" baseline="0" dirty="0">
                <a:ln>
                  <a:noFill/>
                </a:ln>
                <a:solidFill>
                  <a:srgbClr val="A709F5"/>
                </a:solidFill>
                <a:effectLst/>
                <a:latin typeface="Menlo"/>
              </a:rPr>
              <a:t>'PNG Lossless Size: %d bytes\n'</a:t>
            </a:r>
            <a:r>
              <a:rPr kumimoji="0" lang="en-US" altLang="en-US" sz="1600" b="0" i="0" u="none" strike="noStrike" cap="none" normalizeH="0" baseline="0" dirty="0">
                <a:ln>
                  <a:noFill/>
                </a:ln>
                <a:solidFill>
                  <a:schemeClr val="tx1"/>
                </a:solidFill>
                <a:effectLst/>
                <a:latin typeface="Menlo"/>
              </a:rPr>
              <a:t>, </a:t>
            </a:r>
            <a:r>
              <a:rPr kumimoji="0" lang="en-US" altLang="en-US" sz="1600" b="0" i="0" u="none" strike="noStrike" cap="none" normalizeH="0" baseline="0" dirty="0" err="1">
                <a:ln>
                  <a:noFill/>
                </a:ln>
                <a:solidFill>
                  <a:schemeClr val="tx1"/>
                </a:solidFill>
                <a:effectLst/>
                <a:latin typeface="Menlo"/>
              </a:rPr>
              <a:t>png_info.bytes</a:t>
            </a:r>
            <a:r>
              <a:rPr kumimoji="0" lang="en-US" altLang="en-US" sz="1600" b="0" i="0" u="none" strike="noStrike" cap="none" normalizeH="0" baseline="0" dirty="0">
                <a:ln>
                  <a:noFill/>
                </a:ln>
                <a:solidFill>
                  <a:schemeClr val="tx1"/>
                </a:solidFill>
                <a:effectLst/>
                <a:latin typeface="Menlo"/>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rgbClr val="00B05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B050"/>
                </a:solidFill>
                <a:effectLst/>
                <a:latin typeface="Menlo"/>
              </a:rPr>
              <a:t>Original Image Size: JPEG 90% Quality Size: 41327 bytes JPEG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B050"/>
                </a:solidFill>
                <a:effectLst/>
                <a:latin typeface="Menlo"/>
              </a:rPr>
              <a:t> 50% Quality Size: 15671 bytes JPEG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B050"/>
                </a:solidFill>
                <a:effectLst/>
                <a:latin typeface="Menlo"/>
              </a:rPr>
              <a:t>10% Quality Size: 6619 bytes PNG Lossless Size: 287589 bytes</a:t>
            </a:r>
            <a:endParaRPr kumimoji="0" lang="en-US" altLang="en-US" sz="3600" b="0" i="0" u="none" strike="noStrike" cap="none" normalizeH="0" baseline="0" dirty="0">
              <a:ln>
                <a:noFill/>
              </a:ln>
              <a:solidFill>
                <a:srgbClr val="00B050"/>
              </a:solidFill>
              <a:effectLst/>
              <a:latin typeface="Arial" panose="020B0604020202020204" pitchFamily="34" charset="0"/>
            </a:endParaRPr>
          </a:p>
        </p:txBody>
      </p:sp>
    </p:spTree>
    <p:extLst>
      <p:ext uri="{BB962C8B-B14F-4D97-AF65-F5344CB8AC3E}">
        <p14:creationId xmlns:p14="http://schemas.microsoft.com/office/powerpoint/2010/main" val="26826061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3587B-61B0-3DB9-F19A-13B3FC72D160}"/>
              </a:ext>
            </a:extLst>
          </p:cNvPr>
          <p:cNvSpPr>
            <a:spLocks noGrp="1"/>
          </p:cNvSpPr>
          <p:nvPr>
            <p:ph type="title"/>
          </p:nvPr>
        </p:nvSpPr>
        <p:spPr/>
        <p:txBody>
          <a:bodyPr/>
          <a:lstStyle/>
          <a:p>
            <a:r>
              <a:rPr lang="en-US" altLang="en-US" dirty="0"/>
              <a:t>Examples</a:t>
            </a:r>
            <a:endParaRPr lang="en-US" dirty="0"/>
          </a:p>
        </p:txBody>
      </p:sp>
      <p:sp>
        <p:nvSpPr>
          <p:cNvPr id="3" name="Content Placeholder 2">
            <a:extLst>
              <a:ext uri="{FF2B5EF4-FFF2-40B4-BE49-F238E27FC236}">
                <a16:creationId xmlns:a16="http://schemas.microsoft.com/office/drawing/2014/main" id="{15A89E6E-4C86-0A5B-A177-433DAA1FF309}"/>
              </a:ext>
            </a:extLst>
          </p:cNvPr>
          <p:cNvSpPr>
            <a:spLocks noGrp="1"/>
          </p:cNvSpPr>
          <p:nvPr>
            <p:ph idx="1"/>
          </p:nvPr>
        </p:nvSpPr>
        <p:spPr>
          <a:xfrm>
            <a:off x="677334" y="2055486"/>
            <a:ext cx="8596668" cy="3880773"/>
          </a:xfrm>
        </p:spPr>
        <p:txBody>
          <a:bodyPr/>
          <a:lstStyle/>
          <a:p>
            <a:pPr>
              <a:buFontTx/>
              <a:buNone/>
            </a:pPr>
            <a:r>
              <a:rPr lang="en-US" altLang="en-US" sz="2400" dirty="0"/>
              <a:t>R</a:t>
            </a:r>
            <a:r>
              <a:rPr lang="en-US" altLang="en-US" sz="2400" baseline="-25000" dirty="0"/>
              <a:t>D</a:t>
            </a:r>
            <a:r>
              <a:rPr lang="en-US" altLang="en-US" sz="2400" dirty="0"/>
              <a:t> = 1 – 1/C</a:t>
            </a:r>
            <a:r>
              <a:rPr lang="en-US" altLang="en-US" sz="2400" baseline="-25000" dirty="0"/>
              <a:t>R</a:t>
            </a:r>
            <a:endParaRPr lang="en-US" altLang="en-US" sz="2400" dirty="0"/>
          </a:p>
          <a:p>
            <a:pPr>
              <a:buFontTx/>
              <a:buNone/>
            </a:pPr>
            <a:r>
              <a:rPr lang="en-US" altLang="en-US" sz="2400" dirty="0"/>
              <a:t>		 C</a:t>
            </a:r>
            <a:r>
              <a:rPr lang="en-US" altLang="en-US" sz="2400" baseline="-25000" dirty="0"/>
              <a:t>R</a:t>
            </a:r>
            <a:r>
              <a:rPr lang="en-US" altLang="en-US" sz="2400" dirty="0"/>
              <a:t> =  n</a:t>
            </a:r>
            <a:r>
              <a:rPr lang="en-US" altLang="en-US" sz="2400" baseline="-25000" dirty="0"/>
              <a:t>1 </a:t>
            </a:r>
            <a:r>
              <a:rPr lang="en-US" altLang="en-US" sz="2400" dirty="0"/>
              <a:t>/ n</a:t>
            </a:r>
            <a:r>
              <a:rPr lang="en-US" altLang="en-US" sz="2400" baseline="-25000" dirty="0"/>
              <a:t>2</a:t>
            </a:r>
          </a:p>
          <a:p>
            <a:r>
              <a:rPr lang="en-US" altLang="en-US" sz="2400" dirty="0"/>
              <a:t>D</a:t>
            </a:r>
            <a:r>
              <a:rPr lang="en-US" altLang="en-US" sz="2400" baseline="-25000" dirty="0"/>
              <a:t>1</a:t>
            </a:r>
            <a:r>
              <a:rPr lang="en-US" altLang="en-US" sz="2400" dirty="0"/>
              <a:t> is the original and D</a:t>
            </a:r>
            <a:r>
              <a:rPr lang="en-US" altLang="en-US" sz="2400" baseline="-25000" dirty="0"/>
              <a:t>2 </a:t>
            </a:r>
            <a:r>
              <a:rPr lang="en-US" altLang="en-US" sz="2400" dirty="0"/>
              <a:t>is compressed.</a:t>
            </a:r>
          </a:p>
          <a:p>
            <a:r>
              <a:rPr lang="en-US" altLang="en-US" sz="2400" dirty="0"/>
              <a:t>When C</a:t>
            </a:r>
            <a:r>
              <a:rPr lang="en-US" altLang="en-US" sz="2400" baseline="-25000" dirty="0"/>
              <a:t>R </a:t>
            </a:r>
            <a:r>
              <a:rPr lang="en-US" altLang="en-US" sz="2400" dirty="0"/>
              <a:t>= 1, i.e. n</a:t>
            </a:r>
            <a:r>
              <a:rPr lang="en-US" altLang="en-US" sz="2400" baseline="-25000" dirty="0"/>
              <a:t>1 </a:t>
            </a:r>
            <a:r>
              <a:rPr lang="en-US" altLang="en-US" sz="2400" dirty="0"/>
              <a:t>= n</a:t>
            </a:r>
            <a:r>
              <a:rPr lang="en-US" altLang="en-US" sz="2400" baseline="-25000" dirty="0"/>
              <a:t>2  </a:t>
            </a:r>
            <a:r>
              <a:rPr lang="en-US" altLang="en-US" sz="2400" dirty="0"/>
              <a:t>then R</a:t>
            </a:r>
            <a:r>
              <a:rPr lang="en-US" altLang="en-US" sz="2400" baseline="-25000" dirty="0"/>
              <a:t>D</a:t>
            </a:r>
            <a:r>
              <a:rPr lang="en-US" altLang="en-US" sz="2400" dirty="0"/>
              <a:t>=0; no data redundancy relative to D</a:t>
            </a:r>
            <a:r>
              <a:rPr lang="en-US" altLang="en-US" sz="2400" baseline="-25000" dirty="0"/>
              <a:t>1 </a:t>
            </a:r>
            <a:r>
              <a:rPr lang="en-US" altLang="en-US" sz="2400" dirty="0"/>
              <a:t>.</a:t>
            </a:r>
          </a:p>
          <a:p>
            <a:r>
              <a:rPr lang="en-US" altLang="en-US" sz="2400" dirty="0"/>
              <a:t>When C</a:t>
            </a:r>
            <a:r>
              <a:rPr lang="en-US" altLang="en-US" sz="2400" baseline="-25000" dirty="0"/>
              <a:t>R </a:t>
            </a:r>
            <a:r>
              <a:rPr lang="en-US" altLang="en-US" sz="2400" dirty="0"/>
              <a:t>= 10, i.e. n</a:t>
            </a:r>
            <a:r>
              <a:rPr lang="en-US" altLang="en-US" sz="2400" baseline="-25000" dirty="0"/>
              <a:t>1 </a:t>
            </a:r>
            <a:r>
              <a:rPr lang="en-US" altLang="en-US" sz="2400" dirty="0"/>
              <a:t>= 10 n</a:t>
            </a:r>
            <a:r>
              <a:rPr lang="en-US" altLang="en-US" sz="2400" baseline="-25000" dirty="0"/>
              <a:t>2  </a:t>
            </a:r>
            <a:r>
              <a:rPr lang="en-US" altLang="en-US" sz="2400" dirty="0"/>
              <a:t>then R</a:t>
            </a:r>
            <a:r>
              <a:rPr lang="en-US" altLang="en-US" sz="2400" baseline="-25000" dirty="0"/>
              <a:t>D</a:t>
            </a:r>
            <a:r>
              <a:rPr lang="en-US" altLang="en-US" sz="2400" dirty="0"/>
              <a:t>=0.9; implies that 90% of the data in D</a:t>
            </a:r>
            <a:r>
              <a:rPr lang="en-US" altLang="en-US" sz="2400" baseline="-25000" dirty="0"/>
              <a:t>1 </a:t>
            </a:r>
            <a:r>
              <a:rPr lang="en-US" altLang="en-US" sz="2400" dirty="0"/>
              <a:t>is redundant.</a:t>
            </a:r>
          </a:p>
          <a:p>
            <a:r>
              <a:rPr lang="en-US" altLang="en-US" sz="2400" dirty="0"/>
              <a:t>What does it mean if n</a:t>
            </a:r>
            <a:r>
              <a:rPr lang="en-US" altLang="en-US" sz="2400" baseline="-25000" dirty="0"/>
              <a:t>1 </a:t>
            </a:r>
            <a:r>
              <a:rPr lang="en-US" altLang="en-US" sz="2400" dirty="0"/>
              <a:t>&lt;&lt; n</a:t>
            </a:r>
            <a:r>
              <a:rPr lang="en-US" altLang="en-US" sz="2400" baseline="-25000" dirty="0"/>
              <a:t>2 </a:t>
            </a:r>
            <a:r>
              <a:rPr lang="en-US" altLang="en-US" sz="2400" dirty="0"/>
              <a:t>?</a:t>
            </a:r>
          </a:p>
          <a:p>
            <a:endParaRPr lang="en-US" dirty="0"/>
          </a:p>
        </p:txBody>
      </p:sp>
    </p:spTree>
    <p:extLst>
      <p:ext uri="{BB962C8B-B14F-4D97-AF65-F5344CB8AC3E}">
        <p14:creationId xmlns:p14="http://schemas.microsoft.com/office/powerpoint/2010/main" val="1697925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3587B-61B0-3DB9-F19A-13B3FC72D160}"/>
              </a:ext>
            </a:extLst>
          </p:cNvPr>
          <p:cNvSpPr>
            <a:spLocks noGrp="1"/>
          </p:cNvSpPr>
          <p:nvPr>
            <p:ph type="title"/>
          </p:nvPr>
        </p:nvSpPr>
        <p:spPr/>
        <p:txBody>
          <a:bodyPr/>
          <a:lstStyle/>
          <a:p>
            <a:r>
              <a:rPr lang="en-US" altLang="en-US" dirty="0"/>
              <a:t>Types of data redundancy</a:t>
            </a:r>
            <a:endParaRPr lang="en-US" dirty="0"/>
          </a:p>
        </p:txBody>
      </p:sp>
      <p:sp>
        <p:nvSpPr>
          <p:cNvPr id="3" name="Content Placeholder 2">
            <a:extLst>
              <a:ext uri="{FF2B5EF4-FFF2-40B4-BE49-F238E27FC236}">
                <a16:creationId xmlns:a16="http://schemas.microsoft.com/office/drawing/2014/main" id="{15A89E6E-4C86-0A5B-A177-433DAA1FF309}"/>
              </a:ext>
            </a:extLst>
          </p:cNvPr>
          <p:cNvSpPr>
            <a:spLocks noGrp="1"/>
          </p:cNvSpPr>
          <p:nvPr>
            <p:ph idx="1"/>
          </p:nvPr>
        </p:nvSpPr>
        <p:spPr>
          <a:xfrm>
            <a:off x="677334" y="2160589"/>
            <a:ext cx="8596668" cy="2767012"/>
          </a:xfrm>
        </p:spPr>
        <p:txBody>
          <a:bodyPr>
            <a:normAutofit fontScale="70000" lnSpcReduction="20000"/>
          </a:bodyPr>
          <a:lstStyle/>
          <a:p>
            <a:r>
              <a:rPr lang="en-US" altLang="en-US" sz="3300" dirty="0">
                <a:solidFill>
                  <a:srgbClr val="00B050"/>
                </a:solidFill>
              </a:rPr>
              <a:t>Coding Redundancy</a:t>
            </a:r>
            <a:r>
              <a:rPr lang="en-US" altLang="en-US" sz="3300" dirty="0"/>
              <a:t>– Occurs when the data used to represent the </a:t>
            </a:r>
            <a:r>
              <a:rPr lang="en-US" altLang="en-US" sz="3300" dirty="0">
                <a:solidFill>
                  <a:srgbClr val="0070C0"/>
                </a:solidFill>
              </a:rPr>
              <a:t>image is not utilized in an optimal manner</a:t>
            </a:r>
          </a:p>
          <a:p>
            <a:r>
              <a:rPr lang="en-US" altLang="en-US" sz="3300" dirty="0">
                <a:solidFill>
                  <a:srgbClr val="00B050"/>
                </a:solidFill>
              </a:rPr>
              <a:t>Interpixel Redundancy</a:t>
            </a:r>
            <a:r>
              <a:rPr lang="en-US" altLang="en-US" sz="3300" dirty="0"/>
              <a:t> – Occurs because adjacent pixels tend to be highly correlated, in most images the </a:t>
            </a:r>
            <a:r>
              <a:rPr lang="en-US" altLang="en-US" sz="3300" dirty="0">
                <a:solidFill>
                  <a:srgbClr val="0070C0"/>
                </a:solidFill>
              </a:rPr>
              <a:t>brightness levels </a:t>
            </a:r>
            <a:r>
              <a:rPr lang="en-US" altLang="en-US" sz="3300" dirty="0"/>
              <a:t>do not change rapidly, but </a:t>
            </a:r>
            <a:r>
              <a:rPr lang="en-US" altLang="en-US" sz="3300" dirty="0">
                <a:solidFill>
                  <a:srgbClr val="0070C0"/>
                </a:solidFill>
              </a:rPr>
              <a:t>change gradually</a:t>
            </a:r>
            <a:r>
              <a:rPr lang="en-US" altLang="en-US" sz="3300" dirty="0"/>
              <a:t>.</a:t>
            </a:r>
          </a:p>
          <a:p>
            <a:r>
              <a:rPr lang="en-US" altLang="en-US" sz="3300" dirty="0">
                <a:solidFill>
                  <a:srgbClr val="00B050"/>
                </a:solidFill>
              </a:rPr>
              <a:t>Psychovisual Redundancy- </a:t>
            </a:r>
            <a:r>
              <a:rPr lang="en-US" altLang="en-US" sz="3300" dirty="0"/>
              <a:t>Some information is </a:t>
            </a:r>
            <a:r>
              <a:rPr lang="en-US" altLang="en-US" sz="3300" dirty="0">
                <a:solidFill>
                  <a:srgbClr val="0070C0"/>
                </a:solidFill>
              </a:rPr>
              <a:t>more important to the human visual system than other type of information.</a:t>
            </a:r>
          </a:p>
          <a:p>
            <a:endParaRPr lang="en-US" dirty="0"/>
          </a:p>
        </p:txBody>
      </p:sp>
    </p:spTree>
    <p:extLst>
      <p:ext uri="{BB962C8B-B14F-4D97-AF65-F5344CB8AC3E}">
        <p14:creationId xmlns:p14="http://schemas.microsoft.com/office/powerpoint/2010/main" val="25319709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3587B-61B0-3DB9-F19A-13B3FC72D160}"/>
              </a:ext>
            </a:extLst>
          </p:cNvPr>
          <p:cNvSpPr>
            <a:spLocks noGrp="1"/>
          </p:cNvSpPr>
          <p:nvPr>
            <p:ph type="title"/>
          </p:nvPr>
        </p:nvSpPr>
        <p:spPr/>
        <p:txBody>
          <a:bodyPr/>
          <a:lstStyle/>
          <a:p>
            <a:r>
              <a:rPr lang="en-US" altLang="en-US" dirty="0"/>
              <a:t>Coding Redundancy</a:t>
            </a:r>
            <a:endParaRPr lang="en-US" dirty="0"/>
          </a:p>
        </p:txBody>
      </p:sp>
      <p:sp>
        <p:nvSpPr>
          <p:cNvPr id="3" name="Content Placeholder 2">
            <a:extLst>
              <a:ext uri="{FF2B5EF4-FFF2-40B4-BE49-F238E27FC236}">
                <a16:creationId xmlns:a16="http://schemas.microsoft.com/office/drawing/2014/main" id="{15A89E6E-4C86-0A5B-A177-433DAA1FF309}"/>
              </a:ext>
            </a:extLst>
          </p:cNvPr>
          <p:cNvSpPr>
            <a:spLocks noGrp="1"/>
          </p:cNvSpPr>
          <p:nvPr>
            <p:ph idx="1"/>
          </p:nvPr>
        </p:nvSpPr>
        <p:spPr>
          <a:xfrm>
            <a:off x="677334" y="1930400"/>
            <a:ext cx="8596668" cy="3880773"/>
          </a:xfrm>
        </p:spPr>
        <p:txBody>
          <a:bodyPr>
            <a:normAutofit fontScale="92500" lnSpcReduction="10000"/>
          </a:bodyPr>
          <a:lstStyle/>
          <a:p>
            <a:r>
              <a:rPr lang="en-US" altLang="en-US" sz="2800" dirty="0"/>
              <a:t>How to assign codes to alphabet</a:t>
            </a:r>
          </a:p>
          <a:p>
            <a:r>
              <a:rPr lang="en-US" altLang="en-US" sz="2800" dirty="0"/>
              <a:t>In digital image processing</a:t>
            </a:r>
          </a:p>
          <a:p>
            <a:pPr lvl="1"/>
            <a:r>
              <a:rPr lang="en-US" altLang="en-US" sz="2400" dirty="0"/>
              <a:t>Code = gray level value or color value</a:t>
            </a:r>
          </a:p>
          <a:p>
            <a:pPr lvl="1"/>
            <a:r>
              <a:rPr lang="en-US" altLang="en-US" sz="2400" dirty="0"/>
              <a:t>Alphabet is used conceptually</a:t>
            </a:r>
          </a:p>
          <a:p>
            <a:r>
              <a:rPr lang="en-US" altLang="en-US" sz="2800" dirty="0"/>
              <a:t>General approach</a:t>
            </a:r>
          </a:p>
          <a:p>
            <a:pPr lvl="1"/>
            <a:r>
              <a:rPr lang="en-US" altLang="en-US" sz="2400" dirty="0">
                <a:solidFill>
                  <a:srgbClr val="FF0000"/>
                </a:solidFill>
              </a:rPr>
              <a:t>Find the more frequently used alphabet</a:t>
            </a:r>
          </a:p>
          <a:p>
            <a:pPr lvl="1"/>
            <a:r>
              <a:rPr lang="en-US" altLang="en-US" sz="2400" dirty="0">
                <a:solidFill>
                  <a:srgbClr val="FF0000"/>
                </a:solidFill>
              </a:rPr>
              <a:t>Use fewer bits to represent the more frequently used alphabet</a:t>
            </a:r>
            <a:r>
              <a:rPr lang="en-US" altLang="en-US" sz="2400" dirty="0"/>
              <a:t>, and use more bits for the less frequently used alphabet</a:t>
            </a:r>
          </a:p>
          <a:p>
            <a:endParaRPr lang="en-US" dirty="0"/>
          </a:p>
        </p:txBody>
      </p:sp>
    </p:spTree>
    <p:extLst>
      <p:ext uri="{BB962C8B-B14F-4D97-AF65-F5344CB8AC3E}">
        <p14:creationId xmlns:p14="http://schemas.microsoft.com/office/powerpoint/2010/main" val="5552385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3587B-61B0-3DB9-F19A-13B3FC72D160}"/>
              </a:ext>
            </a:extLst>
          </p:cNvPr>
          <p:cNvSpPr>
            <a:spLocks noGrp="1"/>
          </p:cNvSpPr>
          <p:nvPr>
            <p:ph type="title"/>
          </p:nvPr>
        </p:nvSpPr>
        <p:spPr/>
        <p:txBody>
          <a:bodyPr/>
          <a:lstStyle/>
          <a:p>
            <a:r>
              <a:rPr lang="en-US" altLang="en-US" sz="3600" dirty="0"/>
              <a:t>Coding Redundancy 2</a:t>
            </a:r>
            <a:endParaRPr lang="en-US" dirty="0"/>
          </a:p>
        </p:txBody>
      </p:sp>
      <p:sp>
        <p:nvSpPr>
          <p:cNvPr id="3" name="Content Placeholder 2">
            <a:extLst>
              <a:ext uri="{FF2B5EF4-FFF2-40B4-BE49-F238E27FC236}">
                <a16:creationId xmlns:a16="http://schemas.microsoft.com/office/drawing/2014/main" id="{15A89E6E-4C86-0A5B-A177-433DAA1FF309}"/>
              </a:ext>
            </a:extLst>
          </p:cNvPr>
          <p:cNvSpPr>
            <a:spLocks noGrp="1"/>
          </p:cNvSpPr>
          <p:nvPr>
            <p:ph idx="1"/>
          </p:nvPr>
        </p:nvSpPr>
        <p:spPr>
          <a:xfrm>
            <a:off x="677334" y="1830651"/>
            <a:ext cx="8596668" cy="3880773"/>
          </a:xfrm>
        </p:spPr>
        <p:txBody>
          <a:bodyPr>
            <a:normAutofit fontScale="92500" lnSpcReduction="20000"/>
          </a:bodyPr>
          <a:lstStyle/>
          <a:p>
            <a:pPr>
              <a:lnSpc>
                <a:spcPct val="90000"/>
              </a:lnSpc>
            </a:pPr>
            <a:r>
              <a:rPr lang="en-US" altLang="en-US" sz="2400" dirty="0"/>
              <a:t>Focus on gray value images</a:t>
            </a:r>
          </a:p>
          <a:p>
            <a:pPr>
              <a:lnSpc>
                <a:spcPct val="90000"/>
              </a:lnSpc>
            </a:pPr>
            <a:r>
              <a:rPr lang="en-US" altLang="en-US" sz="2400" dirty="0"/>
              <a:t>Histogram shows the frequency of occurrence of a particular gray level</a:t>
            </a:r>
          </a:p>
          <a:p>
            <a:pPr>
              <a:lnSpc>
                <a:spcPct val="90000"/>
              </a:lnSpc>
            </a:pPr>
            <a:r>
              <a:rPr lang="en-US" altLang="en-US" sz="2400" dirty="0">
                <a:solidFill>
                  <a:srgbClr val="00B050"/>
                </a:solidFill>
              </a:rPr>
              <a:t>Normalize the histogram and convert to a pdf representation </a:t>
            </a:r>
          </a:p>
          <a:p>
            <a:pPr>
              <a:lnSpc>
                <a:spcPct val="90000"/>
              </a:lnSpc>
            </a:pPr>
            <a:r>
              <a:rPr lang="en-US" altLang="en-US" sz="2400" dirty="0"/>
              <a:t> let </a:t>
            </a:r>
            <a:r>
              <a:rPr lang="en-US" altLang="en-US" sz="2400" dirty="0" err="1"/>
              <a:t>r</a:t>
            </a:r>
            <a:r>
              <a:rPr lang="en-US" altLang="en-US" sz="2400" baseline="-25000" dirty="0" err="1"/>
              <a:t>k</a:t>
            </a:r>
            <a:r>
              <a:rPr lang="en-US" altLang="en-US" sz="2400" dirty="0"/>
              <a:t> be the random variable</a:t>
            </a:r>
          </a:p>
          <a:p>
            <a:pPr lvl="1">
              <a:lnSpc>
                <a:spcPct val="90000"/>
              </a:lnSpc>
              <a:buFontTx/>
              <a:buNone/>
            </a:pPr>
            <a:r>
              <a:rPr lang="en-US" altLang="en-US" sz="2000" dirty="0"/>
              <a:t>p</a:t>
            </a:r>
            <a:r>
              <a:rPr lang="en-US" altLang="en-US" sz="2000" baseline="-25000" dirty="0"/>
              <a:t>r</a:t>
            </a:r>
            <a:r>
              <a:rPr lang="en-US" altLang="en-US" sz="2000" dirty="0"/>
              <a:t>(</a:t>
            </a:r>
            <a:r>
              <a:rPr lang="en-US" altLang="en-US" sz="2000" dirty="0" err="1"/>
              <a:t>r</a:t>
            </a:r>
            <a:r>
              <a:rPr lang="en-US" altLang="en-US" sz="2000" baseline="-25000" dirty="0" err="1"/>
              <a:t>k</a:t>
            </a:r>
            <a:r>
              <a:rPr lang="en-US" altLang="en-US" sz="2000" dirty="0"/>
              <a:t>) = </a:t>
            </a:r>
            <a:r>
              <a:rPr lang="en-US" altLang="en-US" sz="2000" dirty="0" err="1"/>
              <a:t>n</a:t>
            </a:r>
            <a:r>
              <a:rPr lang="en-US" altLang="en-US" sz="2000" baseline="-25000" dirty="0" err="1"/>
              <a:t>k</a:t>
            </a:r>
            <a:r>
              <a:rPr lang="en-US" altLang="en-US" sz="2000" dirty="0"/>
              <a:t>/n ; k = 0, 1,2 …., L-1, where L is the number of gray level values</a:t>
            </a:r>
          </a:p>
          <a:p>
            <a:pPr lvl="1">
              <a:lnSpc>
                <a:spcPct val="90000"/>
              </a:lnSpc>
              <a:buFontTx/>
              <a:buNone/>
            </a:pPr>
            <a:r>
              <a:rPr lang="en-US" altLang="en-US" sz="2000" i="1" dirty="0"/>
              <a:t>l</a:t>
            </a:r>
            <a:r>
              <a:rPr lang="en-US" altLang="en-US" sz="2000" dirty="0"/>
              <a:t>(</a:t>
            </a:r>
            <a:r>
              <a:rPr lang="en-US" altLang="en-US" sz="2000" dirty="0" err="1"/>
              <a:t>r</a:t>
            </a:r>
            <a:r>
              <a:rPr lang="en-US" altLang="en-US" sz="2000" baseline="-25000" dirty="0" err="1"/>
              <a:t>k</a:t>
            </a:r>
            <a:r>
              <a:rPr lang="en-US" altLang="en-US" sz="2000" dirty="0"/>
              <a:t>) = number of bits to represent </a:t>
            </a:r>
            <a:r>
              <a:rPr lang="en-US" altLang="en-US" sz="2000" dirty="0" err="1"/>
              <a:t>r</a:t>
            </a:r>
            <a:r>
              <a:rPr lang="en-US" altLang="en-US" sz="2000" baseline="-25000" dirty="0" err="1"/>
              <a:t>k</a:t>
            </a:r>
            <a:endParaRPr lang="en-US" altLang="en-US" sz="2000" baseline="-25000" dirty="0"/>
          </a:p>
          <a:p>
            <a:pPr lvl="1">
              <a:lnSpc>
                <a:spcPct val="90000"/>
              </a:lnSpc>
              <a:buFontTx/>
              <a:buNone/>
            </a:pPr>
            <a:r>
              <a:rPr lang="en-US" altLang="en-US" sz="2000" dirty="0" err="1"/>
              <a:t>L</a:t>
            </a:r>
            <a:r>
              <a:rPr lang="en-US" altLang="en-US" sz="2000" baseline="-25000" dirty="0" err="1"/>
              <a:t>avg</a:t>
            </a:r>
            <a:r>
              <a:rPr lang="en-US" altLang="en-US" sz="2000" dirty="0"/>
              <a:t> = </a:t>
            </a:r>
            <a:r>
              <a:rPr lang="en-US" altLang="en-US" sz="2000" dirty="0">
                <a:sym typeface="Symbol" panose="05050102010706020507" pitchFamily="18" charset="2"/>
              </a:rPr>
              <a:t></a:t>
            </a:r>
            <a:r>
              <a:rPr lang="en-US" altLang="en-US" sz="2000" baseline="-25000" dirty="0"/>
              <a:t>k=0 to L-1</a:t>
            </a:r>
            <a:r>
              <a:rPr lang="en-US" altLang="en-US" sz="2000" dirty="0">
                <a:sym typeface="Symbol" panose="05050102010706020507" pitchFamily="18" charset="2"/>
              </a:rPr>
              <a:t>  </a:t>
            </a:r>
            <a:r>
              <a:rPr lang="en-US" altLang="en-US" sz="2000" i="1" dirty="0"/>
              <a:t>l</a:t>
            </a:r>
            <a:r>
              <a:rPr lang="en-US" altLang="en-US" sz="2000" dirty="0"/>
              <a:t>(</a:t>
            </a:r>
            <a:r>
              <a:rPr lang="en-US" altLang="en-US" sz="2000" dirty="0" err="1"/>
              <a:t>r</a:t>
            </a:r>
            <a:r>
              <a:rPr lang="en-US" altLang="en-US" sz="2000" baseline="-25000" dirty="0" err="1"/>
              <a:t>k</a:t>
            </a:r>
            <a:r>
              <a:rPr lang="en-US" altLang="en-US" sz="2000" dirty="0"/>
              <a:t>) p</a:t>
            </a:r>
            <a:r>
              <a:rPr lang="en-US" altLang="en-US" sz="2000" baseline="-25000" dirty="0"/>
              <a:t>r</a:t>
            </a:r>
            <a:r>
              <a:rPr lang="en-US" altLang="en-US" sz="2000" dirty="0"/>
              <a:t>(</a:t>
            </a:r>
            <a:r>
              <a:rPr lang="en-US" altLang="en-US" sz="2000" dirty="0" err="1"/>
              <a:t>r</a:t>
            </a:r>
            <a:r>
              <a:rPr lang="en-US" altLang="en-US" sz="2000" baseline="-25000" dirty="0" err="1"/>
              <a:t>k</a:t>
            </a:r>
            <a:r>
              <a:rPr lang="en-US" altLang="en-US" sz="2000" dirty="0"/>
              <a:t>) = average number of bits to encode one pixel.  For M x N image, bits required is MN </a:t>
            </a:r>
            <a:r>
              <a:rPr lang="en-US" altLang="en-US" sz="2000" dirty="0" err="1"/>
              <a:t>L</a:t>
            </a:r>
            <a:r>
              <a:rPr lang="en-US" altLang="en-US" sz="2000" baseline="-25000" dirty="0" err="1"/>
              <a:t>avg</a:t>
            </a:r>
            <a:endParaRPr lang="en-US" altLang="en-US" sz="2000" baseline="-25000" dirty="0"/>
          </a:p>
          <a:p>
            <a:pPr lvl="1">
              <a:lnSpc>
                <a:spcPct val="90000"/>
              </a:lnSpc>
              <a:buFontTx/>
              <a:buNone/>
            </a:pPr>
            <a:r>
              <a:rPr lang="en-US" altLang="en-US" sz="2000" dirty="0"/>
              <a:t>For an image using an 8 bit code, </a:t>
            </a:r>
            <a:r>
              <a:rPr lang="en-US" altLang="en-US" sz="2000" i="1" dirty="0"/>
              <a:t>l</a:t>
            </a:r>
            <a:r>
              <a:rPr lang="en-US" altLang="en-US" sz="2000" dirty="0"/>
              <a:t>(</a:t>
            </a:r>
            <a:r>
              <a:rPr lang="en-US" altLang="en-US" sz="2000" dirty="0" err="1"/>
              <a:t>r</a:t>
            </a:r>
            <a:r>
              <a:rPr lang="en-US" altLang="en-US" sz="2000" baseline="-25000" dirty="0" err="1"/>
              <a:t>k</a:t>
            </a:r>
            <a:r>
              <a:rPr lang="en-US" altLang="en-US" sz="2000" dirty="0"/>
              <a:t>) = 8, </a:t>
            </a:r>
            <a:r>
              <a:rPr lang="en-US" altLang="en-US" sz="2000" dirty="0" err="1"/>
              <a:t>L</a:t>
            </a:r>
            <a:r>
              <a:rPr lang="en-US" altLang="en-US" sz="2000" baseline="-25000" dirty="0" err="1"/>
              <a:t>avg</a:t>
            </a:r>
            <a:r>
              <a:rPr lang="en-US" altLang="en-US" sz="2000" baseline="-25000" dirty="0"/>
              <a:t> </a:t>
            </a:r>
            <a:r>
              <a:rPr lang="en-US" altLang="en-US" sz="2000" dirty="0"/>
              <a:t>= 8.</a:t>
            </a:r>
          </a:p>
          <a:p>
            <a:pPr lvl="1">
              <a:lnSpc>
                <a:spcPct val="90000"/>
              </a:lnSpc>
              <a:buFontTx/>
              <a:buNone/>
            </a:pPr>
            <a:r>
              <a:rPr lang="en-US" altLang="en-US" sz="2000" dirty="0"/>
              <a:t>Fixed length codes.</a:t>
            </a:r>
          </a:p>
          <a:p>
            <a:endParaRPr lang="en-US" dirty="0"/>
          </a:p>
        </p:txBody>
      </p:sp>
    </p:spTree>
    <p:extLst>
      <p:ext uri="{BB962C8B-B14F-4D97-AF65-F5344CB8AC3E}">
        <p14:creationId xmlns:p14="http://schemas.microsoft.com/office/powerpoint/2010/main" val="31485778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3587B-61B0-3DB9-F19A-13B3FC72D160}"/>
              </a:ext>
            </a:extLst>
          </p:cNvPr>
          <p:cNvSpPr>
            <a:spLocks noGrp="1"/>
          </p:cNvSpPr>
          <p:nvPr>
            <p:ph type="title"/>
          </p:nvPr>
        </p:nvSpPr>
        <p:spPr/>
        <p:txBody>
          <a:bodyPr/>
          <a:lstStyle/>
          <a:p>
            <a:r>
              <a:rPr lang="en-US" altLang="en-US" dirty="0"/>
              <a:t>Fixed vs Variable Length Codes</a:t>
            </a:r>
            <a:endParaRPr lang="en-US" dirty="0"/>
          </a:p>
        </p:txBody>
      </p:sp>
      <p:pic>
        <p:nvPicPr>
          <p:cNvPr id="4" name="Picture 3">
            <a:extLst>
              <a:ext uri="{FF2B5EF4-FFF2-40B4-BE49-F238E27FC236}">
                <a16:creationId xmlns:a16="http://schemas.microsoft.com/office/drawing/2014/main" id="{B769A54B-D74D-A33E-3C62-CB76B878B1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3768" y="1764605"/>
            <a:ext cx="7543800" cy="2306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 Box 8">
            <a:extLst>
              <a:ext uri="{FF2B5EF4-FFF2-40B4-BE49-F238E27FC236}">
                <a16:creationId xmlns:a16="http://schemas.microsoft.com/office/drawing/2014/main" id="{90CC9C90-3AF1-2178-9E70-B9BB1230BAE5}"/>
              </a:ext>
            </a:extLst>
          </p:cNvPr>
          <p:cNvSpPr txBox="1">
            <a:spLocks noChangeArrowheads="1"/>
          </p:cNvSpPr>
          <p:nvPr/>
        </p:nvSpPr>
        <p:spPr bwMode="auto">
          <a:xfrm>
            <a:off x="1359260" y="4449960"/>
            <a:ext cx="3094038"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lgn="l" rtl="0" fontAlgn="base">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r>
              <a:rPr lang="en-US" altLang="en-US" dirty="0" err="1"/>
              <a:t>Lavg</a:t>
            </a:r>
            <a:r>
              <a:rPr lang="en-US" altLang="en-US" dirty="0"/>
              <a:t> = 2.7</a:t>
            </a:r>
          </a:p>
          <a:p>
            <a:r>
              <a:rPr lang="en-US" altLang="en-US" dirty="0"/>
              <a:t>C</a:t>
            </a:r>
            <a:r>
              <a:rPr lang="en-US" altLang="en-US" baseline="-25000" dirty="0"/>
              <a:t>R</a:t>
            </a:r>
            <a:r>
              <a:rPr lang="en-US" altLang="en-US" dirty="0"/>
              <a:t>=  3/2.7 = 1.11</a:t>
            </a:r>
          </a:p>
          <a:p>
            <a:r>
              <a:rPr lang="en-US" altLang="en-US" dirty="0"/>
              <a:t>R</a:t>
            </a:r>
            <a:r>
              <a:rPr lang="en-US" altLang="en-US" baseline="-25000" dirty="0"/>
              <a:t>D</a:t>
            </a:r>
            <a:r>
              <a:rPr lang="en-US" altLang="en-US" dirty="0"/>
              <a:t> = 1 – 1/1.11 = 0.099</a:t>
            </a:r>
          </a:p>
          <a:p>
            <a:r>
              <a:rPr lang="en-US" altLang="en-US" dirty="0"/>
              <a:t>		</a:t>
            </a:r>
          </a:p>
        </p:txBody>
      </p:sp>
      <p:pic>
        <p:nvPicPr>
          <p:cNvPr id="6" name="Picture 5">
            <a:extLst>
              <a:ext uri="{FF2B5EF4-FFF2-40B4-BE49-F238E27FC236}">
                <a16:creationId xmlns:a16="http://schemas.microsoft.com/office/drawing/2014/main" id="{1BB33584-3226-5404-3D4C-07A26A497E6C}"/>
              </a:ext>
            </a:extLst>
          </p:cNvPr>
          <p:cNvPicPr>
            <a:picLocks noChangeAspect="1"/>
          </p:cNvPicPr>
          <p:nvPr/>
        </p:nvPicPr>
        <p:blipFill>
          <a:blip r:embed="rId3"/>
          <a:srcRect l="3340" r="-1"/>
          <a:stretch>
            <a:fillRect/>
          </a:stretch>
        </p:blipFill>
        <p:spPr>
          <a:xfrm>
            <a:off x="6777990" y="4291211"/>
            <a:ext cx="2317746" cy="636390"/>
          </a:xfrm>
          <a:prstGeom prst="rect">
            <a:avLst/>
          </a:prstGeom>
        </p:spPr>
      </p:pic>
      <p:pic>
        <p:nvPicPr>
          <p:cNvPr id="8" name="Picture 7">
            <a:extLst>
              <a:ext uri="{FF2B5EF4-FFF2-40B4-BE49-F238E27FC236}">
                <a16:creationId xmlns:a16="http://schemas.microsoft.com/office/drawing/2014/main" id="{18349232-117C-A1CD-E343-EF33C7A1DD4B}"/>
              </a:ext>
            </a:extLst>
          </p:cNvPr>
          <p:cNvPicPr>
            <a:picLocks noChangeAspect="1"/>
          </p:cNvPicPr>
          <p:nvPr/>
        </p:nvPicPr>
        <p:blipFill>
          <a:blip r:embed="rId4"/>
          <a:stretch>
            <a:fillRect/>
          </a:stretch>
        </p:blipFill>
        <p:spPr>
          <a:xfrm>
            <a:off x="6569345" y="5366145"/>
            <a:ext cx="2704657" cy="636390"/>
          </a:xfrm>
          <a:prstGeom prst="rect">
            <a:avLst/>
          </a:prstGeom>
        </p:spPr>
      </p:pic>
    </p:spTree>
    <p:extLst>
      <p:ext uri="{BB962C8B-B14F-4D97-AF65-F5344CB8AC3E}">
        <p14:creationId xmlns:p14="http://schemas.microsoft.com/office/powerpoint/2010/main" val="13660200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3587B-61B0-3DB9-F19A-13B3FC72D160}"/>
              </a:ext>
            </a:extLst>
          </p:cNvPr>
          <p:cNvSpPr>
            <a:spLocks noGrp="1"/>
          </p:cNvSpPr>
          <p:nvPr>
            <p:ph type="title"/>
          </p:nvPr>
        </p:nvSpPr>
        <p:spPr/>
        <p:txBody>
          <a:bodyPr/>
          <a:lstStyle/>
          <a:p>
            <a:r>
              <a:rPr lang="en-US" altLang="en-US" dirty="0"/>
              <a:t>Code assignment view</a:t>
            </a:r>
            <a:endParaRPr lang="en-US" dirty="0"/>
          </a:p>
        </p:txBody>
      </p:sp>
      <p:pic>
        <p:nvPicPr>
          <p:cNvPr id="4" name="Picture 3">
            <a:extLst>
              <a:ext uri="{FF2B5EF4-FFF2-40B4-BE49-F238E27FC236}">
                <a16:creationId xmlns:a16="http://schemas.microsoft.com/office/drawing/2014/main" id="{5877D5DD-249E-3FEA-43A3-579C725A48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7334" y="1804988"/>
            <a:ext cx="7543800" cy="3122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463244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3587B-61B0-3DB9-F19A-13B3FC72D160}"/>
              </a:ext>
            </a:extLst>
          </p:cNvPr>
          <p:cNvSpPr>
            <a:spLocks noGrp="1"/>
          </p:cNvSpPr>
          <p:nvPr>
            <p:ph type="title"/>
          </p:nvPr>
        </p:nvSpPr>
        <p:spPr/>
        <p:txBody>
          <a:bodyPr/>
          <a:lstStyle/>
          <a:p>
            <a:r>
              <a:rPr lang="en-US" altLang="en-US" sz="3600" dirty="0"/>
              <a:t>Interpixel Redundancy</a:t>
            </a:r>
            <a:endParaRPr lang="en-US" dirty="0"/>
          </a:p>
        </p:txBody>
      </p:sp>
      <p:pic>
        <p:nvPicPr>
          <p:cNvPr id="4" name="Content Placeholder 3">
            <a:extLst>
              <a:ext uri="{FF2B5EF4-FFF2-40B4-BE49-F238E27FC236}">
                <a16:creationId xmlns:a16="http://schemas.microsoft.com/office/drawing/2014/main" id="{C4733A03-86C6-4F3F-80FB-73538209ABF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76346" y="1566699"/>
            <a:ext cx="7850296" cy="51709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050958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480CD-F931-3A52-76A1-D91CDDF566EB}"/>
              </a:ext>
            </a:extLst>
          </p:cNvPr>
          <p:cNvSpPr>
            <a:spLocks noGrp="1"/>
          </p:cNvSpPr>
          <p:nvPr>
            <p:ph type="title"/>
          </p:nvPr>
        </p:nvSpPr>
        <p:spPr/>
        <p:txBody>
          <a:bodyPr/>
          <a:lstStyle/>
          <a:p>
            <a:r>
              <a:rPr lang="en-US" altLang="en-US" sz="3600" dirty="0"/>
              <a:t>Interpixel Redundancy</a:t>
            </a:r>
            <a:endParaRPr lang="en-US" dirty="0"/>
          </a:p>
        </p:txBody>
      </p:sp>
      <p:sp>
        <p:nvSpPr>
          <p:cNvPr id="6" name="TextBox 5">
            <a:extLst>
              <a:ext uri="{FF2B5EF4-FFF2-40B4-BE49-F238E27FC236}">
                <a16:creationId xmlns:a16="http://schemas.microsoft.com/office/drawing/2014/main" id="{61EC11C9-3BCA-147B-6BC4-75A906A937DA}"/>
              </a:ext>
            </a:extLst>
          </p:cNvPr>
          <p:cNvSpPr txBox="1"/>
          <p:nvPr/>
        </p:nvSpPr>
        <p:spPr>
          <a:xfrm>
            <a:off x="677334" y="1364268"/>
            <a:ext cx="8220173" cy="7848302"/>
          </a:xfrm>
          <a:prstGeom prst="rect">
            <a:avLst/>
          </a:prstGeom>
          <a:noFill/>
        </p:spPr>
        <p:txBody>
          <a:bodyPr wrap="square" rtlCol="0">
            <a:spAutoFit/>
          </a:bodyPr>
          <a:lstStyle/>
          <a:p>
            <a:r>
              <a:rPr lang="en-US" dirty="0">
                <a:solidFill>
                  <a:srgbClr val="00B050"/>
                </a:solidFill>
              </a:rPr>
              <a:t>Inter-pixel Spatial redundancy:</a:t>
            </a:r>
          </a:p>
          <a:p>
            <a:pPr marL="285750" indent="-285750">
              <a:buFont typeface="Wingdings" panose="05000000000000000000" pitchFamily="2" charset="2"/>
              <a:buChar char="Ø"/>
            </a:pPr>
            <a:r>
              <a:rPr lang="en-US" dirty="0"/>
              <a:t>Inter-pixel redundancy is due to the </a:t>
            </a:r>
            <a:r>
              <a:rPr lang="en-US" dirty="0">
                <a:solidFill>
                  <a:srgbClr val="0070C0"/>
                </a:solidFill>
              </a:rPr>
              <a:t>correlation between the neighboring pixels in an image.</a:t>
            </a:r>
          </a:p>
          <a:p>
            <a:pPr marL="285750" indent="-285750">
              <a:buFont typeface="Wingdings" panose="05000000000000000000" pitchFamily="2" charset="2"/>
              <a:buChar char="Ø"/>
            </a:pPr>
            <a:r>
              <a:rPr lang="en-US" dirty="0">
                <a:solidFill>
                  <a:srgbClr val="00B050"/>
                </a:solidFill>
              </a:rPr>
              <a:t>The value of any given pixel can be predicted from the value of its neighbors</a:t>
            </a:r>
            <a:r>
              <a:rPr lang="en-US" dirty="0"/>
              <a:t>(Highly correlated)</a:t>
            </a:r>
          </a:p>
          <a:p>
            <a:pPr marL="285750" indent="-285750">
              <a:buFont typeface="Wingdings" panose="05000000000000000000" pitchFamily="2" charset="2"/>
              <a:buChar char="Ø"/>
            </a:pPr>
            <a:r>
              <a:rPr lang="en-US" dirty="0"/>
              <a:t>The information carried by individual pixel is relatively small.</a:t>
            </a:r>
          </a:p>
          <a:p>
            <a:pPr marL="285750" indent="-285750">
              <a:buFont typeface="Wingdings" panose="05000000000000000000" pitchFamily="2" charset="2"/>
              <a:buChar char="Ø"/>
            </a:pPr>
            <a:r>
              <a:rPr lang="en-US" dirty="0"/>
              <a:t>To reduce inter-pixel redundancy </a:t>
            </a:r>
            <a:r>
              <a:rPr lang="en-US" dirty="0">
                <a:solidFill>
                  <a:srgbClr val="00B050"/>
                </a:solidFill>
              </a:rPr>
              <a:t>the difference between adjacent pixels can be used to represent an image.</a:t>
            </a:r>
          </a:p>
          <a:p>
            <a:pPr marL="285750" indent="-285750">
              <a:buFont typeface="Wingdings" panose="05000000000000000000" pitchFamily="2" charset="2"/>
              <a:buChar char="Ø"/>
            </a:pPr>
            <a:endParaRPr lang="en-US" dirty="0">
              <a:solidFill>
                <a:srgbClr val="00B050"/>
              </a:solidFill>
            </a:endParaRPr>
          </a:p>
          <a:p>
            <a:r>
              <a:rPr lang="en-US" dirty="0">
                <a:solidFill>
                  <a:srgbClr val="00B050"/>
                </a:solidFill>
              </a:rPr>
              <a:t>Inter-pixel Temporal Redundancy</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Inter-pixel temporal redundancy </a:t>
            </a:r>
            <a:r>
              <a:rPr lang="en-US" dirty="0">
                <a:solidFill>
                  <a:srgbClr val="0070C0"/>
                </a:solidFill>
              </a:rPr>
              <a:t>is the statistical correlation between pixels from successive frames in video sequence</a:t>
            </a:r>
            <a:r>
              <a:rPr lang="en-US" dirty="0"/>
              <a:t>.</a:t>
            </a:r>
          </a:p>
          <a:p>
            <a:pPr marL="285750" indent="-285750">
              <a:buFont typeface="Wingdings" panose="05000000000000000000" pitchFamily="2" charset="2"/>
              <a:buChar char="Ø"/>
            </a:pPr>
            <a:r>
              <a:rPr lang="en-US" dirty="0"/>
              <a:t>Temporal redundancy is also called inter-frame redundancy.</a:t>
            </a:r>
          </a:p>
          <a:p>
            <a:pPr marL="285750" indent="-285750">
              <a:buFont typeface="Wingdings" panose="05000000000000000000" pitchFamily="2" charset="2"/>
              <a:buChar char="Ø"/>
            </a:pPr>
            <a:r>
              <a:rPr lang="en-US" dirty="0"/>
              <a:t>Removing a large amount of redundancy leads to efficient video compression.</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endParaRPr lang="en-US" dirty="0"/>
          </a:p>
          <a:p>
            <a:pPr algn="ctr"/>
            <a:r>
              <a:rPr lang="en-US" dirty="0"/>
              <a:t>Algorithm: Run Length Coding</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36287092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3587B-61B0-3DB9-F19A-13B3FC72D160}"/>
              </a:ext>
            </a:extLst>
          </p:cNvPr>
          <p:cNvSpPr>
            <a:spLocks noGrp="1"/>
          </p:cNvSpPr>
          <p:nvPr>
            <p:ph type="title"/>
          </p:nvPr>
        </p:nvSpPr>
        <p:spPr/>
        <p:txBody>
          <a:bodyPr/>
          <a:lstStyle/>
          <a:p>
            <a:r>
              <a:rPr lang="en-US" altLang="en-US" sz="3600" dirty="0"/>
              <a:t>Run Length Coding</a:t>
            </a:r>
            <a:endParaRPr lang="en-US" dirty="0"/>
          </a:p>
        </p:txBody>
      </p:sp>
      <p:pic>
        <p:nvPicPr>
          <p:cNvPr id="4" name="Picture 3">
            <a:extLst>
              <a:ext uri="{FF2B5EF4-FFF2-40B4-BE49-F238E27FC236}">
                <a16:creationId xmlns:a16="http://schemas.microsoft.com/office/drawing/2014/main" id="{84D947FC-222B-52F0-E225-E3C12CC9B0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5695" y="1489436"/>
            <a:ext cx="5791200" cy="45700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 Box 8">
            <a:extLst>
              <a:ext uri="{FF2B5EF4-FFF2-40B4-BE49-F238E27FC236}">
                <a16:creationId xmlns:a16="http://schemas.microsoft.com/office/drawing/2014/main" id="{78B28743-D6B4-0541-3C59-3595146A0E2C}"/>
              </a:ext>
            </a:extLst>
          </p:cNvPr>
          <p:cNvSpPr txBox="1">
            <a:spLocks noChangeArrowheads="1"/>
          </p:cNvSpPr>
          <p:nvPr/>
        </p:nvSpPr>
        <p:spPr bwMode="auto">
          <a:xfrm>
            <a:off x="7280102" y="3629819"/>
            <a:ext cx="1993900" cy="73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lgn="l" rtl="0" fontAlgn="base">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r>
              <a:rPr lang="en-US" altLang="en-US" sz="1400" dirty="0"/>
              <a:t>CR=1024*343/12166*11</a:t>
            </a:r>
          </a:p>
          <a:p>
            <a:r>
              <a:rPr lang="en-US" altLang="en-US" sz="1400" dirty="0"/>
              <a:t>    = 2.63</a:t>
            </a:r>
          </a:p>
          <a:p>
            <a:r>
              <a:rPr lang="en-US" altLang="en-US" sz="1400" dirty="0"/>
              <a:t>RD = 1-1/2.63 = 0.62</a:t>
            </a:r>
          </a:p>
        </p:txBody>
      </p:sp>
    </p:spTree>
    <p:extLst>
      <p:ext uri="{BB962C8B-B14F-4D97-AF65-F5344CB8AC3E}">
        <p14:creationId xmlns:p14="http://schemas.microsoft.com/office/powerpoint/2010/main" val="36981952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EFE9B-9CB7-B05D-4016-FE32AD7B2DCE}"/>
              </a:ext>
            </a:extLst>
          </p:cNvPr>
          <p:cNvSpPr>
            <a:spLocks noGrp="1"/>
          </p:cNvSpPr>
          <p:nvPr>
            <p:ph type="title"/>
          </p:nvPr>
        </p:nvSpPr>
        <p:spPr/>
        <p:txBody>
          <a:bodyPr/>
          <a:lstStyle/>
          <a:p>
            <a:r>
              <a:rPr lang="en-US" altLang="en-US" sz="3600" dirty="0"/>
              <a:t>Run Length Coding</a:t>
            </a:r>
            <a:endParaRPr lang="en-US" dirty="0"/>
          </a:p>
        </p:txBody>
      </p:sp>
      <p:sp>
        <p:nvSpPr>
          <p:cNvPr id="3" name="Content Placeholder 2">
            <a:extLst>
              <a:ext uri="{FF2B5EF4-FFF2-40B4-BE49-F238E27FC236}">
                <a16:creationId xmlns:a16="http://schemas.microsoft.com/office/drawing/2014/main" id="{AFBDA977-3306-A25D-31FA-6893812BAB55}"/>
              </a:ext>
            </a:extLst>
          </p:cNvPr>
          <p:cNvSpPr>
            <a:spLocks noGrp="1"/>
          </p:cNvSpPr>
          <p:nvPr>
            <p:ph idx="1"/>
          </p:nvPr>
        </p:nvSpPr>
        <p:spPr/>
        <p:txBody>
          <a:bodyPr/>
          <a:lstStyle/>
          <a:p>
            <a:r>
              <a:rPr lang="en-US" dirty="0"/>
              <a:t>Run Length Encoding (RLE) is a simple form of lossless compression that is particularly useful for images with many consecutive identical pixel values, such as binary or grayscale images.</a:t>
            </a:r>
          </a:p>
          <a:p>
            <a:endParaRPr lang="en-US" dirty="0"/>
          </a:p>
          <a:p>
            <a:endParaRPr lang="en-US" dirty="0"/>
          </a:p>
        </p:txBody>
      </p:sp>
      <p:pic>
        <p:nvPicPr>
          <p:cNvPr id="5" name="Picture 4">
            <a:extLst>
              <a:ext uri="{FF2B5EF4-FFF2-40B4-BE49-F238E27FC236}">
                <a16:creationId xmlns:a16="http://schemas.microsoft.com/office/drawing/2014/main" id="{376FEB38-0C7E-F62A-BAA9-C72FC4321E33}"/>
              </a:ext>
            </a:extLst>
          </p:cNvPr>
          <p:cNvPicPr>
            <a:picLocks noChangeAspect="1"/>
          </p:cNvPicPr>
          <p:nvPr/>
        </p:nvPicPr>
        <p:blipFill>
          <a:blip r:embed="rId2"/>
          <a:stretch>
            <a:fillRect/>
          </a:stretch>
        </p:blipFill>
        <p:spPr>
          <a:xfrm>
            <a:off x="1104494" y="3429000"/>
            <a:ext cx="2679220" cy="2630683"/>
          </a:xfrm>
          <a:prstGeom prst="rect">
            <a:avLst/>
          </a:prstGeom>
        </p:spPr>
      </p:pic>
      <p:sp>
        <p:nvSpPr>
          <p:cNvPr id="8" name="TextBox 7">
            <a:extLst>
              <a:ext uri="{FF2B5EF4-FFF2-40B4-BE49-F238E27FC236}">
                <a16:creationId xmlns:a16="http://schemas.microsoft.com/office/drawing/2014/main" id="{C21F3D4F-F8D4-A7A4-2D8B-64A83C6BCC10}"/>
              </a:ext>
            </a:extLst>
          </p:cNvPr>
          <p:cNvSpPr txBox="1"/>
          <p:nvPr/>
        </p:nvSpPr>
        <p:spPr>
          <a:xfrm>
            <a:off x="4782601" y="4562189"/>
            <a:ext cx="3826222" cy="923330"/>
          </a:xfrm>
          <a:prstGeom prst="rect">
            <a:avLst/>
          </a:prstGeom>
          <a:noFill/>
        </p:spPr>
        <p:txBody>
          <a:bodyPr wrap="square">
            <a:spAutoFit/>
          </a:bodyPr>
          <a:lstStyle/>
          <a:p>
            <a:r>
              <a:rPr lang="en-US" dirty="0"/>
              <a:t>Original Size: 65536 bytes</a:t>
            </a:r>
          </a:p>
          <a:p>
            <a:r>
              <a:rPr lang="en-US" dirty="0"/>
              <a:t>Compressed Size: 112224 bytes</a:t>
            </a:r>
          </a:p>
          <a:p>
            <a:r>
              <a:rPr lang="en-US" dirty="0"/>
              <a:t>Compression Ratio: 1.71</a:t>
            </a:r>
          </a:p>
        </p:txBody>
      </p:sp>
    </p:spTree>
    <p:extLst>
      <p:ext uri="{BB962C8B-B14F-4D97-AF65-F5344CB8AC3E}">
        <p14:creationId xmlns:p14="http://schemas.microsoft.com/office/powerpoint/2010/main" val="11389193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BBD01-F882-4C49-3BC7-53F28350D42A}"/>
              </a:ext>
            </a:extLst>
          </p:cNvPr>
          <p:cNvSpPr>
            <a:spLocks noGrp="1"/>
          </p:cNvSpPr>
          <p:nvPr>
            <p:ph type="title"/>
          </p:nvPr>
        </p:nvSpPr>
        <p:spPr/>
        <p:txBody>
          <a:bodyPr/>
          <a:lstStyle/>
          <a:p>
            <a:r>
              <a:rPr lang="en-US" altLang="en-US" sz="3600" dirty="0"/>
              <a:t>Run Length encoding</a:t>
            </a:r>
            <a:endParaRPr lang="en-US" dirty="0"/>
          </a:p>
        </p:txBody>
      </p:sp>
      <p:sp>
        <p:nvSpPr>
          <p:cNvPr id="3" name="Content Placeholder 2">
            <a:extLst>
              <a:ext uri="{FF2B5EF4-FFF2-40B4-BE49-F238E27FC236}">
                <a16:creationId xmlns:a16="http://schemas.microsoft.com/office/drawing/2014/main" id="{573B6FD1-4197-B50C-4A09-14C86E45211F}"/>
              </a:ext>
            </a:extLst>
          </p:cNvPr>
          <p:cNvSpPr>
            <a:spLocks noGrp="1"/>
          </p:cNvSpPr>
          <p:nvPr>
            <p:ph idx="1"/>
          </p:nvPr>
        </p:nvSpPr>
        <p:spPr>
          <a:xfrm>
            <a:off x="677334" y="1775579"/>
            <a:ext cx="8596668" cy="4472821"/>
          </a:xfrm>
        </p:spPr>
        <p:txBody>
          <a:bodyPr>
            <a:normAutofit fontScale="92500" lnSpcReduction="20000"/>
          </a:bodyPr>
          <a:lstStyle/>
          <a:p>
            <a:pPr marL="0" indent="0">
              <a:buNone/>
            </a:pPr>
            <a:r>
              <a:rPr lang="en-US" dirty="0"/>
              <a:t>% Read an image (grayscale image for simplicity)</a:t>
            </a:r>
          </a:p>
          <a:p>
            <a:pPr marL="0" indent="0">
              <a:buNone/>
            </a:pPr>
            <a:r>
              <a:rPr lang="en-US" dirty="0"/>
              <a:t>image = </a:t>
            </a:r>
            <a:r>
              <a:rPr lang="en-US" dirty="0" err="1"/>
              <a:t>imread</a:t>
            </a:r>
            <a:r>
              <a:rPr lang="en-US" dirty="0"/>
              <a:t>('</a:t>
            </a:r>
            <a:r>
              <a:rPr lang="en-US" dirty="0" err="1"/>
              <a:t>cameraman.tif</a:t>
            </a:r>
            <a:r>
              <a:rPr lang="en-US" dirty="0"/>
              <a:t>');  % Example image (grayscale)</a:t>
            </a:r>
          </a:p>
          <a:p>
            <a:pPr marL="0" indent="0">
              <a:buNone/>
            </a:pPr>
            <a:r>
              <a:rPr lang="en-US" dirty="0" err="1"/>
              <a:t>imshow</a:t>
            </a:r>
            <a:r>
              <a:rPr lang="en-US" dirty="0"/>
              <a:t>(image);</a:t>
            </a:r>
          </a:p>
          <a:p>
            <a:pPr marL="0" indent="0">
              <a:buNone/>
            </a:pPr>
            <a:r>
              <a:rPr lang="en-US" dirty="0"/>
              <a:t>title('Original Image');</a:t>
            </a:r>
          </a:p>
          <a:p>
            <a:pPr marL="0" indent="0">
              <a:buNone/>
            </a:pPr>
            <a:endParaRPr lang="en-US" dirty="0"/>
          </a:p>
          <a:p>
            <a:pPr marL="0" indent="0">
              <a:buNone/>
            </a:pPr>
            <a:r>
              <a:rPr lang="en-US" dirty="0"/>
              <a:t>% Flatten the 2D image into a 1D array</a:t>
            </a:r>
          </a:p>
          <a:p>
            <a:pPr marL="0" indent="0">
              <a:buNone/>
            </a:pPr>
            <a:r>
              <a:rPr lang="en-US" dirty="0" err="1"/>
              <a:t>image_vector</a:t>
            </a:r>
            <a:r>
              <a:rPr lang="en-US" dirty="0"/>
              <a:t> = image(:);</a:t>
            </a:r>
          </a:p>
          <a:p>
            <a:pPr marL="0" indent="0">
              <a:buNone/>
            </a:pPr>
            <a:endParaRPr lang="en-US" dirty="0"/>
          </a:p>
          <a:p>
            <a:pPr marL="0" indent="0">
              <a:buNone/>
            </a:pPr>
            <a:r>
              <a:rPr lang="en-US" dirty="0"/>
              <a:t>% Initialize variables</a:t>
            </a:r>
          </a:p>
          <a:p>
            <a:pPr marL="0" indent="0">
              <a:buNone/>
            </a:pPr>
            <a:r>
              <a:rPr lang="en-US" dirty="0"/>
              <a:t>value = </a:t>
            </a:r>
            <a:r>
              <a:rPr lang="en-US" dirty="0" err="1"/>
              <a:t>image_vector</a:t>
            </a:r>
            <a:r>
              <a:rPr lang="en-US" dirty="0"/>
              <a:t>(1);  % First pixel value</a:t>
            </a:r>
          </a:p>
          <a:p>
            <a:pPr marL="0" indent="0">
              <a:buNone/>
            </a:pPr>
            <a:r>
              <a:rPr lang="en-US" dirty="0"/>
              <a:t>count = 1;                % Counter for run length</a:t>
            </a:r>
          </a:p>
          <a:p>
            <a:pPr marL="0" indent="0">
              <a:buNone/>
            </a:pPr>
            <a:r>
              <a:rPr lang="en-US" dirty="0" err="1"/>
              <a:t>encoded_values</a:t>
            </a:r>
            <a:r>
              <a:rPr lang="en-US" dirty="0"/>
              <a:t> = [];      % Encoded pixel values</a:t>
            </a:r>
          </a:p>
          <a:p>
            <a:pPr marL="0" indent="0">
              <a:buNone/>
            </a:pPr>
            <a:r>
              <a:rPr lang="en-US" dirty="0" err="1"/>
              <a:t>run_lengths</a:t>
            </a:r>
            <a:r>
              <a:rPr lang="en-US" dirty="0"/>
              <a:t> = [];         % Encoded run lengths</a:t>
            </a:r>
          </a:p>
          <a:p>
            <a:endParaRPr lang="en-US" dirty="0"/>
          </a:p>
          <a:p>
            <a:endParaRPr lang="en-US" dirty="0"/>
          </a:p>
        </p:txBody>
      </p:sp>
    </p:spTree>
    <p:extLst>
      <p:ext uri="{BB962C8B-B14F-4D97-AF65-F5344CB8AC3E}">
        <p14:creationId xmlns:p14="http://schemas.microsoft.com/office/powerpoint/2010/main" val="2907330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1DA54-6716-221E-1DA9-0CEE57D24202}"/>
              </a:ext>
            </a:extLst>
          </p:cNvPr>
          <p:cNvSpPr>
            <a:spLocks noGrp="1"/>
          </p:cNvSpPr>
          <p:nvPr>
            <p:ph type="title"/>
          </p:nvPr>
        </p:nvSpPr>
        <p:spPr>
          <a:xfrm>
            <a:off x="677334" y="609600"/>
            <a:ext cx="8596668" cy="786063"/>
          </a:xfrm>
        </p:spPr>
        <p:txBody>
          <a:bodyPr/>
          <a:lstStyle/>
          <a:p>
            <a:r>
              <a:rPr lang="en-US" altLang="en-US" sz="3600" dirty="0"/>
              <a:t>Run Length encoding</a:t>
            </a:r>
            <a:endParaRPr lang="en-US" dirty="0"/>
          </a:p>
        </p:txBody>
      </p:sp>
      <p:sp>
        <p:nvSpPr>
          <p:cNvPr id="3" name="Content Placeholder 2">
            <a:extLst>
              <a:ext uri="{FF2B5EF4-FFF2-40B4-BE49-F238E27FC236}">
                <a16:creationId xmlns:a16="http://schemas.microsoft.com/office/drawing/2014/main" id="{5878200E-87CA-1A1F-8EA7-9CC6643A0EAB}"/>
              </a:ext>
            </a:extLst>
          </p:cNvPr>
          <p:cNvSpPr>
            <a:spLocks noGrp="1"/>
          </p:cNvSpPr>
          <p:nvPr>
            <p:ph idx="1"/>
          </p:nvPr>
        </p:nvSpPr>
        <p:spPr>
          <a:xfrm>
            <a:off x="677334" y="1395664"/>
            <a:ext cx="8596668" cy="5342020"/>
          </a:xfrm>
        </p:spPr>
        <p:txBody>
          <a:bodyPr>
            <a:normAutofit fontScale="25000" lnSpcReduction="20000"/>
          </a:bodyPr>
          <a:lstStyle/>
          <a:p>
            <a:pPr marL="0" indent="0">
              <a:buNone/>
            </a:pPr>
            <a:r>
              <a:rPr lang="en-US" sz="4400" dirty="0"/>
              <a:t>% Run Length Encoding loop</a:t>
            </a:r>
          </a:p>
          <a:p>
            <a:pPr marL="0" indent="0">
              <a:buNone/>
            </a:pPr>
            <a:r>
              <a:rPr lang="en-US" sz="4400" dirty="0"/>
              <a:t>for </a:t>
            </a:r>
            <a:r>
              <a:rPr lang="en-US" sz="4400" dirty="0" err="1"/>
              <a:t>i</a:t>
            </a:r>
            <a:r>
              <a:rPr lang="en-US" sz="4400" dirty="0"/>
              <a:t> = 2:length(</a:t>
            </a:r>
            <a:r>
              <a:rPr lang="en-US" sz="4400" dirty="0" err="1"/>
              <a:t>image_vector</a:t>
            </a:r>
            <a:r>
              <a:rPr lang="en-US" sz="4400" dirty="0"/>
              <a:t>)</a:t>
            </a:r>
          </a:p>
          <a:p>
            <a:pPr marL="0" indent="0">
              <a:buNone/>
            </a:pPr>
            <a:r>
              <a:rPr lang="en-US" sz="4400" dirty="0"/>
              <a:t>    if </a:t>
            </a:r>
            <a:r>
              <a:rPr lang="en-US" sz="4400" dirty="0" err="1"/>
              <a:t>image_vector</a:t>
            </a:r>
            <a:r>
              <a:rPr lang="en-US" sz="4400" dirty="0"/>
              <a:t>(</a:t>
            </a:r>
            <a:r>
              <a:rPr lang="en-US" sz="4400" dirty="0" err="1"/>
              <a:t>i</a:t>
            </a:r>
            <a:r>
              <a:rPr lang="en-US" sz="4400" dirty="0"/>
              <a:t>) == value</a:t>
            </a:r>
          </a:p>
          <a:p>
            <a:pPr marL="0" indent="0">
              <a:buNone/>
            </a:pPr>
            <a:r>
              <a:rPr lang="en-US" sz="4400" dirty="0"/>
              <a:t>        % If the current pixel matches the previous one, increase the count</a:t>
            </a:r>
          </a:p>
          <a:p>
            <a:pPr marL="0" indent="0">
              <a:buNone/>
            </a:pPr>
            <a:r>
              <a:rPr lang="en-US" sz="4400" dirty="0"/>
              <a:t>        count = count + 1;</a:t>
            </a:r>
          </a:p>
          <a:p>
            <a:pPr marL="0" indent="0">
              <a:buNone/>
            </a:pPr>
            <a:r>
              <a:rPr lang="en-US" sz="4400" dirty="0"/>
              <a:t>    else</a:t>
            </a:r>
          </a:p>
          <a:p>
            <a:pPr marL="0" indent="0">
              <a:buNone/>
            </a:pPr>
            <a:r>
              <a:rPr lang="en-US" sz="4400" dirty="0"/>
              <a:t>        % Store the previous pixel value and its run length</a:t>
            </a:r>
          </a:p>
          <a:p>
            <a:pPr marL="0" indent="0">
              <a:buNone/>
            </a:pPr>
            <a:r>
              <a:rPr lang="en-US" sz="4400" dirty="0"/>
              <a:t>        </a:t>
            </a:r>
            <a:r>
              <a:rPr lang="en-US" sz="4400" dirty="0" err="1"/>
              <a:t>encoded_values</a:t>
            </a:r>
            <a:r>
              <a:rPr lang="en-US" sz="4400" dirty="0"/>
              <a:t> = [</a:t>
            </a:r>
            <a:r>
              <a:rPr lang="en-US" sz="4400" dirty="0" err="1"/>
              <a:t>encoded_values</a:t>
            </a:r>
            <a:r>
              <a:rPr lang="en-US" sz="4400" dirty="0"/>
              <a:t> value];</a:t>
            </a:r>
          </a:p>
          <a:p>
            <a:pPr marL="0" indent="0">
              <a:buNone/>
            </a:pPr>
            <a:r>
              <a:rPr lang="en-US" sz="4400" dirty="0"/>
              <a:t>        </a:t>
            </a:r>
            <a:r>
              <a:rPr lang="en-US" sz="4400" dirty="0" err="1"/>
              <a:t>run_lengths</a:t>
            </a:r>
            <a:r>
              <a:rPr lang="en-US" sz="4400" dirty="0"/>
              <a:t> = [</a:t>
            </a:r>
            <a:r>
              <a:rPr lang="en-US" sz="4400" dirty="0" err="1"/>
              <a:t>run_lengths</a:t>
            </a:r>
            <a:r>
              <a:rPr lang="en-US" sz="4400" dirty="0"/>
              <a:t> count];</a:t>
            </a:r>
          </a:p>
          <a:p>
            <a:pPr marL="0" indent="0">
              <a:buNone/>
            </a:pPr>
            <a:r>
              <a:rPr lang="en-US" sz="4400" dirty="0"/>
              <a:t>        </a:t>
            </a:r>
          </a:p>
          <a:p>
            <a:pPr marL="0" indent="0">
              <a:buNone/>
            </a:pPr>
            <a:r>
              <a:rPr lang="en-US" sz="4400" dirty="0"/>
              <a:t>        % Reset for the new pixel value</a:t>
            </a:r>
          </a:p>
          <a:p>
            <a:pPr marL="0" indent="0">
              <a:buNone/>
            </a:pPr>
            <a:r>
              <a:rPr lang="en-US" sz="4400" dirty="0"/>
              <a:t>        value = </a:t>
            </a:r>
            <a:r>
              <a:rPr lang="en-US" sz="4400" dirty="0" err="1"/>
              <a:t>image_vector</a:t>
            </a:r>
            <a:r>
              <a:rPr lang="en-US" sz="4400" dirty="0"/>
              <a:t>(</a:t>
            </a:r>
            <a:r>
              <a:rPr lang="en-US" sz="4400" dirty="0" err="1"/>
              <a:t>i</a:t>
            </a:r>
            <a:r>
              <a:rPr lang="en-US" sz="4400" dirty="0"/>
              <a:t>);</a:t>
            </a:r>
          </a:p>
          <a:p>
            <a:pPr marL="0" indent="0">
              <a:buNone/>
            </a:pPr>
            <a:r>
              <a:rPr lang="en-US" sz="4400" dirty="0"/>
              <a:t>        count = 1;</a:t>
            </a:r>
          </a:p>
          <a:p>
            <a:pPr marL="0" indent="0">
              <a:buNone/>
            </a:pPr>
            <a:r>
              <a:rPr lang="en-US" sz="4400" dirty="0"/>
              <a:t>    end</a:t>
            </a:r>
          </a:p>
          <a:p>
            <a:pPr marL="0" indent="0">
              <a:buNone/>
            </a:pPr>
            <a:r>
              <a:rPr lang="en-US" sz="4400" dirty="0"/>
              <a:t>end</a:t>
            </a:r>
          </a:p>
          <a:p>
            <a:pPr marL="0" indent="0">
              <a:buNone/>
            </a:pPr>
            <a:endParaRPr lang="en-US" sz="4400" dirty="0"/>
          </a:p>
          <a:p>
            <a:pPr marL="0" indent="0">
              <a:buNone/>
            </a:pPr>
            <a:r>
              <a:rPr lang="en-US" sz="4400" dirty="0"/>
              <a:t>% Add the last pixel value and its run length</a:t>
            </a:r>
          </a:p>
          <a:p>
            <a:pPr marL="0" indent="0">
              <a:buNone/>
            </a:pPr>
            <a:r>
              <a:rPr lang="en-US" sz="4400" dirty="0"/>
              <a:t>encoded_values = [encoded_values value];</a:t>
            </a:r>
          </a:p>
          <a:p>
            <a:pPr marL="0" indent="0">
              <a:buNone/>
            </a:pPr>
            <a:r>
              <a:rPr lang="en-US" sz="4400" dirty="0"/>
              <a:t>run_lengths = [run_lengths count];</a:t>
            </a:r>
          </a:p>
          <a:p>
            <a:endParaRPr lang="en-US" dirty="0"/>
          </a:p>
        </p:txBody>
      </p:sp>
    </p:spTree>
    <p:extLst>
      <p:ext uri="{BB962C8B-B14F-4D97-AF65-F5344CB8AC3E}">
        <p14:creationId xmlns:p14="http://schemas.microsoft.com/office/powerpoint/2010/main" val="18497119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50800-FA94-ADBA-6780-D3E515902A54}"/>
              </a:ext>
            </a:extLst>
          </p:cNvPr>
          <p:cNvSpPr>
            <a:spLocks noGrp="1"/>
          </p:cNvSpPr>
          <p:nvPr>
            <p:ph type="title"/>
          </p:nvPr>
        </p:nvSpPr>
        <p:spPr/>
        <p:txBody>
          <a:bodyPr/>
          <a:lstStyle/>
          <a:p>
            <a:r>
              <a:rPr lang="en-US" altLang="en-US" sz="3600" dirty="0"/>
              <a:t>Run Length encoding</a:t>
            </a:r>
            <a:endParaRPr lang="en-US" dirty="0"/>
          </a:p>
        </p:txBody>
      </p:sp>
      <p:sp>
        <p:nvSpPr>
          <p:cNvPr id="3" name="Content Placeholder 2">
            <a:extLst>
              <a:ext uri="{FF2B5EF4-FFF2-40B4-BE49-F238E27FC236}">
                <a16:creationId xmlns:a16="http://schemas.microsoft.com/office/drawing/2014/main" id="{E1B775D6-EEAF-6D26-9507-94A34AD199D8}"/>
              </a:ext>
            </a:extLst>
          </p:cNvPr>
          <p:cNvSpPr>
            <a:spLocks noGrp="1"/>
          </p:cNvSpPr>
          <p:nvPr>
            <p:ph idx="1"/>
          </p:nvPr>
        </p:nvSpPr>
        <p:spPr>
          <a:xfrm>
            <a:off x="893902" y="1739484"/>
            <a:ext cx="8596668" cy="4508916"/>
          </a:xfrm>
        </p:spPr>
        <p:txBody>
          <a:bodyPr>
            <a:normAutofit fontScale="70000" lnSpcReduction="20000"/>
          </a:bodyPr>
          <a:lstStyle/>
          <a:p>
            <a:pPr marL="0" indent="0">
              <a:buNone/>
            </a:pPr>
            <a:r>
              <a:rPr lang="en-US" sz="2200" dirty="0"/>
              <a:t>% Display the encoded values and run lengths</a:t>
            </a:r>
          </a:p>
          <a:p>
            <a:pPr marL="0" indent="0">
              <a:buNone/>
            </a:pPr>
            <a:r>
              <a:rPr lang="en-US" sz="2200" dirty="0" err="1"/>
              <a:t>disp</a:t>
            </a:r>
            <a:r>
              <a:rPr lang="en-US" sz="2200" dirty="0"/>
              <a:t>('Encoded Values:');</a:t>
            </a:r>
          </a:p>
          <a:p>
            <a:pPr marL="0" indent="0">
              <a:buNone/>
            </a:pPr>
            <a:r>
              <a:rPr lang="en-US" sz="2200" dirty="0" err="1"/>
              <a:t>disp</a:t>
            </a:r>
            <a:r>
              <a:rPr lang="en-US" sz="2200" dirty="0"/>
              <a:t>(</a:t>
            </a:r>
            <a:r>
              <a:rPr lang="en-US" sz="2200" dirty="0" err="1"/>
              <a:t>encoded_values</a:t>
            </a:r>
            <a:r>
              <a:rPr lang="en-US" sz="2200" dirty="0"/>
              <a:t>);</a:t>
            </a:r>
          </a:p>
          <a:p>
            <a:pPr marL="0" indent="0">
              <a:buNone/>
            </a:pPr>
            <a:r>
              <a:rPr lang="en-US" sz="2200" dirty="0" err="1"/>
              <a:t>disp</a:t>
            </a:r>
            <a:r>
              <a:rPr lang="en-US" sz="2200" dirty="0"/>
              <a:t>('Run Lengths:');</a:t>
            </a:r>
          </a:p>
          <a:p>
            <a:pPr marL="0" indent="0">
              <a:buNone/>
            </a:pPr>
            <a:r>
              <a:rPr lang="en-US" sz="2200" dirty="0" err="1"/>
              <a:t>disp</a:t>
            </a:r>
            <a:r>
              <a:rPr lang="en-US" sz="2200" dirty="0"/>
              <a:t>(</a:t>
            </a:r>
            <a:r>
              <a:rPr lang="en-US" sz="2200" dirty="0" err="1"/>
              <a:t>run_lengths</a:t>
            </a:r>
            <a:r>
              <a:rPr lang="en-US" sz="2200" dirty="0"/>
              <a:t>);</a:t>
            </a:r>
          </a:p>
          <a:p>
            <a:pPr marL="0" indent="0">
              <a:buNone/>
            </a:pPr>
            <a:endParaRPr lang="en-US" sz="2200" dirty="0"/>
          </a:p>
          <a:p>
            <a:pPr marL="0" indent="0">
              <a:buNone/>
            </a:pPr>
            <a:r>
              <a:rPr lang="en-US" sz="2200" dirty="0"/>
              <a:t>% Compression Ratio Calculation</a:t>
            </a:r>
          </a:p>
          <a:p>
            <a:pPr marL="0" indent="0">
              <a:buNone/>
            </a:pPr>
            <a:r>
              <a:rPr lang="en-US" sz="2200" dirty="0" err="1"/>
              <a:t>original_size</a:t>
            </a:r>
            <a:r>
              <a:rPr lang="en-US" sz="2200" dirty="0"/>
              <a:t> = length(image_vector);</a:t>
            </a:r>
          </a:p>
          <a:p>
            <a:pPr marL="0" indent="0">
              <a:buNone/>
            </a:pPr>
            <a:r>
              <a:rPr lang="en-US" sz="2200" dirty="0" err="1"/>
              <a:t>compressed_size</a:t>
            </a:r>
            <a:r>
              <a:rPr lang="en-US" sz="2200" dirty="0"/>
              <a:t> = length(</a:t>
            </a:r>
            <a:r>
              <a:rPr lang="en-US" sz="2200" dirty="0" err="1"/>
              <a:t>encoded_values</a:t>
            </a:r>
            <a:r>
              <a:rPr lang="en-US" sz="2200" dirty="0"/>
              <a:t>) + length(</a:t>
            </a:r>
            <a:r>
              <a:rPr lang="en-US" sz="2200" dirty="0" err="1"/>
              <a:t>run_lengths</a:t>
            </a:r>
            <a:r>
              <a:rPr lang="en-US" sz="2200" dirty="0"/>
              <a:t>);</a:t>
            </a:r>
          </a:p>
          <a:p>
            <a:pPr marL="0" indent="0">
              <a:buNone/>
            </a:pPr>
            <a:r>
              <a:rPr lang="en-US" sz="2200" dirty="0" err="1"/>
              <a:t>compression_ratio</a:t>
            </a:r>
            <a:r>
              <a:rPr lang="en-US" sz="2200" dirty="0"/>
              <a:t> = </a:t>
            </a:r>
            <a:r>
              <a:rPr lang="en-US" sz="2200" dirty="0" err="1"/>
              <a:t>compressed_size</a:t>
            </a:r>
            <a:r>
              <a:rPr lang="en-US" sz="2200" dirty="0"/>
              <a:t> / </a:t>
            </a:r>
            <a:r>
              <a:rPr lang="en-US" sz="2200" dirty="0" err="1"/>
              <a:t>original_size</a:t>
            </a:r>
            <a:r>
              <a:rPr lang="en-US" sz="2200" dirty="0"/>
              <a:t>;</a:t>
            </a:r>
          </a:p>
          <a:p>
            <a:pPr marL="0" indent="0">
              <a:buNone/>
            </a:pPr>
            <a:endParaRPr lang="en-US" sz="2200" dirty="0"/>
          </a:p>
          <a:p>
            <a:pPr marL="0" indent="0">
              <a:buNone/>
            </a:pPr>
            <a:r>
              <a:rPr lang="en-US" sz="2200" dirty="0" err="1"/>
              <a:t>fprintf</a:t>
            </a:r>
            <a:r>
              <a:rPr lang="en-US" sz="2200" dirty="0"/>
              <a:t>('Original Size: %d bytes\n', </a:t>
            </a:r>
            <a:r>
              <a:rPr lang="en-US" sz="2200" dirty="0" err="1"/>
              <a:t>original_size</a:t>
            </a:r>
            <a:r>
              <a:rPr lang="en-US" sz="2200" dirty="0"/>
              <a:t>);</a:t>
            </a:r>
          </a:p>
          <a:p>
            <a:pPr marL="0" indent="0">
              <a:buNone/>
            </a:pPr>
            <a:r>
              <a:rPr lang="en-US" sz="2200" dirty="0" err="1"/>
              <a:t>fprintf</a:t>
            </a:r>
            <a:r>
              <a:rPr lang="en-US" sz="2200" dirty="0"/>
              <a:t>('Compressed Size: %d bytes\n', </a:t>
            </a:r>
            <a:r>
              <a:rPr lang="en-US" sz="2200" dirty="0" err="1"/>
              <a:t>compressed_size</a:t>
            </a:r>
            <a:r>
              <a:rPr lang="en-US" sz="2200" dirty="0"/>
              <a:t>);</a:t>
            </a:r>
          </a:p>
          <a:p>
            <a:pPr marL="0" indent="0">
              <a:buNone/>
            </a:pPr>
            <a:r>
              <a:rPr lang="en-US" sz="2200" dirty="0" err="1"/>
              <a:t>fprintf</a:t>
            </a:r>
            <a:r>
              <a:rPr lang="en-US" sz="2200" dirty="0"/>
              <a:t>('Compression Ratio: %.2f\n', </a:t>
            </a:r>
            <a:r>
              <a:rPr lang="en-US" sz="2200" dirty="0" err="1"/>
              <a:t>compression_ratio</a:t>
            </a:r>
            <a:r>
              <a:rPr lang="en-US" sz="2200" dirty="0"/>
              <a:t>);</a:t>
            </a:r>
          </a:p>
          <a:p>
            <a:endParaRPr lang="en-US" dirty="0"/>
          </a:p>
          <a:p>
            <a:endParaRPr lang="en-US" dirty="0"/>
          </a:p>
          <a:p>
            <a:endParaRPr lang="en-US" dirty="0"/>
          </a:p>
        </p:txBody>
      </p:sp>
    </p:spTree>
    <p:extLst>
      <p:ext uri="{BB962C8B-B14F-4D97-AF65-F5344CB8AC3E}">
        <p14:creationId xmlns:p14="http://schemas.microsoft.com/office/powerpoint/2010/main" val="15176397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0B74C-C6DD-7657-808E-E7E4A9D0A9BF}"/>
              </a:ext>
            </a:extLst>
          </p:cNvPr>
          <p:cNvSpPr>
            <a:spLocks noGrp="1"/>
          </p:cNvSpPr>
          <p:nvPr>
            <p:ph type="title"/>
          </p:nvPr>
        </p:nvSpPr>
        <p:spPr/>
        <p:txBody>
          <a:bodyPr/>
          <a:lstStyle/>
          <a:p>
            <a:r>
              <a:rPr lang="en-US" altLang="en-US" sz="3600" dirty="0"/>
              <a:t>Run Length encoding</a:t>
            </a:r>
            <a:endParaRPr lang="en-US" dirty="0"/>
          </a:p>
        </p:txBody>
      </p:sp>
      <p:sp>
        <p:nvSpPr>
          <p:cNvPr id="3" name="Content Placeholder 2">
            <a:extLst>
              <a:ext uri="{FF2B5EF4-FFF2-40B4-BE49-F238E27FC236}">
                <a16:creationId xmlns:a16="http://schemas.microsoft.com/office/drawing/2014/main" id="{2B317351-CA70-C5C9-7D7E-E1211CC1C60B}"/>
              </a:ext>
            </a:extLst>
          </p:cNvPr>
          <p:cNvSpPr>
            <a:spLocks noGrp="1"/>
          </p:cNvSpPr>
          <p:nvPr>
            <p:ph idx="1"/>
          </p:nvPr>
        </p:nvSpPr>
        <p:spPr/>
        <p:txBody>
          <a:bodyPr/>
          <a:lstStyle/>
          <a:p>
            <a:r>
              <a:rPr lang="en-US" dirty="0"/>
              <a:t>Image Input: We load a sample grayscale image using </a:t>
            </a:r>
            <a:r>
              <a:rPr lang="en-US" dirty="0" err="1"/>
              <a:t>imread</a:t>
            </a:r>
            <a:r>
              <a:rPr lang="en-US" dirty="0"/>
              <a:t>.</a:t>
            </a:r>
          </a:p>
          <a:p>
            <a:r>
              <a:rPr lang="en-US" dirty="0"/>
              <a:t>Flattening the Image: The 2D image is flattened into a 1D vector using image(:).</a:t>
            </a:r>
          </a:p>
          <a:p>
            <a:r>
              <a:rPr lang="en-US" dirty="0"/>
              <a:t>Run Length Encoding: We loop through the image vector, counting consecutive identical pixel values (runs). When a change is detected, we store the pixel value and the run length.</a:t>
            </a:r>
          </a:p>
          <a:p>
            <a:r>
              <a:rPr lang="en-US" dirty="0"/>
              <a:t>Output: The encoded values and run lengths are printed. Additionally, the compression ratio is calculated by comparing the original and compressed data sizes.</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8559606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3587B-61B0-3DB9-F19A-13B3FC72D160}"/>
              </a:ext>
            </a:extLst>
          </p:cNvPr>
          <p:cNvSpPr>
            <a:spLocks noGrp="1"/>
          </p:cNvSpPr>
          <p:nvPr>
            <p:ph type="title"/>
          </p:nvPr>
        </p:nvSpPr>
        <p:spPr/>
        <p:txBody>
          <a:bodyPr/>
          <a:lstStyle/>
          <a:p>
            <a:r>
              <a:rPr lang="en-US" altLang="en-US" dirty="0"/>
              <a:t>Psychovisual Redundancy</a:t>
            </a:r>
            <a:endParaRPr lang="en-US" dirty="0"/>
          </a:p>
        </p:txBody>
      </p:sp>
      <p:sp>
        <p:nvSpPr>
          <p:cNvPr id="3" name="Content Placeholder 2">
            <a:extLst>
              <a:ext uri="{FF2B5EF4-FFF2-40B4-BE49-F238E27FC236}">
                <a16:creationId xmlns:a16="http://schemas.microsoft.com/office/drawing/2014/main" id="{15A89E6E-4C86-0A5B-A177-433DAA1FF309}"/>
              </a:ext>
            </a:extLst>
          </p:cNvPr>
          <p:cNvSpPr>
            <a:spLocks noGrp="1"/>
          </p:cNvSpPr>
          <p:nvPr>
            <p:ph idx="1"/>
          </p:nvPr>
        </p:nvSpPr>
        <p:spPr>
          <a:xfrm>
            <a:off x="677334" y="1632905"/>
            <a:ext cx="8596668" cy="3880773"/>
          </a:xfrm>
        </p:spPr>
        <p:txBody>
          <a:bodyPr/>
          <a:lstStyle/>
          <a:p>
            <a:r>
              <a:rPr lang="en-US" altLang="en-US" dirty="0"/>
              <a:t>Some visual characteristics are less important than others.</a:t>
            </a:r>
          </a:p>
          <a:p>
            <a:r>
              <a:rPr lang="en-US" altLang="en-US" dirty="0"/>
              <a:t>In general observers seeks out certain characteristics – edges, textures, </a:t>
            </a:r>
            <a:r>
              <a:rPr lang="en-US" altLang="en-US" dirty="0" err="1"/>
              <a:t>etc</a:t>
            </a:r>
            <a:r>
              <a:rPr lang="en-US" altLang="en-US" dirty="0"/>
              <a:t> – and the mentally combine them to recognize the scene.</a:t>
            </a:r>
          </a:p>
          <a:p>
            <a:endParaRPr lang="en-US" dirty="0"/>
          </a:p>
        </p:txBody>
      </p:sp>
      <p:pic>
        <p:nvPicPr>
          <p:cNvPr id="4" name="Picture 3">
            <a:extLst>
              <a:ext uri="{FF2B5EF4-FFF2-40B4-BE49-F238E27FC236}">
                <a16:creationId xmlns:a16="http://schemas.microsoft.com/office/drawing/2014/main" id="{7D03F376-20ED-2264-25E9-99C3E42795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4654" y="2812863"/>
            <a:ext cx="8009188" cy="3880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594085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23CA6-6A66-A9E7-DB40-F05CAD2B29DE}"/>
              </a:ext>
            </a:extLst>
          </p:cNvPr>
          <p:cNvSpPr>
            <a:spLocks noGrp="1"/>
          </p:cNvSpPr>
          <p:nvPr>
            <p:ph type="title"/>
          </p:nvPr>
        </p:nvSpPr>
        <p:spPr/>
        <p:txBody>
          <a:bodyPr/>
          <a:lstStyle/>
          <a:p>
            <a:r>
              <a:rPr lang="en-US" altLang="en-US" dirty="0"/>
              <a:t>Psychovisual Redundancy</a:t>
            </a:r>
            <a:endParaRPr lang="en-US" dirty="0"/>
          </a:p>
        </p:txBody>
      </p:sp>
      <p:sp>
        <p:nvSpPr>
          <p:cNvPr id="6" name="TextBox 5">
            <a:extLst>
              <a:ext uri="{FF2B5EF4-FFF2-40B4-BE49-F238E27FC236}">
                <a16:creationId xmlns:a16="http://schemas.microsoft.com/office/drawing/2014/main" id="{EF22B35A-06CA-3280-69E6-7373880E46A0}"/>
              </a:ext>
            </a:extLst>
          </p:cNvPr>
          <p:cNvSpPr txBox="1"/>
          <p:nvPr/>
        </p:nvSpPr>
        <p:spPr>
          <a:xfrm>
            <a:off x="677334" y="1720840"/>
            <a:ext cx="8009466" cy="3139321"/>
          </a:xfrm>
          <a:prstGeom prst="rect">
            <a:avLst/>
          </a:prstGeom>
          <a:noFill/>
        </p:spPr>
        <p:txBody>
          <a:bodyPr wrap="square" rtlCol="0">
            <a:spAutoFit/>
          </a:bodyPr>
          <a:lstStyle/>
          <a:p>
            <a:pPr marL="285750" indent="-285750" algn="just">
              <a:buFont typeface="Wingdings" panose="05000000000000000000" pitchFamily="2" charset="2"/>
              <a:buChar char="Ø"/>
            </a:pPr>
            <a:r>
              <a:rPr lang="en-US" dirty="0"/>
              <a:t>If the image will only be used for visual observation, a lot of the information is usually psycho-visual redundant. It can be removed without changing the visual quality of the image. This kind of compression is usually irreversible.</a:t>
            </a:r>
          </a:p>
          <a:p>
            <a:pPr marL="285750" indent="-285750" algn="just">
              <a:buFont typeface="Wingdings" panose="05000000000000000000" pitchFamily="2" charset="2"/>
              <a:buChar char="Ø"/>
            </a:pPr>
            <a:endParaRPr lang="en-US" dirty="0"/>
          </a:p>
          <a:p>
            <a:pPr marL="285750" indent="-285750" algn="just">
              <a:buFont typeface="Wingdings" panose="05000000000000000000" pitchFamily="2" charset="2"/>
              <a:buChar char="Ø"/>
            </a:pPr>
            <a:r>
              <a:rPr lang="en-US" dirty="0"/>
              <a:t>The psychovisual redundancy exist because human perception does not involve quantitative analysis of every pixel or luminance value in the image.</a:t>
            </a:r>
          </a:p>
          <a:p>
            <a:pPr marL="285750" indent="-285750" algn="just">
              <a:buFont typeface="Wingdings" panose="05000000000000000000" pitchFamily="2" charset="2"/>
              <a:buChar char="Ø"/>
            </a:pPr>
            <a:endParaRPr lang="en-US" dirty="0"/>
          </a:p>
          <a:p>
            <a:pPr marL="285750" indent="-285750" algn="just">
              <a:buFont typeface="Wingdings" panose="05000000000000000000" pitchFamily="2" charset="2"/>
              <a:buChar char="Ø"/>
            </a:pPr>
            <a:r>
              <a:rPr lang="en-US" dirty="0"/>
              <a:t>It’s elimination is real visual information is possible only because the information itself is not essential for normal visual processing.</a:t>
            </a:r>
          </a:p>
        </p:txBody>
      </p:sp>
    </p:spTree>
    <p:extLst>
      <p:ext uri="{BB962C8B-B14F-4D97-AF65-F5344CB8AC3E}">
        <p14:creationId xmlns:p14="http://schemas.microsoft.com/office/powerpoint/2010/main" val="37577651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3587B-61B0-3DB9-F19A-13B3FC72D160}"/>
              </a:ext>
            </a:extLst>
          </p:cNvPr>
          <p:cNvSpPr>
            <a:spLocks noGrp="1"/>
          </p:cNvSpPr>
          <p:nvPr>
            <p:ph type="title"/>
          </p:nvPr>
        </p:nvSpPr>
        <p:spPr/>
        <p:txBody>
          <a:bodyPr/>
          <a:lstStyle/>
          <a:p>
            <a:r>
              <a:rPr lang="en-US" altLang="en-US" dirty="0"/>
              <a:t>Psychovisual Redundancy</a:t>
            </a:r>
            <a:endParaRPr lang="en-US" dirty="0"/>
          </a:p>
        </p:txBody>
      </p:sp>
      <p:pic>
        <p:nvPicPr>
          <p:cNvPr id="4" name="Content Placeholder 3">
            <a:extLst>
              <a:ext uri="{FF2B5EF4-FFF2-40B4-BE49-F238E27FC236}">
                <a16:creationId xmlns:a16="http://schemas.microsoft.com/office/drawing/2014/main" id="{C81CA039-BD79-08EE-25D6-77EADC436C8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77334" y="1926896"/>
            <a:ext cx="8758560" cy="2249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551069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E302D-FEA8-FD32-D75B-C77B29A37D7E}"/>
              </a:ext>
            </a:extLst>
          </p:cNvPr>
          <p:cNvSpPr>
            <a:spLocks noGrp="1"/>
          </p:cNvSpPr>
          <p:nvPr>
            <p:ph type="title"/>
          </p:nvPr>
        </p:nvSpPr>
        <p:spPr/>
        <p:txBody>
          <a:bodyPr/>
          <a:lstStyle/>
          <a:p>
            <a:r>
              <a:rPr lang="en-US" altLang="en-US" dirty="0"/>
              <a:t>Psychovisual Redundancy</a:t>
            </a:r>
            <a:endParaRPr lang="en-US" dirty="0"/>
          </a:p>
        </p:txBody>
      </p:sp>
      <p:pic>
        <p:nvPicPr>
          <p:cNvPr id="5" name="Content Placeholder 4">
            <a:extLst>
              <a:ext uri="{FF2B5EF4-FFF2-40B4-BE49-F238E27FC236}">
                <a16:creationId xmlns:a16="http://schemas.microsoft.com/office/drawing/2014/main" id="{0517B3DF-9CA7-866A-5AA5-A132CD4F5A06}"/>
              </a:ext>
            </a:extLst>
          </p:cNvPr>
          <p:cNvPicPr>
            <a:picLocks noGrp="1" noChangeAspect="1"/>
          </p:cNvPicPr>
          <p:nvPr>
            <p:ph idx="1"/>
          </p:nvPr>
        </p:nvPicPr>
        <p:blipFill>
          <a:blip r:embed="rId3"/>
          <a:stretch>
            <a:fillRect/>
          </a:stretch>
        </p:blipFill>
        <p:spPr>
          <a:xfrm>
            <a:off x="4996596" y="1930400"/>
            <a:ext cx="4287870" cy="3881437"/>
          </a:xfrm>
        </p:spPr>
      </p:pic>
      <p:pic>
        <p:nvPicPr>
          <p:cNvPr id="7" name="Picture 6">
            <a:extLst>
              <a:ext uri="{FF2B5EF4-FFF2-40B4-BE49-F238E27FC236}">
                <a16:creationId xmlns:a16="http://schemas.microsoft.com/office/drawing/2014/main" id="{F3B61BD7-D9FE-47CC-CC39-358B6D803447}"/>
              </a:ext>
            </a:extLst>
          </p:cNvPr>
          <p:cNvPicPr>
            <a:picLocks noChangeAspect="1"/>
          </p:cNvPicPr>
          <p:nvPr/>
        </p:nvPicPr>
        <p:blipFill>
          <a:blip r:embed="rId4"/>
          <a:stretch>
            <a:fillRect/>
          </a:stretch>
        </p:blipFill>
        <p:spPr>
          <a:xfrm>
            <a:off x="677334" y="1741214"/>
            <a:ext cx="4287869" cy="3921714"/>
          </a:xfrm>
          <a:prstGeom prst="rect">
            <a:avLst/>
          </a:prstGeom>
        </p:spPr>
      </p:pic>
      <p:pic>
        <p:nvPicPr>
          <p:cNvPr id="9" name="Picture 8">
            <a:extLst>
              <a:ext uri="{FF2B5EF4-FFF2-40B4-BE49-F238E27FC236}">
                <a16:creationId xmlns:a16="http://schemas.microsoft.com/office/drawing/2014/main" id="{793CB396-6918-D3F0-0A65-702829A4EE3A}"/>
              </a:ext>
            </a:extLst>
          </p:cNvPr>
          <p:cNvPicPr>
            <a:picLocks noChangeAspect="1"/>
          </p:cNvPicPr>
          <p:nvPr/>
        </p:nvPicPr>
        <p:blipFill>
          <a:blip r:embed="rId5"/>
          <a:stretch>
            <a:fillRect/>
          </a:stretch>
        </p:blipFill>
        <p:spPr>
          <a:xfrm>
            <a:off x="9096337" y="2806262"/>
            <a:ext cx="2884028" cy="2520335"/>
          </a:xfrm>
          <a:prstGeom prst="rect">
            <a:avLst/>
          </a:prstGeom>
        </p:spPr>
      </p:pic>
    </p:spTree>
    <p:extLst>
      <p:ext uri="{BB962C8B-B14F-4D97-AF65-F5344CB8AC3E}">
        <p14:creationId xmlns:p14="http://schemas.microsoft.com/office/powerpoint/2010/main" val="39908407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D7624-65DD-518C-C4C6-60B6782F15FF}"/>
              </a:ext>
            </a:extLst>
          </p:cNvPr>
          <p:cNvSpPr>
            <a:spLocks noGrp="1"/>
          </p:cNvSpPr>
          <p:nvPr>
            <p:ph type="title"/>
          </p:nvPr>
        </p:nvSpPr>
        <p:spPr/>
        <p:txBody>
          <a:bodyPr/>
          <a:lstStyle/>
          <a:p>
            <a:r>
              <a:rPr lang="en-US" altLang="en-US" dirty="0"/>
              <a:t>Psychovisual Redundancy</a:t>
            </a:r>
            <a:endParaRPr lang="en-US" dirty="0"/>
          </a:p>
        </p:txBody>
      </p:sp>
      <p:sp>
        <p:nvSpPr>
          <p:cNvPr id="3" name="Content Placeholder 2">
            <a:extLst>
              <a:ext uri="{FF2B5EF4-FFF2-40B4-BE49-F238E27FC236}">
                <a16:creationId xmlns:a16="http://schemas.microsoft.com/office/drawing/2014/main" id="{0A3734C4-1E22-D7DF-AA8F-16363785832E}"/>
              </a:ext>
            </a:extLst>
          </p:cNvPr>
          <p:cNvSpPr>
            <a:spLocks noGrp="1"/>
          </p:cNvSpPr>
          <p:nvPr>
            <p:ph idx="1"/>
          </p:nvPr>
        </p:nvSpPr>
        <p:spPr>
          <a:xfrm>
            <a:off x="557018" y="1930400"/>
            <a:ext cx="8596668" cy="3880773"/>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dirty="0">
                <a:solidFill>
                  <a:srgbClr val="008013"/>
                </a:solidFill>
                <a:effectLst/>
                <a:latin typeface="Menlo"/>
              </a:rPr>
              <a:t>Step 1: Read the grayscale image (for simplicity, we'll use a grayscale image)</a:t>
            </a:r>
            <a:endParaRPr lang="en-US" sz="1800" b="0" i="0" dirty="0">
              <a:effectLst/>
              <a:latin typeface="Menlo"/>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dirty="0">
                <a:solidFill>
                  <a:srgbClr val="008013"/>
                </a:solidFill>
                <a:effectLst/>
                <a:latin typeface="Menlo"/>
              </a:rPr>
              <a:t>Step2: Perform 2D Discrete Cosine Transform (DCT) to the image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dirty="0">
                <a:solidFill>
                  <a:srgbClr val="008013"/>
                </a:solidFill>
                <a:effectLst/>
                <a:latin typeface="Menlo"/>
              </a:rPr>
              <a:t>Step3: Visualize the DCT coefficients</a:t>
            </a:r>
          </a:p>
          <a:p>
            <a:r>
              <a:rPr lang="en-US" sz="1800" b="0" i="0" dirty="0">
                <a:solidFill>
                  <a:srgbClr val="008013"/>
                </a:solidFill>
                <a:effectLst/>
                <a:latin typeface="Menlo"/>
              </a:rPr>
              <a:t>Step 4: Zero out high-frequency components (higher psychovisual redundancy)</a:t>
            </a:r>
            <a:endParaRPr lang="en-US" sz="1800" b="0" i="0" dirty="0">
              <a:effectLst/>
              <a:latin typeface="Menlo"/>
            </a:endParaRPr>
          </a:p>
          <a:p>
            <a:r>
              <a:rPr lang="en-US" sz="1800" b="0" i="0" dirty="0">
                <a:solidFill>
                  <a:srgbClr val="008013"/>
                </a:solidFill>
                <a:effectLst/>
                <a:latin typeface="Menlo"/>
              </a:rPr>
              <a:t>% Keep only a part of the low-frequency DCT coefficients, set the rest to 0</a:t>
            </a:r>
            <a:endParaRPr lang="en-US" sz="1800" b="0" i="0" dirty="0">
              <a:effectLst/>
              <a:latin typeface="Menlo"/>
            </a:endParaRPr>
          </a:p>
          <a:p>
            <a:r>
              <a:rPr lang="en-US" sz="1800" b="0" i="0" dirty="0">
                <a:solidFill>
                  <a:srgbClr val="008013"/>
                </a:solidFill>
                <a:effectLst/>
                <a:latin typeface="Menlo"/>
              </a:rPr>
              <a:t>% Here, we'll retain only the top-left 10% of DCT coefficients.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dirty="0">
                <a:solidFill>
                  <a:srgbClr val="008013"/>
                </a:solidFill>
                <a:effectLst/>
                <a:latin typeface="Menlo"/>
              </a:rPr>
              <a:t>Step 5: Apply the mask to keep only low-frequency components</a:t>
            </a:r>
            <a:endParaRPr lang="en-US" sz="1800" b="0" i="0" dirty="0">
              <a:effectLst/>
              <a:latin typeface="Menlo"/>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dirty="0">
                <a:solidFill>
                  <a:srgbClr val="008013"/>
                </a:solidFill>
                <a:effectLst/>
                <a:latin typeface="Menlo"/>
              </a:rPr>
              <a:t>Step 6: Reconstruct the image using the inverse DCT (IDCT)</a:t>
            </a:r>
            <a:endParaRPr lang="en-US" sz="1800" b="0" i="0" dirty="0">
              <a:effectLst/>
              <a:latin typeface="Menlo"/>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dirty="0">
                <a:solidFill>
                  <a:srgbClr val="008013"/>
                </a:solidFill>
                <a:effectLst/>
                <a:latin typeface="Menlo"/>
              </a:rPr>
              <a:t>Step 7: Display the reconstructed image</a:t>
            </a:r>
            <a:endParaRPr lang="en-US" sz="1800" b="0" i="0" dirty="0">
              <a:effectLst/>
              <a:latin typeface="Menlo"/>
            </a:endParaRPr>
          </a:p>
          <a:p>
            <a:endParaRPr lang="en-US" sz="1800" b="0" i="0" dirty="0">
              <a:solidFill>
                <a:srgbClr val="008013"/>
              </a:solidFill>
              <a:effectLst/>
              <a:latin typeface="Menlo"/>
            </a:endParaRPr>
          </a:p>
          <a:p>
            <a:endParaRPr lang="en-US" sz="1800" b="0" i="0" dirty="0">
              <a:effectLst/>
              <a:latin typeface="Menlo"/>
            </a:endParaRPr>
          </a:p>
          <a:p>
            <a:endParaRPr lang="en-US" dirty="0"/>
          </a:p>
        </p:txBody>
      </p:sp>
    </p:spTree>
    <p:extLst>
      <p:ext uri="{BB962C8B-B14F-4D97-AF65-F5344CB8AC3E}">
        <p14:creationId xmlns:p14="http://schemas.microsoft.com/office/powerpoint/2010/main" val="7807621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3587B-61B0-3DB9-F19A-13B3FC72D160}"/>
              </a:ext>
            </a:extLst>
          </p:cNvPr>
          <p:cNvSpPr>
            <a:spLocks noGrp="1"/>
          </p:cNvSpPr>
          <p:nvPr>
            <p:ph type="title"/>
          </p:nvPr>
        </p:nvSpPr>
        <p:spPr/>
        <p:txBody>
          <a:bodyPr/>
          <a:lstStyle/>
          <a:p>
            <a:r>
              <a:rPr lang="en-US" altLang="en-US" dirty="0"/>
              <a:t>Fidelity Criteria</a:t>
            </a:r>
            <a:endParaRPr lang="en-US" dirty="0"/>
          </a:p>
        </p:txBody>
      </p:sp>
      <p:sp>
        <p:nvSpPr>
          <p:cNvPr id="3" name="Content Placeholder 2">
            <a:extLst>
              <a:ext uri="{FF2B5EF4-FFF2-40B4-BE49-F238E27FC236}">
                <a16:creationId xmlns:a16="http://schemas.microsoft.com/office/drawing/2014/main" id="{15A89E6E-4C86-0A5B-A177-433DAA1FF309}"/>
              </a:ext>
            </a:extLst>
          </p:cNvPr>
          <p:cNvSpPr>
            <a:spLocks noGrp="1"/>
          </p:cNvSpPr>
          <p:nvPr>
            <p:ph idx="1"/>
          </p:nvPr>
        </p:nvSpPr>
        <p:spPr>
          <a:xfrm>
            <a:off x="677334" y="1839311"/>
            <a:ext cx="8596668" cy="4202052"/>
          </a:xfrm>
        </p:spPr>
        <p:txBody>
          <a:bodyPr/>
          <a:lstStyle/>
          <a:p>
            <a:r>
              <a:rPr lang="en-US" altLang="en-US" sz="2800" dirty="0"/>
              <a:t>Subjective</a:t>
            </a:r>
          </a:p>
          <a:p>
            <a:r>
              <a:rPr lang="en-US" altLang="en-US" sz="2800" dirty="0"/>
              <a:t>Objective</a:t>
            </a:r>
          </a:p>
          <a:p>
            <a:pPr lvl="1"/>
            <a:r>
              <a:rPr lang="en-US" altLang="en-US" sz="2400" dirty="0"/>
              <a:t>Sum of the absolute error</a:t>
            </a:r>
          </a:p>
          <a:p>
            <a:pPr lvl="1"/>
            <a:r>
              <a:rPr lang="en-US" altLang="en-US" sz="2400" dirty="0"/>
              <a:t>RMS value of the error</a:t>
            </a:r>
          </a:p>
          <a:p>
            <a:pPr lvl="1"/>
            <a:r>
              <a:rPr lang="en-US" altLang="en-US" sz="2400" dirty="0"/>
              <a:t>Signal to Noise Ratio</a:t>
            </a:r>
          </a:p>
          <a:p>
            <a:endParaRPr lang="en-US" dirty="0"/>
          </a:p>
        </p:txBody>
      </p:sp>
    </p:spTree>
    <p:extLst>
      <p:ext uri="{BB962C8B-B14F-4D97-AF65-F5344CB8AC3E}">
        <p14:creationId xmlns:p14="http://schemas.microsoft.com/office/powerpoint/2010/main" val="19978883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832F36-8D2B-16E1-5530-035325646152}"/>
              </a:ext>
            </a:extLst>
          </p:cNvPr>
          <p:cNvSpPr>
            <a:spLocks noGrp="1"/>
          </p:cNvSpPr>
          <p:nvPr>
            <p:ph type="title"/>
          </p:nvPr>
        </p:nvSpPr>
        <p:spPr/>
        <p:txBody>
          <a:bodyPr/>
          <a:lstStyle/>
          <a:p>
            <a:r>
              <a:rPr lang="en-US" altLang="en-US" dirty="0"/>
              <a:t>Subjective scale</a:t>
            </a:r>
            <a:endParaRPr lang="en-US" dirty="0"/>
          </a:p>
        </p:txBody>
      </p:sp>
      <p:pic>
        <p:nvPicPr>
          <p:cNvPr id="4" name="Content Placeholder 3">
            <a:extLst>
              <a:ext uri="{FF2B5EF4-FFF2-40B4-BE49-F238E27FC236}">
                <a16:creationId xmlns:a16="http://schemas.microsoft.com/office/drawing/2014/main" id="{F8CA585F-962A-986A-040C-9156EFA4280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33519" y="1930400"/>
            <a:ext cx="8730528" cy="3621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892147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832F36-8D2B-16E1-5530-035325646152}"/>
              </a:ext>
            </a:extLst>
          </p:cNvPr>
          <p:cNvSpPr>
            <a:spLocks noGrp="1"/>
          </p:cNvSpPr>
          <p:nvPr>
            <p:ph type="title"/>
          </p:nvPr>
        </p:nvSpPr>
        <p:spPr/>
        <p:txBody>
          <a:bodyPr/>
          <a:lstStyle/>
          <a:p>
            <a:r>
              <a:rPr lang="en-US" altLang="en-US" dirty="0"/>
              <a:t>Image Compression Model</a:t>
            </a:r>
            <a:endParaRPr lang="en-US" dirty="0"/>
          </a:p>
        </p:txBody>
      </p:sp>
      <p:pic>
        <p:nvPicPr>
          <p:cNvPr id="4" name="Picture 3">
            <a:extLst>
              <a:ext uri="{FF2B5EF4-FFF2-40B4-BE49-F238E27FC236}">
                <a16:creationId xmlns:a16="http://schemas.microsoft.com/office/drawing/2014/main" id="{BD59442B-BCED-234F-2066-133F8DF188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7334" y="1809656"/>
            <a:ext cx="8478698" cy="1619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a:extLst>
              <a:ext uri="{FF2B5EF4-FFF2-40B4-BE49-F238E27FC236}">
                <a16:creationId xmlns:a16="http://schemas.microsoft.com/office/drawing/2014/main" id="{656F7729-9AD8-D83C-B575-2B1E9F001BD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760" b="2942"/>
          <a:stretch/>
        </p:blipFill>
        <p:spPr bwMode="auto">
          <a:xfrm>
            <a:off x="891838" y="3594881"/>
            <a:ext cx="8167660" cy="30865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170884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a:t>
            </a:r>
          </a:p>
        </p:txBody>
      </p:sp>
      <p:pic>
        <p:nvPicPr>
          <p:cNvPr id="5" name="Picture 4"/>
          <p:cNvPicPr>
            <a:picLocks noChangeAspect="1"/>
          </p:cNvPicPr>
          <p:nvPr/>
        </p:nvPicPr>
        <p:blipFill>
          <a:blip r:embed="rId2"/>
          <a:stretch>
            <a:fillRect/>
          </a:stretch>
        </p:blipFill>
        <p:spPr>
          <a:xfrm>
            <a:off x="1489531" y="1814926"/>
            <a:ext cx="3486137" cy="4351338"/>
          </a:xfrm>
          <a:prstGeom prst="rect">
            <a:avLst/>
          </a:prstGeom>
        </p:spPr>
      </p:pic>
      <p:sp>
        <p:nvSpPr>
          <p:cNvPr id="3" name="TextBox 2">
            <a:extLst>
              <a:ext uri="{FF2B5EF4-FFF2-40B4-BE49-F238E27FC236}">
                <a16:creationId xmlns:a16="http://schemas.microsoft.com/office/drawing/2014/main" id="{8BCEE4F1-9A0F-F178-C89C-6EF987D6F921}"/>
              </a:ext>
            </a:extLst>
          </p:cNvPr>
          <p:cNvSpPr txBox="1"/>
          <p:nvPr/>
        </p:nvSpPr>
        <p:spPr>
          <a:xfrm>
            <a:off x="5739063" y="4656221"/>
            <a:ext cx="2887579" cy="369332"/>
          </a:xfrm>
          <a:prstGeom prst="rect">
            <a:avLst/>
          </a:prstGeom>
          <a:noFill/>
        </p:spPr>
        <p:txBody>
          <a:bodyPr wrap="square" rtlCol="0">
            <a:spAutoFit/>
          </a:bodyPr>
          <a:lstStyle/>
          <a:p>
            <a:r>
              <a:rPr lang="en-US" dirty="0"/>
              <a:t>Chapter 8</a:t>
            </a:r>
          </a:p>
        </p:txBody>
      </p:sp>
    </p:spTree>
    <p:extLst>
      <p:ext uri="{BB962C8B-B14F-4D97-AF65-F5344CB8AC3E}">
        <p14:creationId xmlns:p14="http://schemas.microsoft.com/office/powerpoint/2010/main" val="20453039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a:t>
            </a:r>
          </a:p>
        </p:txBody>
      </p:sp>
      <p:pic>
        <p:nvPicPr>
          <p:cNvPr id="30722" name="Picture 2"/>
          <p:cNvPicPr>
            <a:picLocks noGrp="1" noChangeAspect="1" noChangeArrowheads="1"/>
          </p:cNvPicPr>
          <p:nvPr>
            <p:ph idx="1"/>
          </p:nvPr>
        </p:nvPicPr>
        <p:blipFill>
          <a:blip r:embed="rId3"/>
          <a:srcRect/>
          <a:stretch>
            <a:fillRect/>
          </a:stretch>
        </p:blipFill>
        <p:spPr bwMode="auto">
          <a:xfrm>
            <a:off x="4495800" y="1600200"/>
            <a:ext cx="3395662" cy="3772958"/>
          </a:xfrm>
          <a:prstGeom prst="rect">
            <a:avLst/>
          </a:prstGeom>
          <a:noFill/>
          <a:ln w="9525">
            <a:noFill/>
            <a:miter lim="800000"/>
            <a:headEnd/>
            <a:tailEnd/>
          </a:ln>
          <a:effectLst/>
        </p:spPr>
      </p:pic>
    </p:spTree>
    <p:extLst>
      <p:ext uri="{BB962C8B-B14F-4D97-AF65-F5344CB8AC3E}">
        <p14:creationId xmlns:p14="http://schemas.microsoft.com/office/powerpoint/2010/main" val="22241046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 you</a:t>
            </a:r>
          </a:p>
        </p:txBody>
      </p:sp>
      <p:pic>
        <p:nvPicPr>
          <p:cNvPr id="31746" name="Picture 2"/>
          <p:cNvPicPr>
            <a:picLocks noGrp="1" noChangeAspect="1" noChangeArrowheads="1"/>
          </p:cNvPicPr>
          <p:nvPr>
            <p:ph idx="1"/>
          </p:nvPr>
        </p:nvPicPr>
        <p:blipFill>
          <a:blip r:embed="rId2"/>
          <a:srcRect/>
          <a:stretch>
            <a:fillRect/>
          </a:stretch>
        </p:blipFill>
        <p:spPr bwMode="auto">
          <a:xfrm>
            <a:off x="2971800" y="2057400"/>
            <a:ext cx="6553200" cy="3822700"/>
          </a:xfrm>
          <a:prstGeom prst="rect">
            <a:avLst/>
          </a:prstGeom>
          <a:noFill/>
          <a:ln w="9525">
            <a:noFill/>
            <a:miter lim="800000"/>
            <a:headEnd/>
            <a:tailEnd/>
          </a:ln>
          <a:effectLst/>
        </p:spPr>
      </p:pic>
    </p:spTree>
    <p:extLst>
      <p:ext uri="{BB962C8B-B14F-4D97-AF65-F5344CB8AC3E}">
        <p14:creationId xmlns:p14="http://schemas.microsoft.com/office/powerpoint/2010/main" val="330151120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10050</TotalTime>
  <Words>2599</Words>
  <Application>Microsoft Office PowerPoint</Application>
  <PresentationFormat>Widescreen</PresentationFormat>
  <Paragraphs>305</Paragraphs>
  <Slides>44</Slides>
  <Notes>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44</vt:i4>
      </vt:variant>
    </vt:vector>
  </HeadingPairs>
  <TitlesOfParts>
    <vt:vector size="52" baseType="lpstr">
      <vt:lpstr>Arial</vt:lpstr>
      <vt:lpstr>Calibri</vt:lpstr>
      <vt:lpstr>Menlo</vt:lpstr>
      <vt:lpstr>Symbol</vt:lpstr>
      <vt:lpstr>Trebuchet MS</vt:lpstr>
      <vt:lpstr>Wingdings</vt:lpstr>
      <vt:lpstr>Wingdings 3</vt:lpstr>
      <vt:lpstr>Facet</vt:lpstr>
      <vt:lpstr>Multimedia Computing</vt:lpstr>
      <vt:lpstr>Content</vt:lpstr>
      <vt:lpstr>Objective</vt:lpstr>
      <vt:lpstr>Enabling Technology</vt:lpstr>
      <vt:lpstr>Review</vt:lpstr>
      <vt:lpstr>Image compression </vt:lpstr>
      <vt:lpstr>Image compression general models</vt:lpstr>
      <vt:lpstr>Discrete cosine transform</vt:lpstr>
      <vt:lpstr>2D Discrete Cosine Transform (DCT):</vt:lpstr>
      <vt:lpstr>2D Discrete Cosine Transform (DCT):</vt:lpstr>
      <vt:lpstr>DCT Example</vt:lpstr>
      <vt:lpstr>DCT Example</vt:lpstr>
      <vt:lpstr>Information recovery</vt:lpstr>
      <vt:lpstr>Relative Data Redundancy</vt:lpstr>
      <vt:lpstr>Relative Data Redundancy</vt:lpstr>
      <vt:lpstr>Code lossy</vt:lpstr>
      <vt:lpstr>Loss less</vt:lpstr>
      <vt:lpstr>Code lossless</vt:lpstr>
      <vt:lpstr>File size of compressed image</vt:lpstr>
      <vt:lpstr>Examples</vt:lpstr>
      <vt:lpstr>Types of data redundancy</vt:lpstr>
      <vt:lpstr>Coding Redundancy</vt:lpstr>
      <vt:lpstr>Coding Redundancy 2</vt:lpstr>
      <vt:lpstr>Fixed vs Variable Length Codes</vt:lpstr>
      <vt:lpstr>Code assignment view</vt:lpstr>
      <vt:lpstr>Interpixel Redundancy</vt:lpstr>
      <vt:lpstr>Interpixel Redundancy</vt:lpstr>
      <vt:lpstr>Run Length Coding</vt:lpstr>
      <vt:lpstr>Run Length Coding</vt:lpstr>
      <vt:lpstr>Run Length encoding</vt:lpstr>
      <vt:lpstr>Run Length encoding</vt:lpstr>
      <vt:lpstr>Run Length encoding</vt:lpstr>
      <vt:lpstr>Run Length encoding</vt:lpstr>
      <vt:lpstr>Psychovisual Redundancy</vt:lpstr>
      <vt:lpstr>Psychovisual Redundancy</vt:lpstr>
      <vt:lpstr>Psychovisual Redundancy</vt:lpstr>
      <vt:lpstr>Psychovisual Redundancy</vt:lpstr>
      <vt:lpstr>Psychovisual Redundancy</vt:lpstr>
      <vt:lpstr>Fidelity Criteria</vt:lpstr>
      <vt:lpstr>Subjective scale</vt:lpstr>
      <vt:lpstr>Image Compression Model</vt:lpstr>
      <vt:lpstr>Reference</vt:lpstr>
      <vt:lpstr>Question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Multimedia Computing</dc:title>
  <dc:creator>Ahmed Minhaz Uddin</dc:creator>
  <cp:lastModifiedBy>Minhaz Uddin Ahmed</cp:lastModifiedBy>
  <cp:revision>172</cp:revision>
  <dcterms:created xsi:type="dcterms:W3CDTF">2020-01-27T14:45:02Z</dcterms:created>
  <dcterms:modified xsi:type="dcterms:W3CDTF">2025-10-22T03:20:00Z</dcterms:modified>
</cp:coreProperties>
</file>