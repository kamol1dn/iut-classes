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63"/>
  </p:notesMasterIdLst>
  <p:sldIdLst>
    <p:sldId id="256" r:id="rId2"/>
    <p:sldId id="341" r:id="rId3"/>
    <p:sldId id="533" r:id="rId4"/>
    <p:sldId id="550" r:id="rId5"/>
    <p:sldId id="551" r:id="rId6"/>
    <p:sldId id="552" r:id="rId7"/>
    <p:sldId id="538" r:id="rId8"/>
    <p:sldId id="539" r:id="rId9"/>
    <p:sldId id="540" r:id="rId10"/>
    <p:sldId id="534" r:id="rId11"/>
    <p:sldId id="535" r:id="rId12"/>
    <p:sldId id="536" r:id="rId13"/>
    <p:sldId id="546" r:id="rId14"/>
    <p:sldId id="541" r:id="rId15"/>
    <p:sldId id="543" r:id="rId16"/>
    <p:sldId id="544" r:id="rId17"/>
    <p:sldId id="545" r:id="rId18"/>
    <p:sldId id="537" r:id="rId19"/>
    <p:sldId id="542" r:id="rId20"/>
    <p:sldId id="501" r:id="rId21"/>
    <p:sldId id="502" r:id="rId22"/>
    <p:sldId id="503" r:id="rId23"/>
    <p:sldId id="504" r:id="rId24"/>
    <p:sldId id="505" r:id="rId25"/>
    <p:sldId id="506" r:id="rId26"/>
    <p:sldId id="547" r:id="rId27"/>
    <p:sldId id="548" r:id="rId28"/>
    <p:sldId id="549" r:id="rId29"/>
    <p:sldId id="507" r:id="rId30"/>
    <p:sldId id="508" r:id="rId31"/>
    <p:sldId id="509" r:id="rId32"/>
    <p:sldId id="510" r:id="rId33"/>
    <p:sldId id="511" r:id="rId34"/>
    <p:sldId id="512" r:id="rId35"/>
    <p:sldId id="513" r:id="rId36"/>
    <p:sldId id="514" r:id="rId37"/>
    <p:sldId id="515" r:id="rId38"/>
    <p:sldId id="516" r:id="rId39"/>
    <p:sldId id="517" r:id="rId40"/>
    <p:sldId id="518" r:id="rId41"/>
    <p:sldId id="519" r:id="rId42"/>
    <p:sldId id="520" r:id="rId43"/>
    <p:sldId id="521" r:id="rId44"/>
    <p:sldId id="522" r:id="rId45"/>
    <p:sldId id="523" r:id="rId46"/>
    <p:sldId id="524" r:id="rId47"/>
    <p:sldId id="525" r:id="rId48"/>
    <p:sldId id="526" r:id="rId49"/>
    <p:sldId id="527" r:id="rId50"/>
    <p:sldId id="528" r:id="rId51"/>
    <p:sldId id="529" r:id="rId52"/>
    <p:sldId id="530" r:id="rId53"/>
    <p:sldId id="531" r:id="rId54"/>
    <p:sldId id="532" r:id="rId55"/>
    <p:sldId id="553" r:id="rId56"/>
    <p:sldId id="554" r:id="rId57"/>
    <p:sldId id="555" r:id="rId58"/>
    <p:sldId id="556" r:id="rId59"/>
    <p:sldId id="451" r:id="rId60"/>
    <p:sldId id="299" r:id="rId61"/>
    <p:sldId id="300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394" autoAdjust="0"/>
  </p:normalViewPr>
  <p:slideViewPr>
    <p:cSldViewPr snapToGrid="0">
      <p:cViewPr varScale="1">
        <p:scale>
          <a:sx n="77" d="100"/>
          <a:sy n="77" d="100"/>
        </p:scale>
        <p:origin x="88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E53E55-EC9A-434C-8BE2-CD78882C9BC0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BD2CD-5368-43DB-9451-734A67620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44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ABCEA9-342F-49DA-8846-1F2209C1EED6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47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223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9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3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33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83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31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676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69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051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6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0401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94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693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47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847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05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5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825626"/>
            <a:ext cx="5156200" cy="2098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76701"/>
            <a:ext cx="5156200" cy="2100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572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6D2BA-BFE1-4F18-980D-42A06CD3627B}" type="datetimeFigureOut">
              <a:rPr lang="en-US" smtClean="0"/>
              <a:t>10/10/2024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C836B74-D967-44D7-A95F-6356689A3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164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az.ahmed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22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25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27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2.bin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38.png"/><Relationship Id="rId4" Type="http://schemas.openxmlformats.org/officeDocument/2006/relationships/oleObject" Target="../embeddings/oleObject15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45.wmf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47.w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23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5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52.wmf"/><Relationship Id="rId4" Type="http://schemas.openxmlformats.org/officeDocument/2006/relationships/image" Target="../media/image53.png"/><Relationship Id="rId9" Type="http://schemas.openxmlformats.org/officeDocument/2006/relationships/oleObject" Target="../embeddings/oleObject3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6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17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37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Multimedia Computing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dirty="0"/>
              <a:t>By </a:t>
            </a:r>
          </a:p>
          <a:p>
            <a:pPr algn="ctr"/>
            <a:r>
              <a:rPr lang="en-US" sz="1600" dirty="0"/>
              <a:t>Minhaz Uddin Ahmed, PhD</a:t>
            </a:r>
          </a:p>
          <a:p>
            <a:pPr algn="ctr"/>
            <a:r>
              <a:rPr lang="en-US" sz="1600" dirty="0"/>
              <a:t>Department of Computer Engineering</a:t>
            </a:r>
          </a:p>
          <a:p>
            <a:pPr algn="ctr"/>
            <a:r>
              <a:rPr lang="en-US" sz="1600" err="1"/>
              <a:t>Inha</a:t>
            </a:r>
            <a:r>
              <a:rPr lang="en-US" sz="1600"/>
              <a:t> University in Tashkent.</a:t>
            </a:r>
            <a:endParaRPr lang="en-US" sz="1600" dirty="0"/>
          </a:p>
          <a:p>
            <a:pPr algn="ctr"/>
            <a:r>
              <a:rPr lang="en-US" sz="1600" dirty="0"/>
              <a:t>Email: </a:t>
            </a:r>
            <a:r>
              <a:rPr lang="en-US" sz="1600" dirty="0">
                <a:hlinkClick r:id="rId2"/>
              </a:rPr>
              <a:t>minhaz.ahmed@gmail.com</a:t>
            </a:r>
            <a:endParaRPr lang="en-US" sz="1600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735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37859"/>
            <a:ext cx="8596668" cy="3880773"/>
          </a:xfrm>
        </p:spPr>
        <p:txBody>
          <a:bodyPr>
            <a:normAutofit/>
          </a:bodyPr>
          <a:lstStyle/>
          <a:p>
            <a:r>
              <a:rPr lang="en-US" dirty="0"/>
              <a:t>Chapter - 9 (Gonzalez books)</a:t>
            </a:r>
          </a:p>
          <a:p>
            <a:r>
              <a:rPr lang="en-US" dirty="0"/>
              <a:t>Morphological operation</a:t>
            </a:r>
          </a:p>
          <a:p>
            <a:r>
              <a:rPr lang="en-US" dirty="0"/>
              <a:t>Dilation</a:t>
            </a:r>
          </a:p>
          <a:p>
            <a:r>
              <a:rPr lang="en-US" dirty="0"/>
              <a:t>Erosion</a:t>
            </a:r>
          </a:p>
          <a:p>
            <a:r>
              <a:rPr lang="en-US" altLang="zh-TW" dirty="0"/>
              <a:t>Opening </a:t>
            </a:r>
          </a:p>
          <a:p>
            <a:r>
              <a:rPr lang="en-US" altLang="zh-TW" dirty="0"/>
              <a:t>Closing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98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Morphological image processing</a:t>
            </a:r>
            <a:r>
              <a:rPr lang="en-US" dirty="0"/>
              <a:t> is a collection of non-linear operations related to the shape or morphology of features in an image.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8189" y="2904565"/>
            <a:ext cx="6391836" cy="3366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2600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F456-1474-48A9-3253-72B12555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Structuring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9E0AC-E94A-B51D-09E9-893194516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47467"/>
            <a:ext cx="8596668" cy="3880773"/>
          </a:xfrm>
        </p:spPr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structuring element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is a small binary image, i.e. a small matrix of pixels, each with a value of zero or one: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matrix dimensions specify 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size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of the structuring element.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pattern of ones and zeros specifies 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shape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of the structuring element.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origin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of the structuring element is usually one of its pixels, although generally the origin can be outside the structuring element.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F74A0-D4D5-7E41-0712-29C8D870F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803" y="4570776"/>
            <a:ext cx="6264183" cy="19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7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7E6C-F21E-CCAC-611D-F01882AB9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Morphological image processing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8F9EF-C2A8-2EA6-AED9-A2E6DE672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common practice is to have odd dimensions of the structuring matrix and the origin defined as the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centre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of the matrix. </a:t>
            </a:r>
            <a:r>
              <a:rPr lang="en-US" b="0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Structuring elements play in morphological image processing the same role as convolution kernels in linear image filtering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815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2B48-C7F8-E6E5-AE90-5CD61BCD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Morphological image processing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F1799-D4A1-A118-E980-63F17FB6F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When a structuring element is placed in a binary image, each of its pixels is associated with the corresponding pixel of the neighborhood under the structuring element. The structuring element is said to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fit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the image if, for each of its pixels set to 1, the corresponding image pixel is also 1. Similarly, a structuring element is said to 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hit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or intersect, an image if, at least for one of its pixels set to 1 the corresponding image pixel is also 1.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0ACFAB-439D-6388-A03B-81D867C80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78" y="4100975"/>
            <a:ext cx="5189670" cy="17679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B455BC-A2F8-04BE-58E7-B5FEC65A6E1C}"/>
              </a:ext>
            </a:extLst>
          </p:cNvPr>
          <p:cNvSpPr txBox="1"/>
          <p:nvPr/>
        </p:nvSpPr>
        <p:spPr>
          <a:xfrm>
            <a:off x="507653" y="6041362"/>
            <a:ext cx="107385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Zero-valued pixels of the structuring element are ignored, i.e. indicate points where the corresponding image value is irrelevant.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41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77334" y="609600"/>
            <a:ext cx="8596668" cy="68131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>
                <a:solidFill>
                  <a:srgbClr val="92D050"/>
                </a:solidFill>
                <a:latin typeface="Verdana" panose="020B0604030504040204" pitchFamily="34" charset="0"/>
              </a:rPr>
              <a:t>Some Basic Concepts from Set Theory</a:t>
            </a:r>
            <a:endParaRPr lang="en-US" altLang="zh-TW" dirty="0">
              <a:solidFill>
                <a:srgbClr val="92D050"/>
              </a:solidFill>
            </a:endParaRPr>
          </a:p>
        </p:txBody>
      </p:sp>
      <p:sp>
        <p:nvSpPr>
          <p:cNvPr id="21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F28DA3-06B8-4235-8936-F995FFEC506C}" type="slidenum">
              <a:rPr lang="ko-KR" altLang="en-US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22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419" y="1729581"/>
            <a:ext cx="7667625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0548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527" y="434975"/>
            <a:ext cx="9824414" cy="1320800"/>
          </a:xfrm>
        </p:spPr>
        <p:txBody>
          <a:bodyPr/>
          <a:lstStyle/>
          <a:p>
            <a:r>
              <a:rPr lang="en-US" altLang="zh-TW" dirty="0">
                <a:solidFill>
                  <a:srgbClr val="92D050"/>
                </a:solidFill>
                <a:latin typeface="Verdana" panose="020B0604030504040204" pitchFamily="34" charset="0"/>
              </a:rPr>
              <a:t>Some Basic Concepts from Set Theory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3" y="3717925"/>
            <a:ext cx="7745412" cy="227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495675" y="1630363"/>
          <a:ext cx="2181225" cy="197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780952" imgH="2514286" progId="Photoshop.Image.8">
                  <p:embed/>
                </p:oleObj>
              </mc:Choice>
              <mc:Fallback>
                <p:oleObj name="Image" r:id="rId3" imgW="2780952" imgH="2514286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1630363"/>
                        <a:ext cx="2181225" cy="197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81175" y="3213100"/>
            <a:ext cx="1570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Translation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779963" y="3587750"/>
            <a:ext cx="1450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/>
              <a:t>Reflection</a:t>
            </a:r>
          </a:p>
        </p:txBody>
      </p:sp>
      <p:sp>
        <p:nvSpPr>
          <p:cNvPr id="8" name="Line 10"/>
          <p:cNvSpPr>
            <a:spLocks noChangeShapeType="1"/>
          </p:cNvSpPr>
          <p:nvPr/>
        </p:nvSpPr>
        <p:spPr bwMode="auto">
          <a:xfrm flipH="1">
            <a:off x="2952750" y="3087688"/>
            <a:ext cx="825500" cy="112395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4646613" y="3432175"/>
            <a:ext cx="0" cy="884238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9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10017560" cy="13208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92D050"/>
                </a:solidFill>
                <a:latin typeface="Verdana" panose="020B0604030504040204" pitchFamily="34" charset="0"/>
              </a:rPr>
              <a:t>Logic Operations Involving Binary Images</a:t>
            </a:r>
            <a:br>
              <a:rPr lang="en-US" altLang="zh-TW" dirty="0"/>
            </a:br>
            <a:endParaRPr lang="en-US" dirty="0"/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1671638" y="1638300"/>
            <a:ext cx="6294437" cy="4919663"/>
            <a:chOff x="1053" y="1032"/>
            <a:chExt cx="3965" cy="3099"/>
          </a:xfrm>
        </p:grpSpPr>
        <p:graphicFrame>
          <p:nvGraphicFramePr>
            <p:cNvPr id="5" name="Object 4"/>
            <p:cNvGraphicFramePr>
              <a:graphicFrameLocks noChangeAspect="1"/>
            </p:cNvGraphicFramePr>
            <p:nvPr/>
          </p:nvGraphicFramePr>
          <p:xfrm>
            <a:off x="1053" y="1101"/>
            <a:ext cx="3965" cy="3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Image" r:id="rId2" imgW="7479365" imgH="5714286" progId="Photoshop.Image.8">
                    <p:embed/>
                  </p:oleObj>
                </mc:Choice>
                <mc:Fallback>
                  <p:oleObj name="Image" r:id="rId2" imgW="7479365" imgH="5714286" progId="Photoshop.Image.8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3" y="1101"/>
                          <a:ext cx="3965" cy="30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1463" y="103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/>
                <a:t>A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652" y="103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3172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/>
              <a:t>     </a:t>
            </a:r>
            <a:r>
              <a:rPr lang="en-US" dirty="0">
                <a:solidFill>
                  <a:srgbClr val="00B0F0"/>
                </a:solidFill>
              </a:rPr>
              <a:t>Morphological operations </a:t>
            </a:r>
            <a:r>
              <a:rPr lang="en-US" dirty="0">
                <a:solidFill>
                  <a:srgbClr val="00B050"/>
                </a:solidFill>
              </a:rPr>
              <a:t>rely only on the relative ordering of pixel values</a:t>
            </a:r>
            <a:r>
              <a:rPr lang="en-US" dirty="0">
                <a:solidFill>
                  <a:srgbClr val="00B0F0"/>
                </a:solidFill>
              </a:rPr>
              <a:t>, not on their numerical values, and therefore are especially suited to the processing of binary images</a:t>
            </a:r>
            <a:r>
              <a:rPr lang="en-US" dirty="0"/>
              <a:t>. Morphological operations can also be applied to grayscale images such that their light transfer functions are unknown and therefore their absolute pixel values are of no or minor interest.</a:t>
            </a:r>
          </a:p>
        </p:txBody>
      </p:sp>
    </p:spTree>
    <p:extLst>
      <p:ext uri="{BB962C8B-B14F-4D97-AF65-F5344CB8AC3E}">
        <p14:creationId xmlns:p14="http://schemas.microsoft.com/office/powerpoint/2010/main" val="141129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Morphological operation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71602" y="1930400"/>
            <a:ext cx="8596668" cy="3880773"/>
          </a:xfrm>
        </p:spPr>
        <p:txBody>
          <a:bodyPr>
            <a:normAutofit fontScale="85000" lnSpcReduction="10000"/>
          </a:bodyPr>
          <a:lstStyle/>
          <a:p>
            <a:r>
              <a:rPr lang="en-US" sz="2800" dirty="0"/>
              <a:t>A set of operations that process images based on shapes. Morphological operations apply a </a:t>
            </a:r>
            <a:r>
              <a:rPr lang="en-US" sz="2800" i="1" dirty="0"/>
              <a:t>structuring element</a:t>
            </a:r>
            <a:r>
              <a:rPr lang="en-US" sz="2800" dirty="0"/>
              <a:t> to an input image and generate an output image.</a:t>
            </a:r>
          </a:p>
          <a:p>
            <a:r>
              <a:rPr lang="en-US" sz="2800" dirty="0"/>
              <a:t>The most basic morphological operations are two: </a:t>
            </a:r>
            <a:r>
              <a:rPr lang="en-US" sz="2800" dirty="0">
                <a:solidFill>
                  <a:srgbClr val="00B0F0"/>
                </a:solidFill>
              </a:rPr>
              <a:t>Erosion and Dilation</a:t>
            </a:r>
            <a:r>
              <a:rPr lang="en-US" sz="2800" dirty="0"/>
              <a:t>. They have a wide array of uses, i.e. :</a:t>
            </a:r>
          </a:p>
          <a:p>
            <a:pPr lvl="1"/>
            <a:r>
              <a:rPr lang="en-US" sz="2400" dirty="0"/>
              <a:t>Removing noise</a:t>
            </a:r>
          </a:p>
          <a:p>
            <a:pPr lvl="1"/>
            <a:r>
              <a:rPr lang="en-US" sz="2400" dirty="0"/>
              <a:t>Isolation of individual elements and joining disparate elements in an image.</a:t>
            </a:r>
          </a:p>
          <a:p>
            <a:pPr lvl="1"/>
            <a:r>
              <a:rPr lang="en-US" sz="2400" dirty="0"/>
              <a:t>Finding of intensity bumps or holes in an image</a:t>
            </a:r>
          </a:p>
        </p:txBody>
      </p:sp>
    </p:spTree>
    <p:extLst>
      <p:ext uri="{BB962C8B-B14F-4D97-AF65-F5344CB8AC3E}">
        <p14:creationId xmlns:p14="http://schemas.microsoft.com/office/powerpoint/2010/main" val="2784662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Dilation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341091" y="4064237"/>
            <a:ext cx="2976775" cy="2667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41262" y="4502920"/>
            <a:ext cx="21859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ight Arrow 6"/>
          <p:cNvSpPr/>
          <p:nvPr/>
        </p:nvSpPr>
        <p:spPr>
          <a:xfrm>
            <a:off x="4146609" y="5111043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439157" y="1426385"/>
            <a:ext cx="78038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operations consists of convoluting an image A  with some kernel (B), </a:t>
            </a:r>
          </a:p>
          <a:p>
            <a:r>
              <a:rPr lang="en-US" dirty="0"/>
              <a:t>which can have any shape or size, usually a square or circle.</a:t>
            </a: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548041" y="2329776"/>
            <a:ext cx="71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kernel B has a defined </a:t>
            </a:r>
            <a:r>
              <a:rPr lang="en-US" i="1" dirty="0"/>
              <a:t>anchor point</a:t>
            </a:r>
            <a:r>
              <a:rPr lang="en-US" dirty="0"/>
              <a:t>, usually being the center of the kernel.</a:t>
            </a: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548041" y="3335506"/>
            <a:ext cx="81783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As the kernel B  is scanned over the image, we compute the maximal pixel value overlapped by  and replace </a:t>
            </a:r>
          </a:p>
          <a:p>
            <a:r>
              <a:rPr lang="en-US" sz="1200" dirty="0"/>
              <a:t>the image pixel in the anchor point position with that maximal value. As you can deduce, this maximizing operation</a:t>
            </a:r>
          </a:p>
          <a:p>
            <a:r>
              <a:rPr lang="en-US" sz="1200" dirty="0"/>
              <a:t> causes bright regions within an image to “grow therefore name is dilation</a:t>
            </a:r>
          </a:p>
        </p:txBody>
      </p:sp>
    </p:spTree>
    <p:extLst>
      <p:ext uri="{BB962C8B-B14F-4D97-AF65-F5344CB8AC3E}">
        <p14:creationId xmlns:p14="http://schemas.microsoft.com/office/powerpoint/2010/main" val="2171571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Dilation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518" y="1802371"/>
            <a:ext cx="8596668" cy="3880773"/>
          </a:xfrm>
        </p:spPr>
        <p:txBody>
          <a:bodyPr/>
          <a:lstStyle/>
          <a:p>
            <a:pPr>
              <a:buNone/>
            </a:pPr>
            <a:r>
              <a:rPr lang="en-US" sz="2000" dirty="0"/>
              <a:t>     Morphological dilation sets a pixel at (</a:t>
            </a:r>
            <a:r>
              <a:rPr lang="en-US" sz="2000" dirty="0" err="1"/>
              <a:t>i</a:t>
            </a:r>
            <a:r>
              <a:rPr lang="en-US" sz="2000" dirty="0"/>
              <a:t>, j) to the </a:t>
            </a:r>
            <a:r>
              <a:rPr lang="en-US" sz="2000" i="1" dirty="0"/>
              <a:t>maximum over all pixels in the neighborhood centered at (</a:t>
            </a:r>
            <a:r>
              <a:rPr lang="en-US" sz="2000" i="1" dirty="0" err="1"/>
              <a:t>i</a:t>
            </a:r>
            <a:r>
              <a:rPr lang="en-US" sz="2000" i="1" dirty="0"/>
              <a:t>, j)</a:t>
            </a:r>
            <a:r>
              <a:rPr lang="en-US" sz="2000" dirty="0"/>
              <a:t>. Dilation enlarges bright regions and shrinks dark regions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48989" y="3304897"/>
            <a:ext cx="5419725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614765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Dilation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77334" y="1393790"/>
            <a:ext cx="4167914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68440" y="1270000"/>
            <a:ext cx="3962405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5108229" y="3244334"/>
            <a:ext cx="9877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Dilation</a:t>
            </a:r>
          </a:p>
        </p:txBody>
      </p:sp>
    </p:spTree>
    <p:extLst>
      <p:ext uri="{BB962C8B-B14F-4D97-AF65-F5344CB8AC3E}">
        <p14:creationId xmlns:p14="http://schemas.microsoft.com/office/powerpoint/2010/main" val="4080523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Erosion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36434" y="1826137"/>
            <a:ext cx="320040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1060196" y="4067204"/>
            <a:ext cx="78764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basic effect of the operator on a binary image is to erode away the boundaries of regions of foreground pixels (</a:t>
            </a:r>
            <a:r>
              <a:rPr lang="en-US" i="1" dirty="0"/>
              <a:t>i.e.</a:t>
            </a:r>
            <a:r>
              <a:rPr lang="en-US" dirty="0"/>
              <a:t> white pixels, typically). Thus areas of foreground pixels shrink in size, and holes within those areas become larger.</a:t>
            </a:r>
          </a:p>
        </p:txBody>
      </p:sp>
    </p:spTree>
    <p:extLst>
      <p:ext uri="{BB962C8B-B14F-4D97-AF65-F5344CB8AC3E}">
        <p14:creationId xmlns:p14="http://schemas.microsoft.com/office/powerpoint/2010/main" val="111774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erosion operator takes two pieces of data as inputs.</a:t>
            </a:r>
          </a:p>
          <a:p>
            <a:r>
              <a:rPr lang="en-US" dirty="0"/>
              <a:t>The second is a set of coordinate points known as a structuring element (also known as a </a:t>
            </a:r>
            <a:r>
              <a:rPr lang="en-US" i="1" dirty="0"/>
              <a:t>kernel</a:t>
            </a:r>
            <a:r>
              <a:rPr lang="en-US" dirty="0"/>
              <a:t>). It is this structuring element that determines the precise effect of the erosion on the input image.</a:t>
            </a:r>
          </a:p>
        </p:txBody>
      </p:sp>
    </p:spTree>
    <p:extLst>
      <p:ext uri="{BB962C8B-B14F-4D97-AF65-F5344CB8AC3E}">
        <p14:creationId xmlns:p14="http://schemas.microsoft.com/office/powerpoint/2010/main" val="2491357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Erosion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13780" y="2081212"/>
            <a:ext cx="5676900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59269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Erosion</a:t>
            </a:r>
          </a:p>
        </p:txBody>
      </p:sp>
      <p:pic>
        <p:nvPicPr>
          <p:cNvPr id="399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498091" y="4177752"/>
            <a:ext cx="2943830" cy="230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2742" y="4177753"/>
            <a:ext cx="2600319" cy="224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>
            <a:off x="4507616" y="5098713"/>
            <a:ext cx="714380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69985" y="1466490"/>
            <a:ext cx="7845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operation is the sister of dilation. What this does is to compute </a:t>
            </a:r>
          </a:p>
          <a:p>
            <a:r>
              <a:rPr lang="en-US" dirty="0"/>
              <a:t>a local minimum over the area of the kernel.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169985" y="2385232"/>
            <a:ext cx="78519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 the kernel B is scanned over the image, we compute the minimal pixel value overlapped by  and replace the image pixel under the anchor point with that minimal value.</a:t>
            </a:r>
          </a:p>
          <a:p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1292742" y="3170732"/>
            <a:ext cx="784541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erosion operator to the original image (shown below). You can see in the result below that the bright areas of the image</a:t>
            </a:r>
          </a:p>
          <a:p>
            <a:r>
              <a:rPr lang="en-US" sz="1100" dirty="0"/>
              <a:t> (the background, apparently), get thinner, whereas the dark zones  gets bigger.</a:t>
            </a:r>
          </a:p>
        </p:txBody>
      </p:sp>
    </p:spTree>
    <p:extLst>
      <p:ext uri="{BB962C8B-B14F-4D97-AF65-F5344CB8AC3E}">
        <p14:creationId xmlns:p14="http://schemas.microsoft.com/office/powerpoint/2010/main" val="3656020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Erosion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73550" y="1519207"/>
            <a:ext cx="4429124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4988" y="1481142"/>
            <a:ext cx="4286280" cy="5110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2052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Text Box 2"/>
          <p:cNvSpPr txBox="1">
            <a:spLocks noChangeArrowheads="1"/>
          </p:cNvSpPr>
          <p:nvPr/>
        </p:nvSpPr>
        <p:spPr bwMode="auto">
          <a:xfrm>
            <a:off x="869073" y="678484"/>
            <a:ext cx="7611451" cy="64633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Dilation </a:t>
            </a:r>
            <a:r>
              <a:rPr lang="en-US" altLang="zh-TW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and Erosion Dilation</a:t>
            </a:r>
            <a:endParaRPr lang="en-US" altLang="zh-TW" sz="36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46469" name="Rectangle 5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981201" y="1600201"/>
            <a:ext cx="8220075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/>
          </a:bodyPr>
          <a:lstStyle/>
          <a:p>
            <a:r>
              <a:rPr lang="en-US" altLang="zh-TW" sz="2400" dirty="0">
                <a:ea typeface="新細明體" pitchFamily="18" charset="-120"/>
              </a:rPr>
              <a:t>With </a:t>
            </a:r>
            <a:r>
              <a:rPr lang="en-US" altLang="zh-TW" sz="2400" i="1" dirty="0">
                <a:ea typeface="新細明體" pitchFamily="18" charset="-12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 and </a:t>
            </a:r>
            <a:r>
              <a:rPr lang="en-US" altLang="zh-TW" sz="2400" i="1" dirty="0">
                <a:ea typeface="新細明體" pitchFamily="18" charset="-120"/>
              </a:rPr>
              <a:t>B</a:t>
            </a:r>
            <a:r>
              <a:rPr lang="en-US" altLang="zh-TW" sz="2400" dirty="0">
                <a:ea typeface="新細明體" pitchFamily="18" charset="-120"/>
              </a:rPr>
              <a:t> as sets in </a:t>
            </a:r>
            <a:r>
              <a:rPr lang="en-US" altLang="zh-TW" sz="2400" i="1" dirty="0">
                <a:ea typeface="新細明體" pitchFamily="18" charset="-120"/>
              </a:rPr>
              <a:t>Z</a:t>
            </a:r>
            <a:r>
              <a:rPr lang="en-US" altLang="zh-TW" sz="2400" baseline="30000" dirty="0">
                <a:ea typeface="新細明體" pitchFamily="18" charset="-120"/>
              </a:rPr>
              <a:t>2</a:t>
            </a:r>
            <a:r>
              <a:rPr lang="en-US" altLang="zh-TW" sz="2400" dirty="0">
                <a:ea typeface="新細明體" pitchFamily="18" charset="-120"/>
              </a:rPr>
              <a:t>, the dilation of </a:t>
            </a:r>
            <a:r>
              <a:rPr lang="en-US" altLang="zh-TW" sz="2400" i="1" dirty="0">
                <a:ea typeface="新細明體" pitchFamily="18" charset="-12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 by </a:t>
            </a:r>
            <a:r>
              <a:rPr lang="en-US" altLang="zh-TW" sz="2400" i="1" dirty="0">
                <a:ea typeface="新細明體" pitchFamily="18" charset="-120"/>
              </a:rPr>
              <a:t>B</a:t>
            </a:r>
            <a:r>
              <a:rPr lang="en-US" altLang="zh-TW" sz="2400" dirty="0">
                <a:ea typeface="新細明體" pitchFamily="18" charset="-120"/>
              </a:rPr>
              <a:t> is defined as</a:t>
            </a:r>
          </a:p>
          <a:p>
            <a:endParaRPr lang="en-US" altLang="zh-TW" sz="2400" dirty="0">
              <a:ea typeface="新細明體" pitchFamily="18" charset="-120"/>
            </a:endParaRPr>
          </a:p>
          <a:p>
            <a:endParaRPr lang="en-US" altLang="zh-TW" sz="800" dirty="0">
              <a:ea typeface="新細明體" pitchFamily="18" charset="-120"/>
            </a:endParaRPr>
          </a:p>
          <a:p>
            <a:pPr>
              <a:buFontTx/>
              <a:buNone/>
            </a:pPr>
            <a:r>
              <a:rPr lang="en-US" altLang="zh-TW" sz="2400" dirty="0">
                <a:ea typeface="新細明體" pitchFamily="18" charset="-120"/>
              </a:rPr>
              <a:t>    where        : the reflection of </a:t>
            </a:r>
            <a:r>
              <a:rPr lang="en-US" altLang="zh-TW" sz="2400" i="1" dirty="0">
                <a:ea typeface="新細明體" pitchFamily="18" charset="-120"/>
              </a:rPr>
              <a:t>B </a:t>
            </a:r>
            <a:r>
              <a:rPr lang="en-US" altLang="zh-TW" sz="2400" dirty="0">
                <a:ea typeface="新細明體" pitchFamily="18" charset="-120"/>
              </a:rPr>
              <a:t>about its origin and shifting this reflection by</a:t>
            </a:r>
            <a:r>
              <a:rPr lang="en-US" altLang="zh-TW" sz="2400" i="1" dirty="0">
                <a:ea typeface="新細明體" pitchFamily="18" charset="-120"/>
              </a:rPr>
              <a:t> z</a:t>
            </a:r>
          </a:p>
          <a:p>
            <a:r>
              <a:rPr lang="en-US" altLang="zh-TW" sz="2400" dirty="0">
                <a:ea typeface="新細明體" pitchFamily="18" charset="-120"/>
              </a:rPr>
              <a:t>The dilation of </a:t>
            </a:r>
            <a:r>
              <a:rPr lang="en-US" altLang="zh-TW" sz="2400" i="1" dirty="0">
                <a:ea typeface="新細明體" pitchFamily="18" charset="-12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 by </a:t>
            </a:r>
            <a:r>
              <a:rPr lang="en-US" altLang="zh-TW" sz="2400" i="1" dirty="0">
                <a:ea typeface="新細明體" pitchFamily="18" charset="-120"/>
              </a:rPr>
              <a:t>B</a:t>
            </a:r>
            <a:r>
              <a:rPr lang="en-US" altLang="zh-TW" sz="2400" dirty="0">
                <a:ea typeface="新細明體" pitchFamily="18" charset="-120"/>
              </a:rPr>
              <a:t> is the set of all displacements, </a:t>
            </a:r>
            <a:r>
              <a:rPr lang="en-US" altLang="zh-TW" sz="2400" i="1" dirty="0">
                <a:ea typeface="新細明體" pitchFamily="18" charset="-120"/>
              </a:rPr>
              <a:t>z</a:t>
            </a:r>
            <a:r>
              <a:rPr lang="en-US" altLang="zh-TW" sz="2400" dirty="0">
                <a:ea typeface="新細明體" pitchFamily="18" charset="-120"/>
              </a:rPr>
              <a:t>, such that     and </a:t>
            </a:r>
            <a:r>
              <a:rPr lang="en-US" altLang="zh-TW" sz="2400" i="1" dirty="0">
                <a:ea typeface="新細明體" pitchFamily="18" charset="-12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</a:rPr>
              <a:t>overlap by at least one element</a:t>
            </a:r>
            <a:r>
              <a:rPr lang="en-US" altLang="zh-TW" sz="2400" dirty="0">
                <a:ea typeface="新細明體" pitchFamily="18" charset="-120"/>
              </a:rPr>
              <a:t>. Thus,</a:t>
            </a:r>
          </a:p>
          <a:p>
            <a:endParaRPr lang="en-US" altLang="zh-TW" sz="2400" dirty="0">
              <a:ea typeface="新細明體" pitchFamily="18" charset="-120"/>
            </a:endParaRPr>
          </a:p>
          <a:p>
            <a:endParaRPr lang="en-US" altLang="zh-TW" sz="2400" dirty="0">
              <a:ea typeface="新細明體" pitchFamily="18" charset="-120"/>
            </a:endParaRPr>
          </a:p>
          <a:p>
            <a:r>
              <a:rPr lang="en-US" altLang="zh-TW" sz="2400" dirty="0">
                <a:ea typeface="新細明體" pitchFamily="18" charset="-120"/>
              </a:rPr>
              <a:t>Set B is referred to as the </a:t>
            </a:r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</a:rPr>
              <a:t>structuring element</a:t>
            </a:r>
            <a:r>
              <a:rPr lang="en-US" altLang="zh-TW" sz="2400" dirty="0">
                <a:ea typeface="新細明體" pitchFamily="18" charset="-120"/>
              </a:rPr>
              <a:t> in dilation.</a:t>
            </a:r>
          </a:p>
        </p:txBody>
      </p:sp>
      <p:graphicFrame>
        <p:nvGraphicFramePr>
          <p:cNvPr id="446470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01975" y="4376738"/>
          <a:ext cx="37861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701720" imgH="241200" progId="Equation.3">
                  <p:embed/>
                </p:oleObj>
              </mc:Choice>
              <mc:Fallback>
                <p:oleObj name="方程式" r:id="rId2" imgW="1701720" imgH="2412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5" y="4376738"/>
                        <a:ext cx="378618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476" name="Object 12"/>
          <p:cNvGraphicFramePr>
            <a:graphicFrameLocks noChangeAspect="1"/>
          </p:cNvGraphicFramePr>
          <p:nvPr/>
        </p:nvGraphicFramePr>
        <p:xfrm>
          <a:off x="3098800" y="2052639"/>
          <a:ext cx="36195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574640" imgH="241200" progId="Equation.3">
                  <p:embed/>
                </p:oleObj>
              </mc:Choice>
              <mc:Fallback>
                <p:oleObj name="方程式" r:id="rId4" imgW="15746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2052639"/>
                        <a:ext cx="36195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4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497149"/>
              </p:ext>
            </p:extLst>
          </p:nvPr>
        </p:nvGraphicFramePr>
        <p:xfrm>
          <a:off x="3413920" y="2817814"/>
          <a:ext cx="2555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52280" imgH="203040" progId="Equation.3">
                  <p:embed/>
                </p:oleObj>
              </mc:Choice>
              <mc:Fallback>
                <p:oleObj name="方程式" r:id="rId6" imgW="152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920" y="2817814"/>
                        <a:ext cx="25558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64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683443"/>
              </p:ext>
            </p:extLst>
          </p:nvPr>
        </p:nvGraphicFramePr>
        <p:xfrm>
          <a:off x="2971006" y="3979179"/>
          <a:ext cx="2555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152280" imgH="203040" progId="Equation.3">
                  <p:embed/>
                </p:oleObj>
              </mc:Choice>
              <mc:Fallback>
                <p:oleObj name="方程式" r:id="rId8" imgW="152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006" y="3979179"/>
                        <a:ext cx="25558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7484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Text Box 2"/>
          <p:cNvSpPr txBox="1">
            <a:spLocks noChangeArrowheads="1"/>
          </p:cNvSpPr>
          <p:nvPr/>
        </p:nvSpPr>
        <p:spPr bwMode="auto">
          <a:xfrm>
            <a:off x="788894" y="275947"/>
            <a:ext cx="8803341" cy="64633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Dilation and Erosion Dilation</a:t>
            </a:r>
          </a:p>
        </p:txBody>
      </p:sp>
      <p:pic>
        <p:nvPicPr>
          <p:cNvPr id="5939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94" y="1107797"/>
            <a:ext cx="8106432" cy="531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1773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5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61" y="1498243"/>
            <a:ext cx="8247062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8516" name="Text Box 4"/>
          <p:cNvSpPr txBox="1">
            <a:spLocks noChangeArrowheads="1"/>
          </p:cNvSpPr>
          <p:nvPr/>
        </p:nvSpPr>
        <p:spPr bwMode="auto">
          <a:xfrm>
            <a:off x="692161" y="464206"/>
            <a:ext cx="8353227" cy="10156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Dilation and Erosion                              </a:t>
            </a:r>
            <a:r>
              <a:rPr lang="en-US" altLang="zh-TW" sz="24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Dilation Example</a:t>
            </a:r>
          </a:p>
        </p:txBody>
      </p:sp>
      <p:sp>
        <p:nvSpPr>
          <p:cNvPr id="448517" name="Text Box 5"/>
          <p:cNvSpPr txBox="1">
            <a:spLocks noChangeArrowheads="1"/>
          </p:cNvSpPr>
          <p:nvPr/>
        </p:nvSpPr>
        <p:spPr bwMode="auto">
          <a:xfrm>
            <a:off x="3739298" y="5955267"/>
            <a:ext cx="22589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Structuring element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429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Text Box 2"/>
          <p:cNvSpPr txBox="1">
            <a:spLocks noChangeArrowheads="1"/>
          </p:cNvSpPr>
          <p:nvPr/>
        </p:nvSpPr>
        <p:spPr bwMode="auto">
          <a:xfrm>
            <a:off x="1462877" y="557105"/>
            <a:ext cx="4633123" cy="101566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TW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Dilation and Erosion</a:t>
            </a:r>
          </a:p>
          <a:p>
            <a:pPr algn="ctr"/>
            <a:r>
              <a:rPr lang="en-US" altLang="zh-TW" sz="2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Erosion</a:t>
            </a:r>
          </a:p>
        </p:txBody>
      </p:sp>
      <p:sp>
        <p:nvSpPr>
          <p:cNvPr id="599043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981201" y="1600201"/>
            <a:ext cx="8220075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sz="2400" dirty="0">
                <a:ea typeface="新細明體" pitchFamily="18" charset="-120"/>
              </a:rPr>
              <a:t>For sets </a:t>
            </a:r>
            <a:r>
              <a:rPr lang="en-US" altLang="zh-TW" sz="2400" i="1" dirty="0">
                <a:ea typeface="新細明體" pitchFamily="18" charset="-12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 and </a:t>
            </a:r>
            <a:r>
              <a:rPr lang="en-US" altLang="zh-TW" sz="2400" i="1" dirty="0">
                <a:ea typeface="新細明體" pitchFamily="18" charset="-120"/>
              </a:rPr>
              <a:t>B</a:t>
            </a:r>
            <a:r>
              <a:rPr lang="en-US" altLang="zh-TW" sz="2400" dirty="0">
                <a:ea typeface="新細明體" pitchFamily="18" charset="-120"/>
              </a:rPr>
              <a:t> in </a:t>
            </a:r>
            <a:r>
              <a:rPr lang="en-US" altLang="zh-TW" sz="2400" i="1" dirty="0">
                <a:ea typeface="新細明體" pitchFamily="18" charset="-120"/>
              </a:rPr>
              <a:t>Z</a:t>
            </a:r>
            <a:r>
              <a:rPr lang="en-US" altLang="zh-TW" sz="2400" baseline="30000" dirty="0">
                <a:ea typeface="新細明體" pitchFamily="18" charset="-120"/>
              </a:rPr>
              <a:t>2</a:t>
            </a:r>
            <a:r>
              <a:rPr lang="en-US" altLang="zh-TW" sz="2400" dirty="0">
                <a:ea typeface="新細明體" pitchFamily="18" charset="-120"/>
              </a:rPr>
              <a:t>, the erosion of </a:t>
            </a:r>
            <a:r>
              <a:rPr lang="en-US" altLang="zh-TW" sz="2400" i="1" dirty="0">
                <a:ea typeface="新細明體" pitchFamily="18" charset="-12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 by </a:t>
            </a:r>
            <a:r>
              <a:rPr lang="en-US" altLang="zh-TW" sz="2400" i="1" dirty="0">
                <a:ea typeface="新細明體" pitchFamily="18" charset="-120"/>
              </a:rPr>
              <a:t>B</a:t>
            </a:r>
            <a:r>
              <a:rPr lang="en-US" altLang="zh-TW" sz="2400" dirty="0">
                <a:ea typeface="新細明體" pitchFamily="18" charset="-120"/>
              </a:rPr>
              <a:t> is defined as</a:t>
            </a:r>
          </a:p>
          <a:p>
            <a:pPr>
              <a:buFontTx/>
              <a:buNone/>
            </a:pPr>
            <a:r>
              <a:rPr lang="en-US" altLang="zh-TW" sz="2400" dirty="0">
                <a:ea typeface="新細明體" pitchFamily="18" charset="-120"/>
              </a:rPr>
              <a:t>   where        : the reflection of </a:t>
            </a:r>
            <a:r>
              <a:rPr lang="en-US" altLang="zh-TW" sz="2400" i="1" dirty="0">
                <a:ea typeface="新細明體" pitchFamily="18" charset="-120"/>
              </a:rPr>
              <a:t>B </a:t>
            </a:r>
            <a:r>
              <a:rPr lang="en-US" altLang="zh-TW" sz="2400" dirty="0">
                <a:ea typeface="新細明體" pitchFamily="18" charset="-120"/>
              </a:rPr>
              <a:t>about its origin and shifting this reflection by</a:t>
            </a:r>
            <a:r>
              <a:rPr lang="en-US" altLang="zh-TW" sz="2400" i="1" dirty="0">
                <a:ea typeface="新細明體" pitchFamily="18" charset="-120"/>
              </a:rPr>
              <a:t> z</a:t>
            </a:r>
          </a:p>
          <a:p>
            <a:r>
              <a:rPr lang="en-US" altLang="zh-TW" sz="2400" dirty="0">
                <a:ea typeface="新細明體" pitchFamily="18" charset="-120"/>
              </a:rPr>
              <a:t>The erosion of </a:t>
            </a:r>
            <a:r>
              <a:rPr lang="en-US" altLang="zh-TW" sz="2400" i="1" dirty="0">
                <a:ea typeface="新細明體" pitchFamily="18" charset="-12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 by </a:t>
            </a:r>
            <a:r>
              <a:rPr lang="en-US" altLang="zh-TW" sz="2400" i="1" dirty="0">
                <a:ea typeface="新細明體" pitchFamily="18" charset="-120"/>
              </a:rPr>
              <a:t>B</a:t>
            </a:r>
            <a:r>
              <a:rPr lang="en-US" altLang="zh-TW" sz="2400" dirty="0">
                <a:ea typeface="新細明體" pitchFamily="18" charset="-120"/>
              </a:rPr>
              <a:t> is the set of all points </a:t>
            </a:r>
            <a:r>
              <a:rPr lang="en-US" altLang="zh-TW" sz="2400" i="1" dirty="0">
                <a:ea typeface="新細明體" pitchFamily="18" charset="-120"/>
              </a:rPr>
              <a:t>z</a:t>
            </a:r>
            <a:r>
              <a:rPr lang="en-US" altLang="zh-TW" sz="2400" dirty="0">
                <a:ea typeface="新細明體" pitchFamily="18" charset="-120"/>
              </a:rPr>
              <a:t>, such that </a:t>
            </a:r>
            <a:r>
              <a:rPr lang="en-US" altLang="zh-TW" sz="2400" i="1" dirty="0">
                <a:ea typeface="新細明體" pitchFamily="18" charset="-120"/>
              </a:rPr>
              <a:t>B</a:t>
            </a:r>
            <a:r>
              <a:rPr lang="en-US" altLang="zh-TW" sz="2400" dirty="0">
                <a:ea typeface="新細明體" pitchFamily="18" charset="-120"/>
              </a:rPr>
              <a:t>, translated by </a:t>
            </a:r>
            <a:r>
              <a:rPr lang="en-US" altLang="zh-TW" sz="2400" i="1" dirty="0">
                <a:ea typeface="新細明體" pitchFamily="18" charset="-120"/>
              </a:rPr>
              <a:t>z</a:t>
            </a:r>
            <a:r>
              <a:rPr lang="en-US" altLang="zh-TW" sz="2400" dirty="0">
                <a:ea typeface="新細明體" pitchFamily="18" charset="-120"/>
              </a:rPr>
              <a:t> is contained in </a:t>
            </a:r>
            <a:r>
              <a:rPr lang="en-US" altLang="zh-TW" sz="2400" i="1" dirty="0">
                <a:ea typeface="新細明體" pitchFamily="18" charset="-12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.     </a:t>
            </a:r>
          </a:p>
          <a:p>
            <a:endParaRPr lang="en-US" altLang="zh-TW" sz="2400" dirty="0">
              <a:ea typeface="新細明體" pitchFamily="18" charset="-120"/>
            </a:endParaRPr>
          </a:p>
        </p:txBody>
      </p:sp>
      <p:graphicFrame>
        <p:nvGraphicFramePr>
          <p:cNvPr id="59904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41638" y="4210050"/>
          <a:ext cx="2492375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117440" imgH="241200" progId="Equation.3">
                  <p:embed/>
                </p:oleObj>
              </mc:Choice>
              <mc:Fallback>
                <p:oleObj name="方程式" r:id="rId2" imgW="1117440" imgH="2412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4210050"/>
                        <a:ext cx="2492375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9045" name="Object 5"/>
          <p:cNvGraphicFramePr>
            <a:graphicFrameLocks noChangeAspect="1"/>
          </p:cNvGraphicFramePr>
          <p:nvPr/>
        </p:nvGraphicFramePr>
        <p:xfrm>
          <a:off x="3389313" y="2038351"/>
          <a:ext cx="2976562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295280" imgH="241200" progId="Equation.3">
                  <p:embed/>
                </p:oleObj>
              </mc:Choice>
              <mc:Fallback>
                <p:oleObj name="方程式" r:id="rId4" imgW="12952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3" y="2038351"/>
                        <a:ext cx="2976562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9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328480"/>
              </p:ext>
            </p:extLst>
          </p:nvPr>
        </p:nvGraphicFramePr>
        <p:xfrm>
          <a:off x="3389313" y="2504282"/>
          <a:ext cx="2555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152280" imgH="203040" progId="Equation.3">
                  <p:embed/>
                </p:oleObj>
              </mc:Choice>
              <mc:Fallback>
                <p:oleObj name="方程式" r:id="rId6" imgW="152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3" y="2504282"/>
                        <a:ext cx="25558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9051" name="Object 11"/>
          <p:cNvGraphicFramePr>
            <a:graphicFrameLocks noChangeAspect="1"/>
          </p:cNvGraphicFramePr>
          <p:nvPr/>
        </p:nvGraphicFramePr>
        <p:xfrm>
          <a:off x="3038475" y="4910138"/>
          <a:ext cx="4827588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2514600" imgH="787320" progId="Equation.3">
                  <p:embed/>
                </p:oleObj>
              </mc:Choice>
              <mc:Fallback>
                <p:oleObj name="方程式" r:id="rId8" imgW="2514600" imgH="787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475" y="4910138"/>
                        <a:ext cx="4827588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16326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547" y="1288924"/>
            <a:ext cx="7061759" cy="553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564" name="Text Box 4"/>
          <p:cNvSpPr txBox="1">
            <a:spLocks noChangeArrowheads="1"/>
          </p:cNvSpPr>
          <p:nvPr/>
        </p:nvSpPr>
        <p:spPr bwMode="auto">
          <a:xfrm>
            <a:off x="1987629" y="211706"/>
            <a:ext cx="4315604" cy="107721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TW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Dilation and Erosion</a:t>
            </a:r>
          </a:p>
          <a:p>
            <a:pPr algn="ctr"/>
            <a:r>
              <a:rPr lang="en-US" altLang="zh-TW" sz="28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Erosion</a:t>
            </a:r>
          </a:p>
        </p:txBody>
      </p:sp>
    </p:spTree>
    <p:extLst>
      <p:ext uri="{BB962C8B-B14F-4D97-AF65-F5344CB8AC3E}">
        <p14:creationId xmlns:p14="http://schemas.microsoft.com/office/powerpoint/2010/main" val="136582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6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19" y="1910041"/>
            <a:ext cx="8698940" cy="405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2612" name="Text Box 4"/>
          <p:cNvSpPr txBox="1">
            <a:spLocks noChangeArrowheads="1"/>
          </p:cNvSpPr>
          <p:nvPr/>
        </p:nvSpPr>
        <p:spPr bwMode="auto">
          <a:xfrm>
            <a:off x="2130425" y="346077"/>
            <a:ext cx="4315604" cy="95410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TW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Dilation and Erosion</a:t>
            </a:r>
          </a:p>
          <a:p>
            <a:pPr algn="ctr"/>
            <a:r>
              <a:rPr lang="en-US" altLang="zh-TW" sz="20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Erosion Example</a:t>
            </a:r>
          </a:p>
        </p:txBody>
      </p:sp>
    </p:spTree>
    <p:extLst>
      <p:ext uri="{BB962C8B-B14F-4D97-AF65-F5344CB8AC3E}">
        <p14:creationId xmlns:p14="http://schemas.microsoft.com/office/powerpoint/2010/main" val="3703480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600" y="1721319"/>
            <a:ext cx="9562135" cy="3880773"/>
          </a:xfrm>
        </p:spPr>
        <p:txBody>
          <a:bodyPr/>
          <a:lstStyle/>
          <a:p>
            <a:r>
              <a:rPr lang="en-US" dirty="0"/>
              <a:t>It is obtained by the erosion of an image followed by a dilation.</a:t>
            </a:r>
          </a:p>
          <a:p>
            <a:pPr>
              <a:buNone/>
            </a:pPr>
            <a:r>
              <a:rPr lang="en-US" dirty="0"/>
              <a:t> 	The basic effect of an opening is somewhat like erosion in that it tends to remove some of the foreground (bright) pixels from the edges of regions of foreground pixels.</a:t>
            </a:r>
          </a:p>
          <a:p>
            <a:pPr>
              <a:buNone/>
            </a:pPr>
            <a:r>
              <a:rPr lang="en-US" b="1" dirty="0"/>
              <a:t>     Opening can remove small bright spots and connect small dark cracks.</a:t>
            </a:r>
          </a:p>
        </p:txBody>
      </p:sp>
    </p:spTree>
    <p:extLst>
      <p:ext uri="{BB962C8B-B14F-4D97-AF65-F5344CB8AC3E}">
        <p14:creationId xmlns:p14="http://schemas.microsoft.com/office/powerpoint/2010/main" val="660862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Opening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0068" y="1786105"/>
            <a:ext cx="572452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695004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67530"/>
            <a:ext cx="8596668" cy="3880773"/>
          </a:xfrm>
        </p:spPr>
        <p:txBody>
          <a:bodyPr/>
          <a:lstStyle/>
          <a:p>
            <a:r>
              <a:rPr lang="en-US" sz="2400" dirty="0"/>
              <a:t>Morphological closing on an image is defined as a </a:t>
            </a:r>
            <a:r>
              <a:rPr lang="en-US" sz="2400" i="1" dirty="0"/>
              <a:t>dilation followed by an erosion</a:t>
            </a:r>
            <a:r>
              <a:rPr lang="en-US" sz="2400" dirty="0"/>
              <a:t>. Closing can remove small dark spots and connect small bright cracks</a:t>
            </a:r>
            <a:r>
              <a:rPr lang="en-US" dirty="0"/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6688" y="3134284"/>
            <a:ext cx="6292960" cy="328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28026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066" name="Text Box 2"/>
          <p:cNvSpPr txBox="1">
            <a:spLocks noChangeArrowheads="1"/>
          </p:cNvSpPr>
          <p:nvPr/>
        </p:nvSpPr>
        <p:spPr bwMode="auto">
          <a:xfrm>
            <a:off x="1812478" y="335648"/>
            <a:ext cx="4363695" cy="64633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Opening and Closing</a:t>
            </a:r>
          </a:p>
        </p:txBody>
      </p:sp>
      <p:sp>
        <p:nvSpPr>
          <p:cNvPr id="60006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960438" y="1600199"/>
            <a:ext cx="8220075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</a:rPr>
              <a:t>Opening:</a:t>
            </a:r>
          </a:p>
          <a:p>
            <a:pPr lvl="1"/>
            <a:r>
              <a:rPr lang="en-US" altLang="zh-TW" sz="2000" dirty="0">
                <a:ea typeface="新細明體" pitchFamily="18" charset="-120"/>
              </a:rPr>
              <a:t>smooth the contour of an object, break narrow isthmuses, and eliminate thin protrusions.</a:t>
            </a:r>
          </a:p>
          <a:p>
            <a:pPr lvl="1"/>
            <a:r>
              <a:rPr lang="en-US" altLang="zh-TW" sz="2000" dirty="0">
                <a:ea typeface="新細明體" pitchFamily="18" charset="-120"/>
              </a:rPr>
              <a:t>The opening </a:t>
            </a:r>
            <a:r>
              <a:rPr lang="en-US" altLang="zh-TW" sz="2000" i="1" dirty="0">
                <a:ea typeface="新細明體" pitchFamily="18" charset="-120"/>
              </a:rPr>
              <a:t>A</a:t>
            </a:r>
            <a:r>
              <a:rPr lang="en-US" altLang="zh-TW" sz="2000" dirty="0">
                <a:ea typeface="新細明體" pitchFamily="18" charset="-120"/>
              </a:rPr>
              <a:t> by </a:t>
            </a:r>
            <a:r>
              <a:rPr lang="en-US" altLang="zh-TW" sz="2000" i="1" dirty="0">
                <a:ea typeface="新細明體" pitchFamily="18" charset="-120"/>
              </a:rPr>
              <a:t>B</a:t>
            </a:r>
            <a:r>
              <a:rPr lang="en-US" altLang="zh-TW" sz="2000" dirty="0">
                <a:ea typeface="新細明體" pitchFamily="18" charset="-120"/>
              </a:rPr>
              <a:t> is the erosion of </a:t>
            </a:r>
            <a:r>
              <a:rPr lang="en-US" altLang="zh-TW" sz="2000" i="1" dirty="0">
                <a:ea typeface="新細明體" pitchFamily="18" charset="-120"/>
              </a:rPr>
              <a:t>A</a:t>
            </a:r>
            <a:r>
              <a:rPr lang="en-US" altLang="zh-TW" sz="2000" dirty="0">
                <a:ea typeface="新細明體" pitchFamily="18" charset="-120"/>
              </a:rPr>
              <a:t> by </a:t>
            </a:r>
            <a:r>
              <a:rPr lang="en-US" altLang="zh-TW" sz="2000" i="1" dirty="0">
                <a:ea typeface="新細明體" pitchFamily="18" charset="-120"/>
              </a:rPr>
              <a:t>B</a:t>
            </a:r>
            <a:r>
              <a:rPr lang="en-US" altLang="zh-TW" sz="2000" dirty="0">
                <a:ea typeface="新細明體" pitchFamily="18" charset="-120"/>
              </a:rPr>
              <a:t>, followed by a dilation of the result by </a:t>
            </a:r>
            <a:r>
              <a:rPr lang="en-US" altLang="zh-TW" sz="2000" i="1" dirty="0">
                <a:ea typeface="新細明體" pitchFamily="18" charset="-120"/>
              </a:rPr>
              <a:t>B</a:t>
            </a:r>
          </a:p>
          <a:p>
            <a:pPr lvl="1"/>
            <a:endParaRPr lang="en-US" altLang="zh-TW" sz="2000" i="1" dirty="0">
              <a:ea typeface="新細明體" pitchFamily="18" charset="-120"/>
            </a:endParaRPr>
          </a:p>
          <a:p>
            <a:endParaRPr lang="en-US" altLang="zh-TW" sz="2000" dirty="0">
              <a:ea typeface="新細明體" pitchFamily="18" charset="-120"/>
            </a:endParaRPr>
          </a:p>
          <a:p>
            <a:endParaRPr lang="en-US" altLang="zh-TW" sz="2000" dirty="0">
              <a:ea typeface="新細明體" pitchFamily="18" charset="-120"/>
            </a:endParaRPr>
          </a:p>
          <a:p>
            <a:r>
              <a:rPr lang="en-US" altLang="zh-TW" sz="2400" dirty="0">
                <a:solidFill>
                  <a:srgbClr val="FF0000"/>
                </a:solidFill>
                <a:ea typeface="新細明體" pitchFamily="18" charset="-120"/>
              </a:rPr>
              <a:t>Closing:</a:t>
            </a:r>
          </a:p>
          <a:p>
            <a:pPr lvl="1"/>
            <a:r>
              <a:rPr lang="en-US" altLang="zh-TW" sz="2000" dirty="0">
                <a:ea typeface="新細明體" pitchFamily="18" charset="-120"/>
              </a:rPr>
              <a:t>smooth sections of contours but it generally fuses narrow breaks and long thing gulfs, eliminates small holes, and fills gaps in the contour.</a:t>
            </a:r>
            <a:endParaRPr lang="en-US" altLang="zh-TW" sz="600" dirty="0">
              <a:ea typeface="新細明體" pitchFamily="18" charset="-120"/>
            </a:endParaRPr>
          </a:p>
          <a:p>
            <a:pPr>
              <a:buFontTx/>
              <a:buNone/>
            </a:pPr>
            <a:r>
              <a:rPr lang="en-US" altLang="zh-TW" sz="2000" dirty="0">
                <a:ea typeface="新細明體" pitchFamily="18" charset="-120"/>
              </a:rPr>
              <a:t>    </a:t>
            </a:r>
          </a:p>
        </p:txBody>
      </p:sp>
      <p:graphicFrame>
        <p:nvGraphicFramePr>
          <p:cNvPr id="600073" name="Object 9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658769113"/>
              </p:ext>
            </p:extLst>
          </p:nvPr>
        </p:nvGraphicFramePr>
        <p:xfrm>
          <a:off x="3182938" y="5637213"/>
          <a:ext cx="28733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193760" imgH="203040" progId="Equation.3">
                  <p:embed/>
                </p:oleObj>
              </mc:Choice>
              <mc:Fallback>
                <p:oleObj name="方程式" r:id="rId2" imgW="1193760" imgH="20304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2938" y="5637213"/>
                        <a:ext cx="28733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00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374210"/>
              </p:ext>
            </p:extLst>
          </p:nvPr>
        </p:nvGraphicFramePr>
        <p:xfrm>
          <a:off x="3202781" y="3365498"/>
          <a:ext cx="3735388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625400" imgH="431640" progId="Equation.3">
                  <p:embed/>
                </p:oleObj>
              </mc:Choice>
              <mc:Fallback>
                <p:oleObj name="方程式" r:id="rId4" imgW="1625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2781" y="3365498"/>
                        <a:ext cx="3735388" cy="995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7666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Text Box 2"/>
          <p:cNvSpPr txBox="1">
            <a:spLocks noChangeArrowheads="1"/>
          </p:cNvSpPr>
          <p:nvPr/>
        </p:nvSpPr>
        <p:spPr bwMode="auto">
          <a:xfrm>
            <a:off x="627529" y="329734"/>
            <a:ext cx="8648445" cy="113877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Opening and Closing </a:t>
            </a:r>
          </a:p>
          <a:p>
            <a:pPr defTabSz="457200">
              <a:spcBef>
                <a:spcPct val="0"/>
              </a:spcBef>
            </a:pPr>
            <a:r>
              <a:rPr lang="en-US" altLang="zh-TW" sz="3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Opening</a:t>
            </a:r>
          </a:p>
        </p:txBody>
      </p:sp>
      <p:pic>
        <p:nvPicPr>
          <p:cNvPr id="4546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226" y="1921957"/>
            <a:ext cx="7834312" cy="399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4558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7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90" y="2158351"/>
            <a:ext cx="8026400" cy="3233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6709" name="Text Box 5"/>
          <p:cNvSpPr txBox="1">
            <a:spLocks noChangeArrowheads="1"/>
          </p:cNvSpPr>
          <p:nvPr/>
        </p:nvSpPr>
        <p:spPr bwMode="auto">
          <a:xfrm>
            <a:off x="1356967" y="437311"/>
            <a:ext cx="4363695" cy="120032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Opening and Closing</a:t>
            </a:r>
          </a:p>
          <a:p>
            <a:pPr defTabSz="457200">
              <a:spcBef>
                <a:spcPct val="0"/>
              </a:spcBef>
            </a:pPr>
            <a:r>
              <a:rPr lang="en-US" altLang="zh-TW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Closing</a:t>
            </a:r>
          </a:p>
        </p:txBody>
      </p:sp>
    </p:spTree>
    <p:extLst>
      <p:ext uri="{BB962C8B-B14F-4D97-AF65-F5344CB8AC3E}">
        <p14:creationId xmlns:p14="http://schemas.microsoft.com/office/powerpoint/2010/main" val="36436617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6" name="Text Box 4"/>
          <p:cNvSpPr txBox="1">
            <a:spLocks noChangeArrowheads="1"/>
          </p:cNvSpPr>
          <p:nvPr/>
        </p:nvSpPr>
        <p:spPr bwMode="auto">
          <a:xfrm>
            <a:off x="1757196" y="266982"/>
            <a:ext cx="4363695" cy="1138773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Opening and Closing</a:t>
            </a:r>
          </a:p>
          <a:p>
            <a:pPr defTabSz="457200">
              <a:spcBef>
                <a:spcPct val="0"/>
              </a:spcBef>
            </a:pPr>
            <a:r>
              <a:rPr lang="en-US" altLang="zh-TW" sz="3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Opening Example</a:t>
            </a:r>
          </a:p>
        </p:txBody>
      </p:sp>
      <p:graphicFrame>
        <p:nvGraphicFramePr>
          <p:cNvPr id="4587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786224"/>
              </p:ext>
            </p:extLst>
          </p:nvPr>
        </p:nvGraphicFramePr>
        <p:xfrm>
          <a:off x="716686" y="1779196"/>
          <a:ext cx="8528050" cy="454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9511111" imgH="5066667" progId="Photoshop.Image.8">
                  <p:embed/>
                </p:oleObj>
              </mc:Choice>
              <mc:Fallback>
                <p:oleObj name="Image" r:id="rId2" imgW="9511111" imgH="5066667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686" y="1779196"/>
                        <a:ext cx="8528050" cy="454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72613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1" name="Text Box 3"/>
          <p:cNvSpPr txBox="1">
            <a:spLocks noChangeArrowheads="1"/>
          </p:cNvSpPr>
          <p:nvPr/>
        </p:nvSpPr>
        <p:spPr bwMode="auto">
          <a:xfrm>
            <a:off x="1676603" y="392868"/>
            <a:ext cx="4363695" cy="107721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Opening and Closing</a:t>
            </a:r>
          </a:p>
          <a:p>
            <a:pPr defTabSz="457200">
              <a:spcBef>
                <a:spcPct val="0"/>
              </a:spcBef>
            </a:pPr>
            <a:r>
              <a:rPr lang="en-US" altLang="zh-TW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Closing Example</a:t>
            </a:r>
          </a:p>
        </p:txBody>
      </p:sp>
      <p:graphicFrame>
        <p:nvGraphicFramePr>
          <p:cNvPr id="601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575662"/>
              </p:ext>
            </p:extLst>
          </p:nvPr>
        </p:nvGraphicFramePr>
        <p:xfrm>
          <a:off x="3235980" y="2922775"/>
          <a:ext cx="5608637" cy="326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6463492" imgH="3758730" progId="Photoshop.Image.8">
                  <p:embed/>
                </p:oleObj>
              </mc:Choice>
              <mc:Fallback>
                <p:oleObj name="Image" r:id="rId2" imgW="6463492" imgH="3758730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980" y="2922775"/>
                        <a:ext cx="5608637" cy="326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1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07349"/>
              </p:ext>
            </p:extLst>
          </p:nvPr>
        </p:nvGraphicFramePr>
        <p:xfrm>
          <a:off x="685427" y="1668463"/>
          <a:ext cx="1654175" cy="425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4" imgW="1853315" imgH="4761905" progId="Photoshop.Image.8">
                  <p:embed/>
                </p:oleObj>
              </mc:Choice>
              <mc:Fallback>
                <p:oleObj name="Image" r:id="rId4" imgW="1853315" imgH="4761905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427" y="1668463"/>
                        <a:ext cx="1654175" cy="425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10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855311"/>
              </p:ext>
            </p:extLst>
          </p:nvPr>
        </p:nvGraphicFramePr>
        <p:xfrm>
          <a:off x="4292695" y="1668463"/>
          <a:ext cx="2657475" cy="134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6" imgW="3212698" imgH="1624824" progId="Photoshop.Image.8">
                  <p:embed/>
                </p:oleObj>
              </mc:Choice>
              <mc:Fallback>
                <p:oleObj name="Image" r:id="rId6" imgW="3212698" imgH="1624824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95" y="1668463"/>
                        <a:ext cx="2657475" cy="1344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8004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Text Box 2"/>
          <p:cNvSpPr txBox="1">
            <a:spLocks noChangeArrowheads="1"/>
          </p:cNvSpPr>
          <p:nvPr/>
        </p:nvSpPr>
        <p:spPr bwMode="auto">
          <a:xfrm>
            <a:off x="1562445" y="409807"/>
            <a:ext cx="4363695" cy="64633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Opening and Closing</a:t>
            </a:r>
          </a:p>
        </p:txBody>
      </p:sp>
      <p:sp>
        <p:nvSpPr>
          <p:cNvPr id="602115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831975" y="1600201"/>
            <a:ext cx="8580438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en-US" altLang="zh-TW" sz="2800" dirty="0">
                <a:ea typeface="新細明體" pitchFamily="18" charset="-120"/>
              </a:rPr>
              <a:t>The opening operation satisfies the following properties: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          is a subset (</a:t>
            </a:r>
            <a:r>
              <a:rPr lang="en-US" altLang="zh-TW" sz="2400" dirty="0" err="1">
                <a:ea typeface="新細明體" pitchFamily="18" charset="-120"/>
              </a:rPr>
              <a:t>subimage</a:t>
            </a:r>
            <a:r>
              <a:rPr lang="en-US" altLang="zh-TW" sz="2400" dirty="0">
                <a:ea typeface="新細明體" pitchFamily="18" charset="-120"/>
              </a:rPr>
              <a:t>) of </a:t>
            </a:r>
            <a:r>
              <a:rPr lang="en-US" altLang="zh-TW" sz="2400" i="1" dirty="0">
                <a:ea typeface="新細明體" pitchFamily="18" charset="-12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If </a:t>
            </a:r>
            <a:r>
              <a:rPr lang="en-US" altLang="zh-TW" sz="2400" i="1" dirty="0">
                <a:ea typeface="新細明體" pitchFamily="18" charset="-120"/>
              </a:rPr>
              <a:t>C </a:t>
            </a:r>
            <a:r>
              <a:rPr lang="en-US" altLang="zh-TW" sz="2400" dirty="0">
                <a:ea typeface="新細明體" pitchFamily="18" charset="-120"/>
              </a:rPr>
              <a:t>is a subset of</a:t>
            </a:r>
            <a:r>
              <a:rPr lang="en-US" altLang="zh-TW" sz="2400" i="1" dirty="0">
                <a:ea typeface="新細明體" pitchFamily="18" charset="-120"/>
              </a:rPr>
              <a:t> D</a:t>
            </a:r>
            <a:r>
              <a:rPr lang="en-US" altLang="zh-TW" sz="2400" dirty="0">
                <a:ea typeface="新細明體" pitchFamily="18" charset="-120"/>
              </a:rPr>
              <a:t>, then           is a subset of</a:t>
            </a:r>
            <a:r>
              <a:rPr lang="en-US" altLang="zh-TW" sz="2400" i="1" dirty="0">
                <a:ea typeface="新細明體" pitchFamily="18" charset="-120"/>
              </a:rPr>
              <a:t>           .</a:t>
            </a:r>
          </a:p>
          <a:p>
            <a:pPr lvl="1"/>
            <a:r>
              <a:rPr lang="en-US" altLang="zh-TW" sz="2000" dirty="0">
                <a:ea typeface="新細明體" pitchFamily="18" charset="-120"/>
              </a:rPr>
              <a:t> </a:t>
            </a:r>
          </a:p>
          <a:p>
            <a:pPr lvl="1"/>
            <a:endParaRPr lang="en-US" altLang="zh-TW" sz="20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The closing operation satisfies the following properties:</a:t>
            </a:r>
          </a:p>
          <a:p>
            <a:pPr lvl="1"/>
            <a:r>
              <a:rPr lang="en-US" altLang="zh-TW" sz="2400" i="1" dirty="0">
                <a:ea typeface="新細明體" pitchFamily="18" charset="-120"/>
              </a:rPr>
              <a:t>A</a:t>
            </a:r>
            <a:r>
              <a:rPr lang="en-US" altLang="zh-TW" sz="2400" dirty="0">
                <a:ea typeface="新細明體" pitchFamily="18" charset="-120"/>
              </a:rPr>
              <a:t> is a subset (</a:t>
            </a:r>
            <a:r>
              <a:rPr lang="en-US" altLang="zh-TW" sz="2400" dirty="0" err="1">
                <a:ea typeface="新細明體" pitchFamily="18" charset="-120"/>
              </a:rPr>
              <a:t>subimage</a:t>
            </a:r>
            <a:r>
              <a:rPr lang="en-US" altLang="zh-TW" sz="2400" dirty="0">
                <a:ea typeface="新細明體" pitchFamily="18" charset="-120"/>
              </a:rPr>
              <a:t>) of            .</a:t>
            </a:r>
          </a:p>
          <a:p>
            <a:pPr lvl="1"/>
            <a:r>
              <a:rPr lang="en-US" altLang="zh-TW" sz="2400" dirty="0">
                <a:ea typeface="新細明體" pitchFamily="18" charset="-120"/>
              </a:rPr>
              <a:t>If </a:t>
            </a:r>
            <a:r>
              <a:rPr lang="en-US" altLang="zh-TW" sz="2400" i="1" dirty="0">
                <a:ea typeface="新細明體" pitchFamily="18" charset="-120"/>
              </a:rPr>
              <a:t>C </a:t>
            </a:r>
            <a:r>
              <a:rPr lang="en-US" altLang="zh-TW" sz="2400" dirty="0">
                <a:ea typeface="新細明體" pitchFamily="18" charset="-120"/>
              </a:rPr>
              <a:t>is a subset of</a:t>
            </a:r>
            <a:r>
              <a:rPr lang="en-US" altLang="zh-TW" sz="2400" i="1" dirty="0">
                <a:ea typeface="新細明體" pitchFamily="18" charset="-120"/>
              </a:rPr>
              <a:t> D</a:t>
            </a:r>
            <a:r>
              <a:rPr lang="en-US" altLang="zh-TW" sz="2400" dirty="0">
                <a:ea typeface="新細明體" pitchFamily="18" charset="-120"/>
              </a:rPr>
              <a:t>, then           is a subset of</a:t>
            </a:r>
            <a:r>
              <a:rPr lang="en-US" altLang="zh-TW" sz="2400" i="1" dirty="0">
                <a:ea typeface="新細明體" pitchFamily="18" charset="-120"/>
              </a:rPr>
              <a:t>           .</a:t>
            </a:r>
          </a:p>
          <a:p>
            <a:pPr lvl="1"/>
            <a:r>
              <a:rPr lang="en-US" altLang="zh-TW" sz="2000" dirty="0">
                <a:ea typeface="新細明體" pitchFamily="18" charset="-120"/>
              </a:rPr>
              <a:t> </a:t>
            </a:r>
          </a:p>
        </p:txBody>
      </p:sp>
      <p:graphicFrame>
        <p:nvGraphicFramePr>
          <p:cNvPr id="602128" name="Object 1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718465749"/>
              </p:ext>
            </p:extLst>
          </p:nvPr>
        </p:nvGraphicFramePr>
        <p:xfrm>
          <a:off x="2689225" y="5722938"/>
          <a:ext cx="2608263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155600" imgH="203040" progId="Equation.3">
                  <p:embed/>
                </p:oleObj>
              </mc:Choice>
              <mc:Fallback>
                <p:oleObj name="方程式" r:id="rId2" imgW="1155600" imgH="20304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5" y="5722938"/>
                        <a:ext cx="2608263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2118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452801696"/>
              </p:ext>
            </p:extLst>
          </p:nvPr>
        </p:nvGraphicFramePr>
        <p:xfrm>
          <a:off x="2690813" y="2435225"/>
          <a:ext cx="7524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355320" imgH="164880" progId="Equation.3">
                  <p:embed/>
                </p:oleObj>
              </mc:Choice>
              <mc:Fallback>
                <p:oleObj name="方程式" r:id="rId4" imgW="355320" imgH="16488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0813" y="2435225"/>
                        <a:ext cx="752475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2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326434"/>
              </p:ext>
            </p:extLst>
          </p:nvPr>
        </p:nvGraphicFramePr>
        <p:xfrm>
          <a:off x="8416833" y="2834715"/>
          <a:ext cx="8445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368280" imgH="164880" progId="Equation.3">
                  <p:embed/>
                </p:oleObj>
              </mc:Choice>
              <mc:Fallback>
                <p:oleObj name="方程式" r:id="rId6" imgW="3682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6833" y="2834715"/>
                        <a:ext cx="84455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21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362784"/>
              </p:ext>
            </p:extLst>
          </p:nvPr>
        </p:nvGraphicFramePr>
        <p:xfrm>
          <a:off x="2689226" y="3262314"/>
          <a:ext cx="259397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1130040" imgH="203040" progId="Equation.3">
                  <p:embed/>
                </p:oleObj>
              </mc:Choice>
              <mc:Fallback>
                <p:oleObj name="方程式" r:id="rId8" imgW="113004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6" y="3262314"/>
                        <a:ext cx="2593975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21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82098"/>
              </p:ext>
            </p:extLst>
          </p:nvPr>
        </p:nvGraphicFramePr>
        <p:xfrm>
          <a:off x="5869782" y="2861002"/>
          <a:ext cx="744538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0" imgW="355320" imgH="177480" progId="Equation.3">
                  <p:embed/>
                </p:oleObj>
              </mc:Choice>
              <mc:Fallback>
                <p:oleObj name="方程式" r:id="rId10" imgW="3553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9782" y="2861002"/>
                        <a:ext cx="744538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21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525001"/>
              </p:ext>
            </p:extLst>
          </p:nvPr>
        </p:nvGraphicFramePr>
        <p:xfrm>
          <a:off x="6122194" y="4895152"/>
          <a:ext cx="782637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2" imgW="368280" imgH="164880" progId="Equation.3">
                  <p:embed/>
                </p:oleObj>
              </mc:Choice>
              <mc:Fallback>
                <p:oleObj name="方程式" r:id="rId12" imgW="3682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2194" y="4895152"/>
                        <a:ext cx="782637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21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1006781"/>
              </p:ext>
            </p:extLst>
          </p:nvPr>
        </p:nvGraphicFramePr>
        <p:xfrm>
          <a:off x="5926140" y="5347495"/>
          <a:ext cx="771525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4" imgW="368280" imgH="177480" progId="Equation.3">
                  <p:embed/>
                </p:oleObj>
              </mc:Choice>
              <mc:Fallback>
                <p:oleObj name="方程式" r:id="rId14" imgW="36828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6140" y="5347495"/>
                        <a:ext cx="771525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21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5291644"/>
              </p:ext>
            </p:extLst>
          </p:nvPr>
        </p:nvGraphicFramePr>
        <p:xfrm>
          <a:off x="8462870" y="5374482"/>
          <a:ext cx="79851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16" imgW="380880" imgH="164880" progId="Equation.3">
                  <p:embed/>
                </p:oleObj>
              </mc:Choice>
              <mc:Fallback>
                <p:oleObj name="方程式" r:id="rId16" imgW="3808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2870" y="5374482"/>
                        <a:ext cx="798513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76019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155" y="1305766"/>
            <a:ext cx="7269162" cy="535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0804" name="Text Box 4"/>
          <p:cNvSpPr txBox="1">
            <a:spLocks noChangeArrowheads="1"/>
          </p:cNvSpPr>
          <p:nvPr/>
        </p:nvSpPr>
        <p:spPr bwMode="auto">
          <a:xfrm>
            <a:off x="1916414" y="254373"/>
            <a:ext cx="4363695" cy="64633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6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Opening and Closing</a:t>
            </a:r>
          </a:p>
        </p:txBody>
      </p:sp>
    </p:spTree>
    <p:extLst>
      <p:ext uri="{BB962C8B-B14F-4D97-AF65-F5344CB8AC3E}">
        <p14:creationId xmlns:p14="http://schemas.microsoft.com/office/powerpoint/2010/main" val="34621072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Text Box 2"/>
          <p:cNvSpPr txBox="1">
            <a:spLocks noChangeArrowheads="1"/>
          </p:cNvSpPr>
          <p:nvPr/>
        </p:nvSpPr>
        <p:spPr bwMode="auto">
          <a:xfrm>
            <a:off x="1250451" y="277617"/>
            <a:ext cx="5861285" cy="5847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The Hit-or-Miss Transformation</a:t>
            </a:r>
          </a:p>
        </p:txBody>
      </p:sp>
      <p:pic>
        <p:nvPicPr>
          <p:cNvPr id="4628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279" y="1920783"/>
            <a:ext cx="1563626" cy="46123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628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743994"/>
              </p:ext>
            </p:extLst>
          </p:nvPr>
        </p:nvGraphicFramePr>
        <p:xfrm>
          <a:off x="596045" y="1732524"/>
          <a:ext cx="6691312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6692063" imgH="4800000" progId="Photoshop.Image.8">
                  <p:embed/>
                </p:oleObj>
              </mc:Choice>
              <mc:Fallback>
                <p:oleObj name="Image" r:id="rId3" imgW="6692063" imgH="4800000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045" y="1732524"/>
                        <a:ext cx="6691312" cy="480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2858" name="Group 10"/>
          <p:cNvGrpSpPr>
            <a:grpSpLocks/>
          </p:cNvGrpSpPr>
          <p:nvPr/>
        </p:nvGrpSpPr>
        <p:grpSpPr bwMode="auto">
          <a:xfrm>
            <a:off x="1072247" y="1001713"/>
            <a:ext cx="4386263" cy="515938"/>
            <a:chOff x="390" y="677"/>
            <a:chExt cx="2763" cy="325"/>
          </a:xfrm>
        </p:grpSpPr>
        <p:graphicFrame>
          <p:nvGraphicFramePr>
            <p:cNvPr id="462855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5623401"/>
                </p:ext>
              </p:extLst>
            </p:nvPr>
          </p:nvGraphicFramePr>
          <p:xfrm>
            <a:off x="390" y="677"/>
            <a:ext cx="2763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1942920" imgH="228600" progId="Equation.3">
                    <p:embed/>
                  </p:oleObj>
                </mc:Choice>
                <mc:Fallback>
                  <p:oleObj name="方程式" r:id="rId5" imgW="19429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" y="677"/>
                          <a:ext cx="2763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2856" name="Rectangle 8"/>
            <p:cNvSpPr>
              <a:spLocks noChangeArrowheads="1"/>
            </p:cNvSpPr>
            <p:nvPr/>
          </p:nvSpPr>
          <p:spPr bwMode="auto">
            <a:xfrm>
              <a:off x="528" y="752"/>
              <a:ext cx="2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zh-TW" altLang="en-US"/>
                <a:t>＊</a:t>
              </a:r>
            </a:p>
          </p:txBody>
        </p:sp>
      </p:grpSp>
      <p:graphicFrame>
        <p:nvGraphicFramePr>
          <p:cNvPr id="4628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71361"/>
              </p:ext>
            </p:extLst>
          </p:nvPr>
        </p:nvGraphicFramePr>
        <p:xfrm>
          <a:off x="6216541" y="1030288"/>
          <a:ext cx="22352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990360" imgH="203040" progId="Equation.3">
                  <p:embed/>
                </p:oleObj>
              </mc:Choice>
              <mc:Fallback>
                <p:oleObj name="方程式" r:id="rId7" imgW="9903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6541" y="1030288"/>
                        <a:ext cx="223520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236008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Text Box 2"/>
          <p:cNvSpPr txBox="1">
            <a:spLocks noChangeArrowheads="1"/>
          </p:cNvSpPr>
          <p:nvPr/>
        </p:nvSpPr>
        <p:spPr bwMode="auto">
          <a:xfrm>
            <a:off x="1147606" y="214769"/>
            <a:ext cx="5861285" cy="5847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The Hit-or-Miss Transformation</a:t>
            </a:r>
          </a:p>
        </p:txBody>
      </p:sp>
      <p:pic>
        <p:nvPicPr>
          <p:cNvPr id="6031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670" y="1687701"/>
            <a:ext cx="1420813" cy="423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03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421650"/>
              </p:ext>
            </p:extLst>
          </p:nvPr>
        </p:nvGraphicFramePr>
        <p:xfrm>
          <a:off x="3834154" y="1574245"/>
          <a:ext cx="4195763" cy="487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5485714" imgH="6374603" progId="Photoshop.Image.8">
                  <p:embed/>
                </p:oleObj>
              </mc:Choice>
              <mc:Fallback>
                <p:oleObj name="Image" r:id="rId3" imgW="5485714" imgH="6374603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4154" y="1574245"/>
                        <a:ext cx="4195763" cy="487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3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031015"/>
              </p:ext>
            </p:extLst>
          </p:nvPr>
        </p:nvGraphicFramePr>
        <p:xfrm>
          <a:off x="1313425" y="4668839"/>
          <a:ext cx="2674937" cy="194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3352381" imgH="2438095" progId="Photoshop.Image.8">
                  <p:embed/>
                </p:oleObj>
              </mc:Choice>
              <mc:Fallback>
                <p:oleObj name="Image" r:id="rId5" imgW="3352381" imgH="2438095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3425" y="4668839"/>
                        <a:ext cx="2674937" cy="194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3143" name="Group 7"/>
          <p:cNvGrpSpPr>
            <a:grpSpLocks/>
          </p:cNvGrpSpPr>
          <p:nvPr/>
        </p:nvGrpSpPr>
        <p:grpSpPr bwMode="auto">
          <a:xfrm>
            <a:off x="1795230" y="966788"/>
            <a:ext cx="4386263" cy="515938"/>
            <a:chOff x="742" y="617"/>
            <a:chExt cx="2763" cy="325"/>
          </a:xfrm>
        </p:grpSpPr>
        <p:graphicFrame>
          <p:nvGraphicFramePr>
            <p:cNvPr id="60314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6093838"/>
                </p:ext>
              </p:extLst>
            </p:nvPr>
          </p:nvGraphicFramePr>
          <p:xfrm>
            <a:off x="742" y="617"/>
            <a:ext cx="2763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7" imgW="1942920" imgH="228600" progId="Equation.3">
                    <p:embed/>
                  </p:oleObj>
                </mc:Choice>
                <mc:Fallback>
                  <p:oleObj name="方程式" r:id="rId7" imgW="19429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2" y="617"/>
                          <a:ext cx="2763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3145" name="Rectangle 9"/>
            <p:cNvSpPr>
              <a:spLocks noChangeArrowheads="1"/>
            </p:cNvSpPr>
            <p:nvPr/>
          </p:nvSpPr>
          <p:spPr bwMode="auto">
            <a:xfrm>
              <a:off x="876" y="683"/>
              <a:ext cx="26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TW" altLang="en-US"/>
                <a:t>＊</a:t>
              </a:r>
            </a:p>
          </p:txBody>
        </p:sp>
      </p:grpSp>
      <p:graphicFrame>
        <p:nvGraphicFramePr>
          <p:cNvPr id="6031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181517"/>
              </p:ext>
            </p:extLst>
          </p:nvPr>
        </p:nvGraphicFramePr>
        <p:xfrm>
          <a:off x="6811870" y="966788"/>
          <a:ext cx="22352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990360" imgH="203040" progId="Equation.3">
                  <p:embed/>
                </p:oleObj>
              </mc:Choice>
              <mc:Fallback>
                <p:oleObj name="方程式" r:id="rId9" imgW="9903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1870" y="966788"/>
                        <a:ext cx="22352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3898323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Text Box 2"/>
          <p:cNvSpPr txBox="1">
            <a:spLocks noChangeArrowheads="1"/>
          </p:cNvSpPr>
          <p:nvPr/>
        </p:nvSpPr>
        <p:spPr bwMode="auto">
          <a:xfrm>
            <a:off x="1355263" y="439463"/>
            <a:ext cx="6966779" cy="95410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Some Basic Morphological Algorithms</a:t>
            </a:r>
          </a:p>
          <a:p>
            <a:pPr algn="ctr"/>
            <a:r>
              <a:rPr lang="en-US" altLang="zh-TW" sz="24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Boundary Extraction</a:t>
            </a:r>
          </a:p>
        </p:txBody>
      </p:sp>
      <p:pic>
        <p:nvPicPr>
          <p:cNvPr id="4648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504" y="3512578"/>
            <a:ext cx="7383463" cy="249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4901" name="Rectangle 5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981201" y="1600201"/>
            <a:ext cx="8101013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sz="2800">
                <a:ea typeface="新細明體" pitchFamily="18" charset="-120"/>
              </a:rPr>
              <a:t>The boundary of a set </a:t>
            </a:r>
            <a:r>
              <a:rPr lang="en-US" altLang="zh-TW" sz="2800" i="1">
                <a:ea typeface="新細明體" pitchFamily="18" charset="-120"/>
              </a:rPr>
              <a:t>A</a:t>
            </a:r>
            <a:r>
              <a:rPr lang="en-US" altLang="zh-TW" sz="2800">
                <a:ea typeface="新細明體" pitchFamily="18" charset="-120"/>
              </a:rPr>
              <a:t>,</a:t>
            </a:r>
          </a:p>
          <a:p>
            <a:endParaRPr lang="en-US" altLang="zh-TW" sz="2800">
              <a:ea typeface="新細明體" pitchFamily="18" charset="-120"/>
            </a:endParaRPr>
          </a:p>
          <a:p>
            <a:pPr>
              <a:buFontTx/>
              <a:buNone/>
            </a:pPr>
            <a:r>
              <a:rPr lang="en-US" altLang="zh-TW" sz="2800">
                <a:ea typeface="新細明體" pitchFamily="18" charset="-120"/>
              </a:rPr>
              <a:t>    where </a:t>
            </a:r>
            <a:r>
              <a:rPr lang="en-US" altLang="zh-TW" sz="2800" i="1">
                <a:ea typeface="新細明體" pitchFamily="18" charset="-120"/>
              </a:rPr>
              <a:t>B</a:t>
            </a:r>
            <a:r>
              <a:rPr lang="en-US" altLang="zh-TW" sz="2800">
                <a:ea typeface="新細明體" pitchFamily="18" charset="-120"/>
              </a:rPr>
              <a:t> is a suitable structuring element.</a:t>
            </a:r>
          </a:p>
        </p:txBody>
      </p:sp>
      <p:graphicFrame>
        <p:nvGraphicFramePr>
          <p:cNvPr id="464908" name="Object 12"/>
          <p:cNvGraphicFramePr>
            <a:graphicFrameLocks noChangeAspect="1"/>
          </p:cNvGraphicFramePr>
          <p:nvPr/>
        </p:nvGraphicFramePr>
        <p:xfrm>
          <a:off x="3225800" y="2257425"/>
          <a:ext cx="263525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168200" imgH="203040" progId="Equation.3">
                  <p:embed/>
                </p:oleObj>
              </mc:Choice>
              <mc:Fallback>
                <p:oleObj name="方程式" r:id="rId3" imgW="11682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2257425"/>
                        <a:ext cx="263525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77262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9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34" y="1853361"/>
            <a:ext cx="8568666" cy="3857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6948" name="Text Box 4"/>
          <p:cNvSpPr txBox="1">
            <a:spLocks noChangeArrowheads="1"/>
          </p:cNvSpPr>
          <p:nvPr/>
        </p:nvSpPr>
        <p:spPr bwMode="auto">
          <a:xfrm>
            <a:off x="880134" y="571782"/>
            <a:ext cx="6966779" cy="89255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Some Basic Morphological Algorithms</a:t>
            </a:r>
          </a:p>
          <a:p>
            <a:pPr defTabSz="457200">
              <a:spcBef>
                <a:spcPct val="0"/>
              </a:spcBef>
            </a:pPr>
            <a:r>
              <a:rPr lang="en-US" altLang="zh-TW" sz="20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Boundary Extraction Example</a:t>
            </a:r>
          </a:p>
        </p:txBody>
      </p:sp>
    </p:spTree>
    <p:extLst>
      <p:ext uri="{BB962C8B-B14F-4D97-AF65-F5344CB8AC3E}">
        <p14:creationId xmlns:p14="http://schemas.microsoft.com/office/powerpoint/2010/main" val="521892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5" name="Text Box 3"/>
          <p:cNvSpPr txBox="1">
            <a:spLocks noChangeArrowheads="1"/>
          </p:cNvSpPr>
          <p:nvPr/>
        </p:nvSpPr>
        <p:spPr bwMode="auto">
          <a:xfrm>
            <a:off x="1064750" y="468552"/>
            <a:ext cx="6966779" cy="89255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Some Basic Morphological Algorithms</a:t>
            </a:r>
          </a:p>
          <a:p>
            <a:pPr algn="ctr"/>
            <a:r>
              <a:rPr lang="en-US" altLang="zh-TW" sz="20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Region Filling</a:t>
            </a:r>
          </a:p>
        </p:txBody>
      </p:sp>
      <p:sp>
        <p:nvSpPr>
          <p:cNvPr id="607237" name="Rectangle 5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770966" y="1609166"/>
            <a:ext cx="8220075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sz="2800">
                <a:ea typeface="新細明體" pitchFamily="18" charset="-120"/>
              </a:rPr>
              <a:t>The following procedure can fill the region:</a:t>
            </a:r>
          </a:p>
          <a:p>
            <a:endParaRPr lang="en-US" altLang="zh-TW" sz="2800">
              <a:ea typeface="新細明體" pitchFamily="18" charset="-120"/>
            </a:endParaRPr>
          </a:p>
          <a:p>
            <a:pPr>
              <a:buFontTx/>
              <a:buNone/>
            </a:pPr>
            <a:r>
              <a:rPr lang="en-US" altLang="zh-TW" sz="2800">
                <a:ea typeface="新細明體" pitchFamily="18" charset="-120"/>
              </a:rPr>
              <a:t>    where </a:t>
            </a:r>
            <a:r>
              <a:rPr lang="en-US" altLang="zh-TW" sz="2800" i="1">
                <a:ea typeface="新細明體" pitchFamily="18" charset="-120"/>
              </a:rPr>
              <a:t>X</a:t>
            </a:r>
            <a:r>
              <a:rPr lang="en-US" altLang="zh-TW" sz="2800" baseline="-25000">
                <a:ea typeface="新細明體" pitchFamily="18" charset="-120"/>
              </a:rPr>
              <a:t>0</a:t>
            </a:r>
            <a:r>
              <a:rPr lang="en-US" altLang="zh-TW" sz="2800">
                <a:ea typeface="新細明體" pitchFamily="18" charset="-120"/>
              </a:rPr>
              <a:t> = </a:t>
            </a:r>
            <a:r>
              <a:rPr lang="en-US" altLang="zh-TW" sz="2800" i="1">
                <a:ea typeface="新細明體" pitchFamily="18" charset="-120"/>
              </a:rPr>
              <a:t>p</a:t>
            </a:r>
            <a:r>
              <a:rPr lang="en-US" altLang="zh-TW" sz="2800">
                <a:ea typeface="新細明體" pitchFamily="18" charset="-120"/>
              </a:rPr>
              <a:t>, and </a:t>
            </a:r>
            <a:r>
              <a:rPr lang="en-US" altLang="zh-TW" sz="2800" i="1">
                <a:ea typeface="新細明體" pitchFamily="18" charset="-120"/>
              </a:rPr>
              <a:t>B</a:t>
            </a:r>
            <a:r>
              <a:rPr lang="en-US" altLang="zh-TW" sz="2800">
                <a:ea typeface="新細明體" pitchFamily="18" charset="-120"/>
              </a:rPr>
              <a:t> is the symmetric structuring element shown in Fig. 9.15.</a:t>
            </a:r>
          </a:p>
          <a:p>
            <a:r>
              <a:rPr lang="en-US" altLang="zh-TW" sz="2800">
                <a:ea typeface="新細明體" pitchFamily="18" charset="-120"/>
              </a:rPr>
              <a:t>Note that</a:t>
            </a:r>
            <a:r>
              <a:rPr lang="en-US" altLang="zh-TW" sz="2800" i="1">
                <a:ea typeface="新細明體" pitchFamily="18" charset="-120"/>
              </a:rPr>
              <a:t> p</a:t>
            </a:r>
            <a:r>
              <a:rPr lang="en-US" altLang="zh-TW" sz="2800">
                <a:ea typeface="新細明體" pitchFamily="18" charset="-120"/>
              </a:rPr>
              <a:t> is the initial point we should assign.</a:t>
            </a:r>
          </a:p>
        </p:txBody>
      </p:sp>
      <p:graphicFrame>
        <p:nvGraphicFramePr>
          <p:cNvPr id="607238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32113" y="2139950"/>
          <a:ext cx="30702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346040" imgH="241200" progId="Equation.3">
                  <p:embed/>
                </p:oleObj>
              </mc:Choice>
              <mc:Fallback>
                <p:oleObj name="方程式" r:id="rId2" imgW="1346040" imgH="2412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2139950"/>
                        <a:ext cx="307022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46888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6" name="Text Box 4"/>
          <p:cNvSpPr txBox="1">
            <a:spLocks noChangeArrowheads="1"/>
          </p:cNvSpPr>
          <p:nvPr/>
        </p:nvSpPr>
        <p:spPr bwMode="auto">
          <a:xfrm>
            <a:off x="1169573" y="443246"/>
            <a:ext cx="6966779" cy="95410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Some Basic Morphological Algorithms</a:t>
            </a:r>
          </a:p>
          <a:p>
            <a:pPr algn="ctr"/>
            <a:r>
              <a:rPr lang="en-US" altLang="zh-TW" sz="24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Region Filling</a:t>
            </a:r>
          </a:p>
        </p:txBody>
      </p:sp>
      <p:grpSp>
        <p:nvGrpSpPr>
          <p:cNvPr id="469007" name="Group 15"/>
          <p:cNvGrpSpPr>
            <a:grpSpLocks/>
          </p:cNvGrpSpPr>
          <p:nvPr/>
        </p:nvGrpSpPr>
        <p:grpSpPr bwMode="auto">
          <a:xfrm>
            <a:off x="1624663" y="1597120"/>
            <a:ext cx="6770688" cy="4941887"/>
            <a:chOff x="424" y="1023"/>
            <a:chExt cx="4265" cy="3113"/>
          </a:xfrm>
        </p:grpSpPr>
        <p:pic>
          <p:nvPicPr>
            <p:cNvPr id="468995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" y="1023"/>
              <a:ext cx="3911" cy="30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68997" name="Line 5"/>
            <p:cNvSpPr>
              <a:spLocks noChangeShapeType="1"/>
            </p:cNvSpPr>
            <p:nvPr/>
          </p:nvSpPr>
          <p:spPr bwMode="auto">
            <a:xfrm flipV="1">
              <a:off x="2304" y="2285"/>
              <a:ext cx="444" cy="14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8998" name="Text Box 6"/>
            <p:cNvSpPr txBox="1">
              <a:spLocks noChangeArrowheads="1"/>
            </p:cNvSpPr>
            <p:nvPr/>
          </p:nvSpPr>
          <p:spPr bwMode="auto">
            <a:xfrm>
              <a:off x="1954" y="2355"/>
              <a:ext cx="4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i="1">
                  <a:solidFill>
                    <a:srgbClr val="FF0000"/>
                  </a:solidFill>
                </a:rPr>
                <a:t>X</a:t>
              </a:r>
              <a:r>
                <a:rPr lang="en-US" altLang="zh-TW" baseline="-25000">
                  <a:solidFill>
                    <a:srgbClr val="FF0000"/>
                  </a:solidFill>
                </a:rPr>
                <a:t>0</a:t>
              </a:r>
              <a:r>
                <a:rPr lang="en-US" altLang="zh-TW" i="1">
                  <a:solidFill>
                    <a:srgbClr val="FF0000"/>
                  </a:solidFill>
                </a:rPr>
                <a:t>=p</a:t>
              </a:r>
            </a:p>
          </p:txBody>
        </p:sp>
        <p:graphicFrame>
          <p:nvGraphicFramePr>
            <p:cNvPr id="468999" name="Object 7"/>
            <p:cNvGraphicFramePr>
              <a:graphicFrameLocks noChangeAspect="1"/>
            </p:cNvGraphicFramePr>
            <p:nvPr/>
          </p:nvGraphicFramePr>
          <p:xfrm>
            <a:off x="424" y="3340"/>
            <a:ext cx="1934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1346040" imgH="241200" progId="Equation.3">
                    <p:embed/>
                  </p:oleObj>
                </mc:Choice>
                <mc:Fallback>
                  <p:oleObj name="方程式" r:id="rId3" imgW="13460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" y="3340"/>
                          <a:ext cx="1934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9002" name="Line 10"/>
            <p:cNvSpPr>
              <a:spLocks noChangeShapeType="1"/>
            </p:cNvSpPr>
            <p:nvPr/>
          </p:nvSpPr>
          <p:spPr bwMode="auto">
            <a:xfrm flipV="1">
              <a:off x="2285" y="1086"/>
              <a:ext cx="293" cy="1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9003" name="Line 11"/>
            <p:cNvSpPr>
              <a:spLocks noChangeShapeType="1"/>
            </p:cNvSpPr>
            <p:nvPr/>
          </p:nvSpPr>
          <p:spPr bwMode="auto">
            <a:xfrm flipV="1">
              <a:off x="2304" y="1350"/>
              <a:ext cx="349" cy="8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9004" name="Text Box 12"/>
            <p:cNvSpPr txBox="1">
              <a:spLocks noChangeArrowheads="1"/>
            </p:cNvSpPr>
            <p:nvPr/>
          </p:nvSpPr>
          <p:spPr bwMode="auto">
            <a:xfrm>
              <a:off x="2095" y="1042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/>
                <a:t>0</a:t>
              </a:r>
            </a:p>
          </p:txBody>
        </p:sp>
        <p:sp>
          <p:nvSpPr>
            <p:cNvPr id="469005" name="Text Box 13"/>
            <p:cNvSpPr txBox="1">
              <a:spLocks noChangeArrowheads="1"/>
            </p:cNvSpPr>
            <p:nvPr/>
          </p:nvSpPr>
          <p:spPr bwMode="auto">
            <a:xfrm>
              <a:off x="2113" y="1306"/>
              <a:ext cx="193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/>
                <a:t>1</a:t>
              </a:r>
            </a:p>
          </p:txBody>
        </p:sp>
        <p:sp>
          <p:nvSpPr>
            <p:cNvPr id="469006" name="Line 14"/>
            <p:cNvSpPr>
              <a:spLocks noChangeShapeType="1"/>
            </p:cNvSpPr>
            <p:nvPr/>
          </p:nvSpPr>
          <p:spPr bwMode="auto">
            <a:xfrm>
              <a:off x="4325" y="4136"/>
              <a:ext cx="359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83755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0" b="2076"/>
          <a:stretch/>
        </p:blipFill>
        <p:spPr bwMode="auto">
          <a:xfrm>
            <a:off x="553762" y="1977653"/>
            <a:ext cx="8483022" cy="418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1044" name="Text Box 4"/>
          <p:cNvSpPr txBox="1">
            <a:spLocks noChangeArrowheads="1"/>
          </p:cNvSpPr>
          <p:nvPr/>
        </p:nvSpPr>
        <p:spPr bwMode="auto">
          <a:xfrm>
            <a:off x="1064750" y="352987"/>
            <a:ext cx="6966779" cy="95410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lvl="0" defTabSz="457200">
              <a:spcBef>
                <a:spcPct val="0"/>
              </a:spcBef>
            </a:pPr>
            <a:r>
              <a:rPr lang="en-US" altLang="zh-TW" sz="3200">
                <a:solidFill>
                  <a:srgbClr val="90C226"/>
                </a:solidFill>
                <a:cs typeface="+mj-cs"/>
              </a:rPr>
              <a:t>Some Basic Morphological Algorithms</a:t>
            </a:r>
          </a:p>
          <a:p>
            <a:pPr lvl="0" algn="ctr"/>
            <a:r>
              <a:rPr lang="en-US" altLang="zh-TW" sz="2400">
                <a:solidFill>
                  <a:srgbClr val="90C226"/>
                </a:solidFill>
                <a:cs typeface="+mj-cs"/>
              </a:rPr>
              <a:t>Region Filling</a:t>
            </a:r>
          </a:p>
        </p:txBody>
      </p:sp>
    </p:spTree>
    <p:extLst>
      <p:ext uri="{BB962C8B-B14F-4D97-AF65-F5344CB8AC3E}">
        <p14:creationId xmlns:p14="http://schemas.microsoft.com/office/powerpoint/2010/main" val="2249972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09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64" b="2184"/>
          <a:stretch/>
        </p:blipFill>
        <p:spPr bwMode="auto">
          <a:xfrm>
            <a:off x="1413156" y="1831182"/>
            <a:ext cx="7264679" cy="4856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3092" name="Text Box 4"/>
          <p:cNvSpPr txBox="1">
            <a:spLocks noChangeArrowheads="1"/>
          </p:cNvSpPr>
          <p:nvPr/>
        </p:nvSpPr>
        <p:spPr bwMode="auto">
          <a:xfrm>
            <a:off x="1001997" y="231211"/>
            <a:ext cx="6966779" cy="89255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200">
                <a:solidFill>
                  <a:srgbClr val="90C226"/>
                </a:solidFill>
                <a:cs typeface="+mj-cs"/>
              </a:rPr>
              <a:t>Some Basic Morphological Algorithms</a:t>
            </a:r>
          </a:p>
          <a:p>
            <a:pPr algn="ctr" defTabSz="457200">
              <a:spcBef>
                <a:spcPct val="0"/>
              </a:spcBef>
            </a:pPr>
            <a:r>
              <a:rPr lang="en-US" altLang="zh-TW" sz="2000">
                <a:solidFill>
                  <a:srgbClr val="90C226"/>
                </a:solidFill>
                <a:cs typeface="+mj-cs"/>
              </a:rPr>
              <a:t>Extraction of Connected Components</a:t>
            </a:r>
          </a:p>
        </p:txBody>
      </p:sp>
      <p:graphicFrame>
        <p:nvGraphicFramePr>
          <p:cNvPr id="473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144372"/>
              </p:ext>
            </p:extLst>
          </p:nvPr>
        </p:nvGraphicFramePr>
        <p:xfrm>
          <a:off x="3757660" y="1308895"/>
          <a:ext cx="2954338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295280" imgH="228600" progId="Equation.3">
                  <p:embed/>
                </p:oleObj>
              </mc:Choice>
              <mc:Fallback>
                <p:oleObj name="方程式" r:id="rId3" imgW="1295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7660" y="1308895"/>
                        <a:ext cx="2954338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03578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1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566" y="1423521"/>
            <a:ext cx="7705352" cy="5434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5140" name="Text Box 4"/>
          <p:cNvSpPr txBox="1">
            <a:spLocks noChangeArrowheads="1"/>
          </p:cNvSpPr>
          <p:nvPr/>
        </p:nvSpPr>
        <p:spPr bwMode="auto">
          <a:xfrm>
            <a:off x="768915" y="119903"/>
            <a:ext cx="6966779" cy="95410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>
              <a:spcBef>
                <a:spcPct val="0"/>
              </a:spcBef>
            </a:pPr>
            <a:r>
              <a:rPr lang="en-US" altLang="zh-TW" sz="3200">
                <a:solidFill>
                  <a:srgbClr val="90C226"/>
                </a:solidFill>
                <a:cs typeface="+mj-cs"/>
              </a:rPr>
              <a:t>Some Basic Morphological Algorithms</a:t>
            </a:r>
          </a:p>
          <a:p>
            <a:pPr algn="ctr" defTabSz="457200">
              <a:spcBef>
                <a:spcPct val="0"/>
              </a:spcBef>
            </a:pPr>
            <a:r>
              <a:rPr lang="en-US" altLang="zh-TW" sz="2400">
                <a:solidFill>
                  <a:srgbClr val="90C226"/>
                </a:solidFill>
                <a:cs typeface="+mj-cs"/>
              </a:rPr>
              <a:t>Extraction of Connected Components</a:t>
            </a:r>
          </a:p>
        </p:txBody>
      </p:sp>
    </p:spTree>
    <p:extLst>
      <p:ext uri="{BB962C8B-B14F-4D97-AF65-F5344CB8AC3E}">
        <p14:creationId xmlns:p14="http://schemas.microsoft.com/office/powerpoint/2010/main" val="18920369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4" name="Text Box 4"/>
          <p:cNvSpPr txBox="1">
            <a:spLocks noChangeArrowheads="1"/>
          </p:cNvSpPr>
          <p:nvPr/>
        </p:nvSpPr>
        <p:spPr bwMode="auto">
          <a:xfrm>
            <a:off x="950729" y="346423"/>
            <a:ext cx="6966779" cy="95410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defTabSz="457200">
              <a:spcBef>
                <a:spcPct val="0"/>
              </a:spcBef>
            </a:pPr>
            <a:r>
              <a:rPr lang="en-US" altLang="zh-TW" sz="3200">
                <a:solidFill>
                  <a:srgbClr val="90C226"/>
                </a:solidFill>
                <a:cs typeface="+mj-cs"/>
              </a:rPr>
              <a:t>Some Basic Morphological Algorithms</a:t>
            </a:r>
          </a:p>
          <a:p>
            <a:pPr algn="ctr" defTabSz="457200">
              <a:spcBef>
                <a:spcPct val="0"/>
              </a:spcBef>
            </a:pPr>
            <a:r>
              <a:rPr lang="en-US" altLang="zh-TW" sz="2400">
                <a:solidFill>
                  <a:srgbClr val="90C226"/>
                </a:solidFill>
                <a:cs typeface="+mj-cs"/>
              </a:rPr>
              <a:t>Thinning</a:t>
            </a:r>
          </a:p>
        </p:txBody>
      </p:sp>
      <p:sp>
        <p:nvSpPr>
          <p:cNvPr id="481286" name="Rectangle 6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818356" y="1394012"/>
            <a:ext cx="8266113" cy="4525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sz="2400">
                <a:ea typeface="新細明體" pitchFamily="18" charset="-120"/>
              </a:rPr>
              <a:t>The thinning of a set </a:t>
            </a:r>
            <a:r>
              <a:rPr lang="en-US" altLang="zh-TW" sz="2400" i="1">
                <a:ea typeface="新細明體" pitchFamily="18" charset="-120"/>
              </a:rPr>
              <a:t>A</a:t>
            </a:r>
            <a:r>
              <a:rPr lang="en-US" altLang="zh-TW" sz="2400">
                <a:ea typeface="新細明體" pitchFamily="18" charset="-120"/>
              </a:rPr>
              <a:t> by a structuring element </a:t>
            </a:r>
            <a:r>
              <a:rPr lang="en-US" altLang="zh-TW" sz="2400" i="1">
                <a:ea typeface="新細明體" pitchFamily="18" charset="-120"/>
              </a:rPr>
              <a:t>B</a:t>
            </a:r>
            <a:r>
              <a:rPr lang="en-US" altLang="zh-TW" sz="2400">
                <a:ea typeface="新細明體" pitchFamily="18" charset="-120"/>
              </a:rPr>
              <a:t> can be defined in terms of the hit-or-miss transform:</a:t>
            </a:r>
          </a:p>
          <a:p>
            <a:endParaRPr lang="en-US" altLang="zh-TW" sz="2400">
              <a:ea typeface="新細明體" pitchFamily="18" charset="-120"/>
            </a:endParaRPr>
          </a:p>
          <a:p>
            <a:endParaRPr lang="en-US" altLang="zh-TW" sz="2400">
              <a:ea typeface="新細明體" pitchFamily="18" charset="-120"/>
            </a:endParaRPr>
          </a:p>
          <a:p>
            <a:endParaRPr lang="en-US" altLang="zh-TW" sz="2400">
              <a:ea typeface="新細明體" pitchFamily="18" charset="-120"/>
            </a:endParaRPr>
          </a:p>
          <a:p>
            <a:r>
              <a:rPr lang="en-US" altLang="zh-TW" sz="2400">
                <a:ea typeface="新細明體" pitchFamily="18" charset="-120"/>
              </a:rPr>
              <a:t>A more useful expression for thinning A symmetrically is based on a sequence of structuring elements:</a:t>
            </a:r>
          </a:p>
        </p:txBody>
      </p:sp>
      <p:graphicFrame>
        <p:nvGraphicFramePr>
          <p:cNvPr id="481287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367088" y="2398713"/>
          <a:ext cx="3168650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2" imgW="1320480" imgH="457200" progId="Equation.3">
                  <p:embed/>
                </p:oleObj>
              </mc:Choice>
              <mc:Fallback>
                <p:oleObj name="方程式" r:id="rId2" imgW="1320480" imgH="45720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088" y="2398713"/>
                        <a:ext cx="3168650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9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423294"/>
              </p:ext>
            </p:extLst>
          </p:nvPr>
        </p:nvGraphicFramePr>
        <p:xfrm>
          <a:off x="2866558" y="4611166"/>
          <a:ext cx="330200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4" imgW="1447560" imgH="228600" progId="Equation.3">
                  <p:embed/>
                </p:oleObj>
              </mc:Choice>
              <mc:Fallback>
                <p:oleObj name="方程式" r:id="rId4" imgW="1447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6558" y="4611166"/>
                        <a:ext cx="330200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2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21669"/>
              </p:ext>
            </p:extLst>
          </p:nvPr>
        </p:nvGraphicFramePr>
        <p:xfrm>
          <a:off x="2500958" y="5240641"/>
          <a:ext cx="541655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2374560" imgH="228600" progId="Equation.3">
                  <p:embed/>
                </p:oleObj>
              </mc:Choice>
              <mc:Fallback>
                <p:oleObj name="方程式" r:id="rId6" imgW="2374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958" y="5240641"/>
                        <a:ext cx="541655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295" name="Text Box 15"/>
          <p:cNvSpPr txBox="1">
            <a:spLocks noChangeArrowheads="1"/>
          </p:cNvSpPr>
          <p:nvPr/>
        </p:nvSpPr>
        <p:spPr bwMode="auto">
          <a:xfrm>
            <a:off x="5536694" y="2478401"/>
            <a:ext cx="4154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/>
              <a:t>＊</a:t>
            </a:r>
          </a:p>
        </p:txBody>
      </p:sp>
      <p:sp>
        <p:nvSpPr>
          <p:cNvPr id="481296" name="Text Box 16"/>
          <p:cNvSpPr txBox="1">
            <a:spLocks noChangeArrowheads="1"/>
          </p:cNvSpPr>
          <p:nvPr/>
        </p:nvSpPr>
        <p:spPr bwMode="auto">
          <a:xfrm>
            <a:off x="5635384" y="3054906"/>
            <a:ext cx="4154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/>
              <a:t>＊</a:t>
            </a:r>
          </a:p>
        </p:txBody>
      </p:sp>
    </p:spTree>
    <p:extLst>
      <p:ext uri="{BB962C8B-B14F-4D97-AF65-F5344CB8AC3E}">
        <p14:creationId xmlns:p14="http://schemas.microsoft.com/office/powerpoint/2010/main" val="30228268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3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95" y="1362075"/>
            <a:ext cx="5775325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1331" name="Text Box 3"/>
          <p:cNvSpPr txBox="1">
            <a:spLocks noChangeArrowheads="1"/>
          </p:cNvSpPr>
          <p:nvPr/>
        </p:nvSpPr>
        <p:spPr bwMode="auto">
          <a:xfrm>
            <a:off x="82836" y="236446"/>
            <a:ext cx="8343987" cy="95410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457200">
              <a:spcBef>
                <a:spcPct val="0"/>
              </a:spcBef>
            </a:pPr>
            <a:r>
              <a:rPr lang="en-US" altLang="zh-TW" sz="3200">
                <a:solidFill>
                  <a:srgbClr val="90C226"/>
                </a:solidFill>
                <a:cs typeface="+mj-cs"/>
              </a:rPr>
              <a:t>Some Basic Morphological Algorithms</a:t>
            </a:r>
          </a:p>
          <a:p>
            <a:pPr algn="ctr" defTabSz="457200">
              <a:spcBef>
                <a:spcPct val="0"/>
              </a:spcBef>
            </a:pPr>
            <a:r>
              <a:rPr lang="en-US" altLang="zh-TW" sz="2400">
                <a:solidFill>
                  <a:srgbClr val="90C226"/>
                </a:solidFill>
                <a:cs typeface="+mj-cs"/>
              </a:rPr>
              <a:t>Thinning</a:t>
            </a:r>
          </a:p>
        </p:txBody>
      </p:sp>
    </p:spTree>
    <p:extLst>
      <p:ext uri="{BB962C8B-B14F-4D97-AF65-F5344CB8AC3E}">
        <p14:creationId xmlns:p14="http://schemas.microsoft.com/office/powerpoint/2010/main" val="10762949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3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19" y="1613648"/>
            <a:ext cx="7313046" cy="5074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5380" name="Text Box 4"/>
          <p:cNvSpPr txBox="1">
            <a:spLocks noChangeArrowheads="1"/>
          </p:cNvSpPr>
          <p:nvPr/>
        </p:nvSpPr>
        <p:spPr bwMode="auto">
          <a:xfrm>
            <a:off x="1230319" y="361951"/>
            <a:ext cx="6966779" cy="95410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defTabSz="457200">
              <a:spcBef>
                <a:spcPct val="0"/>
              </a:spcBef>
            </a:pPr>
            <a:r>
              <a:rPr lang="en-US" altLang="zh-TW" sz="3200">
                <a:solidFill>
                  <a:srgbClr val="90C226"/>
                </a:solidFill>
                <a:cs typeface="+mj-cs"/>
              </a:rPr>
              <a:t>Some Basic Morphological Algorithms</a:t>
            </a:r>
          </a:p>
          <a:p>
            <a:pPr algn="ctr" defTabSz="457200">
              <a:spcBef>
                <a:spcPct val="0"/>
              </a:spcBef>
            </a:pPr>
            <a:r>
              <a:rPr lang="en-US" altLang="zh-TW" sz="2400">
                <a:solidFill>
                  <a:srgbClr val="90C226"/>
                </a:solidFill>
                <a:cs typeface="+mj-cs"/>
              </a:rPr>
              <a:t>Skeletons</a:t>
            </a:r>
          </a:p>
        </p:txBody>
      </p:sp>
    </p:spTree>
    <p:extLst>
      <p:ext uri="{BB962C8B-B14F-4D97-AF65-F5344CB8AC3E}">
        <p14:creationId xmlns:p14="http://schemas.microsoft.com/office/powerpoint/2010/main" val="34703227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Text Box 2"/>
          <p:cNvSpPr txBox="1">
            <a:spLocks noChangeArrowheads="1"/>
          </p:cNvSpPr>
          <p:nvPr/>
        </p:nvSpPr>
        <p:spPr bwMode="auto">
          <a:xfrm>
            <a:off x="165393" y="200120"/>
            <a:ext cx="9686818" cy="83099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TW" sz="2400">
                <a:solidFill>
                  <a:srgbClr val="90C226"/>
                </a:solidFill>
                <a:cs typeface="+mj-cs"/>
              </a:rPr>
              <a:t>Summary</a:t>
            </a:r>
            <a:r>
              <a:rPr lang="en-US" altLang="zh-TW" sz="140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zh-TW" sz="2400">
                <a:solidFill>
                  <a:srgbClr val="90C226"/>
                </a:solidFill>
                <a:cs typeface="+mj-cs"/>
              </a:rPr>
              <a:t>of Morphological Operations</a:t>
            </a:r>
          </a:p>
          <a:p>
            <a:pPr algn="ctr"/>
            <a:r>
              <a:rPr lang="en-US" altLang="zh-TW" sz="2400">
                <a:solidFill>
                  <a:srgbClr val="90C226"/>
                </a:solidFill>
                <a:cs typeface="+mj-cs"/>
              </a:rPr>
              <a:t>and Their Properties</a:t>
            </a:r>
          </a:p>
        </p:txBody>
      </p:sp>
      <p:pic>
        <p:nvPicPr>
          <p:cNvPr id="4915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77" y="1127031"/>
            <a:ext cx="8245206" cy="554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32882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5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12" y="1688747"/>
            <a:ext cx="7439025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3574" name="Text Box 6"/>
          <p:cNvSpPr txBox="1">
            <a:spLocks noChangeArrowheads="1"/>
          </p:cNvSpPr>
          <p:nvPr/>
        </p:nvSpPr>
        <p:spPr bwMode="auto">
          <a:xfrm>
            <a:off x="2283622" y="448704"/>
            <a:ext cx="4079963" cy="646331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TW">
                <a:solidFill>
                  <a:srgbClr val="90C226"/>
                </a:solidFill>
              </a:rPr>
              <a:t>Summary</a:t>
            </a:r>
            <a:r>
              <a:rPr lang="en-US" altLang="zh-TW" sz="110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zh-TW">
                <a:solidFill>
                  <a:srgbClr val="90C226"/>
                </a:solidFill>
              </a:rPr>
              <a:t>of Morphological Operations</a:t>
            </a:r>
          </a:p>
          <a:p>
            <a:pPr algn="ctr"/>
            <a:r>
              <a:rPr lang="en-US" altLang="zh-TW">
                <a:solidFill>
                  <a:srgbClr val="90C226"/>
                </a:solidFill>
              </a:rPr>
              <a:t>and Their Properties</a:t>
            </a:r>
          </a:p>
        </p:txBody>
      </p:sp>
    </p:spTree>
    <p:extLst>
      <p:ext uri="{BB962C8B-B14F-4D97-AF65-F5344CB8AC3E}">
        <p14:creationId xmlns:p14="http://schemas.microsoft.com/office/powerpoint/2010/main" val="15514054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6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43" y="1538289"/>
            <a:ext cx="8331200" cy="437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5620" name="Text Box 4"/>
          <p:cNvSpPr txBox="1">
            <a:spLocks noChangeArrowheads="1"/>
          </p:cNvSpPr>
          <p:nvPr/>
        </p:nvSpPr>
        <p:spPr bwMode="auto">
          <a:xfrm>
            <a:off x="522585" y="475598"/>
            <a:ext cx="6882262" cy="83099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TW" sz="2400">
                <a:solidFill>
                  <a:srgbClr val="90C226"/>
                </a:solidFill>
              </a:rPr>
              <a:t>Summary</a:t>
            </a:r>
            <a:r>
              <a:rPr lang="en-US" altLang="zh-TW" sz="140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zh-TW" sz="2400">
                <a:solidFill>
                  <a:srgbClr val="90C226"/>
                </a:solidFill>
              </a:rPr>
              <a:t>of Morphological Operations</a:t>
            </a:r>
          </a:p>
          <a:p>
            <a:pPr algn="ctr"/>
            <a:r>
              <a:rPr lang="en-US" altLang="zh-TW" sz="2400">
                <a:solidFill>
                  <a:srgbClr val="90C226"/>
                </a:solidFill>
              </a:rPr>
              <a:t>and Their Properties</a:t>
            </a:r>
          </a:p>
        </p:txBody>
      </p:sp>
    </p:spTree>
    <p:extLst>
      <p:ext uri="{BB962C8B-B14F-4D97-AF65-F5344CB8AC3E}">
        <p14:creationId xmlns:p14="http://schemas.microsoft.com/office/powerpoint/2010/main" val="31661199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9" name="Text Box 5"/>
          <p:cNvSpPr txBox="1">
            <a:spLocks noChangeArrowheads="1"/>
          </p:cNvSpPr>
          <p:nvPr/>
        </p:nvSpPr>
        <p:spPr bwMode="auto">
          <a:xfrm>
            <a:off x="2223247" y="439739"/>
            <a:ext cx="6058785" cy="70788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TW" sz="2000">
                <a:solidFill>
                  <a:srgbClr val="90C226"/>
                </a:solidFill>
              </a:rPr>
              <a:t>Summary</a:t>
            </a:r>
            <a:r>
              <a:rPr lang="en-US" altLang="zh-TW" sz="1200">
                <a:solidFill>
                  <a:srgbClr val="FF0000"/>
                </a:solidFill>
                <a:latin typeface="Verdana" panose="020B0604030504040204" pitchFamily="34" charset="0"/>
              </a:rPr>
              <a:t> </a:t>
            </a:r>
            <a:r>
              <a:rPr lang="en-US" altLang="zh-TW" sz="2000">
                <a:solidFill>
                  <a:srgbClr val="90C226"/>
                </a:solidFill>
              </a:rPr>
              <a:t>of Morphological Operations</a:t>
            </a:r>
          </a:p>
          <a:p>
            <a:pPr algn="ctr"/>
            <a:r>
              <a:rPr lang="en-US" altLang="zh-TW" sz="2000">
                <a:solidFill>
                  <a:srgbClr val="90C226"/>
                </a:solidFill>
              </a:rPr>
              <a:t>and Their Properties</a:t>
            </a:r>
          </a:p>
        </p:txBody>
      </p:sp>
      <p:graphicFrame>
        <p:nvGraphicFramePr>
          <p:cNvPr id="4976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716437"/>
              </p:ext>
            </p:extLst>
          </p:nvPr>
        </p:nvGraphicFramePr>
        <p:xfrm>
          <a:off x="1320053" y="1270282"/>
          <a:ext cx="7097805" cy="5256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8469841" imgH="6717460" progId="Photoshop.Image.8">
                  <p:embed/>
                </p:oleObj>
              </mc:Choice>
              <mc:Fallback>
                <p:oleObj name="Image" r:id="rId2" imgW="8469841" imgH="6717460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053" y="1270282"/>
                        <a:ext cx="7097805" cy="52560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56155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Text Box 2"/>
          <p:cNvSpPr txBox="1">
            <a:spLocks noChangeArrowheads="1"/>
          </p:cNvSpPr>
          <p:nvPr/>
        </p:nvSpPr>
        <p:spPr bwMode="auto">
          <a:xfrm>
            <a:off x="2161606" y="589710"/>
            <a:ext cx="3879587" cy="40011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TW" sz="2000">
                <a:solidFill>
                  <a:srgbClr val="90C226"/>
                </a:solidFill>
              </a:rPr>
              <a:t>Extensions to Gray-Scale Images</a:t>
            </a:r>
          </a:p>
        </p:txBody>
      </p:sp>
      <p:pic>
        <p:nvPicPr>
          <p:cNvPr id="4997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031" y="1347975"/>
            <a:ext cx="7038975" cy="516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34718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9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1" y="1638581"/>
            <a:ext cx="7123113" cy="407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9956" name="Text Box 4"/>
          <p:cNvSpPr txBox="1">
            <a:spLocks noChangeArrowheads="1"/>
          </p:cNvSpPr>
          <p:nvPr/>
        </p:nvSpPr>
        <p:spPr bwMode="auto">
          <a:xfrm>
            <a:off x="2045065" y="562816"/>
            <a:ext cx="3879587" cy="40011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solidFill>
                  <a:srgbClr val="90C226"/>
                </a:solidFill>
              </a:rPr>
              <a:t>Extensions to Gray-Scale Images</a:t>
            </a:r>
          </a:p>
        </p:txBody>
      </p:sp>
    </p:spTree>
    <p:extLst>
      <p:ext uri="{BB962C8B-B14F-4D97-AF65-F5344CB8AC3E}">
        <p14:creationId xmlns:p14="http://schemas.microsoft.com/office/powerpoint/2010/main" val="21580132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4" name="Text Box 4"/>
          <p:cNvSpPr txBox="1">
            <a:spLocks noChangeArrowheads="1"/>
          </p:cNvSpPr>
          <p:nvPr/>
        </p:nvSpPr>
        <p:spPr bwMode="auto">
          <a:xfrm>
            <a:off x="2602697" y="469285"/>
            <a:ext cx="3879587" cy="40011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folHlink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TW" sz="2000">
                <a:solidFill>
                  <a:srgbClr val="90C226"/>
                </a:solidFill>
              </a:rPr>
              <a:t>Extensions to Gray-Scale Images</a:t>
            </a:r>
          </a:p>
        </p:txBody>
      </p:sp>
      <p:pic>
        <p:nvPicPr>
          <p:cNvPr id="512005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4" b="2374"/>
          <a:stretch/>
        </p:blipFill>
        <p:spPr bwMode="auto">
          <a:xfrm>
            <a:off x="2373220" y="4064837"/>
            <a:ext cx="5031627" cy="2595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00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50" b="2947"/>
          <a:stretch/>
        </p:blipFill>
        <p:spPr bwMode="auto">
          <a:xfrm>
            <a:off x="1993899" y="1204914"/>
            <a:ext cx="5097181" cy="2596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63897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E33D8D-5D3E-1491-7BD5-7667651EACCE}"/>
              </a:ext>
            </a:extLst>
          </p:cNvPr>
          <p:cNvSpPr txBox="1"/>
          <p:nvPr/>
        </p:nvSpPr>
        <p:spPr>
          <a:xfrm>
            <a:off x="893189" y="607185"/>
            <a:ext cx="6103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US" sz="2000" dirty="0">
                <a:solidFill>
                  <a:srgbClr val="90C226"/>
                </a:solidFill>
              </a:rPr>
              <a:t>Morphological Gradient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5FE5E-C765-77E9-8B64-0320BEBCAADF}"/>
              </a:ext>
            </a:extLst>
          </p:cNvPr>
          <p:cNvSpPr txBox="1"/>
          <p:nvPr/>
        </p:nvSpPr>
        <p:spPr>
          <a:xfrm>
            <a:off x="893189" y="1362702"/>
            <a:ext cx="78548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morphological gradient is the difference between the dilation and erosion of an image.</a:t>
            </a:r>
          </a:p>
          <a:p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To highlight the boundaries or edges of objects in the image.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By subtracting the eroded image from the dilated image, the boundaries of the objects are emphasized.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537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32BE1E-2279-4DDB-590D-E2936A9038BF}"/>
              </a:ext>
            </a:extLst>
          </p:cNvPr>
          <p:cNvSpPr txBox="1"/>
          <p:nvPr/>
        </p:nvSpPr>
        <p:spPr>
          <a:xfrm>
            <a:off x="902616" y="663746"/>
            <a:ext cx="6103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90C226"/>
                </a:solidFill>
              </a:rPr>
              <a:t>Top-Hat Transform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C21B9-2D43-43FF-2EE4-9505DF396F12}"/>
              </a:ext>
            </a:extLst>
          </p:cNvPr>
          <p:cNvSpPr txBox="1"/>
          <p:nvPr/>
        </p:nvSpPr>
        <p:spPr>
          <a:xfrm>
            <a:off x="902616" y="1364232"/>
            <a:ext cx="8071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top-hat transform is used to extract small elements and details from an image.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65855F-CCC8-B95B-ACA2-6292D87822CB}"/>
              </a:ext>
            </a:extLst>
          </p:cNvPr>
          <p:cNvSpPr txBox="1"/>
          <p:nvPr/>
        </p:nvSpPr>
        <p:spPr>
          <a:xfrm>
            <a:off x="1072298" y="2541863"/>
            <a:ext cx="74872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To enhance bright objects on a dark background or vice versa.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There are two types: white top-hat (original image minus the result of opening) and black top-hat (result of closing minus the original image)</a:t>
            </a:r>
          </a:p>
        </p:txBody>
      </p:sp>
    </p:spTree>
    <p:extLst>
      <p:ext uri="{BB962C8B-B14F-4D97-AF65-F5344CB8AC3E}">
        <p14:creationId xmlns:p14="http://schemas.microsoft.com/office/powerpoint/2010/main" val="12456817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314EE1-71B1-3968-D796-72515B76EDD6}"/>
              </a:ext>
            </a:extLst>
          </p:cNvPr>
          <p:cNvSpPr txBox="1"/>
          <p:nvPr/>
        </p:nvSpPr>
        <p:spPr>
          <a:xfrm>
            <a:off x="751788" y="673172"/>
            <a:ext cx="6103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US" sz="2000" dirty="0">
                <a:solidFill>
                  <a:srgbClr val="90C226"/>
                </a:solidFill>
              </a:rPr>
              <a:t>Skeletonization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51357-5F1A-50E2-02D5-6DF3551739BE}"/>
              </a:ext>
            </a:extLst>
          </p:cNvPr>
          <p:cNvSpPr txBox="1"/>
          <p:nvPr/>
        </p:nvSpPr>
        <p:spPr>
          <a:xfrm>
            <a:off x="751788" y="1260538"/>
            <a:ext cx="76663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Skeletonization reduces objects in a binary image to their skeletal form.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863F40-CC9F-186D-78D0-2DFA9809519F}"/>
              </a:ext>
            </a:extLst>
          </p:cNvPr>
          <p:cNvSpPr txBox="1"/>
          <p:nvPr/>
        </p:nvSpPr>
        <p:spPr>
          <a:xfrm>
            <a:off x="751788" y="2011060"/>
            <a:ext cx="81753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To simplify objects to their essential structure while preserving their connectivity.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It iteratively erodes the image until the objects are reduced to a minimal, skeletal form.</a:t>
            </a:r>
          </a:p>
        </p:txBody>
      </p:sp>
    </p:spTree>
    <p:extLst>
      <p:ext uri="{BB962C8B-B14F-4D97-AF65-F5344CB8AC3E}">
        <p14:creationId xmlns:p14="http://schemas.microsoft.com/office/powerpoint/2010/main" val="2885815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E26E71-75F8-7715-08F4-CB36E4848DD5}"/>
              </a:ext>
            </a:extLst>
          </p:cNvPr>
          <p:cNvSpPr txBox="1"/>
          <p:nvPr/>
        </p:nvSpPr>
        <p:spPr>
          <a:xfrm>
            <a:off x="893190" y="626038"/>
            <a:ext cx="6103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000" dirty="0">
                <a:solidFill>
                  <a:srgbClr val="90C226"/>
                </a:solidFill>
              </a:rPr>
              <a:t>Pruning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57643-7EA9-F8B1-6CC7-E77E97FFFFC7}"/>
              </a:ext>
            </a:extLst>
          </p:cNvPr>
          <p:cNvSpPr txBox="1"/>
          <p:nvPr/>
        </p:nvSpPr>
        <p:spPr>
          <a:xfrm>
            <a:off x="893190" y="1649219"/>
            <a:ext cx="82979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Pruning removes small spurs or extraneous branches from the skeleton of an image.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0B7C6-B7E8-FC8C-A956-6E37D772EA5F}"/>
              </a:ext>
            </a:extLst>
          </p:cNvPr>
          <p:cNvSpPr txBox="1"/>
          <p:nvPr/>
        </p:nvSpPr>
        <p:spPr>
          <a:xfrm>
            <a:off x="893190" y="2967335"/>
            <a:ext cx="86090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To clean up the skeleton by removing unwanted artifacts.</a:t>
            </a:r>
          </a:p>
          <a:p>
            <a:pPr marL="285750" indent="-285750" algn="l" fontAlgn="base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It identifies and removes small, irrelevant branches from the skeletonized image.</a:t>
            </a:r>
          </a:p>
        </p:txBody>
      </p:sp>
    </p:spTree>
    <p:extLst>
      <p:ext uri="{BB962C8B-B14F-4D97-AF65-F5344CB8AC3E}">
        <p14:creationId xmlns:p14="http://schemas.microsoft.com/office/powerpoint/2010/main" val="7776909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531" y="1814926"/>
            <a:ext cx="34861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039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495800" y="1600200"/>
            <a:ext cx="3395662" cy="3772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241046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71800" y="2057400"/>
            <a:ext cx="6553200" cy="382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0151120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7648</TotalTime>
  <Words>1628</Words>
  <Application>Microsoft Office PowerPoint</Application>
  <PresentationFormat>Widescreen</PresentationFormat>
  <Paragraphs>199</Paragraphs>
  <Slides>61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73" baseType="lpstr">
      <vt:lpstr>新細明體</vt:lpstr>
      <vt:lpstr>Arial</vt:lpstr>
      <vt:lpstr>Calibri</vt:lpstr>
      <vt:lpstr>Nunito</vt:lpstr>
      <vt:lpstr>Times New Roman</vt:lpstr>
      <vt:lpstr>Trebuchet MS</vt:lpstr>
      <vt:lpstr>Verdana</vt:lpstr>
      <vt:lpstr>Wingdings</vt:lpstr>
      <vt:lpstr>Wingdings 3</vt:lpstr>
      <vt:lpstr>Facet</vt:lpstr>
      <vt:lpstr>Image</vt:lpstr>
      <vt:lpstr>方程式</vt:lpstr>
      <vt:lpstr>Multimedia Computing</vt:lpstr>
      <vt:lpstr>Content</vt:lpstr>
      <vt:lpstr>Basic concepts</vt:lpstr>
      <vt:lpstr>Structuring element</vt:lpstr>
      <vt:lpstr>Morphological image processing </vt:lpstr>
      <vt:lpstr>Morphological image processing </vt:lpstr>
      <vt:lpstr>Some Basic Concepts from Set Theory</vt:lpstr>
      <vt:lpstr>Some Basic Concepts from Set Theory</vt:lpstr>
      <vt:lpstr>Logic Operations Involving Binary Images </vt:lpstr>
      <vt:lpstr>Basic concept</vt:lpstr>
      <vt:lpstr>Basic Morphological operation</vt:lpstr>
      <vt:lpstr>Dilation</vt:lpstr>
      <vt:lpstr>Dilation </vt:lpstr>
      <vt:lpstr>Dilation</vt:lpstr>
      <vt:lpstr>Erosion</vt:lpstr>
      <vt:lpstr>How it works</vt:lpstr>
      <vt:lpstr>Erosion</vt:lpstr>
      <vt:lpstr>Erosion</vt:lpstr>
      <vt:lpstr>Erosion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Opening</vt:lpstr>
      <vt:lpstr>Opening</vt:lpstr>
      <vt:lpstr>Closing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  <vt:lpstr>Question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Computing</dc:title>
  <dc:creator>Ahmed Minhaz Uddin</dc:creator>
  <cp:lastModifiedBy>Minhaz Uddin Ahmed</cp:lastModifiedBy>
  <cp:revision>163</cp:revision>
  <dcterms:created xsi:type="dcterms:W3CDTF">2020-01-27T14:45:02Z</dcterms:created>
  <dcterms:modified xsi:type="dcterms:W3CDTF">2024-10-10T08:40:19Z</dcterms:modified>
</cp:coreProperties>
</file>