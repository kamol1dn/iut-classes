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50"/>
  </p:notesMasterIdLst>
  <p:sldIdLst>
    <p:sldId id="256" r:id="rId2"/>
    <p:sldId id="258" r:id="rId3"/>
    <p:sldId id="376" r:id="rId4"/>
    <p:sldId id="377" r:id="rId5"/>
    <p:sldId id="379" r:id="rId6"/>
    <p:sldId id="374" r:id="rId7"/>
    <p:sldId id="378" r:id="rId8"/>
    <p:sldId id="380" r:id="rId9"/>
    <p:sldId id="375" r:id="rId10"/>
    <p:sldId id="382" r:id="rId11"/>
    <p:sldId id="383" r:id="rId12"/>
    <p:sldId id="384" r:id="rId13"/>
    <p:sldId id="260" r:id="rId14"/>
    <p:sldId id="262" r:id="rId15"/>
    <p:sldId id="366" r:id="rId16"/>
    <p:sldId id="385" r:id="rId17"/>
    <p:sldId id="386" r:id="rId18"/>
    <p:sldId id="387" r:id="rId19"/>
    <p:sldId id="263" r:id="rId20"/>
    <p:sldId id="264" r:id="rId21"/>
    <p:sldId id="265" r:id="rId22"/>
    <p:sldId id="266" r:id="rId23"/>
    <p:sldId id="267" r:id="rId24"/>
    <p:sldId id="388" r:id="rId25"/>
    <p:sldId id="389" r:id="rId26"/>
    <p:sldId id="390" r:id="rId27"/>
    <p:sldId id="268" r:id="rId28"/>
    <p:sldId id="269" r:id="rId29"/>
    <p:sldId id="270" r:id="rId30"/>
    <p:sldId id="271" r:id="rId31"/>
    <p:sldId id="272" r:id="rId32"/>
    <p:sldId id="273" r:id="rId33"/>
    <p:sldId id="274" r:id="rId34"/>
    <p:sldId id="275" r:id="rId35"/>
    <p:sldId id="276" r:id="rId36"/>
    <p:sldId id="277" r:id="rId37"/>
    <p:sldId id="283" r:id="rId38"/>
    <p:sldId id="391" r:id="rId39"/>
    <p:sldId id="284" r:id="rId40"/>
    <p:sldId id="285" r:id="rId41"/>
    <p:sldId id="286" r:id="rId42"/>
    <p:sldId id="287" r:id="rId43"/>
    <p:sldId id="288" r:id="rId44"/>
    <p:sldId id="289" r:id="rId45"/>
    <p:sldId id="290" r:id="rId46"/>
    <p:sldId id="311" r:id="rId47"/>
    <p:sldId id="299" r:id="rId48"/>
    <p:sldId id="300"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89633" autoAdjust="0"/>
  </p:normalViewPr>
  <p:slideViewPr>
    <p:cSldViewPr snapToGrid="0">
      <p:cViewPr varScale="1">
        <p:scale>
          <a:sx n="103" d="100"/>
          <a:sy n="103" d="100"/>
        </p:scale>
        <p:origin x="8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E53E55-EC9A-434C-8BE2-CD78882C9BC0}" type="datetimeFigureOut">
              <a:rPr lang="en-US" smtClean="0"/>
              <a:t>9/16/2025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D2CD-5368-43DB-9451-734A67620D4E}" type="slidenum">
              <a:rPr lang="en-US" smtClean="0"/>
              <a:t>‹#›</a:t>
            </a:fld>
            <a:endParaRPr lang="en-US"/>
          </a:p>
        </p:txBody>
      </p:sp>
    </p:spTree>
    <p:extLst>
      <p:ext uri="{BB962C8B-B14F-4D97-AF65-F5344CB8AC3E}">
        <p14:creationId xmlns:p14="http://schemas.microsoft.com/office/powerpoint/2010/main" val="78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caler.com/topics/lzw-compression/#:~:text=Advantages%20of%20LZW%20over%20Huffman&amp;text=LZW%20does%20not%20require%20any,data%20in%20a%20single%20pass."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8BD2CD-5368-43DB-9451-734A67620D4E}" type="slidenum">
              <a:rPr lang="en-US" smtClean="0"/>
              <a:t>1</a:t>
            </a:fld>
            <a:endParaRPr lang="en-US"/>
          </a:p>
        </p:txBody>
      </p:sp>
    </p:spTree>
    <p:extLst>
      <p:ext uri="{BB962C8B-B14F-4D97-AF65-F5344CB8AC3E}">
        <p14:creationId xmlns:p14="http://schemas.microsoft.com/office/powerpoint/2010/main" val="464836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8BD2CD-5368-43DB-9451-734A67620D4E}" type="slidenum">
              <a:rPr lang="en-US" smtClean="0"/>
              <a:t>2</a:t>
            </a:fld>
            <a:endParaRPr lang="en-US"/>
          </a:p>
        </p:txBody>
      </p:sp>
    </p:spTree>
    <p:extLst>
      <p:ext uri="{BB962C8B-B14F-4D97-AF65-F5344CB8AC3E}">
        <p14:creationId xmlns:p14="http://schemas.microsoft.com/office/powerpoint/2010/main" val="150070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Entropy encoding</a:t>
            </a:r>
            <a:r>
              <a:rPr lang="en-US" sz="1200" b="0" i="0" kern="1200" dirty="0">
                <a:solidFill>
                  <a:schemeClr val="tx1"/>
                </a:solidFill>
                <a:effectLst/>
                <a:latin typeface="+mn-lt"/>
                <a:ea typeface="+mn-ea"/>
                <a:cs typeface="+mn-cs"/>
              </a:rPr>
              <a:t> is a lossless data compression technique that assigns shorter, variable-length codes to more frequent data symbols and longer codes to less frequent ones. </a:t>
            </a:r>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12</a:t>
            </a:fld>
            <a:endParaRPr lang="en-US"/>
          </a:p>
        </p:txBody>
      </p:sp>
    </p:spTree>
    <p:extLst>
      <p:ext uri="{BB962C8B-B14F-4D97-AF65-F5344CB8AC3E}">
        <p14:creationId xmlns:p14="http://schemas.microsoft.com/office/powerpoint/2010/main" val="633510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Write your Fisrt Name as string and apply Huffman coding algorithm and draw an equivalent binary tree.</a:t>
            </a:r>
          </a:p>
          <a:p>
            <a:endParaRPr lang="en-US"/>
          </a:p>
        </p:txBody>
      </p:sp>
      <p:sp>
        <p:nvSpPr>
          <p:cNvPr id="4" name="Slide Number Placeholder 3"/>
          <p:cNvSpPr>
            <a:spLocks noGrp="1"/>
          </p:cNvSpPr>
          <p:nvPr>
            <p:ph type="sldNum" sz="quarter" idx="10"/>
          </p:nvPr>
        </p:nvSpPr>
        <p:spPr/>
        <p:txBody>
          <a:bodyPr/>
          <a:lstStyle/>
          <a:p>
            <a:fld id="{118BD2CD-5368-43DB-9451-734A67620D4E}" type="slidenum">
              <a:rPr lang="en-US" smtClean="0"/>
              <a:t>26</a:t>
            </a:fld>
            <a:endParaRPr lang="en-US"/>
          </a:p>
        </p:txBody>
      </p:sp>
    </p:spTree>
    <p:extLst>
      <p:ext uri="{BB962C8B-B14F-4D97-AF65-F5344CB8AC3E}">
        <p14:creationId xmlns:p14="http://schemas.microsoft.com/office/powerpoint/2010/main" val="3134338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sng" dirty="0">
                <a:effectLst/>
                <a:latin typeface="Arial" panose="020B0604020202020204" pitchFamily="34" charset="0"/>
                <a:hlinkClick r:id="rId3"/>
              </a:rPr>
              <a:t>LZW (Lempel–Ziv–Welch) </a:t>
            </a:r>
          </a:p>
          <a:p>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37</a:t>
            </a:fld>
            <a:endParaRPr lang="en-US"/>
          </a:p>
        </p:txBody>
      </p:sp>
    </p:spTree>
    <p:extLst>
      <p:ext uri="{BB962C8B-B14F-4D97-AF65-F5344CB8AC3E}">
        <p14:creationId xmlns:p14="http://schemas.microsoft.com/office/powerpoint/2010/main" val="1695334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47</a:t>
            </a:fld>
            <a:endParaRPr lang="en-US"/>
          </a:p>
        </p:txBody>
      </p:sp>
    </p:spTree>
    <p:extLst>
      <p:ext uri="{BB962C8B-B14F-4D97-AF65-F5344CB8AC3E}">
        <p14:creationId xmlns:p14="http://schemas.microsoft.com/office/powerpoint/2010/main" val="390164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686262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70730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49422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6D2BA-BFE1-4F18-980D-42A06CD3627B}"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619195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6D2BA-BFE1-4F18-980D-42A06CD3627B}" type="datetimeFigureOut">
              <a:rPr lang="en-US" smtClean="0"/>
              <a:t>9/16/2025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774761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6D2BA-BFE1-4F18-980D-42A06CD3627B}" type="datetimeFigureOut">
              <a:rPr lang="en-US" smtClean="0"/>
              <a:t>9/16/2025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904473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6D2BA-BFE1-4F18-980D-42A06CD3627B}" type="datetimeFigureOut">
              <a:rPr lang="en-US" smtClean="0"/>
              <a:t>9/16/2025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6155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16D2BA-BFE1-4F18-980D-42A06CD3627B}" type="datetimeFigureOut">
              <a:rPr lang="en-US" smtClean="0"/>
              <a:t>9/16/2025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44334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
        <p:nvSpPr>
          <p:cNvPr id="5" name="Date Placeholder 4"/>
          <p:cNvSpPr>
            <a:spLocks noGrp="1"/>
          </p:cNvSpPr>
          <p:nvPr>
            <p:ph type="dt" sz="half" idx="10"/>
          </p:nvPr>
        </p:nvSpPr>
        <p:spPr/>
        <p:txBody>
          <a:bodyPr/>
          <a:lstStyle/>
          <a:p>
            <a:fld id="{0116D2BA-BFE1-4F18-980D-42A06CD3627B}" type="datetimeFigureOut">
              <a:rPr lang="en-US" smtClean="0"/>
              <a:t>9/16/2025</a:t>
            </a:fld>
            <a:endParaRPr lang="en-US"/>
          </a:p>
        </p:txBody>
      </p:sp>
    </p:spTree>
    <p:extLst>
      <p:ext uri="{BB962C8B-B14F-4D97-AF65-F5344CB8AC3E}">
        <p14:creationId xmlns:p14="http://schemas.microsoft.com/office/powerpoint/2010/main" val="686577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1504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30546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505348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90195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970545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237758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9/16/2025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2843838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16D2BA-BFE1-4F18-980D-42A06CD3627B}" type="datetimeFigureOut">
              <a:rPr lang="en-US" smtClean="0"/>
              <a:t>9/16/2025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836B74-D967-44D7-A95F-6356689A3BC9}" type="slidenum">
              <a:rPr lang="en-US" smtClean="0"/>
              <a:t>‹#›</a:t>
            </a:fld>
            <a:endParaRPr lang="en-US"/>
          </a:p>
        </p:txBody>
      </p:sp>
    </p:spTree>
    <p:extLst>
      <p:ext uri="{BB962C8B-B14F-4D97-AF65-F5344CB8AC3E}">
        <p14:creationId xmlns:p14="http://schemas.microsoft.com/office/powerpoint/2010/main" val="364634822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inhaz.ahmed@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 Id="rId9" Type="http://schemas.openxmlformats.org/officeDocument/2006/relationships/image" Target="../media/image9.wmf"/></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4.wmf"/></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0.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1.wmf"/><Relationship Id="rId5" Type="http://schemas.openxmlformats.org/officeDocument/2006/relationships/oleObject" Target="../embeddings/oleObject8.bin"/><Relationship Id="rId4" Type="http://schemas.openxmlformats.org/officeDocument/2006/relationships/image" Target="../media/image9.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2.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Autofit/>
          </a:bodyPr>
          <a:lstStyle/>
          <a:p>
            <a:pPr algn="ctr"/>
            <a:r>
              <a:rPr lang="en-US" sz="1400" dirty="0"/>
              <a:t>By </a:t>
            </a:r>
          </a:p>
          <a:p>
            <a:pPr algn="ctr"/>
            <a:r>
              <a:rPr lang="en-US" dirty="0"/>
              <a:t>Minhaz Uddin Ahmed, PhD</a:t>
            </a:r>
          </a:p>
          <a:p>
            <a:pPr algn="ctr"/>
            <a:r>
              <a:rPr lang="en-US" dirty="0"/>
              <a:t>Department of Computer Engineering</a:t>
            </a:r>
          </a:p>
          <a:p>
            <a:pPr algn="ctr"/>
            <a:r>
              <a:rPr lang="en-US" err="1"/>
              <a:t>Inha</a:t>
            </a:r>
            <a:r>
              <a:rPr lang="en-US"/>
              <a:t> University Tashkent.</a:t>
            </a:r>
            <a:endParaRPr lang="en-US" dirty="0"/>
          </a:p>
          <a:p>
            <a:pPr algn="ctr"/>
            <a:r>
              <a:rPr lang="en-US" dirty="0"/>
              <a:t>Email: </a:t>
            </a:r>
            <a:r>
              <a:rPr lang="en-US" dirty="0">
                <a:hlinkClick r:id="rId3"/>
              </a:rPr>
              <a:t>minhaz.ahmed@gmail.com</a:t>
            </a:r>
            <a:endParaRPr lang="en-US" dirty="0"/>
          </a:p>
          <a:p>
            <a:pPr algn="ctr"/>
            <a:endParaRPr lang="en-US" dirty="0"/>
          </a:p>
        </p:txBody>
      </p:sp>
    </p:spTree>
    <p:extLst>
      <p:ext uri="{BB962C8B-B14F-4D97-AF65-F5344CB8AC3E}">
        <p14:creationId xmlns:p14="http://schemas.microsoft.com/office/powerpoint/2010/main" val="3760735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a:xfrm>
            <a:off x="677334" y="1343402"/>
            <a:ext cx="8596668" cy="3880773"/>
          </a:xfrm>
        </p:spPr>
        <p:txBody>
          <a:bodyPr>
            <a:noAutofit/>
          </a:bodyPr>
          <a:lstStyle/>
          <a:p>
            <a:pPr>
              <a:buFont typeface="Wingdings" panose="05000000000000000000" pitchFamily="2" charset="2"/>
              <a:buChar char="Ø"/>
            </a:pPr>
            <a:r>
              <a:rPr lang="en-US" sz="1600" dirty="0"/>
              <a:t>Differential Coding of Audio</a:t>
            </a:r>
          </a:p>
          <a:p>
            <a:pPr>
              <a:buFont typeface="Wingdings" panose="05000000000000000000" pitchFamily="2" charset="2"/>
              <a:buChar char="Ø"/>
            </a:pPr>
            <a:r>
              <a:rPr lang="en-US" sz="1600" dirty="0"/>
              <a:t>Lossless Predictive Coding</a:t>
            </a:r>
          </a:p>
          <a:p>
            <a:pPr>
              <a:buFont typeface="Wingdings" panose="05000000000000000000" pitchFamily="2" charset="2"/>
              <a:buChar char="Ø"/>
            </a:pPr>
            <a:r>
              <a:rPr lang="en-US" sz="1600" dirty="0"/>
              <a:t>DPCM</a:t>
            </a:r>
          </a:p>
          <a:p>
            <a:pPr>
              <a:buFont typeface="Wingdings" panose="05000000000000000000" pitchFamily="2" charset="2"/>
              <a:buChar char="Ø"/>
            </a:pPr>
            <a:r>
              <a:rPr lang="en-US" sz="1600" dirty="0"/>
              <a:t>Lossless compression algorithms</a:t>
            </a:r>
          </a:p>
          <a:p>
            <a:pPr>
              <a:buFont typeface="Wingdings" panose="05000000000000000000" pitchFamily="2" charset="2"/>
              <a:buChar char="Ø"/>
            </a:pPr>
            <a:r>
              <a:rPr lang="en-US" sz="1600" dirty="0"/>
              <a:t>Basics of Information Theory</a:t>
            </a:r>
          </a:p>
          <a:p>
            <a:pPr>
              <a:buFont typeface="Wingdings" panose="05000000000000000000" pitchFamily="2" charset="2"/>
              <a:buChar char="Ø"/>
            </a:pPr>
            <a:r>
              <a:rPr lang="en-US" sz="1600" dirty="0"/>
              <a:t>Run length coding</a:t>
            </a:r>
          </a:p>
          <a:p>
            <a:pPr>
              <a:buFont typeface="Wingdings" panose="05000000000000000000" pitchFamily="2" charset="2"/>
              <a:buChar char="Ø"/>
            </a:pPr>
            <a:r>
              <a:rPr lang="en-US" sz="1600" dirty="0"/>
              <a:t>Variable length coding</a:t>
            </a:r>
          </a:p>
          <a:p>
            <a:pPr>
              <a:buFont typeface="Wingdings" panose="05000000000000000000" pitchFamily="2" charset="2"/>
              <a:buChar char="Ø"/>
            </a:pPr>
            <a:r>
              <a:rPr lang="en-US" sz="1600" dirty="0" err="1"/>
              <a:t>Shanon</a:t>
            </a:r>
            <a:r>
              <a:rPr lang="en-US" sz="1600" dirty="0"/>
              <a:t> Fano algorithm</a:t>
            </a:r>
          </a:p>
          <a:p>
            <a:pPr>
              <a:buFont typeface="Wingdings" panose="05000000000000000000" pitchFamily="2" charset="2"/>
              <a:buChar char="Ø"/>
            </a:pPr>
            <a:r>
              <a:rPr lang="en-US" sz="1600" dirty="0"/>
              <a:t>Huffman coding</a:t>
            </a:r>
          </a:p>
          <a:p>
            <a:pPr>
              <a:buFont typeface="Wingdings" panose="05000000000000000000" pitchFamily="2" charset="2"/>
              <a:buChar char="Ø"/>
            </a:pPr>
            <a:r>
              <a:rPr lang="en-US" sz="1600" dirty="0"/>
              <a:t>Adaptive Huffman coding</a:t>
            </a:r>
          </a:p>
          <a:p>
            <a:pPr>
              <a:buFont typeface="Wingdings" panose="05000000000000000000" pitchFamily="2" charset="2"/>
              <a:buChar char="Ø"/>
            </a:pPr>
            <a:r>
              <a:rPr lang="en-US" sz="1600" dirty="0"/>
              <a:t>LZW</a:t>
            </a:r>
          </a:p>
          <a:p>
            <a:pPr marL="0" indent="0">
              <a:buNone/>
            </a:pPr>
            <a:endParaRPr lang="en-US" sz="1600" dirty="0"/>
          </a:p>
          <a:p>
            <a:pPr marL="0" indent="0">
              <a:buNone/>
            </a:pPr>
            <a:endParaRPr lang="en-US" sz="1600" dirty="0"/>
          </a:p>
        </p:txBody>
      </p:sp>
    </p:spTree>
    <p:extLst>
      <p:ext uri="{BB962C8B-B14F-4D97-AF65-F5344CB8AC3E}">
        <p14:creationId xmlns:p14="http://schemas.microsoft.com/office/powerpoint/2010/main" val="20359540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BC9-CA06-AB01-DCC4-B1F08A9E36F0}"/>
              </a:ext>
            </a:extLst>
          </p:cNvPr>
          <p:cNvSpPr>
            <a:spLocks noGrp="1"/>
          </p:cNvSpPr>
          <p:nvPr>
            <p:ph type="title"/>
          </p:nvPr>
        </p:nvSpPr>
        <p:spPr/>
        <p:txBody>
          <a:bodyPr/>
          <a:lstStyle/>
          <a:p>
            <a:r>
              <a:rPr lang="en-US" dirty="0"/>
              <a:t>Modulation</a:t>
            </a:r>
          </a:p>
        </p:txBody>
      </p:sp>
      <p:sp>
        <p:nvSpPr>
          <p:cNvPr id="3" name="Content Placeholder 2">
            <a:extLst>
              <a:ext uri="{FF2B5EF4-FFF2-40B4-BE49-F238E27FC236}">
                <a16:creationId xmlns:a16="http://schemas.microsoft.com/office/drawing/2014/main" id="{2A5335E8-710E-4736-D64F-A194A2ECF121}"/>
              </a:ext>
            </a:extLst>
          </p:cNvPr>
          <p:cNvSpPr>
            <a:spLocks noGrp="1"/>
          </p:cNvSpPr>
          <p:nvPr>
            <p:ph idx="1"/>
          </p:nvPr>
        </p:nvSpPr>
        <p:spPr>
          <a:xfrm>
            <a:off x="677334" y="1698133"/>
            <a:ext cx="8596668" cy="3880773"/>
          </a:xfrm>
        </p:spPr>
        <p:txBody>
          <a:bodyPr>
            <a:normAutofit lnSpcReduction="10000"/>
          </a:bodyPr>
          <a:lstStyle/>
          <a:p>
            <a:pPr algn="just"/>
            <a:r>
              <a:rPr lang="en-US" b="0" i="0" dirty="0">
                <a:solidFill>
                  <a:srgbClr val="202122"/>
                </a:solidFill>
                <a:effectLst/>
                <a:latin typeface="Arial" panose="020B0604020202020204" pitchFamily="34" charset="0"/>
              </a:rPr>
              <a:t>In </a:t>
            </a:r>
            <a:r>
              <a:rPr lang="en-US" dirty="0">
                <a:latin typeface="Arial" panose="020B0604020202020204" pitchFamily="34" charset="0"/>
              </a:rPr>
              <a:t>electronics</a:t>
            </a:r>
            <a:r>
              <a:rPr lang="en-US" b="0" i="0" dirty="0">
                <a:solidFill>
                  <a:srgbClr val="202122"/>
                </a:solidFill>
                <a:effectLst/>
                <a:latin typeface="Arial" panose="020B0604020202020204" pitchFamily="34" charset="0"/>
              </a:rPr>
              <a:t> and </a:t>
            </a:r>
            <a:r>
              <a:rPr lang="en-US" dirty="0">
                <a:latin typeface="Arial" panose="020B0604020202020204" pitchFamily="34" charset="0"/>
              </a:rPr>
              <a:t>telecommunications</a:t>
            </a:r>
            <a:r>
              <a:rPr lang="en-US" b="0" i="0" dirty="0">
                <a:solidFill>
                  <a:srgbClr val="202122"/>
                </a:solidFill>
                <a:effectLst/>
                <a:latin typeface="Arial" panose="020B0604020202020204" pitchFamily="34" charset="0"/>
              </a:rPr>
              <a:t>,</a:t>
            </a:r>
            <a:r>
              <a:rPr lang="en-US" b="0" i="0" dirty="0">
                <a:solidFill>
                  <a:srgbClr val="00B050"/>
                </a:solidFill>
                <a:effectLst/>
                <a:latin typeface="Arial" panose="020B0604020202020204" pitchFamily="34" charset="0"/>
              </a:rPr>
              <a:t> </a:t>
            </a:r>
            <a:r>
              <a:rPr lang="en-US" b="1" i="0" dirty="0">
                <a:solidFill>
                  <a:srgbClr val="00B050"/>
                </a:solidFill>
                <a:effectLst/>
                <a:latin typeface="Arial" panose="020B0604020202020204" pitchFamily="34" charset="0"/>
              </a:rPr>
              <a:t>modulation</a:t>
            </a:r>
            <a:r>
              <a:rPr lang="en-US" b="0" i="0" dirty="0">
                <a:solidFill>
                  <a:srgbClr val="00B050"/>
                </a:solidFill>
                <a:effectLst/>
                <a:latin typeface="Arial" panose="020B0604020202020204" pitchFamily="34" charset="0"/>
              </a:rPr>
              <a:t> is the process of varying one or more properties of a periodic </a:t>
            </a:r>
            <a:r>
              <a:rPr lang="en-US" dirty="0">
                <a:solidFill>
                  <a:srgbClr val="00B050"/>
                </a:solidFill>
                <a:latin typeface="Arial" panose="020B0604020202020204" pitchFamily="34" charset="0"/>
              </a:rPr>
              <a:t>waveform</a:t>
            </a:r>
            <a:r>
              <a:rPr lang="en-US" b="0" i="0" dirty="0">
                <a:solidFill>
                  <a:srgbClr val="00B050"/>
                </a:solidFill>
                <a:effectLst/>
                <a:latin typeface="Arial" panose="020B0604020202020204" pitchFamily="34" charset="0"/>
              </a:rPr>
              <a:t>, called the </a:t>
            </a:r>
            <a:r>
              <a:rPr lang="en-US" i="1" dirty="0">
                <a:solidFill>
                  <a:srgbClr val="00B050"/>
                </a:solidFill>
                <a:latin typeface="Arial" panose="020B0604020202020204" pitchFamily="34" charset="0"/>
              </a:rPr>
              <a:t>carrier signal</a:t>
            </a:r>
            <a:r>
              <a:rPr lang="en-US" b="0" i="0" dirty="0">
                <a:solidFill>
                  <a:srgbClr val="00B050"/>
                </a:solidFill>
                <a:effectLst/>
                <a:latin typeface="Arial" panose="020B0604020202020204" pitchFamily="34" charset="0"/>
              </a:rPr>
              <a:t>, with a separate signal called the </a:t>
            </a:r>
            <a:r>
              <a:rPr lang="en-US" b="0" i="1" dirty="0">
                <a:solidFill>
                  <a:srgbClr val="00B050"/>
                </a:solidFill>
                <a:effectLst/>
                <a:latin typeface="Arial" panose="020B0604020202020204" pitchFamily="34" charset="0"/>
              </a:rPr>
              <a:t>modulation </a:t>
            </a:r>
            <a:r>
              <a:rPr lang="en-US" b="0" i="1" dirty="0">
                <a:solidFill>
                  <a:srgbClr val="202122"/>
                </a:solidFill>
                <a:effectLst/>
                <a:latin typeface="Arial" panose="020B0604020202020204" pitchFamily="34" charset="0"/>
              </a:rPr>
              <a:t>signal</a:t>
            </a:r>
            <a:r>
              <a:rPr lang="en-US" b="0" i="0" dirty="0">
                <a:solidFill>
                  <a:srgbClr val="202122"/>
                </a:solidFill>
                <a:effectLst/>
                <a:latin typeface="Arial" panose="020B0604020202020204" pitchFamily="34" charset="0"/>
              </a:rPr>
              <a:t> that typically contains information to be transmitted.</a:t>
            </a:r>
          </a:p>
          <a:p>
            <a:pPr algn="just"/>
            <a:endParaRPr lang="en-US" dirty="0">
              <a:solidFill>
                <a:srgbClr val="202122"/>
              </a:solidFill>
              <a:latin typeface="Arial" panose="020B0604020202020204" pitchFamily="34" charset="0"/>
            </a:endParaRPr>
          </a:p>
          <a:p>
            <a:pPr algn="just">
              <a:buFont typeface="Arial" panose="020B0604020202020204" pitchFamily="34" charset="0"/>
              <a:buChar char="•"/>
            </a:pPr>
            <a:r>
              <a:rPr lang="en-US" b="1" i="0" dirty="0">
                <a:solidFill>
                  <a:srgbClr val="666666"/>
                </a:solidFill>
                <a:effectLst/>
                <a:latin typeface="Arial" panose="020B0604020202020204" pitchFamily="34" charset="0"/>
              </a:rPr>
              <a:t>Amplitude modulation (AM):</a:t>
            </a:r>
            <a:r>
              <a:rPr lang="en-US" b="0" i="0" dirty="0">
                <a:solidFill>
                  <a:srgbClr val="666666"/>
                </a:solidFill>
                <a:effectLst/>
                <a:latin typeface="Arial" panose="020B0604020202020204" pitchFamily="34" charset="0"/>
              </a:rPr>
              <a:t> The height of the signal carrier is varied to represent the data being added to the signal.</a:t>
            </a:r>
          </a:p>
          <a:p>
            <a:pPr algn="just">
              <a:buFont typeface="Arial" panose="020B0604020202020204" pitchFamily="34" charset="0"/>
              <a:buChar char="•"/>
            </a:pPr>
            <a:r>
              <a:rPr lang="en-US" b="1" i="0" dirty="0">
                <a:solidFill>
                  <a:srgbClr val="666666"/>
                </a:solidFill>
                <a:effectLst/>
                <a:latin typeface="Arial" panose="020B0604020202020204" pitchFamily="34" charset="0"/>
              </a:rPr>
              <a:t>Frequency modulation (FM):</a:t>
            </a:r>
            <a:r>
              <a:rPr lang="en-US" b="0" i="0" dirty="0">
                <a:solidFill>
                  <a:srgbClr val="666666"/>
                </a:solidFill>
                <a:effectLst/>
                <a:latin typeface="Arial" panose="020B0604020202020204" pitchFamily="34" charset="0"/>
              </a:rPr>
              <a:t> The frequency of the carrier waveform is varied to reflect the frequency of the data.</a:t>
            </a:r>
          </a:p>
          <a:p>
            <a:pPr algn="just">
              <a:buFont typeface="Arial" panose="020B0604020202020204" pitchFamily="34" charset="0"/>
              <a:buChar char="•"/>
            </a:pPr>
            <a:r>
              <a:rPr lang="en-US" b="1" i="0" dirty="0">
                <a:solidFill>
                  <a:srgbClr val="666666"/>
                </a:solidFill>
                <a:effectLst/>
                <a:latin typeface="Arial" panose="020B0604020202020204" pitchFamily="34" charset="0"/>
              </a:rPr>
              <a:t>Phase modulation (PM):</a:t>
            </a:r>
            <a:r>
              <a:rPr lang="en-US" b="0" i="0" dirty="0">
                <a:solidFill>
                  <a:srgbClr val="666666"/>
                </a:solidFill>
                <a:effectLst/>
                <a:latin typeface="Arial" panose="020B0604020202020204" pitchFamily="34" charset="0"/>
              </a:rPr>
              <a:t> The phase of the carrier waveform is varied to reflect changes in the frequency of the data. In PM, the frequency is unchanged while the phase is changed relative to the base carrier frequency. It is similar to FM.</a:t>
            </a:r>
          </a:p>
          <a:p>
            <a:endParaRPr lang="en-US" dirty="0"/>
          </a:p>
        </p:txBody>
      </p:sp>
    </p:spTree>
    <p:extLst>
      <p:ext uri="{BB962C8B-B14F-4D97-AF65-F5344CB8AC3E}">
        <p14:creationId xmlns:p14="http://schemas.microsoft.com/office/powerpoint/2010/main" val="42738658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48DE-313D-8A50-368A-1D1861A52FEE}"/>
              </a:ext>
            </a:extLst>
          </p:cNvPr>
          <p:cNvSpPr>
            <a:spLocks noGrp="1"/>
          </p:cNvSpPr>
          <p:nvPr>
            <p:ph type="title"/>
          </p:nvPr>
        </p:nvSpPr>
        <p:spPr/>
        <p:txBody>
          <a:bodyPr/>
          <a:lstStyle/>
          <a:p>
            <a:r>
              <a:rPr lang="en-US" dirty="0"/>
              <a:t>Modulation</a:t>
            </a:r>
          </a:p>
        </p:txBody>
      </p:sp>
      <p:pic>
        <p:nvPicPr>
          <p:cNvPr id="5" name="Content Placeholder 4">
            <a:extLst>
              <a:ext uri="{FF2B5EF4-FFF2-40B4-BE49-F238E27FC236}">
                <a16:creationId xmlns:a16="http://schemas.microsoft.com/office/drawing/2014/main" id="{BBD4045D-6E60-8023-43CA-8798B339382F}"/>
              </a:ext>
            </a:extLst>
          </p:cNvPr>
          <p:cNvPicPr>
            <a:picLocks noGrp="1" noChangeAspect="1"/>
          </p:cNvPicPr>
          <p:nvPr>
            <p:ph idx="1"/>
          </p:nvPr>
        </p:nvPicPr>
        <p:blipFill>
          <a:blip r:embed="rId2"/>
          <a:stretch>
            <a:fillRect/>
          </a:stretch>
        </p:blipFill>
        <p:spPr>
          <a:xfrm>
            <a:off x="770523" y="1456395"/>
            <a:ext cx="7206828" cy="4355826"/>
          </a:xfrm>
        </p:spPr>
      </p:pic>
      <p:sp>
        <p:nvSpPr>
          <p:cNvPr id="7" name="TextBox 6">
            <a:extLst>
              <a:ext uri="{FF2B5EF4-FFF2-40B4-BE49-F238E27FC236}">
                <a16:creationId xmlns:a16="http://schemas.microsoft.com/office/drawing/2014/main" id="{7CAF246C-26AE-68A4-BD9B-A173F7ECB287}"/>
              </a:ext>
            </a:extLst>
          </p:cNvPr>
          <p:cNvSpPr txBox="1"/>
          <p:nvPr/>
        </p:nvSpPr>
        <p:spPr>
          <a:xfrm>
            <a:off x="509170" y="6130559"/>
            <a:ext cx="8435134" cy="646331"/>
          </a:xfrm>
          <a:prstGeom prst="rect">
            <a:avLst/>
          </a:prstGeom>
          <a:noFill/>
        </p:spPr>
        <p:txBody>
          <a:bodyPr wrap="square">
            <a:spAutoFit/>
          </a:bodyPr>
          <a:lstStyle/>
          <a:p>
            <a:r>
              <a:rPr lang="en-US" b="0" i="0" dirty="0">
                <a:solidFill>
                  <a:srgbClr val="666666"/>
                </a:solidFill>
                <a:effectLst/>
                <a:latin typeface="Arial" panose="020B0604020202020204" pitchFamily="34" charset="0"/>
              </a:rPr>
              <a:t>Modulation is the process of encoding information in a transmitted signal, while demodulation is the process of extracting information from the transmitted signal</a:t>
            </a:r>
            <a:endParaRPr lang="en-US" dirty="0"/>
          </a:p>
        </p:txBody>
      </p:sp>
    </p:spTree>
    <p:extLst>
      <p:ext uri="{BB962C8B-B14F-4D97-AF65-F5344CB8AC3E}">
        <p14:creationId xmlns:p14="http://schemas.microsoft.com/office/powerpoint/2010/main" val="2818383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3D27D-218D-F14D-9677-F9800604DB21}"/>
              </a:ext>
            </a:extLst>
          </p:cNvPr>
          <p:cNvSpPr>
            <a:spLocks noGrp="1"/>
          </p:cNvSpPr>
          <p:nvPr>
            <p:ph type="title"/>
          </p:nvPr>
        </p:nvSpPr>
        <p:spPr/>
        <p:txBody>
          <a:bodyPr/>
          <a:lstStyle/>
          <a:p>
            <a:r>
              <a:rPr lang="en-US" dirty="0"/>
              <a:t>PCM in general </a:t>
            </a:r>
          </a:p>
        </p:txBody>
      </p:sp>
      <p:sp>
        <p:nvSpPr>
          <p:cNvPr id="3" name="Content Placeholder 2">
            <a:extLst>
              <a:ext uri="{FF2B5EF4-FFF2-40B4-BE49-F238E27FC236}">
                <a16:creationId xmlns:a16="http://schemas.microsoft.com/office/drawing/2014/main" id="{345F7A7E-56FA-C55C-AAF4-D4B520FFCA19}"/>
              </a:ext>
            </a:extLst>
          </p:cNvPr>
          <p:cNvSpPr>
            <a:spLocks noGrp="1"/>
          </p:cNvSpPr>
          <p:nvPr>
            <p:ph idx="1"/>
          </p:nvPr>
        </p:nvSpPr>
        <p:spPr/>
        <p:txBody>
          <a:bodyPr/>
          <a:lstStyle/>
          <a:p>
            <a:pPr algn="just"/>
            <a:r>
              <a:rPr lang="en-US" dirty="0"/>
              <a:t>We say that the boundaries for quantizer input intervals that will all be mapped into the same output level form a coder mapping, and the representative values that are the output values from a quantizer are a decoder mapping.</a:t>
            </a:r>
          </a:p>
          <a:p>
            <a:pPr algn="just"/>
            <a:r>
              <a:rPr lang="en-US" dirty="0"/>
              <a:t> Since we quantize, we may choose to create either an accurate or less accurate representation of sound magnitude values. Finally, we may wish to compress the data, by assigning a bitstream that uses fewer bits for the most prevalent signal values.</a:t>
            </a:r>
          </a:p>
        </p:txBody>
      </p:sp>
    </p:spTree>
    <p:extLst>
      <p:ext uri="{BB962C8B-B14F-4D97-AF65-F5344CB8AC3E}">
        <p14:creationId xmlns:p14="http://schemas.microsoft.com/office/powerpoint/2010/main" val="34364345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9BB5B-6679-104D-6D78-CC581CEDF00D}"/>
              </a:ext>
            </a:extLst>
          </p:cNvPr>
          <p:cNvSpPr>
            <a:spLocks noGrp="1"/>
          </p:cNvSpPr>
          <p:nvPr>
            <p:ph type="title"/>
          </p:nvPr>
        </p:nvSpPr>
        <p:spPr/>
        <p:txBody>
          <a:bodyPr/>
          <a:lstStyle/>
          <a:p>
            <a:r>
              <a:rPr lang="en-US" dirty="0"/>
              <a:t>PCM in general </a:t>
            </a:r>
          </a:p>
        </p:txBody>
      </p:sp>
      <p:sp>
        <p:nvSpPr>
          <p:cNvPr id="3" name="Content Placeholder 2">
            <a:extLst>
              <a:ext uri="{FF2B5EF4-FFF2-40B4-BE49-F238E27FC236}">
                <a16:creationId xmlns:a16="http://schemas.microsoft.com/office/drawing/2014/main" id="{F46C4B95-CC45-8352-7343-3F125B3624EB}"/>
              </a:ext>
            </a:extLst>
          </p:cNvPr>
          <p:cNvSpPr>
            <a:spLocks noGrp="1"/>
          </p:cNvSpPr>
          <p:nvPr>
            <p:ph idx="1"/>
          </p:nvPr>
        </p:nvSpPr>
        <p:spPr/>
        <p:txBody>
          <a:bodyPr/>
          <a:lstStyle/>
          <a:p>
            <a:r>
              <a:rPr lang="en-US" dirty="0"/>
              <a:t>Every compression scheme has three stages: </a:t>
            </a:r>
          </a:p>
          <a:p>
            <a:pPr algn="just"/>
            <a:r>
              <a:rPr lang="en-US" dirty="0"/>
              <a:t>1. </a:t>
            </a:r>
            <a:r>
              <a:rPr lang="en-US" dirty="0">
                <a:solidFill>
                  <a:srgbClr val="00B050"/>
                </a:solidFill>
              </a:rPr>
              <a:t>Transformation</a:t>
            </a:r>
            <a:r>
              <a:rPr lang="en-US" dirty="0"/>
              <a:t>. The input data is transformed to a new representation that is easier or more efficient to compress. For example, in Predictive Coding,  we predict the next signal from previous ones and transmit the prediction error.</a:t>
            </a:r>
          </a:p>
          <a:p>
            <a:pPr algn="just"/>
            <a:r>
              <a:rPr lang="en-US" dirty="0"/>
              <a:t>2. </a:t>
            </a:r>
            <a:r>
              <a:rPr lang="en-US" dirty="0">
                <a:solidFill>
                  <a:srgbClr val="00B050"/>
                </a:solidFill>
              </a:rPr>
              <a:t>Loss</a:t>
            </a:r>
            <a:r>
              <a:rPr lang="en-US" dirty="0"/>
              <a:t>. We may introduce loss of information. Quantization is the main lossy step. Here, we use a limited number of reconstruction levels fewer than in the original signal. Therefore, quantization necessitates some loss of information. </a:t>
            </a:r>
          </a:p>
          <a:p>
            <a:pPr algn="just"/>
            <a:r>
              <a:rPr lang="en-US" dirty="0"/>
              <a:t>3. </a:t>
            </a:r>
            <a:r>
              <a:rPr lang="en-US" dirty="0">
                <a:solidFill>
                  <a:srgbClr val="00B050"/>
                </a:solidFill>
              </a:rPr>
              <a:t>Coding</a:t>
            </a:r>
            <a:r>
              <a:rPr lang="en-US" dirty="0"/>
              <a:t>. Here, we assign a codeword (thus forming a binary bitstream) to each output level or symbol. This could be a fixed-length code or a variable-length code, such as Huffman coding</a:t>
            </a:r>
          </a:p>
        </p:txBody>
      </p:sp>
    </p:spTree>
    <p:extLst>
      <p:ext uri="{BB962C8B-B14F-4D97-AF65-F5344CB8AC3E}">
        <p14:creationId xmlns:p14="http://schemas.microsoft.com/office/powerpoint/2010/main" val="5273742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7C97-2632-4157-9C2B-6E74D17DBAAE}"/>
              </a:ext>
            </a:extLst>
          </p:cNvPr>
          <p:cNvSpPr>
            <a:spLocks noGrp="1"/>
          </p:cNvSpPr>
          <p:nvPr>
            <p:ph type="title"/>
          </p:nvPr>
        </p:nvSpPr>
        <p:spPr>
          <a:xfrm>
            <a:off x="845500" y="681422"/>
            <a:ext cx="8596668" cy="1320800"/>
          </a:xfrm>
        </p:spPr>
        <p:txBody>
          <a:bodyPr>
            <a:normAutofit fontScale="90000"/>
          </a:bodyPr>
          <a:lstStyle/>
          <a:p>
            <a:r>
              <a:rPr lang="en-US" altLang="en-US" dirty="0"/>
              <a:t>S</a:t>
            </a:r>
            <a:r>
              <a:rPr lang="en-US" altLang="en-US" sz="3600" dirty="0"/>
              <a:t>hows an an audio waveform, v(t) is sampled, quantized and encoded into 3-bit PCM system</a:t>
            </a:r>
            <a:endParaRPr lang="en-US" dirty="0"/>
          </a:p>
        </p:txBody>
      </p:sp>
      <p:pic>
        <p:nvPicPr>
          <p:cNvPr id="4" name="Picture 4" descr="PCM">
            <a:extLst>
              <a:ext uri="{FF2B5EF4-FFF2-40B4-BE49-F238E27FC236}">
                <a16:creationId xmlns:a16="http://schemas.microsoft.com/office/drawing/2014/main" id="{E1AEF709-3718-0524-0190-D44FBA76435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45500" y="2002222"/>
            <a:ext cx="6359088" cy="4577254"/>
          </a:xfrm>
          <a:noFill/>
        </p:spPr>
      </p:pic>
    </p:spTree>
    <p:extLst>
      <p:ext uri="{BB962C8B-B14F-4D97-AF65-F5344CB8AC3E}">
        <p14:creationId xmlns:p14="http://schemas.microsoft.com/office/powerpoint/2010/main" val="27243209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78F7C-C89A-0D0C-22EF-C7A7103A092A}"/>
              </a:ext>
            </a:extLst>
          </p:cNvPr>
          <p:cNvSpPr>
            <a:spLocks noGrp="1"/>
          </p:cNvSpPr>
          <p:nvPr>
            <p:ph type="title"/>
          </p:nvPr>
        </p:nvSpPr>
        <p:spPr/>
        <p:txBody>
          <a:bodyPr/>
          <a:lstStyle/>
          <a:p>
            <a:r>
              <a:rPr lang="en-US" dirty="0"/>
              <a:t>PCM in general </a:t>
            </a:r>
          </a:p>
        </p:txBody>
      </p:sp>
      <p:pic>
        <p:nvPicPr>
          <p:cNvPr id="5" name="Content Placeholder 4">
            <a:extLst>
              <a:ext uri="{FF2B5EF4-FFF2-40B4-BE49-F238E27FC236}">
                <a16:creationId xmlns:a16="http://schemas.microsoft.com/office/drawing/2014/main" id="{8E2BB35A-2E39-C9E5-8116-FF53CA6A89BA}"/>
              </a:ext>
            </a:extLst>
          </p:cNvPr>
          <p:cNvPicPr>
            <a:picLocks noGrp="1" noChangeAspect="1"/>
          </p:cNvPicPr>
          <p:nvPr>
            <p:ph idx="1"/>
          </p:nvPr>
        </p:nvPicPr>
        <p:blipFill>
          <a:blip r:embed="rId2"/>
          <a:stretch>
            <a:fillRect/>
          </a:stretch>
        </p:blipFill>
        <p:spPr>
          <a:xfrm>
            <a:off x="677334" y="1692878"/>
            <a:ext cx="7687710" cy="4555522"/>
          </a:xfrm>
        </p:spPr>
      </p:pic>
    </p:spTree>
    <p:extLst>
      <p:ext uri="{BB962C8B-B14F-4D97-AF65-F5344CB8AC3E}">
        <p14:creationId xmlns:p14="http://schemas.microsoft.com/office/powerpoint/2010/main" val="9760533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4AA87-0B57-E3CF-820D-0AAB5F63E07E}"/>
              </a:ext>
            </a:extLst>
          </p:cNvPr>
          <p:cNvSpPr>
            <a:spLocks noGrp="1"/>
          </p:cNvSpPr>
          <p:nvPr>
            <p:ph type="title"/>
          </p:nvPr>
        </p:nvSpPr>
        <p:spPr/>
        <p:txBody>
          <a:bodyPr/>
          <a:lstStyle/>
          <a:p>
            <a:r>
              <a:rPr lang="en-US" dirty="0"/>
              <a:t>PCM in general </a:t>
            </a:r>
          </a:p>
        </p:txBody>
      </p:sp>
      <p:pic>
        <p:nvPicPr>
          <p:cNvPr id="5" name="Content Placeholder 4">
            <a:extLst>
              <a:ext uri="{FF2B5EF4-FFF2-40B4-BE49-F238E27FC236}">
                <a16:creationId xmlns:a16="http://schemas.microsoft.com/office/drawing/2014/main" id="{A18EE25A-FC18-97BC-8CE3-22AF7AFA6560}"/>
              </a:ext>
            </a:extLst>
          </p:cNvPr>
          <p:cNvPicPr>
            <a:picLocks noGrp="1" noChangeAspect="1"/>
          </p:cNvPicPr>
          <p:nvPr>
            <p:ph idx="1"/>
          </p:nvPr>
        </p:nvPicPr>
        <p:blipFill>
          <a:blip r:embed="rId2"/>
          <a:stretch>
            <a:fillRect/>
          </a:stretch>
        </p:blipFill>
        <p:spPr>
          <a:xfrm>
            <a:off x="940479" y="1815224"/>
            <a:ext cx="7806396" cy="3227551"/>
          </a:xfrm>
        </p:spPr>
      </p:pic>
    </p:spTree>
    <p:extLst>
      <p:ext uri="{BB962C8B-B14F-4D97-AF65-F5344CB8AC3E}">
        <p14:creationId xmlns:p14="http://schemas.microsoft.com/office/powerpoint/2010/main" val="16749320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42CB-C25C-5B28-A413-3E97BF1A651B}"/>
              </a:ext>
            </a:extLst>
          </p:cNvPr>
          <p:cNvSpPr>
            <a:spLocks noGrp="1"/>
          </p:cNvSpPr>
          <p:nvPr>
            <p:ph type="title"/>
          </p:nvPr>
        </p:nvSpPr>
        <p:spPr>
          <a:xfrm>
            <a:off x="677334" y="587351"/>
            <a:ext cx="8596668" cy="1320800"/>
          </a:xfrm>
        </p:spPr>
        <p:txBody>
          <a:bodyPr/>
          <a:lstStyle/>
          <a:p>
            <a:r>
              <a:rPr lang="en-US" dirty="0"/>
              <a:t>Compression technique</a:t>
            </a:r>
          </a:p>
        </p:txBody>
      </p:sp>
      <p:pic>
        <p:nvPicPr>
          <p:cNvPr id="5" name="Content Placeholder 4">
            <a:extLst>
              <a:ext uri="{FF2B5EF4-FFF2-40B4-BE49-F238E27FC236}">
                <a16:creationId xmlns:a16="http://schemas.microsoft.com/office/drawing/2014/main" id="{40102154-1680-841A-8FA4-5ECC946982CC}"/>
              </a:ext>
            </a:extLst>
          </p:cNvPr>
          <p:cNvPicPr>
            <a:picLocks noGrp="1" noChangeAspect="1"/>
          </p:cNvPicPr>
          <p:nvPr>
            <p:ph idx="1"/>
          </p:nvPr>
        </p:nvPicPr>
        <p:blipFill>
          <a:blip r:embed="rId2"/>
          <a:stretch>
            <a:fillRect/>
          </a:stretch>
        </p:blipFill>
        <p:spPr>
          <a:xfrm>
            <a:off x="530189" y="3171143"/>
            <a:ext cx="8596312" cy="1671851"/>
          </a:xfrm>
        </p:spPr>
      </p:pic>
      <p:sp>
        <p:nvSpPr>
          <p:cNvPr id="7" name="TextBox 6">
            <a:extLst>
              <a:ext uri="{FF2B5EF4-FFF2-40B4-BE49-F238E27FC236}">
                <a16:creationId xmlns:a16="http://schemas.microsoft.com/office/drawing/2014/main" id="{D497C6BD-9307-E63F-B5F8-EF7E59129E1F}"/>
              </a:ext>
            </a:extLst>
          </p:cNvPr>
          <p:cNvSpPr txBox="1"/>
          <p:nvPr/>
        </p:nvSpPr>
        <p:spPr>
          <a:xfrm>
            <a:off x="896007" y="2076584"/>
            <a:ext cx="7491248" cy="646331"/>
          </a:xfrm>
          <a:prstGeom prst="rect">
            <a:avLst/>
          </a:prstGeom>
          <a:noFill/>
        </p:spPr>
        <p:txBody>
          <a:bodyPr wrap="square">
            <a:spAutoFit/>
          </a:bodyPr>
          <a:lstStyle/>
          <a:p>
            <a:pPr eaLnBrk="1" fontAlgn="auto" hangingPunct="1">
              <a:spcAft>
                <a:spcPts val="0"/>
              </a:spcAft>
              <a:defRPr/>
            </a:pPr>
            <a:r>
              <a:rPr lang="en-CA" b="1" dirty="0"/>
              <a:t>Compression</a:t>
            </a:r>
            <a:r>
              <a:rPr lang="en-CA" dirty="0"/>
              <a:t>: the process of coding that will effectively reduce the total number of bits needed to represent certain information.</a:t>
            </a:r>
          </a:p>
        </p:txBody>
      </p:sp>
      <p:sp>
        <p:nvSpPr>
          <p:cNvPr id="9" name="TextBox 8">
            <a:extLst>
              <a:ext uri="{FF2B5EF4-FFF2-40B4-BE49-F238E27FC236}">
                <a16:creationId xmlns:a16="http://schemas.microsoft.com/office/drawing/2014/main" id="{BE57B524-9722-A8D9-388E-BD5F26CEED9A}"/>
              </a:ext>
            </a:extLst>
          </p:cNvPr>
          <p:cNvSpPr txBox="1"/>
          <p:nvPr/>
        </p:nvSpPr>
        <p:spPr>
          <a:xfrm>
            <a:off x="643759" y="5624318"/>
            <a:ext cx="7743496" cy="646331"/>
          </a:xfrm>
          <a:prstGeom prst="rect">
            <a:avLst/>
          </a:prstGeom>
          <a:noFill/>
        </p:spPr>
        <p:txBody>
          <a:bodyPr wrap="square">
            <a:spAutoFit/>
          </a:bodyPr>
          <a:lstStyle/>
          <a:p>
            <a:pPr eaLnBrk="1" fontAlgn="auto" hangingPunct="1">
              <a:spcAft>
                <a:spcPts val="0"/>
              </a:spcAft>
              <a:defRPr/>
            </a:pPr>
            <a:r>
              <a:rPr lang="en-CA" dirty="0"/>
              <a:t>If the compression and decompression processes induce no information loss, then the compression scheme is </a:t>
            </a:r>
            <a:r>
              <a:rPr lang="en-CA" b="1" dirty="0"/>
              <a:t>lossless</a:t>
            </a:r>
            <a:r>
              <a:rPr lang="en-CA" dirty="0"/>
              <a:t>; otherwise, it is </a:t>
            </a:r>
            <a:r>
              <a:rPr lang="en-CA" b="1" dirty="0"/>
              <a:t>lossy</a:t>
            </a:r>
            <a:r>
              <a:rPr lang="en-CA" dirty="0"/>
              <a:t>.</a:t>
            </a:r>
          </a:p>
        </p:txBody>
      </p:sp>
    </p:spTree>
    <p:extLst>
      <p:ext uri="{BB962C8B-B14F-4D97-AF65-F5344CB8AC3E}">
        <p14:creationId xmlns:p14="http://schemas.microsoft.com/office/powerpoint/2010/main" val="27863700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42CB-C25C-5B28-A413-3E97BF1A651B}"/>
              </a:ext>
            </a:extLst>
          </p:cNvPr>
          <p:cNvSpPr>
            <a:spLocks noGrp="1"/>
          </p:cNvSpPr>
          <p:nvPr>
            <p:ph type="title"/>
          </p:nvPr>
        </p:nvSpPr>
        <p:spPr/>
        <p:txBody>
          <a:bodyPr/>
          <a:lstStyle/>
          <a:p>
            <a:r>
              <a:rPr lang="en-US" dirty="0"/>
              <a:t>Lossless compression technique</a:t>
            </a:r>
          </a:p>
        </p:txBody>
      </p:sp>
      <p:sp>
        <p:nvSpPr>
          <p:cNvPr id="3" name="Content Placeholder 2">
            <a:extLst>
              <a:ext uri="{FF2B5EF4-FFF2-40B4-BE49-F238E27FC236}">
                <a16:creationId xmlns:a16="http://schemas.microsoft.com/office/drawing/2014/main" id="{366A990A-6BAC-BC74-5842-463A5ECC7F7A}"/>
              </a:ext>
            </a:extLst>
          </p:cNvPr>
          <p:cNvSpPr>
            <a:spLocks noGrp="1"/>
          </p:cNvSpPr>
          <p:nvPr>
            <p:ph idx="1"/>
          </p:nvPr>
        </p:nvSpPr>
        <p:spPr/>
        <p:txBody>
          <a:bodyPr/>
          <a:lstStyle/>
          <a:p>
            <a:r>
              <a:rPr lang="en-US" sz="1800" b="0" i="0" dirty="0">
                <a:solidFill>
                  <a:srgbClr val="000000"/>
                </a:solidFill>
                <a:effectLst/>
                <a:latin typeface="Times-Roman"/>
              </a:rPr>
              <a:t>lossless compression.</a:t>
            </a:r>
          </a:p>
          <a:p>
            <a:r>
              <a:rPr lang="en-US" sz="1800" b="0" i="0" dirty="0">
                <a:solidFill>
                  <a:srgbClr val="000000"/>
                </a:solidFill>
                <a:effectLst/>
                <a:latin typeface="Times-Roman"/>
              </a:rPr>
              <a:t>If the total </a:t>
            </a:r>
            <a:r>
              <a:rPr lang="en-US" sz="1800" b="0" i="0" dirty="0">
                <a:solidFill>
                  <a:srgbClr val="FF0000"/>
                </a:solidFill>
                <a:effectLst/>
                <a:latin typeface="Times-Roman"/>
              </a:rPr>
              <a:t>number of bits required to represent the data before compression is </a:t>
            </a:r>
            <a:r>
              <a:rPr lang="en-US" sz="1800" b="0" i="1" dirty="0">
                <a:solidFill>
                  <a:srgbClr val="FF0000"/>
                </a:solidFill>
                <a:effectLst/>
                <a:latin typeface="Times-Italic"/>
              </a:rPr>
              <a:t>B</a:t>
            </a:r>
            <a:r>
              <a:rPr lang="en-US" sz="1800" b="0" i="0" dirty="0">
                <a:solidFill>
                  <a:srgbClr val="FF0000"/>
                </a:solidFill>
                <a:effectLst/>
                <a:latin typeface="Times-Roman"/>
              </a:rPr>
              <a:t>0 </a:t>
            </a:r>
            <a:r>
              <a:rPr lang="en-US" sz="1800" b="0" i="0" dirty="0">
                <a:solidFill>
                  <a:srgbClr val="000000"/>
                </a:solidFill>
                <a:effectLst/>
                <a:latin typeface="Times-Roman"/>
              </a:rPr>
              <a:t>and the </a:t>
            </a:r>
            <a:r>
              <a:rPr lang="en-US" sz="1800" b="0" i="0" dirty="0">
                <a:solidFill>
                  <a:srgbClr val="00B0F0"/>
                </a:solidFill>
                <a:effectLst/>
                <a:latin typeface="Times-Roman"/>
              </a:rPr>
              <a:t>total number of bits required to represent the data after compression is </a:t>
            </a:r>
            <a:r>
              <a:rPr lang="en-US" sz="1800" b="0" i="1" dirty="0">
                <a:solidFill>
                  <a:srgbClr val="00B0F0"/>
                </a:solidFill>
                <a:effectLst/>
                <a:latin typeface="Times-Italic"/>
              </a:rPr>
              <a:t>B</a:t>
            </a:r>
            <a:r>
              <a:rPr lang="en-US" sz="1800" b="0" i="0" dirty="0">
                <a:solidFill>
                  <a:srgbClr val="00B0F0"/>
                </a:solidFill>
                <a:effectLst/>
                <a:latin typeface="Times-Roman"/>
              </a:rPr>
              <a:t>1</a:t>
            </a:r>
            <a:r>
              <a:rPr lang="en-US" sz="1800" b="0" i="0" dirty="0">
                <a:solidFill>
                  <a:srgbClr val="000000"/>
                </a:solidFill>
                <a:effectLst/>
                <a:latin typeface="Times-Roman"/>
              </a:rPr>
              <a:t>, then we define the </a:t>
            </a:r>
            <a:r>
              <a:rPr lang="en-US" sz="1800" b="0" i="1" dirty="0">
                <a:solidFill>
                  <a:srgbClr val="000000"/>
                </a:solidFill>
                <a:effectLst/>
                <a:latin typeface="Times-Italic"/>
              </a:rPr>
              <a:t>compression ratio </a:t>
            </a:r>
            <a:r>
              <a:rPr lang="en-US" sz="1800" b="0" i="0" dirty="0">
                <a:solidFill>
                  <a:srgbClr val="000000"/>
                </a:solidFill>
                <a:effectLst/>
                <a:latin typeface="Times-Roman"/>
              </a:rPr>
              <a:t>as</a:t>
            </a:r>
            <a:r>
              <a:rPr lang="en-US" dirty="0"/>
              <a:t> </a:t>
            </a:r>
            <a:br>
              <a:rPr lang="en-US" dirty="0"/>
            </a:br>
            <a:endParaRPr lang="en-US" dirty="0"/>
          </a:p>
        </p:txBody>
      </p:sp>
      <p:pic>
        <p:nvPicPr>
          <p:cNvPr id="5" name="Picture 4">
            <a:extLst>
              <a:ext uri="{FF2B5EF4-FFF2-40B4-BE49-F238E27FC236}">
                <a16:creationId xmlns:a16="http://schemas.microsoft.com/office/drawing/2014/main" id="{B2619801-AD6B-A54C-183E-36CB24A1419C}"/>
              </a:ext>
            </a:extLst>
          </p:cNvPr>
          <p:cNvPicPr>
            <a:picLocks noChangeAspect="1"/>
          </p:cNvPicPr>
          <p:nvPr/>
        </p:nvPicPr>
        <p:blipFill>
          <a:blip r:embed="rId2"/>
          <a:stretch>
            <a:fillRect/>
          </a:stretch>
        </p:blipFill>
        <p:spPr>
          <a:xfrm>
            <a:off x="2519843" y="3756097"/>
            <a:ext cx="3284505" cy="838273"/>
          </a:xfrm>
          <a:prstGeom prst="rect">
            <a:avLst/>
          </a:prstGeom>
        </p:spPr>
      </p:pic>
      <p:sp>
        <p:nvSpPr>
          <p:cNvPr id="7" name="TextBox 6">
            <a:extLst>
              <a:ext uri="{FF2B5EF4-FFF2-40B4-BE49-F238E27FC236}">
                <a16:creationId xmlns:a16="http://schemas.microsoft.com/office/drawing/2014/main" id="{AFB05AF7-E687-8042-A9F3-299DF36FCBDF}"/>
              </a:ext>
            </a:extLst>
          </p:cNvPr>
          <p:cNvSpPr txBox="1"/>
          <p:nvPr/>
        </p:nvSpPr>
        <p:spPr>
          <a:xfrm>
            <a:off x="677334" y="5071222"/>
            <a:ext cx="8762999" cy="1200329"/>
          </a:xfrm>
          <a:prstGeom prst="rect">
            <a:avLst/>
          </a:prstGeom>
          <a:noFill/>
        </p:spPr>
        <p:txBody>
          <a:bodyPr wrap="square">
            <a:spAutoFit/>
          </a:bodyPr>
          <a:lstStyle/>
          <a:p>
            <a:r>
              <a:rPr lang="en-US" sz="1800" b="0" i="0" dirty="0">
                <a:solidFill>
                  <a:srgbClr val="000000"/>
                </a:solidFill>
                <a:effectLst/>
                <a:latin typeface="Times-Roman"/>
              </a:rPr>
              <a:t>we would desire any </a:t>
            </a:r>
            <a:r>
              <a:rPr lang="en-US" sz="1800" b="0" i="1" dirty="0">
                <a:solidFill>
                  <a:srgbClr val="000000"/>
                </a:solidFill>
                <a:effectLst/>
                <a:latin typeface="Times-Italic"/>
              </a:rPr>
              <a:t>codec </a:t>
            </a:r>
            <a:r>
              <a:rPr lang="en-US" sz="1800" b="0" i="0" dirty="0">
                <a:solidFill>
                  <a:srgbClr val="000000"/>
                </a:solidFill>
                <a:effectLst/>
                <a:latin typeface="Times-Roman"/>
              </a:rPr>
              <a:t>(encoder/decoder scheme) to have a </a:t>
            </a:r>
            <a:r>
              <a:rPr lang="en-US" sz="1800" b="0" i="1" dirty="0">
                <a:solidFill>
                  <a:srgbClr val="000000"/>
                </a:solidFill>
                <a:effectLst/>
                <a:latin typeface="Times-Italic"/>
              </a:rPr>
              <a:t>compression ratio </a:t>
            </a:r>
            <a:r>
              <a:rPr lang="en-US" sz="1800" b="0" i="0" dirty="0">
                <a:solidFill>
                  <a:srgbClr val="000000"/>
                </a:solidFill>
                <a:effectLst/>
                <a:latin typeface="Times-Roman"/>
              </a:rPr>
              <a:t>much larger than 1.0. The higher the </a:t>
            </a:r>
            <a:r>
              <a:rPr lang="en-US" sz="1800" b="0" i="1" dirty="0">
                <a:solidFill>
                  <a:srgbClr val="000000"/>
                </a:solidFill>
                <a:effectLst/>
                <a:latin typeface="Times-Italic"/>
              </a:rPr>
              <a:t>compression ratio</a:t>
            </a:r>
            <a:r>
              <a:rPr lang="en-US" sz="1800" b="0" i="0" dirty="0">
                <a:solidFill>
                  <a:srgbClr val="000000"/>
                </a:solidFill>
                <a:effectLst/>
                <a:latin typeface="Times-Roman"/>
              </a:rPr>
              <a:t>, the better the lossless compression scheme, as long as it is computationally feasible.</a:t>
            </a:r>
            <a:r>
              <a:rPr lang="en-US" dirty="0"/>
              <a:t> </a:t>
            </a:r>
            <a:br>
              <a:rPr lang="en-US" dirty="0"/>
            </a:br>
            <a:endParaRPr lang="en-US" dirty="0"/>
          </a:p>
        </p:txBody>
      </p:sp>
    </p:spTree>
    <p:extLst>
      <p:ext uri="{BB962C8B-B14F-4D97-AF65-F5344CB8AC3E}">
        <p14:creationId xmlns:p14="http://schemas.microsoft.com/office/powerpoint/2010/main" val="37668860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42CB-C25C-5B28-A413-3E97BF1A651B}"/>
              </a:ext>
            </a:extLst>
          </p:cNvPr>
          <p:cNvSpPr>
            <a:spLocks noGrp="1"/>
          </p:cNvSpPr>
          <p:nvPr>
            <p:ph type="title"/>
          </p:nvPr>
        </p:nvSpPr>
        <p:spPr/>
        <p:txBody>
          <a:bodyPr/>
          <a:lstStyle/>
          <a:p>
            <a:r>
              <a:rPr lang="en-CA" altLang="en-US" dirty="0"/>
              <a:t>7.2 Basics of Information Theory</a:t>
            </a:r>
            <a:endParaRPr lang="en-US" dirty="0"/>
          </a:p>
        </p:txBody>
      </p:sp>
      <p:sp>
        <p:nvSpPr>
          <p:cNvPr id="8" name="Content Placeholder 2">
            <a:extLst>
              <a:ext uri="{FF2B5EF4-FFF2-40B4-BE49-F238E27FC236}">
                <a16:creationId xmlns:a16="http://schemas.microsoft.com/office/drawing/2014/main" id="{42ADCD83-378E-33C6-94CA-308156A510A0}"/>
              </a:ext>
            </a:extLst>
          </p:cNvPr>
          <p:cNvSpPr>
            <a:spLocks noGrp="1"/>
          </p:cNvSpPr>
          <p:nvPr>
            <p:ph idx="1"/>
          </p:nvPr>
        </p:nvSpPr>
        <p:spPr>
          <a:xfrm>
            <a:off x="457200" y="1600200"/>
            <a:ext cx="8596668" cy="4525963"/>
          </a:xfrm>
        </p:spPr>
        <p:txBody>
          <a:bodyPr rtlCol="0">
            <a:normAutofit/>
          </a:bodyPr>
          <a:lstStyle/>
          <a:p>
            <a:pPr eaLnBrk="1" fontAlgn="auto" hangingPunct="1">
              <a:spcAft>
                <a:spcPts val="0"/>
              </a:spcAft>
              <a:defRPr/>
            </a:pPr>
            <a:r>
              <a:rPr lang="en-CA" dirty="0"/>
              <a:t> The </a:t>
            </a:r>
            <a:r>
              <a:rPr lang="en-CA" i="1" dirty="0"/>
              <a:t>entropy</a:t>
            </a:r>
            <a:r>
              <a:rPr lang="en-CA" dirty="0"/>
              <a:t> </a:t>
            </a:r>
            <a:r>
              <a:rPr lang="el-GR" i="1" dirty="0"/>
              <a:t>η</a:t>
            </a:r>
            <a:r>
              <a:rPr lang="en-CA" dirty="0"/>
              <a:t> of an information </a:t>
            </a:r>
            <a:r>
              <a:rPr lang="en-CA" i="1" dirty="0"/>
              <a:t>source </a:t>
            </a:r>
            <a:r>
              <a:rPr lang="en-CA" dirty="0"/>
              <a:t>with alphabet </a:t>
            </a:r>
            <a:r>
              <a:rPr lang="en-CA" i="1" dirty="0">
                <a:latin typeface="Times New Roman" pitchFamily="18" charset="0"/>
                <a:cs typeface="Times New Roman" pitchFamily="18" charset="0"/>
              </a:rPr>
              <a:t>S</a:t>
            </a:r>
            <a:r>
              <a:rPr lang="en-CA" dirty="0"/>
              <a:t> = {</a:t>
            </a:r>
            <a:r>
              <a:rPr lang="en-CA" i="1" dirty="0">
                <a:latin typeface="Times New Roman" pitchFamily="18" charset="0"/>
                <a:cs typeface="Times New Roman" pitchFamily="18" charset="0"/>
              </a:rPr>
              <a:t>s</a:t>
            </a:r>
            <a:r>
              <a:rPr lang="en-CA" baseline="-25000" dirty="0"/>
              <a:t>1</a:t>
            </a:r>
            <a:r>
              <a:rPr lang="en-CA" dirty="0"/>
              <a:t>, </a:t>
            </a:r>
            <a:r>
              <a:rPr lang="en-CA" i="1" dirty="0">
                <a:latin typeface="Times New Roman" pitchFamily="18" charset="0"/>
                <a:cs typeface="Times New Roman" pitchFamily="18" charset="0"/>
              </a:rPr>
              <a:t>s</a:t>
            </a:r>
            <a:r>
              <a:rPr lang="en-CA" baseline="-25000" dirty="0"/>
              <a:t>2</a:t>
            </a:r>
            <a:r>
              <a:rPr lang="en-CA" dirty="0"/>
              <a:t>, . . . , </a:t>
            </a:r>
            <a:r>
              <a:rPr lang="en-CA" i="1" dirty="0" err="1">
                <a:latin typeface="Times New Roman" pitchFamily="18" charset="0"/>
                <a:cs typeface="Times New Roman" pitchFamily="18" charset="0"/>
              </a:rPr>
              <a:t>s</a:t>
            </a:r>
            <a:r>
              <a:rPr lang="en-CA" baseline="-25000" dirty="0" err="1"/>
              <a:t>n</a:t>
            </a:r>
            <a:r>
              <a:rPr lang="en-CA" dirty="0"/>
              <a:t>} is:</a:t>
            </a:r>
          </a:p>
          <a:p>
            <a:pPr eaLnBrk="1" fontAlgn="auto" hangingPunct="1">
              <a:spcAft>
                <a:spcPts val="0"/>
              </a:spcAft>
              <a:defRPr/>
            </a:pPr>
            <a:endParaRPr lang="en-CA" dirty="0"/>
          </a:p>
          <a:p>
            <a:pPr algn="r" eaLnBrk="1" fontAlgn="auto" hangingPunct="1">
              <a:spcAft>
                <a:spcPts val="0"/>
              </a:spcAft>
              <a:defRPr/>
            </a:pPr>
            <a:r>
              <a:rPr lang="en-CA" dirty="0"/>
              <a:t>(7.2)</a:t>
            </a:r>
          </a:p>
          <a:p>
            <a:pPr algn="r" eaLnBrk="1" fontAlgn="auto" hangingPunct="1">
              <a:spcAft>
                <a:spcPts val="0"/>
              </a:spcAft>
              <a:defRPr/>
            </a:pPr>
            <a:endParaRPr lang="en-CA" dirty="0"/>
          </a:p>
          <a:p>
            <a:pPr algn="r" eaLnBrk="1" fontAlgn="auto" hangingPunct="1">
              <a:spcAft>
                <a:spcPts val="0"/>
              </a:spcAft>
              <a:defRPr/>
            </a:pPr>
            <a:r>
              <a:rPr lang="en-CA" dirty="0"/>
              <a:t>(7.3)</a:t>
            </a:r>
          </a:p>
          <a:p>
            <a:pPr eaLnBrk="1" fontAlgn="auto" hangingPunct="1">
              <a:spcAft>
                <a:spcPts val="0"/>
              </a:spcAft>
              <a:defRPr/>
            </a:pPr>
            <a:endParaRPr lang="en-CA" dirty="0"/>
          </a:p>
          <a:p>
            <a:pPr eaLnBrk="1" fontAlgn="auto" hangingPunct="1">
              <a:spcAft>
                <a:spcPts val="0"/>
              </a:spcAft>
              <a:defRPr/>
            </a:pPr>
            <a:r>
              <a:rPr lang="en-CA" i="1" dirty="0">
                <a:latin typeface="Times New Roman" pitchFamily="18" charset="0"/>
                <a:cs typeface="Times New Roman" pitchFamily="18" charset="0"/>
              </a:rPr>
              <a:t>	p</a:t>
            </a:r>
            <a:r>
              <a:rPr lang="en-CA" i="1" baseline="-25000" dirty="0">
                <a:latin typeface="Times New Roman" pitchFamily="18" charset="0"/>
                <a:cs typeface="Times New Roman" pitchFamily="18" charset="0"/>
              </a:rPr>
              <a:t>i</a:t>
            </a:r>
            <a:r>
              <a:rPr lang="en-CA" dirty="0"/>
              <a:t> – probability that symbol </a:t>
            </a:r>
            <a:r>
              <a:rPr lang="en-CA" i="1" dirty="0" err="1">
                <a:latin typeface="Times New Roman" pitchFamily="18" charset="0"/>
                <a:cs typeface="Times New Roman" pitchFamily="18" charset="0"/>
              </a:rPr>
              <a:t>s</a:t>
            </a:r>
            <a:r>
              <a:rPr lang="en-CA" i="1" baseline="-25000" dirty="0" err="1">
                <a:latin typeface="Times New Roman" pitchFamily="18" charset="0"/>
                <a:cs typeface="Times New Roman" pitchFamily="18" charset="0"/>
              </a:rPr>
              <a:t>i</a:t>
            </a:r>
            <a:r>
              <a:rPr lang="en-CA" dirty="0"/>
              <a:t> will occur in </a:t>
            </a:r>
            <a:r>
              <a:rPr lang="en-CA" i="1" dirty="0">
                <a:latin typeface="Times New Roman" pitchFamily="18" charset="0"/>
                <a:cs typeface="Times New Roman" pitchFamily="18" charset="0"/>
              </a:rPr>
              <a:t>S</a:t>
            </a:r>
            <a:r>
              <a:rPr lang="en-CA" dirty="0"/>
              <a:t>.</a:t>
            </a:r>
          </a:p>
          <a:p>
            <a:pPr eaLnBrk="1" fontAlgn="auto" hangingPunct="1">
              <a:spcAft>
                <a:spcPts val="0"/>
              </a:spcAft>
              <a:defRPr/>
            </a:pPr>
            <a:endParaRPr lang="en-CA" dirty="0"/>
          </a:p>
          <a:p>
            <a:pPr eaLnBrk="1" fontAlgn="auto" hangingPunct="1">
              <a:spcAft>
                <a:spcPts val="0"/>
              </a:spcAft>
              <a:defRPr/>
            </a:pPr>
            <a:r>
              <a:rPr lang="en-CA" dirty="0"/>
              <a:t>                – indicates the amount of information ( self-information as defined by Shannon) contained in </a:t>
            </a:r>
            <a:r>
              <a:rPr lang="en-CA" i="1" dirty="0" err="1">
                <a:latin typeface="Times New Roman" pitchFamily="18" charset="0"/>
                <a:cs typeface="Times New Roman" pitchFamily="18" charset="0"/>
              </a:rPr>
              <a:t>s</a:t>
            </a:r>
            <a:r>
              <a:rPr lang="en-CA" i="1" baseline="-25000" dirty="0" err="1">
                <a:latin typeface="Times New Roman" pitchFamily="18" charset="0"/>
                <a:cs typeface="Times New Roman" pitchFamily="18" charset="0"/>
              </a:rPr>
              <a:t>i</a:t>
            </a:r>
            <a:r>
              <a:rPr lang="en-CA" dirty="0"/>
              <a:t>, which corresponds to the number of bits needed to encode </a:t>
            </a:r>
            <a:r>
              <a:rPr lang="en-CA" i="1" dirty="0" err="1">
                <a:latin typeface="Times New Roman" pitchFamily="18" charset="0"/>
                <a:cs typeface="Times New Roman" pitchFamily="18" charset="0"/>
              </a:rPr>
              <a:t>s</a:t>
            </a:r>
            <a:r>
              <a:rPr lang="en-CA" i="1" baseline="-25000" dirty="0" err="1">
                <a:latin typeface="Times New Roman" pitchFamily="18" charset="0"/>
                <a:cs typeface="Times New Roman" pitchFamily="18" charset="0"/>
              </a:rPr>
              <a:t>i</a:t>
            </a:r>
            <a:r>
              <a:rPr lang="en-CA" dirty="0"/>
              <a:t>.</a:t>
            </a:r>
          </a:p>
        </p:txBody>
      </p:sp>
      <p:graphicFrame>
        <p:nvGraphicFramePr>
          <p:cNvPr id="9" name="Object 2">
            <a:extLst>
              <a:ext uri="{FF2B5EF4-FFF2-40B4-BE49-F238E27FC236}">
                <a16:creationId xmlns:a16="http://schemas.microsoft.com/office/drawing/2014/main" id="{F1DD873B-A906-D166-275B-AEED25538FD2}"/>
              </a:ext>
            </a:extLst>
          </p:cNvPr>
          <p:cNvGraphicFramePr>
            <a:graphicFrameLocks noChangeAspect="1"/>
          </p:cNvGraphicFramePr>
          <p:nvPr/>
        </p:nvGraphicFramePr>
        <p:xfrm>
          <a:off x="2857500" y="2286000"/>
          <a:ext cx="3486150" cy="1000125"/>
        </p:xfrm>
        <a:graphic>
          <a:graphicData uri="http://schemas.openxmlformats.org/presentationml/2006/ole">
            <mc:AlternateContent xmlns:mc="http://schemas.openxmlformats.org/markup-compatibility/2006">
              <mc:Choice xmlns:v="urn:schemas-microsoft-com:vml" Requires="v">
                <p:oleObj spid="_x0000_s1029" name="Equation" r:id="rId4" imgW="1548728" imgH="444307" progId="Equation.DSMT4">
                  <p:embed/>
                </p:oleObj>
              </mc:Choice>
              <mc:Fallback>
                <p:oleObj name="Equation" r:id="rId4" imgW="1548728" imgH="444307" progId="Equation.DSMT4">
                  <p:embed/>
                  <p:pic>
                    <p:nvPicPr>
                      <p:cNvPr id="6150" name="Object 2">
                        <a:extLst>
                          <a:ext uri="{FF2B5EF4-FFF2-40B4-BE49-F238E27FC236}">
                            <a16:creationId xmlns:a16="http://schemas.microsoft.com/office/drawing/2014/main" id="{7385E515-8AB0-7E50-E6A5-ADED2AFD36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0" y="2286000"/>
                        <a:ext cx="348615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
            <a:extLst>
              <a:ext uri="{FF2B5EF4-FFF2-40B4-BE49-F238E27FC236}">
                <a16:creationId xmlns:a16="http://schemas.microsoft.com/office/drawing/2014/main" id="{DD08FB07-6D09-C63C-7409-9F12B875CC0F}"/>
              </a:ext>
            </a:extLst>
          </p:cNvPr>
          <p:cNvGraphicFramePr>
            <a:graphicFrameLocks noChangeAspect="1"/>
          </p:cNvGraphicFramePr>
          <p:nvPr/>
        </p:nvGraphicFramePr>
        <p:xfrm>
          <a:off x="4214813" y="3286125"/>
          <a:ext cx="2143125" cy="933450"/>
        </p:xfrm>
        <a:graphic>
          <a:graphicData uri="http://schemas.openxmlformats.org/presentationml/2006/ole">
            <mc:AlternateContent xmlns:mc="http://schemas.openxmlformats.org/markup-compatibility/2006">
              <mc:Choice xmlns:v="urn:schemas-microsoft-com:vml" Requires="v">
                <p:oleObj spid="_x0000_s1030" name="Equation" r:id="rId6" imgW="990170" imgH="431613" progId="Equation.DSMT4">
                  <p:embed/>
                </p:oleObj>
              </mc:Choice>
              <mc:Fallback>
                <p:oleObj name="Equation" r:id="rId6" imgW="990170" imgH="431613" progId="Equation.DSMT4">
                  <p:embed/>
                  <p:pic>
                    <p:nvPicPr>
                      <p:cNvPr id="6151" name="Object 3">
                        <a:extLst>
                          <a:ext uri="{FF2B5EF4-FFF2-40B4-BE49-F238E27FC236}">
                            <a16:creationId xmlns:a16="http://schemas.microsoft.com/office/drawing/2014/main" id="{DD03A16D-7237-F200-7968-EEDB91D311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14813" y="3286125"/>
                        <a:ext cx="214312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4">
            <a:extLst>
              <a:ext uri="{FF2B5EF4-FFF2-40B4-BE49-F238E27FC236}">
                <a16:creationId xmlns:a16="http://schemas.microsoft.com/office/drawing/2014/main" id="{22626714-DF6D-DC46-F565-C926E2764AEB}"/>
              </a:ext>
            </a:extLst>
          </p:cNvPr>
          <p:cNvGraphicFramePr>
            <a:graphicFrameLocks noChangeAspect="1"/>
          </p:cNvGraphicFramePr>
          <p:nvPr>
            <p:extLst>
              <p:ext uri="{D42A27DB-BD31-4B8C-83A1-F6EECF244321}">
                <p14:modId xmlns:p14="http://schemas.microsoft.com/office/powerpoint/2010/main" val="1194022439"/>
              </p:ext>
            </p:extLst>
          </p:nvPr>
        </p:nvGraphicFramePr>
        <p:xfrm>
          <a:off x="1014906" y="4695279"/>
          <a:ext cx="796925" cy="539750"/>
        </p:xfrm>
        <a:graphic>
          <a:graphicData uri="http://schemas.openxmlformats.org/presentationml/2006/ole">
            <mc:AlternateContent xmlns:mc="http://schemas.openxmlformats.org/markup-compatibility/2006">
              <mc:Choice xmlns:v="urn:schemas-microsoft-com:vml" Requires="v">
                <p:oleObj spid="_x0000_s1031" name="Equation" r:id="rId8" imgW="431613" imgH="291973" progId="Equation.DSMT4">
                  <p:embed/>
                </p:oleObj>
              </mc:Choice>
              <mc:Fallback>
                <p:oleObj name="Equation" r:id="rId8" imgW="431613" imgH="291973" progId="Equation.DSMT4">
                  <p:embed/>
                  <p:pic>
                    <p:nvPicPr>
                      <p:cNvPr id="6152" name="Object 4">
                        <a:extLst>
                          <a:ext uri="{FF2B5EF4-FFF2-40B4-BE49-F238E27FC236}">
                            <a16:creationId xmlns:a16="http://schemas.microsoft.com/office/drawing/2014/main" id="{0E3D90D3-DA12-78BC-67C9-A880FEF7CB1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4906" y="4695279"/>
                        <a:ext cx="7969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018665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D5233-C108-65E1-52F5-791EF96EE0B0}"/>
              </a:ext>
            </a:extLst>
          </p:cNvPr>
          <p:cNvSpPr>
            <a:spLocks noGrp="1"/>
          </p:cNvSpPr>
          <p:nvPr>
            <p:ph type="title"/>
          </p:nvPr>
        </p:nvSpPr>
        <p:spPr>
          <a:xfrm>
            <a:off x="1044402" y="365920"/>
            <a:ext cx="8229600" cy="1000125"/>
          </a:xfrm>
        </p:spPr>
        <p:txBody>
          <a:bodyPr rtlCol="0">
            <a:normAutofit/>
          </a:bodyPr>
          <a:lstStyle/>
          <a:p>
            <a:pPr>
              <a:defRPr/>
            </a:pPr>
            <a:r>
              <a:rPr lang="en-CA" dirty="0"/>
              <a:t>Distribution of Gray-Level Intensities</a:t>
            </a:r>
          </a:p>
        </p:txBody>
      </p:sp>
      <p:sp>
        <p:nvSpPr>
          <p:cNvPr id="3" name="Content Placeholder 2">
            <a:extLst>
              <a:ext uri="{FF2B5EF4-FFF2-40B4-BE49-F238E27FC236}">
                <a16:creationId xmlns:a16="http://schemas.microsoft.com/office/drawing/2014/main" id="{7B2FAB6C-023D-57B6-76D5-B3E893249FB6}"/>
              </a:ext>
            </a:extLst>
          </p:cNvPr>
          <p:cNvSpPr>
            <a:spLocks noGrp="1"/>
          </p:cNvSpPr>
          <p:nvPr>
            <p:ph idx="1"/>
          </p:nvPr>
        </p:nvSpPr>
        <p:spPr/>
        <p:txBody>
          <a:bodyPr rtlCol="0">
            <a:normAutofit fontScale="70000" lnSpcReduction="20000"/>
          </a:bodyPr>
          <a:lstStyle/>
          <a:p>
            <a:pPr algn="ctr">
              <a:defRPr/>
            </a:pPr>
            <a:endParaRPr lang="en-CA" dirty="0"/>
          </a:p>
          <a:p>
            <a:pPr algn="ctr">
              <a:defRPr/>
            </a:pPr>
            <a:endParaRPr lang="en-CA" dirty="0"/>
          </a:p>
          <a:p>
            <a:pPr algn="ctr">
              <a:defRPr/>
            </a:pPr>
            <a:endParaRPr lang="en-CA" dirty="0"/>
          </a:p>
          <a:p>
            <a:pPr algn="ctr">
              <a:defRPr/>
            </a:pPr>
            <a:endParaRPr lang="en-CA" dirty="0"/>
          </a:p>
          <a:p>
            <a:pPr algn="ctr">
              <a:defRPr/>
            </a:pPr>
            <a:endParaRPr lang="en-CA" dirty="0"/>
          </a:p>
          <a:p>
            <a:pPr algn="ctr">
              <a:defRPr/>
            </a:pPr>
            <a:r>
              <a:rPr lang="en-CA" sz="2900" dirty="0"/>
              <a:t>Fig. 7.2 Histograms for Two Gray-level Images</a:t>
            </a:r>
            <a:r>
              <a:rPr lang="en-CA" sz="2600" dirty="0"/>
              <a:t>.</a:t>
            </a:r>
          </a:p>
          <a:p>
            <a:pPr marL="0" indent="0" algn="ctr">
              <a:defRPr/>
            </a:pPr>
            <a:endParaRPr lang="en-CA" sz="2300" dirty="0"/>
          </a:p>
          <a:p>
            <a:pPr marL="273050" indent="-273050">
              <a:defRPr/>
            </a:pPr>
            <a:r>
              <a:rPr lang="en-CA" sz="2600" dirty="0"/>
              <a:t>Fig. 7.2(a) shows the histogram of an image with </a:t>
            </a:r>
            <a:r>
              <a:rPr lang="en-CA" sz="2600" i="1" dirty="0"/>
              <a:t>uniform</a:t>
            </a:r>
            <a:r>
              <a:rPr lang="en-CA" sz="2600" dirty="0"/>
              <a:t> distribution of gray-level intensities, i.e., ∀</a:t>
            </a:r>
            <a:r>
              <a:rPr lang="en-CA" sz="2600" i="1" dirty="0" err="1">
                <a:latin typeface="Times New Roman" pitchFamily="18" charset="0"/>
                <a:cs typeface="Times New Roman" pitchFamily="18" charset="0"/>
              </a:rPr>
              <a:t>i</a:t>
            </a:r>
            <a:r>
              <a:rPr lang="en-CA" sz="2600" i="1" dirty="0">
                <a:latin typeface="Times New Roman" pitchFamily="18" charset="0"/>
                <a:cs typeface="Times New Roman" pitchFamily="18" charset="0"/>
              </a:rPr>
              <a:t> p</a:t>
            </a:r>
            <a:r>
              <a:rPr lang="en-CA" sz="2600" i="1" baseline="-25000" dirty="0">
                <a:latin typeface="Times New Roman" pitchFamily="18" charset="0"/>
                <a:cs typeface="Times New Roman" pitchFamily="18" charset="0"/>
              </a:rPr>
              <a:t>i</a:t>
            </a:r>
            <a:r>
              <a:rPr lang="en-CA" sz="2600" i="1" dirty="0">
                <a:latin typeface="Times New Roman" pitchFamily="18" charset="0"/>
                <a:cs typeface="Times New Roman" pitchFamily="18" charset="0"/>
              </a:rPr>
              <a:t> </a:t>
            </a:r>
            <a:r>
              <a:rPr lang="en-CA" sz="2600" dirty="0"/>
              <a:t>= 1/256.  Hence, the entropy of this image is:      </a:t>
            </a:r>
          </a:p>
          <a:p>
            <a:pPr marL="0" indent="0">
              <a:buNone/>
              <a:defRPr/>
            </a:pPr>
            <a:r>
              <a:rPr lang="en-CA" sz="2600" dirty="0"/>
              <a:t>                                            log</a:t>
            </a:r>
            <a:r>
              <a:rPr lang="en-CA" sz="2600" baseline="-25000" dirty="0"/>
              <a:t>2</a:t>
            </a:r>
            <a:r>
              <a:rPr lang="en-CA" sz="2600" dirty="0"/>
              <a:t>256 = 8	 			(7.4)</a:t>
            </a:r>
          </a:p>
          <a:p>
            <a:pPr algn="r">
              <a:defRPr/>
            </a:pPr>
            <a:endParaRPr lang="en-CA" sz="3400" dirty="0"/>
          </a:p>
          <a:p>
            <a:pPr>
              <a:defRPr/>
            </a:pPr>
            <a:r>
              <a:rPr lang="en-CA" sz="2200" dirty="0"/>
              <a:t>Fig. 7.2(b) shows the histogram of an image with two possible values. Its entropy is 0.92.</a:t>
            </a:r>
          </a:p>
        </p:txBody>
      </p:sp>
      <p:pic>
        <p:nvPicPr>
          <p:cNvPr id="7174" name="Picture 5" descr="7f2.png">
            <a:extLst>
              <a:ext uri="{FF2B5EF4-FFF2-40B4-BE49-F238E27FC236}">
                <a16:creationId xmlns:a16="http://schemas.microsoft.com/office/drawing/2014/main" id="{56CD61A5-910F-49D3-EACC-4D3558B385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61911" y="1366045"/>
            <a:ext cx="4227513"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479BD75-C9C9-683C-DAE7-87E5B2CDF999}"/>
              </a:ext>
            </a:extLst>
          </p:cNvPr>
          <p:cNvSpPr>
            <a:spLocks noGrp="1"/>
          </p:cNvSpPr>
          <p:nvPr>
            <p:ph type="title"/>
          </p:nvPr>
        </p:nvSpPr>
        <p:spPr>
          <a:xfrm>
            <a:off x="1981200" y="571501"/>
            <a:ext cx="8229600" cy="1000125"/>
          </a:xfrm>
        </p:spPr>
        <p:txBody>
          <a:bodyPr/>
          <a:lstStyle/>
          <a:p>
            <a:pPr eaLnBrk="1" hangingPunct="1"/>
            <a:r>
              <a:rPr lang="en-CA" altLang="en-US"/>
              <a:t>7.3 Run-Length Coding</a:t>
            </a:r>
          </a:p>
        </p:txBody>
      </p:sp>
      <p:sp>
        <p:nvSpPr>
          <p:cNvPr id="3" name="Content Placeholder 2">
            <a:extLst>
              <a:ext uri="{FF2B5EF4-FFF2-40B4-BE49-F238E27FC236}">
                <a16:creationId xmlns:a16="http://schemas.microsoft.com/office/drawing/2014/main" id="{9DE6B83F-25A1-FAAD-C35C-3530DF04BED8}"/>
              </a:ext>
            </a:extLst>
          </p:cNvPr>
          <p:cNvSpPr>
            <a:spLocks noGrp="1"/>
          </p:cNvSpPr>
          <p:nvPr>
            <p:ph idx="1"/>
          </p:nvPr>
        </p:nvSpPr>
        <p:spPr/>
        <p:txBody>
          <a:bodyPr rtlCol="0">
            <a:normAutofit/>
          </a:bodyPr>
          <a:lstStyle/>
          <a:p>
            <a:pPr algn="just">
              <a:defRPr/>
            </a:pPr>
            <a:r>
              <a:rPr lang="en-CA" b="1" dirty="0"/>
              <a:t>Memoryless Source</a:t>
            </a:r>
            <a:r>
              <a:rPr lang="en-CA" dirty="0"/>
              <a:t>: an information source that is independently distributed. Namely, the value of the current symbol does not depend on the values of the previously appeared symbols.</a:t>
            </a:r>
          </a:p>
          <a:p>
            <a:pPr algn="just">
              <a:defRPr/>
            </a:pPr>
            <a:endParaRPr lang="en-CA" dirty="0"/>
          </a:p>
          <a:p>
            <a:pPr algn="just">
              <a:defRPr/>
            </a:pPr>
            <a:r>
              <a:rPr lang="en-CA" dirty="0"/>
              <a:t>Instead of assuming memoryless source, </a:t>
            </a:r>
            <a:r>
              <a:rPr lang="en-CA" i="1" dirty="0"/>
              <a:t>Run-Length Coding </a:t>
            </a:r>
            <a:r>
              <a:rPr lang="en-CA" dirty="0"/>
              <a:t>(</a:t>
            </a:r>
            <a:r>
              <a:rPr lang="en-CA" i="1" dirty="0"/>
              <a:t>RLC</a:t>
            </a:r>
            <a:r>
              <a:rPr lang="en-CA" dirty="0"/>
              <a:t>) exploits memory present in the information source.</a:t>
            </a:r>
          </a:p>
          <a:p>
            <a:pPr algn="just">
              <a:defRPr/>
            </a:pPr>
            <a:endParaRPr lang="en-CA" dirty="0"/>
          </a:p>
          <a:p>
            <a:pPr algn="just">
              <a:defRPr/>
            </a:pPr>
            <a:r>
              <a:rPr lang="en-CA" b="1" dirty="0"/>
              <a:t>Rationale for RLC</a:t>
            </a:r>
            <a:r>
              <a:rPr lang="en-CA" dirty="0"/>
              <a:t>: if the information source has the property that symbols tend to form continuous groups, then such symbol and the length of the group can be coded.</a:t>
            </a:r>
          </a:p>
        </p:txBody>
      </p:sp>
    </p:spTree>
    <p:extLst>
      <p:ext uri="{BB962C8B-B14F-4D97-AF65-F5344CB8AC3E}">
        <p14:creationId xmlns:p14="http://schemas.microsoft.com/office/powerpoint/2010/main" val="23024020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LOSSLESS COMPRESSION</a:t>
            </a:r>
          </a:p>
        </p:txBody>
      </p:sp>
      <p:sp>
        <p:nvSpPr>
          <p:cNvPr id="3" name="Content Placeholder 2"/>
          <p:cNvSpPr>
            <a:spLocks noGrp="1"/>
          </p:cNvSpPr>
          <p:nvPr>
            <p:ph idx="1"/>
          </p:nvPr>
        </p:nvSpPr>
        <p:spPr>
          <a:xfrm>
            <a:off x="677333" y="2160589"/>
            <a:ext cx="9484975" cy="3880773"/>
          </a:xfrm>
        </p:spPr>
        <p:txBody>
          <a:bodyPr>
            <a:normAutofit lnSpcReduction="10000"/>
          </a:bodyPr>
          <a:lstStyle/>
          <a:p>
            <a:r>
              <a:rPr lang="en-US" dirty="0"/>
              <a:t>Run Length Encoding</a:t>
            </a:r>
          </a:p>
          <a:p>
            <a:endParaRPr lang="en-US" dirty="0"/>
          </a:p>
          <a:p>
            <a:pPr algn="just"/>
            <a:r>
              <a:rPr lang="en-US" dirty="0"/>
              <a:t>It removes redundancy by relying on the fact that a string contains repeated sequences or “runs” of the same symbol. The runs of the same symbol are encoded using two entities—a count suggesting the number of repeated symbols and the symbol itself. For instance, a run of five symbols</a:t>
            </a:r>
          </a:p>
          <a:p>
            <a:pPr marL="0" indent="0">
              <a:buNone/>
            </a:pPr>
            <a:r>
              <a:rPr lang="en-US" dirty="0"/>
              <a:t>      </a:t>
            </a:r>
            <a:r>
              <a:rPr lang="en-US" dirty="0" err="1">
                <a:solidFill>
                  <a:srgbClr val="00B0F0"/>
                </a:solidFill>
              </a:rPr>
              <a:t>aaaaa</a:t>
            </a:r>
            <a:r>
              <a:rPr lang="en-US" dirty="0">
                <a:solidFill>
                  <a:srgbClr val="00B0F0"/>
                </a:solidFill>
              </a:rPr>
              <a:t> </a:t>
            </a:r>
            <a:r>
              <a:rPr lang="en-US" dirty="0"/>
              <a:t>will be replaced by the two symbols </a:t>
            </a:r>
            <a:r>
              <a:rPr lang="en-US" dirty="0">
                <a:solidFill>
                  <a:srgbClr val="00B0F0"/>
                </a:solidFill>
              </a:rPr>
              <a:t>5a</a:t>
            </a:r>
          </a:p>
          <a:p>
            <a:pPr marL="0" indent="0">
              <a:buNone/>
            </a:pPr>
            <a:r>
              <a:rPr lang="en-US" dirty="0">
                <a:solidFill>
                  <a:schemeClr val="tx1"/>
                </a:solidFill>
              </a:rPr>
              <a:t>example</a:t>
            </a:r>
          </a:p>
          <a:p>
            <a:pPr marL="0" indent="0">
              <a:buNone/>
            </a:pPr>
            <a:r>
              <a:rPr lang="en-US" dirty="0">
                <a:solidFill>
                  <a:srgbClr val="00B0F0"/>
                </a:solidFill>
              </a:rPr>
              <a:t>BBBBEEEEEEEECCCCDAAAAA.</a:t>
            </a:r>
          </a:p>
          <a:p>
            <a:pPr marL="0" indent="0">
              <a:buNone/>
            </a:pPr>
            <a:r>
              <a:rPr lang="en-US" dirty="0">
                <a:solidFill>
                  <a:schemeClr val="tx1"/>
                </a:solidFill>
              </a:rPr>
              <a:t>It can be represented as</a:t>
            </a:r>
          </a:p>
          <a:p>
            <a:pPr marL="0" indent="0">
              <a:buNone/>
            </a:pPr>
            <a:r>
              <a:rPr lang="en-US" dirty="0">
                <a:solidFill>
                  <a:srgbClr val="00B0F0"/>
                </a:solidFill>
              </a:rPr>
              <a:t>4B8E4C1D5A.</a:t>
            </a:r>
          </a:p>
        </p:txBody>
      </p:sp>
    </p:spTree>
    <p:extLst>
      <p:ext uri="{BB962C8B-B14F-4D97-AF65-F5344CB8AC3E}">
        <p14:creationId xmlns:p14="http://schemas.microsoft.com/office/powerpoint/2010/main" val="15900616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Repetition Suppression</a:t>
            </a:r>
          </a:p>
        </p:txBody>
      </p:sp>
      <p:sp>
        <p:nvSpPr>
          <p:cNvPr id="3" name="Content Placeholder 2"/>
          <p:cNvSpPr>
            <a:spLocks noGrp="1"/>
          </p:cNvSpPr>
          <p:nvPr>
            <p:ph idx="1"/>
          </p:nvPr>
        </p:nvSpPr>
        <p:spPr>
          <a:xfrm>
            <a:off x="677333" y="2160589"/>
            <a:ext cx="9183639" cy="3880773"/>
          </a:xfrm>
        </p:spPr>
        <p:txBody>
          <a:bodyPr/>
          <a:lstStyle/>
          <a:p>
            <a:r>
              <a:rPr lang="en-US" dirty="0"/>
              <a:t>Repetition suppression works by reserving a specific symbol for a commonly occurring pattern in a message. For example, a specific series of successive occurrences of the letter a in the following example is replaced by the flag :</a:t>
            </a:r>
          </a:p>
          <a:p>
            <a:r>
              <a:rPr lang="en-US" dirty="0" err="1"/>
              <a:t>Abdcbaaaaaaaaaaaaaaaaaaaaaaaaaaaaaaaaaaaaaaaaaaaa</a:t>
            </a:r>
            <a:endParaRPr lang="en-US" dirty="0"/>
          </a:p>
          <a:p>
            <a:pPr marL="0" indent="0">
              <a:buNone/>
            </a:pPr>
            <a:r>
              <a:rPr lang="en-US" dirty="0"/>
              <a:t>is replaced by</a:t>
            </a:r>
          </a:p>
          <a:p>
            <a:pPr marL="0" indent="0">
              <a:buNone/>
            </a:pPr>
            <a:r>
              <a:rPr lang="en-US" dirty="0"/>
              <a:t>     </a:t>
            </a:r>
            <a:r>
              <a:rPr lang="en-US" dirty="0" err="1">
                <a:solidFill>
                  <a:srgbClr val="00B0F0"/>
                </a:solidFill>
              </a:rPr>
              <a:t>Abdcb</a:t>
            </a:r>
            <a:r>
              <a:rPr lang="en-US" dirty="0">
                <a:solidFill>
                  <a:srgbClr val="00B0F0"/>
                </a:solidFill>
              </a:rPr>
              <a:t>.</a:t>
            </a:r>
          </a:p>
        </p:txBody>
      </p:sp>
      <p:pic>
        <p:nvPicPr>
          <p:cNvPr id="4" name="Picture 3"/>
          <p:cNvPicPr>
            <a:picLocks noChangeAspect="1"/>
          </p:cNvPicPr>
          <p:nvPr/>
        </p:nvPicPr>
        <p:blipFill>
          <a:blip r:embed="rId2"/>
          <a:stretch>
            <a:fillRect/>
          </a:stretch>
        </p:blipFill>
        <p:spPr>
          <a:xfrm>
            <a:off x="8914966" y="2766579"/>
            <a:ext cx="180975" cy="285750"/>
          </a:xfrm>
          <a:prstGeom prst="rect">
            <a:avLst/>
          </a:prstGeom>
        </p:spPr>
      </p:pic>
      <p:pic>
        <p:nvPicPr>
          <p:cNvPr id="5" name="Picture 4"/>
          <p:cNvPicPr>
            <a:picLocks noChangeAspect="1"/>
          </p:cNvPicPr>
          <p:nvPr/>
        </p:nvPicPr>
        <p:blipFill>
          <a:blip r:embed="rId2"/>
          <a:stretch>
            <a:fillRect/>
          </a:stretch>
        </p:blipFill>
        <p:spPr>
          <a:xfrm>
            <a:off x="1755630" y="3958100"/>
            <a:ext cx="180975" cy="285750"/>
          </a:xfrm>
          <a:prstGeom prst="rect">
            <a:avLst/>
          </a:prstGeom>
        </p:spPr>
      </p:pic>
    </p:spTree>
    <p:extLst>
      <p:ext uri="{BB962C8B-B14F-4D97-AF65-F5344CB8AC3E}">
        <p14:creationId xmlns:p14="http://schemas.microsoft.com/office/powerpoint/2010/main" val="1199734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 Substitution</a:t>
            </a:r>
          </a:p>
        </p:txBody>
      </p:sp>
      <p:sp>
        <p:nvSpPr>
          <p:cNvPr id="3" name="Content Placeholder 2"/>
          <p:cNvSpPr>
            <a:spLocks noGrp="1"/>
          </p:cNvSpPr>
          <p:nvPr>
            <p:ph idx="1"/>
          </p:nvPr>
        </p:nvSpPr>
        <p:spPr>
          <a:xfrm>
            <a:off x="750070" y="1495571"/>
            <a:ext cx="9495366" cy="3880773"/>
          </a:xfrm>
        </p:spPr>
        <p:txBody>
          <a:bodyPr/>
          <a:lstStyle/>
          <a:p>
            <a:r>
              <a:rPr lang="en-US" dirty="0"/>
              <a:t>The compression is based on a simple idea that attempts to build a group of individual symbols into strings. </a:t>
            </a:r>
          </a:p>
          <a:p>
            <a:pPr algn="just"/>
            <a:r>
              <a:rPr lang="en-US" dirty="0"/>
              <a:t>The strings are given a code, or an index, which is used every time the string appears in the input message. So, the whole message consisting of symbols is broken down into groups forming substrings, each substring having an index. Its simplicity resides in the fact that no pre-analysis of the message is required to create a dictionary of strings, but rather the strings are created as the message is scanned.</a:t>
            </a:r>
          </a:p>
        </p:txBody>
      </p:sp>
    </p:spTree>
    <p:extLst>
      <p:ext uri="{BB962C8B-B14F-4D97-AF65-F5344CB8AC3E}">
        <p14:creationId xmlns:p14="http://schemas.microsoft.com/office/powerpoint/2010/main" val="31850673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 Substitution</a:t>
            </a:r>
          </a:p>
        </p:txBody>
      </p:sp>
      <p:pic>
        <p:nvPicPr>
          <p:cNvPr id="4" name="Content Placeholder 3"/>
          <p:cNvPicPr>
            <a:picLocks noGrp="1" noChangeAspect="1"/>
          </p:cNvPicPr>
          <p:nvPr>
            <p:ph idx="1"/>
          </p:nvPr>
        </p:nvPicPr>
        <p:blipFill>
          <a:blip r:embed="rId2"/>
          <a:stretch>
            <a:fillRect/>
          </a:stretch>
        </p:blipFill>
        <p:spPr>
          <a:xfrm>
            <a:off x="565845" y="1330036"/>
            <a:ext cx="7074675" cy="3881437"/>
          </a:xfrm>
          <a:prstGeom prst="rect">
            <a:avLst/>
          </a:prstGeom>
        </p:spPr>
      </p:pic>
    </p:spTree>
    <p:extLst>
      <p:ext uri="{BB962C8B-B14F-4D97-AF65-F5344CB8AC3E}">
        <p14:creationId xmlns:p14="http://schemas.microsoft.com/office/powerpoint/2010/main" val="23338956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618A356A-4D82-FFB3-CFFF-08D112FA1186}"/>
              </a:ext>
            </a:extLst>
          </p:cNvPr>
          <p:cNvSpPr>
            <a:spLocks noGrp="1"/>
          </p:cNvSpPr>
          <p:nvPr>
            <p:ph type="title"/>
          </p:nvPr>
        </p:nvSpPr>
        <p:spPr>
          <a:xfrm>
            <a:off x="1981200" y="571501"/>
            <a:ext cx="8229600" cy="1000125"/>
          </a:xfrm>
        </p:spPr>
        <p:txBody>
          <a:bodyPr/>
          <a:lstStyle/>
          <a:p>
            <a:pPr eaLnBrk="1" hangingPunct="1"/>
            <a:r>
              <a:rPr lang="en-CA" altLang="en-US"/>
              <a:t>7.4 Variable-Length Coding (VLC)</a:t>
            </a:r>
          </a:p>
        </p:txBody>
      </p:sp>
      <p:sp>
        <p:nvSpPr>
          <p:cNvPr id="3" name="Content Placeholder 2">
            <a:extLst>
              <a:ext uri="{FF2B5EF4-FFF2-40B4-BE49-F238E27FC236}">
                <a16:creationId xmlns:a16="http://schemas.microsoft.com/office/drawing/2014/main" id="{53FBB42D-E41E-A2AD-1664-31D4FB947C8B}"/>
              </a:ext>
            </a:extLst>
          </p:cNvPr>
          <p:cNvSpPr>
            <a:spLocks noGrp="1"/>
          </p:cNvSpPr>
          <p:nvPr>
            <p:ph idx="1"/>
          </p:nvPr>
        </p:nvSpPr>
        <p:spPr/>
        <p:txBody>
          <a:bodyPr rtlCol="0">
            <a:normAutofit fontScale="92500" lnSpcReduction="10000"/>
          </a:bodyPr>
          <a:lstStyle/>
          <a:p>
            <a:pPr>
              <a:defRPr/>
            </a:pPr>
            <a:r>
              <a:rPr lang="en-CA" b="1" dirty="0"/>
              <a:t>Shannon-</a:t>
            </a:r>
            <a:r>
              <a:rPr lang="en-CA" b="1" dirty="0" err="1"/>
              <a:t>Fano</a:t>
            </a:r>
            <a:r>
              <a:rPr lang="en-CA" b="1" dirty="0"/>
              <a:t> Algorithm </a:t>
            </a:r>
            <a:r>
              <a:rPr lang="en-CA" dirty="0"/>
              <a:t>— a top-down approach</a:t>
            </a:r>
          </a:p>
          <a:p>
            <a:pPr marL="0" indent="0">
              <a:buNone/>
              <a:defRPr/>
            </a:pPr>
            <a:r>
              <a:rPr lang="en-CA" dirty="0"/>
              <a:t>1. Sort the symbols according to the frequency count of their occurrences.</a:t>
            </a:r>
          </a:p>
          <a:p>
            <a:pPr marL="514350" indent="-514350">
              <a:buFont typeface="Arial" panose="020B0604020202020204" pitchFamily="34" charset="0"/>
              <a:buAutoNum type="arabicPeriod"/>
              <a:defRPr/>
            </a:pPr>
            <a:endParaRPr lang="en-CA" dirty="0"/>
          </a:p>
          <a:p>
            <a:pPr marL="0" indent="0">
              <a:buNone/>
              <a:defRPr/>
            </a:pPr>
            <a:r>
              <a:rPr lang="en-CA" dirty="0"/>
              <a:t>2. Recursively divide the symbols into two parts, each with approximately the same number of counts, until all parts contain only one symbol.</a:t>
            </a:r>
          </a:p>
          <a:p>
            <a:pPr>
              <a:defRPr/>
            </a:pPr>
            <a:endParaRPr lang="en-CA" dirty="0"/>
          </a:p>
          <a:p>
            <a:pPr>
              <a:defRPr/>
            </a:pPr>
            <a:r>
              <a:rPr lang="en-CA" b="1" dirty="0"/>
              <a:t>An Example: coding of “HELLO”</a:t>
            </a:r>
          </a:p>
          <a:p>
            <a:pPr>
              <a:defRPr/>
            </a:pPr>
            <a:endParaRPr lang="en-CA" dirty="0"/>
          </a:p>
          <a:p>
            <a:pPr>
              <a:defRPr/>
            </a:pPr>
            <a:endParaRPr lang="en-CA" dirty="0"/>
          </a:p>
          <a:p>
            <a:pPr>
              <a:defRPr/>
            </a:pPr>
            <a:endParaRPr lang="en-CA" dirty="0"/>
          </a:p>
          <a:p>
            <a:pPr algn="ctr">
              <a:defRPr/>
            </a:pPr>
            <a:r>
              <a:rPr lang="en-CA" dirty="0"/>
              <a:t>Frequency count of the symbols in ”HELLO”.</a:t>
            </a:r>
          </a:p>
        </p:txBody>
      </p:sp>
      <p:graphicFrame>
        <p:nvGraphicFramePr>
          <p:cNvPr id="6" name="Table 5">
            <a:extLst>
              <a:ext uri="{FF2B5EF4-FFF2-40B4-BE49-F238E27FC236}">
                <a16:creationId xmlns:a16="http://schemas.microsoft.com/office/drawing/2014/main" id="{091DF168-EF0D-A43D-019D-95798927BCB4}"/>
              </a:ext>
            </a:extLst>
          </p:cNvPr>
          <p:cNvGraphicFramePr>
            <a:graphicFrameLocks noGrp="1"/>
          </p:cNvGraphicFramePr>
          <p:nvPr/>
        </p:nvGraphicFramePr>
        <p:xfrm>
          <a:off x="3381375" y="4857750"/>
          <a:ext cx="5429250" cy="741364"/>
        </p:xfrm>
        <a:graphic>
          <a:graphicData uri="http://schemas.openxmlformats.org/drawingml/2006/table">
            <a:tbl>
              <a:tblPr firstRow="1" bandRow="1">
                <a:tableStyleId>{2D5ABB26-0587-4C30-8999-92F81FD0307C}</a:tableStyleId>
              </a:tblPr>
              <a:tblGrid>
                <a:gridCol w="1643063">
                  <a:extLst>
                    <a:ext uri="{9D8B030D-6E8A-4147-A177-3AD203B41FA5}">
                      <a16:colId xmlns:a16="http://schemas.microsoft.com/office/drawing/2014/main" val="20000"/>
                    </a:ext>
                  </a:extLst>
                </a:gridCol>
                <a:gridCol w="3786187">
                  <a:extLst>
                    <a:ext uri="{9D8B030D-6E8A-4147-A177-3AD203B41FA5}">
                      <a16:colId xmlns:a16="http://schemas.microsoft.com/office/drawing/2014/main" val="20001"/>
                    </a:ext>
                  </a:extLst>
                </a:gridCol>
              </a:tblGrid>
              <a:tr h="370682">
                <a:tc>
                  <a:txBody>
                    <a:bodyPr/>
                    <a:lstStyle/>
                    <a:p>
                      <a:r>
                        <a:rPr lang="en-CA" sz="1800" dirty="0"/>
                        <a:t>Symbol</a:t>
                      </a:r>
                    </a:p>
                  </a:txBody>
                  <a:tcPr marL="91439" marR="91439"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CA" sz="1800" dirty="0"/>
                        <a:t>H	E	L	O</a:t>
                      </a:r>
                    </a:p>
                  </a:txBody>
                  <a:tcPr marL="91439" marR="91439"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682">
                <a:tc>
                  <a:txBody>
                    <a:bodyPr/>
                    <a:lstStyle/>
                    <a:p>
                      <a:r>
                        <a:rPr lang="en-CA" sz="1800" dirty="0"/>
                        <a:t>Count</a:t>
                      </a:r>
                    </a:p>
                  </a:txBody>
                  <a:tcPr marL="91439" marR="91439"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800" dirty="0"/>
                        <a:t>1	1	2	1</a:t>
                      </a:r>
                    </a:p>
                  </a:txBody>
                  <a:tcPr marL="91439" marR="91439"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ABD13D-3D35-2CC4-F249-A6547E5E7724}"/>
              </a:ext>
            </a:extLst>
          </p:cNvPr>
          <p:cNvSpPr>
            <a:spLocks noGrp="1"/>
          </p:cNvSpPr>
          <p:nvPr>
            <p:ph idx="1"/>
          </p:nvPr>
        </p:nvSpPr>
        <p:spPr>
          <a:xfrm>
            <a:off x="1129862" y="5410365"/>
            <a:ext cx="8229600" cy="768350"/>
          </a:xfrm>
        </p:spPr>
        <p:txBody>
          <a:bodyPr rtlCol="0">
            <a:normAutofit/>
          </a:bodyPr>
          <a:lstStyle/>
          <a:p>
            <a:pPr algn="ctr">
              <a:defRPr/>
            </a:pPr>
            <a:r>
              <a:rPr lang="en-CA" dirty="0"/>
              <a:t>Fig. 7.3: Coding Tree for HELLO by Shannon-</a:t>
            </a:r>
            <a:r>
              <a:rPr lang="en-CA" dirty="0" err="1"/>
              <a:t>Fano</a:t>
            </a:r>
            <a:r>
              <a:rPr lang="en-CA" dirty="0"/>
              <a:t>.</a:t>
            </a:r>
          </a:p>
        </p:txBody>
      </p:sp>
      <p:pic>
        <p:nvPicPr>
          <p:cNvPr id="11269" name="Picture 5" descr="shannon1.png">
            <a:extLst>
              <a:ext uri="{FF2B5EF4-FFF2-40B4-BE49-F238E27FC236}">
                <a16:creationId xmlns:a16="http://schemas.microsoft.com/office/drawing/2014/main" id="{7C1BA704-A721-6CE9-6051-653D2C1EDD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6431" y="981241"/>
            <a:ext cx="7256462"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DAB23C-125E-7C85-F7CA-2B935CA80D4B}"/>
              </a:ext>
            </a:extLst>
          </p:cNvPr>
          <p:cNvSpPr>
            <a:spLocks noGrp="1"/>
          </p:cNvSpPr>
          <p:nvPr>
            <p:ph idx="1"/>
          </p:nvPr>
        </p:nvSpPr>
        <p:spPr>
          <a:xfrm>
            <a:off x="970072" y="874713"/>
            <a:ext cx="8229600" cy="768350"/>
          </a:xfrm>
        </p:spPr>
        <p:txBody>
          <a:bodyPr rtlCol="0">
            <a:normAutofit/>
          </a:bodyPr>
          <a:lstStyle/>
          <a:p>
            <a:pPr algn="ctr">
              <a:defRPr/>
            </a:pPr>
            <a:r>
              <a:rPr lang="en-CA" b="1" dirty="0"/>
              <a:t>Table 7.1: Result of Performing Shannon-</a:t>
            </a:r>
            <a:r>
              <a:rPr lang="en-CA" b="1" dirty="0" err="1"/>
              <a:t>Fano</a:t>
            </a:r>
            <a:r>
              <a:rPr lang="en-CA" b="1" dirty="0"/>
              <a:t> on HELLO</a:t>
            </a:r>
          </a:p>
        </p:txBody>
      </p:sp>
      <p:graphicFrame>
        <p:nvGraphicFramePr>
          <p:cNvPr id="7" name="Table 6">
            <a:extLst>
              <a:ext uri="{FF2B5EF4-FFF2-40B4-BE49-F238E27FC236}">
                <a16:creationId xmlns:a16="http://schemas.microsoft.com/office/drawing/2014/main" id="{3960A0C1-868E-C6B7-7381-C42C926F0BE2}"/>
              </a:ext>
            </a:extLst>
          </p:cNvPr>
          <p:cNvGraphicFramePr>
            <a:graphicFrameLocks noGrp="1"/>
          </p:cNvGraphicFramePr>
          <p:nvPr>
            <p:extLst>
              <p:ext uri="{D42A27DB-BD31-4B8C-83A1-F6EECF244321}">
                <p14:modId xmlns:p14="http://schemas.microsoft.com/office/powerpoint/2010/main" val="2525821703"/>
              </p:ext>
            </p:extLst>
          </p:nvPr>
        </p:nvGraphicFramePr>
        <p:xfrm>
          <a:off x="1153675" y="2597369"/>
          <a:ext cx="7715250" cy="2494275"/>
        </p:xfrm>
        <a:graphic>
          <a:graphicData uri="http://schemas.openxmlformats.org/drawingml/2006/table">
            <a:tbl>
              <a:tblPr firstRow="1" bandRow="1">
                <a:tableStyleId>{2D5ABB26-0587-4C30-8999-92F81FD0307C}</a:tableStyleId>
              </a:tblPr>
              <a:tblGrid>
                <a:gridCol w="1543050">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1543050">
                  <a:extLst>
                    <a:ext uri="{9D8B030D-6E8A-4147-A177-3AD203B41FA5}">
                      <a16:colId xmlns:a16="http://schemas.microsoft.com/office/drawing/2014/main" val="20003"/>
                    </a:ext>
                  </a:extLst>
                </a:gridCol>
                <a:gridCol w="1543050">
                  <a:extLst>
                    <a:ext uri="{9D8B030D-6E8A-4147-A177-3AD203B41FA5}">
                      <a16:colId xmlns:a16="http://schemas.microsoft.com/office/drawing/2014/main" val="20004"/>
                    </a:ext>
                  </a:extLst>
                </a:gridCol>
              </a:tblGrid>
              <a:tr h="571503">
                <a:tc>
                  <a:txBody>
                    <a:bodyPr/>
                    <a:lstStyle/>
                    <a:p>
                      <a:pPr algn="ctr"/>
                      <a:r>
                        <a:rPr lang="en-CA" sz="1800" dirty="0"/>
                        <a:t>Symbol</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Count</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latin typeface="+mj-lt"/>
                          <a:cs typeface="Times New Roman" pitchFamily="18" charset="0"/>
                        </a:rPr>
                        <a:t>Log</a:t>
                      </a:r>
                      <a:r>
                        <a:rPr lang="en-CA" sz="1800" baseline="-25000" dirty="0">
                          <a:latin typeface="+mj-lt"/>
                          <a:cs typeface="Times New Roman" pitchFamily="18" charset="0"/>
                        </a:rPr>
                        <a:t>2  </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Code</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 of bits used</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39">
                <a:tc>
                  <a:txBody>
                    <a:bodyPr/>
                    <a:lstStyle/>
                    <a:p>
                      <a:pPr algn="ctr"/>
                      <a:r>
                        <a:rPr lang="en-CA" sz="1800" dirty="0"/>
                        <a:t>L</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t>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t>1.32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t>0</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t>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39">
                <a:tc>
                  <a:txBody>
                    <a:bodyPr/>
                    <a:lstStyle/>
                    <a:p>
                      <a:pPr algn="ctr"/>
                      <a:r>
                        <a:rPr lang="en-CA" sz="1800" dirty="0"/>
                        <a:t>H</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2.32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10</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39">
                <a:tc>
                  <a:txBody>
                    <a:bodyPr/>
                    <a:lstStyle/>
                    <a:p>
                      <a:pPr algn="ctr"/>
                      <a:r>
                        <a:rPr lang="en-CA" sz="1800" dirty="0"/>
                        <a:t>E</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2.32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110</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3</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39">
                <a:tc>
                  <a:txBody>
                    <a:bodyPr/>
                    <a:lstStyle/>
                    <a:p>
                      <a:pPr algn="ctr"/>
                      <a:r>
                        <a:rPr lang="en-CA" sz="1800" dirty="0"/>
                        <a:t>O</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t>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t>2.32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t>111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t>3</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39">
                <a:tc gridSpan="4">
                  <a:txBody>
                    <a:bodyPr/>
                    <a:lstStyle/>
                    <a:p>
                      <a:pPr algn="r"/>
                      <a:r>
                        <a:rPr lang="en-CA" sz="1800" dirty="0"/>
                        <a:t>TOTAL # of bits:</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a:txBody>
                    <a:bodyPr/>
                    <a:lstStyle/>
                    <a:p>
                      <a:pPr algn="ctr"/>
                      <a:r>
                        <a:rPr lang="en-CA" sz="1800" dirty="0"/>
                        <a:t>10</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2331" name="Object 2">
            <a:extLst>
              <a:ext uri="{FF2B5EF4-FFF2-40B4-BE49-F238E27FC236}">
                <a16:creationId xmlns:a16="http://schemas.microsoft.com/office/drawing/2014/main" id="{4097A01A-B4A2-35A1-4F05-5F0BC8BAA784}"/>
              </a:ext>
            </a:extLst>
          </p:cNvPr>
          <p:cNvGraphicFramePr>
            <a:graphicFrameLocks noChangeAspect="1"/>
          </p:cNvGraphicFramePr>
          <p:nvPr>
            <p:extLst>
              <p:ext uri="{D42A27DB-BD31-4B8C-83A1-F6EECF244321}">
                <p14:modId xmlns:p14="http://schemas.microsoft.com/office/powerpoint/2010/main" val="182281291"/>
              </p:ext>
            </p:extLst>
          </p:nvPr>
        </p:nvGraphicFramePr>
        <p:xfrm>
          <a:off x="5372758" y="2629420"/>
          <a:ext cx="328613" cy="539750"/>
        </p:xfrm>
        <a:graphic>
          <a:graphicData uri="http://schemas.openxmlformats.org/presentationml/2006/ole">
            <mc:AlternateContent xmlns:mc="http://schemas.openxmlformats.org/markup-compatibility/2006">
              <mc:Choice xmlns:v="urn:schemas-microsoft-com:vml" Requires="v">
                <p:oleObj spid="_x0000_s2051" name="Equation" r:id="rId3" imgW="177646" imgH="291847" progId="Equation.DSMT4">
                  <p:embed/>
                </p:oleObj>
              </mc:Choice>
              <mc:Fallback>
                <p:oleObj name="Equation" r:id="rId3" imgW="177646" imgH="291847" progId="Equation.DSMT4">
                  <p:embed/>
                  <p:pic>
                    <p:nvPicPr>
                      <p:cNvPr id="12331" name="Object 2">
                        <a:extLst>
                          <a:ext uri="{FF2B5EF4-FFF2-40B4-BE49-F238E27FC236}">
                            <a16:creationId xmlns:a16="http://schemas.microsoft.com/office/drawing/2014/main" id="{4097A01A-B4A2-35A1-4F05-5F0BC8BAA7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2758" y="2629420"/>
                        <a:ext cx="32861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508E2-B0B1-C229-BFF6-B7A12D8B5F19}"/>
              </a:ext>
            </a:extLst>
          </p:cNvPr>
          <p:cNvSpPr>
            <a:spLocks noGrp="1"/>
          </p:cNvSpPr>
          <p:nvPr>
            <p:ph idx="1"/>
          </p:nvPr>
        </p:nvSpPr>
        <p:spPr>
          <a:xfrm>
            <a:off x="946863" y="3964864"/>
            <a:ext cx="8229600" cy="768350"/>
          </a:xfrm>
        </p:spPr>
        <p:txBody>
          <a:bodyPr rtlCol="0">
            <a:normAutofit/>
          </a:bodyPr>
          <a:lstStyle/>
          <a:p>
            <a:pPr algn="ctr">
              <a:defRPr/>
            </a:pPr>
            <a:r>
              <a:rPr lang="en-CA" dirty="0"/>
              <a:t>Fig. 7.4 Another coding tree for HELLO by Shannon-</a:t>
            </a:r>
            <a:r>
              <a:rPr lang="en-CA" dirty="0" err="1"/>
              <a:t>Fano</a:t>
            </a:r>
            <a:r>
              <a:rPr lang="en-CA" dirty="0"/>
              <a:t>.</a:t>
            </a:r>
          </a:p>
        </p:txBody>
      </p:sp>
      <p:pic>
        <p:nvPicPr>
          <p:cNvPr id="13317" name="Picture 6" descr="shannon2.png">
            <a:extLst>
              <a:ext uri="{FF2B5EF4-FFF2-40B4-BE49-F238E27FC236}">
                <a16:creationId xmlns:a16="http://schemas.microsoft.com/office/drawing/2014/main" id="{0588FFD0-C87E-268D-1A2A-AEF7342C45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92975" y="1571625"/>
            <a:ext cx="758348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038DE-CB83-8537-4296-0C473C3DF8D6}"/>
              </a:ext>
            </a:extLst>
          </p:cNvPr>
          <p:cNvSpPr>
            <a:spLocks noGrp="1"/>
          </p:cNvSpPr>
          <p:nvPr>
            <p:ph idx="1"/>
          </p:nvPr>
        </p:nvSpPr>
        <p:spPr>
          <a:xfrm>
            <a:off x="1952625" y="928688"/>
            <a:ext cx="8229600" cy="768350"/>
          </a:xfrm>
        </p:spPr>
        <p:txBody>
          <a:bodyPr rtlCol="0">
            <a:normAutofit/>
          </a:bodyPr>
          <a:lstStyle/>
          <a:p>
            <a:pPr algn="ctr">
              <a:defRPr/>
            </a:pPr>
            <a:r>
              <a:rPr lang="en-CA" b="1" dirty="0"/>
              <a:t>Table 7.2: Another Result of Performing Shannon-</a:t>
            </a:r>
            <a:r>
              <a:rPr lang="en-CA" b="1" dirty="0" err="1"/>
              <a:t>Fano</a:t>
            </a:r>
            <a:endParaRPr lang="en-CA" b="1" dirty="0"/>
          </a:p>
          <a:p>
            <a:pPr marL="0" indent="0" algn="ctr">
              <a:buNone/>
              <a:defRPr/>
            </a:pPr>
            <a:r>
              <a:rPr lang="en-CA" b="1" dirty="0"/>
              <a:t>on HELLO (see Fig. 7.4)</a:t>
            </a:r>
          </a:p>
        </p:txBody>
      </p:sp>
      <p:graphicFrame>
        <p:nvGraphicFramePr>
          <p:cNvPr id="7" name="Table 6">
            <a:extLst>
              <a:ext uri="{FF2B5EF4-FFF2-40B4-BE49-F238E27FC236}">
                <a16:creationId xmlns:a16="http://schemas.microsoft.com/office/drawing/2014/main" id="{2B013DA6-7488-DD96-00EF-812F4D33623A}"/>
              </a:ext>
            </a:extLst>
          </p:cNvPr>
          <p:cNvGraphicFramePr>
            <a:graphicFrameLocks noGrp="1"/>
          </p:cNvGraphicFramePr>
          <p:nvPr>
            <p:extLst>
              <p:ext uri="{D42A27DB-BD31-4B8C-83A1-F6EECF244321}">
                <p14:modId xmlns:p14="http://schemas.microsoft.com/office/powerpoint/2010/main" val="3424780354"/>
              </p:ext>
            </p:extLst>
          </p:nvPr>
        </p:nvGraphicFramePr>
        <p:xfrm>
          <a:off x="1290309" y="2408512"/>
          <a:ext cx="7715250" cy="2494275"/>
        </p:xfrm>
        <a:graphic>
          <a:graphicData uri="http://schemas.openxmlformats.org/drawingml/2006/table">
            <a:tbl>
              <a:tblPr firstRow="1" bandRow="1">
                <a:tableStyleId>{2D5ABB26-0587-4C30-8999-92F81FD0307C}</a:tableStyleId>
              </a:tblPr>
              <a:tblGrid>
                <a:gridCol w="1543050">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gridCol w="1543050">
                  <a:extLst>
                    <a:ext uri="{9D8B030D-6E8A-4147-A177-3AD203B41FA5}">
                      <a16:colId xmlns:a16="http://schemas.microsoft.com/office/drawing/2014/main" val="20003"/>
                    </a:ext>
                  </a:extLst>
                </a:gridCol>
                <a:gridCol w="1543050">
                  <a:extLst>
                    <a:ext uri="{9D8B030D-6E8A-4147-A177-3AD203B41FA5}">
                      <a16:colId xmlns:a16="http://schemas.microsoft.com/office/drawing/2014/main" val="20004"/>
                    </a:ext>
                  </a:extLst>
                </a:gridCol>
              </a:tblGrid>
              <a:tr h="571503">
                <a:tc>
                  <a:txBody>
                    <a:bodyPr/>
                    <a:lstStyle/>
                    <a:p>
                      <a:pPr algn="ctr"/>
                      <a:r>
                        <a:rPr lang="en-CA" sz="1800" dirty="0"/>
                        <a:t>Symbol</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Count</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latin typeface="+mj-lt"/>
                          <a:cs typeface="Times New Roman" pitchFamily="18" charset="0"/>
                        </a:rPr>
                        <a:t>Log</a:t>
                      </a:r>
                      <a:r>
                        <a:rPr lang="en-CA" sz="1800" baseline="-25000" dirty="0">
                          <a:latin typeface="+mj-lt"/>
                          <a:cs typeface="Times New Roman" pitchFamily="18" charset="0"/>
                        </a:rPr>
                        <a:t>2  </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Code</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A" sz="1800" dirty="0"/>
                        <a:t># of bits used</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39">
                <a:tc>
                  <a:txBody>
                    <a:bodyPr/>
                    <a:lstStyle/>
                    <a:p>
                      <a:pPr algn="ctr"/>
                      <a:r>
                        <a:rPr lang="en-CA" sz="1800" dirty="0"/>
                        <a:t>L</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t>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t>1.32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t>00</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A" sz="1800" dirty="0">
                          <a:latin typeface="Times New Roman" pitchFamily="18" charset="0"/>
                          <a:cs typeface="Times New Roman" pitchFamily="18" charset="0"/>
                        </a:rPr>
                        <a:t>4</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39">
                <a:tc>
                  <a:txBody>
                    <a:bodyPr/>
                    <a:lstStyle/>
                    <a:p>
                      <a:pPr algn="ctr"/>
                      <a:r>
                        <a:rPr lang="en-CA" sz="1800" dirty="0"/>
                        <a:t>H</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2.32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01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latin typeface="+mn-lt"/>
                          <a:cs typeface="+mn-cs"/>
                        </a:rPr>
                        <a:t>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39">
                <a:tc>
                  <a:txBody>
                    <a:bodyPr/>
                    <a:lstStyle/>
                    <a:p>
                      <a:pPr algn="ctr"/>
                      <a:r>
                        <a:rPr lang="en-CA" sz="1800" dirty="0"/>
                        <a:t>E</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2.32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t>10</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A" sz="1800" dirty="0">
                          <a:latin typeface="+mn-lt"/>
                          <a:cs typeface="+mn-cs"/>
                        </a:rPr>
                        <a:t>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39">
                <a:tc>
                  <a:txBody>
                    <a:bodyPr/>
                    <a:lstStyle/>
                    <a:p>
                      <a:pPr algn="ctr"/>
                      <a:r>
                        <a:rPr lang="en-CA" sz="1800" dirty="0"/>
                        <a:t>O</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t>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t>2.32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t>11</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A" sz="1800" dirty="0">
                          <a:latin typeface="+mn-lt"/>
                          <a:cs typeface="+mn-cs"/>
                        </a:rPr>
                        <a:t>2</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39">
                <a:tc gridSpan="4">
                  <a:txBody>
                    <a:bodyPr/>
                    <a:lstStyle/>
                    <a:p>
                      <a:pPr algn="r"/>
                      <a:r>
                        <a:rPr lang="en-CA" sz="1800" dirty="0"/>
                        <a:t>TOTAL # of bits:</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A" dirty="0"/>
                    </a:p>
                  </a:txBody>
                  <a:tcPr/>
                </a:tc>
                <a:tc hMerge="1">
                  <a:txBody>
                    <a:bodyPr/>
                    <a:lstStyle/>
                    <a:p>
                      <a:endParaRPr lang="en-CA" dirty="0"/>
                    </a:p>
                  </a:txBody>
                  <a:tcPr/>
                </a:tc>
                <a:tc hMerge="1">
                  <a:txBody>
                    <a:bodyPr/>
                    <a:lstStyle/>
                    <a:p>
                      <a:endParaRPr lang="en-CA" dirty="0"/>
                    </a:p>
                  </a:txBody>
                  <a:tcPr/>
                </a:tc>
                <a:tc>
                  <a:txBody>
                    <a:bodyPr/>
                    <a:lstStyle/>
                    <a:p>
                      <a:pPr algn="ctr"/>
                      <a:r>
                        <a:rPr lang="en-CA" sz="1800" dirty="0"/>
                        <a:t>10</a:t>
                      </a:r>
                      <a:endParaRPr lang="en-CA" sz="1800" dirty="0">
                        <a:latin typeface="Times New Roman" pitchFamily="18" charset="0"/>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4379" name="Object 2">
            <a:extLst>
              <a:ext uri="{FF2B5EF4-FFF2-40B4-BE49-F238E27FC236}">
                <a16:creationId xmlns:a16="http://schemas.microsoft.com/office/drawing/2014/main" id="{7FB91AE0-8455-C87A-F362-1677FCF02B41}"/>
              </a:ext>
            </a:extLst>
          </p:cNvPr>
          <p:cNvGraphicFramePr>
            <a:graphicFrameLocks noChangeAspect="1"/>
          </p:cNvGraphicFramePr>
          <p:nvPr>
            <p:extLst>
              <p:ext uri="{D42A27DB-BD31-4B8C-83A1-F6EECF244321}">
                <p14:modId xmlns:p14="http://schemas.microsoft.com/office/powerpoint/2010/main" val="4134472510"/>
              </p:ext>
            </p:extLst>
          </p:nvPr>
        </p:nvGraphicFramePr>
        <p:xfrm>
          <a:off x="5341227" y="2373122"/>
          <a:ext cx="328613" cy="539750"/>
        </p:xfrm>
        <a:graphic>
          <a:graphicData uri="http://schemas.openxmlformats.org/presentationml/2006/ole">
            <mc:AlternateContent xmlns:mc="http://schemas.openxmlformats.org/markup-compatibility/2006">
              <mc:Choice xmlns:v="urn:schemas-microsoft-com:vml" Requires="v">
                <p:oleObj spid="_x0000_s3075" name="Equation" r:id="rId3" imgW="177646" imgH="291847" progId="Equation.DSMT4">
                  <p:embed/>
                </p:oleObj>
              </mc:Choice>
              <mc:Fallback>
                <p:oleObj name="Equation" r:id="rId3" imgW="177646" imgH="291847" progId="Equation.DSMT4">
                  <p:embed/>
                  <p:pic>
                    <p:nvPicPr>
                      <p:cNvPr id="14379" name="Object 2">
                        <a:extLst>
                          <a:ext uri="{FF2B5EF4-FFF2-40B4-BE49-F238E27FC236}">
                            <a16:creationId xmlns:a16="http://schemas.microsoft.com/office/drawing/2014/main" id="{7FB91AE0-8455-C87A-F362-1677FCF02B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1227" y="2373122"/>
                        <a:ext cx="32861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Huffman Coding</a:t>
            </a:r>
          </a:p>
        </p:txBody>
      </p:sp>
      <p:sp>
        <p:nvSpPr>
          <p:cNvPr id="3" name="Content Placeholder 2"/>
          <p:cNvSpPr>
            <a:spLocks noGrp="1"/>
          </p:cNvSpPr>
          <p:nvPr>
            <p:ph idx="1"/>
          </p:nvPr>
        </p:nvSpPr>
        <p:spPr>
          <a:xfrm>
            <a:off x="677334" y="2160589"/>
            <a:ext cx="6808688" cy="3880773"/>
          </a:xfrm>
        </p:spPr>
        <p:txBody>
          <a:bodyPr/>
          <a:lstStyle/>
          <a:p>
            <a:r>
              <a:rPr lang="en-US" dirty="0"/>
              <a:t>When data is initially sampled, each sample is assigned the same number of bits. This length is log2n, where n is the number of distinct samples or quantization intervals.</a:t>
            </a:r>
          </a:p>
          <a:p>
            <a:endParaRPr lang="en-US" dirty="0"/>
          </a:p>
          <a:p>
            <a:r>
              <a:rPr lang="en-US" dirty="0"/>
              <a:t>Assigning an equal number of bits to all samples might not be the most efficient coding scheme because some symbols occur more commonly than others.</a:t>
            </a:r>
          </a:p>
        </p:txBody>
      </p:sp>
      <p:pic>
        <p:nvPicPr>
          <p:cNvPr id="4" name="Picture 3"/>
          <p:cNvPicPr>
            <a:picLocks noChangeAspect="1"/>
          </p:cNvPicPr>
          <p:nvPr/>
        </p:nvPicPr>
        <p:blipFill>
          <a:blip r:embed="rId2"/>
          <a:stretch>
            <a:fillRect/>
          </a:stretch>
        </p:blipFill>
        <p:spPr>
          <a:xfrm>
            <a:off x="4736628" y="2441388"/>
            <a:ext cx="609600" cy="400050"/>
          </a:xfrm>
          <a:prstGeom prst="rect">
            <a:avLst/>
          </a:prstGeom>
        </p:spPr>
      </p:pic>
      <p:pic>
        <p:nvPicPr>
          <p:cNvPr id="6" name="Picture 5">
            <a:extLst>
              <a:ext uri="{FF2B5EF4-FFF2-40B4-BE49-F238E27FC236}">
                <a16:creationId xmlns:a16="http://schemas.microsoft.com/office/drawing/2014/main" id="{C18FFC67-B1DF-AA9C-F71F-0D20A07860C0}"/>
              </a:ext>
            </a:extLst>
          </p:cNvPr>
          <p:cNvPicPr>
            <a:picLocks noChangeAspect="1"/>
          </p:cNvPicPr>
          <p:nvPr/>
        </p:nvPicPr>
        <p:blipFill>
          <a:blip r:embed="rId3"/>
          <a:stretch>
            <a:fillRect/>
          </a:stretch>
        </p:blipFill>
        <p:spPr>
          <a:xfrm>
            <a:off x="8976081" y="1157746"/>
            <a:ext cx="3215919" cy="5700254"/>
          </a:xfrm>
          <a:prstGeom prst="rect">
            <a:avLst/>
          </a:prstGeom>
        </p:spPr>
      </p:pic>
    </p:spTree>
    <p:extLst>
      <p:ext uri="{BB962C8B-B14F-4D97-AF65-F5344CB8AC3E}">
        <p14:creationId xmlns:p14="http://schemas.microsoft.com/office/powerpoint/2010/main" val="29999735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Huffman Coding outline</a:t>
            </a:r>
          </a:p>
        </p:txBody>
      </p:sp>
      <p:sp>
        <p:nvSpPr>
          <p:cNvPr id="3" name="Content Placeholder 2"/>
          <p:cNvSpPr>
            <a:spLocks noGrp="1"/>
          </p:cNvSpPr>
          <p:nvPr>
            <p:ph idx="1"/>
          </p:nvPr>
        </p:nvSpPr>
        <p:spPr>
          <a:xfrm>
            <a:off x="677334" y="2160589"/>
            <a:ext cx="9973348" cy="3880773"/>
          </a:xfrm>
        </p:spPr>
        <p:txBody>
          <a:bodyPr/>
          <a:lstStyle/>
          <a:p>
            <a:pPr algn="just"/>
            <a:r>
              <a:rPr lang="en-US" dirty="0"/>
              <a:t>1. The leaves of the binary tree are associated with the list of probabilities. The leaves can be sorted in increasing/decreasing order, though this is not necessary.</a:t>
            </a:r>
          </a:p>
          <a:p>
            <a:pPr algn="just"/>
            <a:r>
              <a:rPr lang="en-US" dirty="0"/>
              <a:t>2. The two smallest probabilities are made sibling nodes by combining them under one new parent node with a probability equal to the sum of the child node probabilities.</a:t>
            </a:r>
          </a:p>
          <a:p>
            <a:pPr algn="just"/>
            <a:r>
              <a:rPr lang="en-US" dirty="0"/>
              <a:t>3.Repeat the process by choosing two least probability nodes (which can be leaf nodes or new parent nodes) and combining them to form new parents until only one node is left. This forms the root node and results in a binary Huffman tree.</a:t>
            </a:r>
          </a:p>
          <a:p>
            <a:pPr algn="just"/>
            <a:r>
              <a:rPr lang="en-US" dirty="0"/>
              <a:t>4.Label the branches with a 0 and 1 starting from the root and going to all intermediary nodes.</a:t>
            </a:r>
          </a:p>
          <a:p>
            <a:endParaRPr lang="en-US" dirty="0"/>
          </a:p>
          <a:p>
            <a:pPr marL="0" indent="0">
              <a:buNone/>
            </a:pPr>
            <a:endParaRPr lang="en-US" dirty="0"/>
          </a:p>
        </p:txBody>
      </p:sp>
    </p:spTree>
    <p:extLst>
      <p:ext uri="{BB962C8B-B14F-4D97-AF65-F5344CB8AC3E}">
        <p14:creationId xmlns:p14="http://schemas.microsoft.com/office/powerpoint/2010/main" val="27101483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Coding outline</a:t>
            </a:r>
          </a:p>
        </p:txBody>
      </p:sp>
      <p:sp>
        <p:nvSpPr>
          <p:cNvPr id="3" name="Content Placeholder 2"/>
          <p:cNvSpPr>
            <a:spLocks noGrp="1"/>
          </p:cNvSpPr>
          <p:nvPr>
            <p:ph idx="1"/>
          </p:nvPr>
        </p:nvSpPr>
        <p:spPr/>
        <p:txBody>
          <a:bodyPr>
            <a:normAutofit/>
          </a:bodyPr>
          <a:lstStyle/>
          <a:p>
            <a:r>
              <a:rPr lang="en-US" dirty="0"/>
              <a:t>5 Traverse the Huffman tree from the root to a leaf node noting each branch label (1 or 0). This results in a Huffman code representation for that leaf node symbol. Perform the same for all the symbols.</a:t>
            </a:r>
          </a:p>
        </p:txBody>
      </p:sp>
      <p:pic>
        <p:nvPicPr>
          <p:cNvPr id="4" name="Picture 3"/>
          <p:cNvPicPr>
            <a:picLocks noChangeAspect="1"/>
          </p:cNvPicPr>
          <p:nvPr/>
        </p:nvPicPr>
        <p:blipFill>
          <a:blip r:embed="rId3"/>
          <a:stretch>
            <a:fillRect/>
          </a:stretch>
        </p:blipFill>
        <p:spPr>
          <a:xfrm>
            <a:off x="972473" y="3281228"/>
            <a:ext cx="8006389" cy="3262446"/>
          </a:xfrm>
          <a:prstGeom prst="rect">
            <a:avLst/>
          </a:prstGeom>
        </p:spPr>
      </p:pic>
    </p:spTree>
    <p:extLst>
      <p:ext uri="{BB962C8B-B14F-4D97-AF65-F5344CB8AC3E}">
        <p14:creationId xmlns:p14="http://schemas.microsoft.com/office/powerpoint/2010/main" val="2813634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FC854D9-A1CE-E3A8-E87C-5553E069F35F}"/>
              </a:ext>
            </a:extLst>
          </p:cNvPr>
          <p:cNvSpPr>
            <a:spLocks noGrp="1"/>
          </p:cNvSpPr>
          <p:nvPr>
            <p:ph type="title"/>
          </p:nvPr>
        </p:nvSpPr>
        <p:spPr>
          <a:xfrm>
            <a:off x="1981200" y="571501"/>
            <a:ext cx="8229600" cy="1000125"/>
          </a:xfrm>
        </p:spPr>
        <p:txBody>
          <a:bodyPr/>
          <a:lstStyle/>
          <a:p>
            <a:pPr eaLnBrk="1" hangingPunct="1"/>
            <a:r>
              <a:rPr lang="en-CA" altLang="en-US"/>
              <a:t>Huffman Coding</a:t>
            </a:r>
          </a:p>
        </p:txBody>
      </p:sp>
      <p:sp>
        <p:nvSpPr>
          <p:cNvPr id="13" name="TextBox 12">
            <a:extLst>
              <a:ext uri="{FF2B5EF4-FFF2-40B4-BE49-F238E27FC236}">
                <a16:creationId xmlns:a16="http://schemas.microsoft.com/office/drawing/2014/main" id="{D53C79C0-58DA-396A-54D1-DED197F96CA5}"/>
              </a:ext>
            </a:extLst>
          </p:cNvPr>
          <p:cNvSpPr txBox="1"/>
          <p:nvPr/>
        </p:nvSpPr>
        <p:spPr>
          <a:xfrm>
            <a:off x="1460937" y="1571626"/>
            <a:ext cx="8954815" cy="4031873"/>
          </a:xfrm>
          <a:prstGeom prst="rect">
            <a:avLst/>
          </a:prstGeom>
          <a:noFill/>
        </p:spPr>
        <p:txBody>
          <a:bodyPr wrap="square" rtlCol="0">
            <a:spAutoFit/>
          </a:bodyPr>
          <a:lstStyle/>
          <a:p>
            <a:r>
              <a:rPr lang="en-US" dirty="0"/>
              <a:t>ALGORITHM 7.1 Huffman Coding Algorithm— a bottom-up approach</a:t>
            </a:r>
          </a:p>
          <a:p>
            <a:endParaRPr lang="en-US" dirty="0"/>
          </a:p>
          <a:p>
            <a:r>
              <a:rPr lang="en-US" dirty="0"/>
              <a:t>1. Initialization: Put all symbols on a list sorted according to their frequency counts.</a:t>
            </a:r>
          </a:p>
          <a:p>
            <a:endParaRPr lang="en-US" dirty="0"/>
          </a:p>
          <a:p>
            <a:r>
              <a:rPr lang="en-US" dirty="0"/>
              <a:t>2. Repeat until the list has only one symbol left:</a:t>
            </a:r>
          </a:p>
          <a:p>
            <a:endParaRPr lang="en-US" dirty="0"/>
          </a:p>
          <a:p>
            <a:pPr lvl="1"/>
            <a:r>
              <a:rPr lang="en-US" dirty="0"/>
              <a:t>(</a:t>
            </a:r>
            <a:r>
              <a:rPr lang="en-US" sz="1600" dirty="0"/>
              <a:t>1) From the list pick two symbols with the lowest frequency counts.  Form a Huffman subtree that has these two symbols as child nodes and create a parent node.</a:t>
            </a:r>
          </a:p>
          <a:p>
            <a:pPr lvl="1"/>
            <a:endParaRPr lang="en-US" sz="1600" dirty="0"/>
          </a:p>
          <a:p>
            <a:pPr lvl="1"/>
            <a:r>
              <a:rPr lang="en-US" sz="1600" dirty="0"/>
              <a:t>(2) Assign the sum of the children’s frequency counts to the parent and insert it into the list such that the order is maintained.</a:t>
            </a:r>
          </a:p>
          <a:p>
            <a:pPr lvl="1"/>
            <a:endParaRPr lang="en-US" sz="1600" dirty="0"/>
          </a:p>
          <a:p>
            <a:pPr lvl="1"/>
            <a:r>
              <a:rPr lang="en-US" sz="1600" dirty="0"/>
              <a:t>(3) Delete the children from the list.</a:t>
            </a:r>
          </a:p>
          <a:p>
            <a:pPr lvl="1"/>
            <a:endParaRPr lang="en-US" sz="1600" dirty="0"/>
          </a:p>
          <a:p>
            <a:r>
              <a:rPr lang="en-US" dirty="0"/>
              <a:t>3. Assign a codeword for each leaf based on the path from the root.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93F713-A895-0DC0-FA95-747AD0A4D4C5}"/>
              </a:ext>
            </a:extLst>
          </p:cNvPr>
          <p:cNvSpPr>
            <a:spLocks noGrp="1"/>
          </p:cNvSpPr>
          <p:nvPr>
            <p:ph idx="1"/>
          </p:nvPr>
        </p:nvSpPr>
        <p:spPr>
          <a:xfrm>
            <a:off x="1952625" y="5286375"/>
            <a:ext cx="8229600" cy="482600"/>
          </a:xfrm>
        </p:spPr>
        <p:txBody>
          <a:bodyPr rtlCol="0">
            <a:normAutofit/>
          </a:bodyPr>
          <a:lstStyle/>
          <a:p>
            <a:pPr algn="ctr">
              <a:defRPr/>
            </a:pPr>
            <a:r>
              <a:rPr lang="en-CA" dirty="0"/>
              <a:t>Fig. 7.5: Coding Tree for “HELLO” using the Huffman Algorithm.</a:t>
            </a:r>
          </a:p>
        </p:txBody>
      </p:sp>
      <p:pic>
        <p:nvPicPr>
          <p:cNvPr id="16389" name="Picture 7" descr="huffman.png">
            <a:extLst>
              <a:ext uri="{FF2B5EF4-FFF2-40B4-BE49-F238E27FC236}">
                <a16:creationId xmlns:a16="http://schemas.microsoft.com/office/drawing/2014/main" id="{969C3345-1672-C25A-55AE-853F01AE33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52689" y="785813"/>
            <a:ext cx="7246937"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0709FBF0-184F-7908-8699-71989E394C17}"/>
              </a:ext>
            </a:extLst>
          </p:cNvPr>
          <p:cNvSpPr>
            <a:spLocks noGrp="1"/>
          </p:cNvSpPr>
          <p:nvPr>
            <p:ph type="title"/>
          </p:nvPr>
        </p:nvSpPr>
        <p:spPr>
          <a:xfrm>
            <a:off x="1981200" y="571501"/>
            <a:ext cx="8229600" cy="1000125"/>
          </a:xfrm>
        </p:spPr>
        <p:txBody>
          <a:bodyPr/>
          <a:lstStyle/>
          <a:p>
            <a:pPr eaLnBrk="1" hangingPunct="1"/>
            <a:r>
              <a:rPr lang="en-CA" altLang="en-US"/>
              <a:t>Huffman Coding </a:t>
            </a:r>
            <a:r>
              <a:rPr lang="en-CA" altLang="en-US" b="0"/>
              <a:t>(cont’d)</a:t>
            </a:r>
          </a:p>
        </p:txBody>
      </p:sp>
      <p:sp>
        <p:nvSpPr>
          <p:cNvPr id="3" name="Content Placeholder 2">
            <a:extLst>
              <a:ext uri="{FF2B5EF4-FFF2-40B4-BE49-F238E27FC236}">
                <a16:creationId xmlns:a16="http://schemas.microsoft.com/office/drawing/2014/main" id="{F54BE65F-DE8E-1C68-88B9-B475C27CD522}"/>
              </a:ext>
            </a:extLst>
          </p:cNvPr>
          <p:cNvSpPr>
            <a:spLocks noGrp="1"/>
          </p:cNvSpPr>
          <p:nvPr>
            <p:ph idx="1"/>
          </p:nvPr>
        </p:nvSpPr>
        <p:spPr/>
        <p:txBody>
          <a:bodyPr rtlCol="0">
            <a:normAutofit/>
          </a:bodyPr>
          <a:lstStyle/>
          <a:p>
            <a:pPr marL="0" indent="0">
              <a:defRPr/>
            </a:pPr>
            <a:r>
              <a:rPr lang="en-CA" dirty="0"/>
              <a:t>In Fig. 7.5, new symbols P1, P2, P3 are created to refer to the parent nodes in the Huffman coding tree. The contents in the list are illustrated below:</a:t>
            </a:r>
          </a:p>
          <a:p>
            <a:pPr marL="0" indent="0">
              <a:defRPr/>
            </a:pPr>
            <a:endParaRPr lang="en-CA" dirty="0"/>
          </a:p>
          <a:p>
            <a:pPr lvl="1">
              <a:defRPr/>
            </a:pPr>
            <a:r>
              <a:rPr lang="en-CA" dirty="0"/>
              <a:t>After initialization: 	L 	H 	E 	O</a:t>
            </a:r>
          </a:p>
          <a:p>
            <a:pPr lvl="1">
              <a:defRPr/>
            </a:pPr>
            <a:r>
              <a:rPr lang="en-CA" dirty="0"/>
              <a:t>After iteration (a): 	L 	P1 	H</a:t>
            </a:r>
          </a:p>
          <a:p>
            <a:pPr lvl="1">
              <a:defRPr/>
            </a:pPr>
            <a:r>
              <a:rPr lang="en-CA" dirty="0"/>
              <a:t>After iteration (b): 	L 	P2</a:t>
            </a:r>
          </a:p>
          <a:p>
            <a:pPr lvl="1">
              <a:defRPr/>
            </a:pPr>
            <a:r>
              <a:rPr lang="en-CA" dirty="0"/>
              <a:t>After iteration (c): 	P3</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CB02943A-2585-5C46-EF03-E63E3CCD7982}"/>
              </a:ext>
            </a:extLst>
          </p:cNvPr>
          <p:cNvSpPr>
            <a:spLocks noGrp="1"/>
          </p:cNvSpPr>
          <p:nvPr>
            <p:ph type="title"/>
          </p:nvPr>
        </p:nvSpPr>
        <p:spPr>
          <a:xfrm>
            <a:off x="1981200" y="571501"/>
            <a:ext cx="8229600" cy="1000125"/>
          </a:xfrm>
        </p:spPr>
        <p:txBody>
          <a:bodyPr/>
          <a:lstStyle/>
          <a:p>
            <a:pPr eaLnBrk="1" hangingPunct="1"/>
            <a:r>
              <a:rPr lang="en-CA" altLang="en-US"/>
              <a:t>Properties of Huffman Coding</a:t>
            </a:r>
          </a:p>
        </p:txBody>
      </p:sp>
      <p:sp>
        <p:nvSpPr>
          <p:cNvPr id="3" name="Content Placeholder 2">
            <a:extLst>
              <a:ext uri="{FF2B5EF4-FFF2-40B4-BE49-F238E27FC236}">
                <a16:creationId xmlns:a16="http://schemas.microsoft.com/office/drawing/2014/main" id="{0D5F5BE9-5FD3-9B65-3B7A-BA3212313084}"/>
              </a:ext>
            </a:extLst>
          </p:cNvPr>
          <p:cNvSpPr>
            <a:spLocks noGrp="1"/>
          </p:cNvSpPr>
          <p:nvPr>
            <p:ph idx="1"/>
          </p:nvPr>
        </p:nvSpPr>
        <p:spPr>
          <a:xfrm>
            <a:off x="677334" y="1950245"/>
            <a:ext cx="8596668" cy="4524127"/>
          </a:xfrm>
        </p:spPr>
        <p:txBody>
          <a:bodyPr rtlCol="0">
            <a:normAutofit fontScale="62500" lnSpcReduction="20000"/>
          </a:bodyPr>
          <a:lstStyle/>
          <a:p>
            <a:pPr marL="273050" indent="-273050">
              <a:defRPr/>
            </a:pPr>
            <a:r>
              <a:rPr lang="en-CA" sz="2900" dirty="0"/>
              <a:t>1. </a:t>
            </a:r>
            <a:r>
              <a:rPr lang="en-CA" sz="2900" b="1" dirty="0"/>
              <a:t>Unique Prefix Property</a:t>
            </a:r>
            <a:r>
              <a:rPr lang="en-CA" sz="2900" dirty="0"/>
              <a:t>: No Huffman code is a prefix of any other Huffman code - precludes any ambiguity in decoding.</a:t>
            </a:r>
          </a:p>
          <a:p>
            <a:pPr marL="514350" indent="-514350">
              <a:buFont typeface="Arial" panose="020B0604020202020204" pitchFamily="34" charset="0"/>
              <a:buAutoNum type="arabicPeriod"/>
              <a:defRPr/>
            </a:pPr>
            <a:endParaRPr lang="en-CA" sz="2900" dirty="0"/>
          </a:p>
          <a:p>
            <a:pPr>
              <a:defRPr/>
            </a:pPr>
            <a:r>
              <a:rPr lang="en-CA" sz="2900" dirty="0"/>
              <a:t>2. </a:t>
            </a:r>
            <a:r>
              <a:rPr lang="en-CA" sz="2900" b="1" dirty="0"/>
              <a:t>Optimality</a:t>
            </a:r>
            <a:r>
              <a:rPr lang="en-CA" sz="2900" dirty="0"/>
              <a:t>: </a:t>
            </a:r>
            <a:r>
              <a:rPr lang="en-CA" sz="2900" i="1" dirty="0"/>
              <a:t>minimum redundancy code </a:t>
            </a:r>
            <a:r>
              <a:rPr lang="en-CA" sz="2900" dirty="0"/>
              <a:t>- proved optimal for a given data model (i.e., a given, accurate, probability distribution):</a:t>
            </a:r>
          </a:p>
          <a:p>
            <a:pPr>
              <a:defRPr/>
            </a:pPr>
            <a:endParaRPr lang="en-CA" dirty="0"/>
          </a:p>
          <a:p>
            <a:pPr lvl="1">
              <a:defRPr/>
            </a:pPr>
            <a:r>
              <a:rPr lang="en-CA" sz="2600" dirty="0"/>
              <a:t>The two least frequent symbols will have the same length for their Huffman codes, differing only at the last bit.</a:t>
            </a:r>
          </a:p>
          <a:p>
            <a:pPr lvl="1">
              <a:defRPr/>
            </a:pPr>
            <a:endParaRPr lang="en-CA" sz="2600" dirty="0"/>
          </a:p>
          <a:p>
            <a:pPr lvl="1">
              <a:defRPr/>
            </a:pPr>
            <a:r>
              <a:rPr lang="en-CA" sz="2600" dirty="0"/>
              <a:t>Symbols that occur more frequently will have shorter Huffman codes than symbols that occur less frequently.</a:t>
            </a:r>
          </a:p>
          <a:p>
            <a:pPr lvl="1">
              <a:defRPr/>
            </a:pPr>
            <a:endParaRPr lang="en-CA" sz="2600" dirty="0"/>
          </a:p>
          <a:p>
            <a:pPr lvl="1">
              <a:defRPr/>
            </a:pPr>
            <a:r>
              <a:rPr lang="en-CA" sz="2600" dirty="0"/>
              <a:t>The average code length for an information source </a:t>
            </a:r>
            <a:r>
              <a:rPr lang="en-CA" sz="2600" i="1" dirty="0">
                <a:latin typeface="Times New Roman" pitchFamily="18" charset="0"/>
                <a:cs typeface="Times New Roman" pitchFamily="18" charset="0"/>
              </a:rPr>
              <a:t>S</a:t>
            </a:r>
            <a:r>
              <a:rPr lang="en-CA" sz="2600" dirty="0"/>
              <a:t> is strictly less than </a:t>
            </a:r>
            <a:r>
              <a:rPr lang="el-GR" sz="2600" i="1" dirty="0"/>
              <a:t>η</a:t>
            </a:r>
            <a:r>
              <a:rPr lang="en-CA" sz="2600" dirty="0"/>
              <a:t> + 1. Combined with Eq. (7.5), we have:</a:t>
            </a:r>
          </a:p>
          <a:p>
            <a:pPr lvl="1">
              <a:defRPr/>
            </a:pPr>
            <a:endParaRPr lang="en-CA" dirty="0"/>
          </a:p>
          <a:p>
            <a:pPr algn="r">
              <a:defRPr/>
            </a:pPr>
            <a:r>
              <a:rPr lang="en-CA" dirty="0"/>
              <a:t> (7.6)</a:t>
            </a:r>
          </a:p>
        </p:txBody>
      </p:sp>
      <p:graphicFrame>
        <p:nvGraphicFramePr>
          <p:cNvPr id="18438" name="Object 2">
            <a:extLst>
              <a:ext uri="{FF2B5EF4-FFF2-40B4-BE49-F238E27FC236}">
                <a16:creationId xmlns:a16="http://schemas.microsoft.com/office/drawing/2014/main" id="{79B293CA-B848-0C06-4B72-B4CC147D1B32}"/>
              </a:ext>
            </a:extLst>
          </p:cNvPr>
          <p:cNvGraphicFramePr>
            <a:graphicFrameLocks noChangeAspect="1"/>
          </p:cNvGraphicFramePr>
          <p:nvPr>
            <p:extLst>
              <p:ext uri="{D42A27DB-BD31-4B8C-83A1-F6EECF244321}">
                <p14:modId xmlns:p14="http://schemas.microsoft.com/office/powerpoint/2010/main" val="2957546459"/>
              </p:ext>
            </p:extLst>
          </p:nvPr>
        </p:nvGraphicFramePr>
        <p:xfrm>
          <a:off x="3689793" y="5620674"/>
          <a:ext cx="1285875" cy="420688"/>
        </p:xfrm>
        <a:graphic>
          <a:graphicData uri="http://schemas.openxmlformats.org/presentationml/2006/ole">
            <mc:AlternateContent xmlns:mc="http://schemas.openxmlformats.org/markup-compatibility/2006">
              <mc:Choice xmlns:v="urn:schemas-microsoft-com:vml" Requires="v">
                <p:oleObj spid="_x0000_s4099" name="Equation" r:id="rId3" imgW="698500" imgH="228600" progId="Equation.DSMT4">
                  <p:embed/>
                </p:oleObj>
              </mc:Choice>
              <mc:Fallback>
                <p:oleObj name="Equation" r:id="rId3" imgW="698500" imgH="228600" progId="Equation.DSMT4">
                  <p:embed/>
                  <p:pic>
                    <p:nvPicPr>
                      <p:cNvPr id="18438" name="Object 2">
                        <a:extLst>
                          <a:ext uri="{FF2B5EF4-FFF2-40B4-BE49-F238E27FC236}">
                            <a16:creationId xmlns:a16="http://schemas.microsoft.com/office/drawing/2014/main" id="{79B293CA-B848-0C06-4B72-B4CC147D1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9793" y="5620674"/>
                        <a:ext cx="12858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A4A41FE-80D6-307D-6412-D8548384D5D1}"/>
              </a:ext>
            </a:extLst>
          </p:cNvPr>
          <p:cNvSpPr>
            <a:spLocks noGrp="1"/>
          </p:cNvSpPr>
          <p:nvPr>
            <p:ph type="title"/>
          </p:nvPr>
        </p:nvSpPr>
        <p:spPr>
          <a:xfrm>
            <a:off x="1981200" y="571501"/>
            <a:ext cx="8229600" cy="1000125"/>
          </a:xfrm>
        </p:spPr>
        <p:txBody>
          <a:bodyPr/>
          <a:lstStyle/>
          <a:p>
            <a:pPr eaLnBrk="1" hangingPunct="1"/>
            <a:r>
              <a:rPr lang="en-CA" altLang="en-US"/>
              <a:t>Extended Huffman Coding</a:t>
            </a:r>
          </a:p>
        </p:txBody>
      </p:sp>
      <p:sp>
        <p:nvSpPr>
          <p:cNvPr id="3" name="Content Placeholder 2">
            <a:extLst>
              <a:ext uri="{FF2B5EF4-FFF2-40B4-BE49-F238E27FC236}">
                <a16:creationId xmlns:a16="http://schemas.microsoft.com/office/drawing/2014/main" id="{C6E7DB36-227A-AC7A-905C-89625C306BFE}"/>
              </a:ext>
            </a:extLst>
          </p:cNvPr>
          <p:cNvSpPr>
            <a:spLocks noGrp="1"/>
          </p:cNvSpPr>
          <p:nvPr>
            <p:ph idx="1"/>
          </p:nvPr>
        </p:nvSpPr>
        <p:spPr/>
        <p:txBody>
          <a:bodyPr rtlCol="0">
            <a:normAutofit fontScale="92500" lnSpcReduction="20000"/>
          </a:bodyPr>
          <a:lstStyle/>
          <a:p>
            <a:pPr>
              <a:defRPr/>
            </a:pPr>
            <a:r>
              <a:rPr lang="en-CA" b="1" dirty="0"/>
              <a:t>Motivation</a:t>
            </a:r>
            <a:r>
              <a:rPr lang="en-CA" dirty="0"/>
              <a:t>: All codewords in Huffman coding have integer bit lengths. It is wasteful when </a:t>
            </a:r>
            <a:r>
              <a:rPr lang="en-CA" i="1" dirty="0">
                <a:latin typeface="Times New Roman" pitchFamily="18" charset="0"/>
                <a:cs typeface="Times New Roman" pitchFamily="18" charset="0"/>
              </a:rPr>
              <a:t>p</a:t>
            </a:r>
            <a:r>
              <a:rPr lang="en-CA" i="1" baseline="-25000" dirty="0">
                <a:latin typeface="Times New Roman" pitchFamily="18" charset="0"/>
                <a:cs typeface="Times New Roman" pitchFamily="18" charset="0"/>
              </a:rPr>
              <a:t>i</a:t>
            </a:r>
            <a:r>
              <a:rPr lang="en-CA" i="1" dirty="0">
                <a:latin typeface="Times New Roman" pitchFamily="18" charset="0"/>
                <a:cs typeface="Times New Roman" pitchFamily="18" charset="0"/>
              </a:rPr>
              <a:t> </a:t>
            </a:r>
            <a:r>
              <a:rPr lang="en-CA" dirty="0"/>
              <a:t>is very large and hence                   is close to 0.</a:t>
            </a:r>
          </a:p>
          <a:p>
            <a:pPr>
              <a:defRPr/>
            </a:pPr>
            <a:endParaRPr lang="en-CA" dirty="0"/>
          </a:p>
          <a:p>
            <a:pPr>
              <a:defRPr/>
            </a:pPr>
            <a:r>
              <a:rPr lang="en-CA" dirty="0"/>
              <a:t>Why not group several symbols together and assign a single codeword to the group as a whole?</a:t>
            </a:r>
          </a:p>
          <a:p>
            <a:pPr>
              <a:defRPr/>
            </a:pPr>
            <a:endParaRPr lang="en-CA" dirty="0"/>
          </a:p>
          <a:p>
            <a:pPr>
              <a:defRPr/>
            </a:pPr>
            <a:r>
              <a:rPr lang="en-CA" b="1" dirty="0"/>
              <a:t>Extended Alphabet</a:t>
            </a:r>
            <a:r>
              <a:rPr lang="en-CA" dirty="0"/>
              <a:t>: For alphabet </a:t>
            </a:r>
            <a:r>
              <a:rPr lang="en-CA" i="1" dirty="0">
                <a:latin typeface="Times New Roman" pitchFamily="18" charset="0"/>
                <a:cs typeface="Times New Roman" pitchFamily="18" charset="0"/>
              </a:rPr>
              <a:t>S</a:t>
            </a:r>
            <a:r>
              <a:rPr lang="en-CA" dirty="0"/>
              <a:t> = {</a:t>
            </a:r>
            <a:r>
              <a:rPr lang="en-CA" i="1" dirty="0">
                <a:latin typeface="Times New Roman" pitchFamily="18" charset="0"/>
                <a:cs typeface="Times New Roman" pitchFamily="18" charset="0"/>
              </a:rPr>
              <a:t>s</a:t>
            </a:r>
            <a:r>
              <a:rPr lang="en-CA" i="1" baseline="-25000" dirty="0">
                <a:latin typeface="Times New Roman" pitchFamily="18" charset="0"/>
                <a:cs typeface="Times New Roman" pitchFamily="18" charset="0"/>
              </a:rPr>
              <a:t>1</a:t>
            </a:r>
            <a:r>
              <a:rPr lang="en-CA" dirty="0"/>
              <a:t>, </a:t>
            </a:r>
            <a:r>
              <a:rPr lang="en-CA" i="1" dirty="0">
                <a:latin typeface="Times New Roman" pitchFamily="18" charset="0"/>
                <a:cs typeface="Times New Roman" pitchFamily="18" charset="0"/>
              </a:rPr>
              <a:t>s</a:t>
            </a:r>
            <a:r>
              <a:rPr lang="en-CA" i="1" baseline="-25000" dirty="0">
                <a:latin typeface="Times New Roman" pitchFamily="18" charset="0"/>
                <a:cs typeface="Times New Roman" pitchFamily="18" charset="0"/>
              </a:rPr>
              <a:t>2</a:t>
            </a:r>
            <a:r>
              <a:rPr lang="en-CA" dirty="0"/>
              <a:t>, . . . , </a:t>
            </a:r>
            <a:r>
              <a:rPr lang="en-CA" i="1" dirty="0" err="1">
                <a:latin typeface="Times New Roman" pitchFamily="18" charset="0"/>
                <a:cs typeface="Times New Roman" pitchFamily="18" charset="0"/>
              </a:rPr>
              <a:t>s</a:t>
            </a:r>
            <a:r>
              <a:rPr lang="en-CA" i="1" baseline="-25000" dirty="0" err="1">
                <a:latin typeface="Times New Roman" pitchFamily="18" charset="0"/>
                <a:cs typeface="Times New Roman" pitchFamily="18" charset="0"/>
              </a:rPr>
              <a:t>n</a:t>
            </a:r>
            <a:r>
              <a:rPr lang="en-CA" dirty="0"/>
              <a:t>}, if </a:t>
            </a:r>
            <a:r>
              <a:rPr lang="en-CA" i="1" dirty="0">
                <a:latin typeface="Times New Roman" pitchFamily="18" charset="0"/>
                <a:cs typeface="Times New Roman" pitchFamily="18" charset="0"/>
              </a:rPr>
              <a:t>k </a:t>
            </a:r>
            <a:r>
              <a:rPr lang="en-CA" dirty="0"/>
              <a:t>symbols are grouped together, then the </a:t>
            </a:r>
            <a:r>
              <a:rPr lang="en-CA" i="1" dirty="0"/>
              <a:t>extended alphabet </a:t>
            </a:r>
            <a:r>
              <a:rPr lang="en-CA" dirty="0"/>
              <a:t>is:</a:t>
            </a:r>
          </a:p>
          <a:p>
            <a:pPr>
              <a:defRPr/>
            </a:pPr>
            <a:endParaRPr lang="en-CA" dirty="0"/>
          </a:p>
          <a:p>
            <a:pPr>
              <a:defRPr/>
            </a:pPr>
            <a:endParaRPr lang="en-CA" dirty="0"/>
          </a:p>
          <a:p>
            <a:pPr>
              <a:defRPr/>
            </a:pPr>
            <a:endParaRPr lang="en-CA" dirty="0"/>
          </a:p>
          <a:p>
            <a:pPr>
              <a:defRPr/>
            </a:pPr>
            <a:r>
              <a:rPr lang="en-CA" dirty="0"/>
              <a:t>	the size of the new alphabet </a:t>
            </a:r>
            <a:r>
              <a:rPr lang="en-CA" i="1" dirty="0">
                <a:latin typeface="Times New Roman" pitchFamily="18" charset="0"/>
                <a:cs typeface="Times New Roman" pitchFamily="18" charset="0"/>
              </a:rPr>
              <a:t>S</a:t>
            </a:r>
            <a:r>
              <a:rPr lang="en-CA" baseline="30000" dirty="0"/>
              <a:t>(</a:t>
            </a:r>
            <a:r>
              <a:rPr lang="en-CA" baseline="30000" dirty="0">
                <a:latin typeface="Times New Roman" pitchFamily="18" charset="0"/>
                <a:cs typeface="Times New Roman" pitchFamily="18" charset="0"/>
              </a:rPr>
              <a:t>k</a:t>
            </a:r>
            <a:r>
              <a:rPr lang="en-CA" baseline="30000" dirty="0"/>
              <a:t>)</a:t>
            </a:r>
            <a:r>
              <a:rPr lang="en-CA" dirty="0"/>
              <a:t> is </a:t>
            </a:r>
            <a:r>
              <a:rPr lang="en-CA" i="1" dirty="0" err="1">
                <a:latin typeface="Times New Roman" pitchFamily="18" charset="0"/>
                <a:cs typeface="Times New Roman" pitchFamily="18" charset="0"/>
              </a:rPr>
              <a:t>n</a:t>
            </a:r>
            <a:r>
              <a:rPr lang="en-CA" baseline="30000" dirty="0" err="1">
                <a:latin typeface="Times New Roman" pitchFamily="18" charset="0"/>
                <a:cs typeface="Times New Roman" pitchFamily="18" charset="0"/>
              </a:rPr>
              <a:t>k</a:t>
            </a:r>
            <a:r>
              <a:rPr lang="en-CA" dirty="0"/>
              <a:t>.</a:t>
            </a:r>
          </a:p>
        </p:txBody>
      </p:sp>
      <p:graphicFrame>
        <p:nvGraphicFramePr>
          <p:cNvPr id="19462" name="Object 2">
            <a:extLst>
              <a:ext uri="{FF2B5EF4-FFF2-40B4-BE49-F238E27FC236}">
                <a16:creationId xmlns:a16="http://schemas.microsoft.com/office/drawing/2014/main" id="{9644BA04-0FF9-BE7E-782B-6C7E1D555FD1}"/>
              </a:ext>
            </a:extLst>
          </p:cNvPr>
          <p:cNvGraphicFramePr>
            <a:graphicFrameLocks noChangeAspect="1"/>
          </p:cNvGraphicFramePr>
          <p:nvPr>
            <p:extLst>
              <p:ext uri="{D42A27DB-BD31-4B8C-83A1-F6EECF244321}">
                <p14:modId xmlns:p14="http://schemas.microsoft.com/office/powerpoint/2010/main" val="1430623684"/>
              </p:ext>
            </p:extLst>
          </p:nvPr>
        </p:nvGraphicFramePr>
        <p:xfrm>
          <a:off x="5299075" y="2352624"/>
          <a:ext cx="796925" cy="539750"/>
        </p:xfrm>
        <a:graphic>
          <a:graphicData uri="http://schemas.openxmlformats.org/presentationml/2006/ole">
            <mc:AlternateContent xmlns:mc="http://schemas.openxmlformats.org/markup-compatibility/2006">
              <mc:Choice xmlns:v="urn:schemas-microsoft-com:vml" Requires="v">
                <p:oleObj spid="_x0000_s5124" name="Equation" r:id="rId3" imgW="431613" imgH="291973" progId="Equation.DSMT4">
                  <p:embed/>
                </p:oleObj>
              </mc:Choice>
              <mc:Fallback>
                <p:oleObj name="Equation" r:id="rId3" imgW="431613" imgH="291973" progId="Equation.DSMT4">
                  <p:embed/>
                  <p:pic>
                    <p:nvPicPr>
                      <p:cNvPr id="19462" name="Object 2">
                        <a:extLst>
                          <a:ext uri="{FF2B5EF4-FFF2-40B4-BE49-F238E27FC236}">
                            <a16:creationId xmlns:a16="http://schemas.microsoft.com/office/drawing/2014/main" id="{9644BA04-0FF9-BE7E-782B-6C7E1D555F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9075" y="2352624"/>
                        <a:ext cx="7969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3" name="Object 3">
            <a:extLst>
              <a:ext uri="{FF2B5EF4-FFF2-40B4-BE49-F238E27FC236}">
                <a16:creationId xmlns:a16="http://schemas.microsoft.com/office/drawing/2014/main" id="{CA682838-9FE9-EAD0-62EF-3AE808D5CACB}"/>
              </a:ext>
            </a:extLst>
          </p:cNvPr>
          <p:cNvGraphicFramePr>
            <a:graphicFrameLocks noChangeAspect="1"/>
          </p:cNvGraphicFramePr>
          <p:nvPr/>
        </p:nvGraphicFramePr>
        <p:xfrm>
          <a:off x="2309814" y="4429126"/>
          <a:ext cx="7786687" cy="836613"/>
        </p:xfrm>
        <a:graphic>
          <a:graphicData uri="http://schemas.openxmlformats.org/presentationml/2006/ole">
            <mc:AlternateContent xmlns:mc="http://schemas.openxmlformats.org/markup-compatibility/2006">
              <mc:Choice xmlns:v="urn:schemas-microsoft-com:vml" Requires="v">
                <p:oleObj spid="_x0000_s5125" name="Equation" r:id="rId5" imgW="3784600" imgH="406400" progId="Equation.DSMT4">
                  <p:embed/>
                </p:oleObj>
              </mc:Choice>
              <mc:Fallback>
                <p:oleObj name="Equation" r:id="rId5" imgW="3784600" imgH="406400" progId="Equation.DSMT4">
                  <p:embed/>
                  <p:pic>
                    <p:nvPicPr>
                      <p:cNvPr id="19463" name="Object 3">
                        <a:extLst>
                          <a:ext uri="{FF2B5EF4-FFF2-40B4-BE49-F238E27FC236}">
                            <a16:creationId xmlns:a16="http://schemas.microsoft.com/office/drawing/2014/main" id="{CA682838-9FE9-EAD0-62EF-3AE808D5CA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9814" y="4429126"/>
                        <a:ext cx="7786687"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A322F8E-27F0-8D2E-E1FE-E5586008233B}"/>
              </a:ext>
            </a:extLst>
          </p:cNvPr>
          <p:cNvSpPr>
            <a:spLocks noGrp="1"/>
          </p:cNvSpPr>
          <p:nvPr>
            <p:ph type="title"/>
          </p:nvPr>
        </p:nvSpPr>
        <p:spPr>
          <a:xfrm>
            <a:off x="1981200" y="571501"/>
            <a:ext cx="8229600" cy="1000125"/>
          </a:xfrm>
        </p:spPr>
        <p:txBody>
          <a:bodyPr/>
          <a:lstStyle/>
          <a:p>
            <a:pPr eaLnBrk="1" hangingPunct="1"/>
            <a:r>
              <a:rPr lang="en-CA" altLang="en-US"/>
              <a:t>Extended Huffman Coding </a:t>
            </a:r>
            <a:r>
              <a:rPr lang="en-CA" altLang="en-US" b="0"/>
              <a:t>(cont’d)</a:t>
            </a:r>
          </a:p>
        </p:txBody>
      </p:sp>
      <p:sp>
        <p:nvSpPr>
          <p:cNvPr id="3" name="Content Placeholder 2">
            <a:extLst>
              <a:ext uri="{FF2B5EF4-FFF2-40B4-BE49-F238E27FC236}">
                <a16:creationId xmlns:a16="http://schemas.microsoft.com/office/drawing/2014/main" id="{A57DDC78-5D29-2613-2735-A77A774291B7}"/>
              </a:ext>
            </a:extLst>
          </p:cNvPr>
          <p:cNvSpPr>
            <a:spLocks noGrp="1"/>
          </p:cNvSpPr>
          <p:nvPr>
            <p:ph idx="1"/>
          </p:nvPr>
        </p:nvSpPr>
        <p:spPr/>
        <p:txBody>
          <a:bodyPr rtlCol="0">
            <a:normAutofit/>
          </a:bodyPr>
          <a:lstStyle/>
          <a:p>
            <a:pPr>
              <a:defRPr/>
            </a:pPr>
            <a:r>
              <a:rPr lang="en-CA" dirty="0"/>
              <a:t>It can be proven that the average # of bits for each symbol is:</a:t>
            </a:r>
          </a:p>
          <a:p>
            <a:pPr>
              <a:defRPr/>
            </a:pPr>
            <a:endParaRPr lang="en-CA" dirty="0"/>
          </a:p>
          <a:p>
            <a:pPr algn="r">
              <a:defRPr/>
            </a:pPr>
            <a:r>
              <a:rPr lang="en-CA" dirty="0"/>
              <a:t>(7.7)</a:t>
            </a:r>
          </a:p>
          <a:p>
            <a:pPr algn="r">
              <a:defRPr/>
            </a:pPr>
            <a:endParaRPr lang="en-CA" dirty="0"/>
          </a:p>
          <a:p>
            <a:pPr>
              <a:defRPr/>
            </a:pPr>
            <a:r>
              <a:rPr lang="en-CA" dirty="0"/>
              <a:t>An improvement over the original Huffman coding, but not much.</a:t>
            </a:r>
          </a:p>
          <a:p>
            <a:pPr>
              <a:defRPr/>
            </a:pPr>
            <a:endParaRPr lang="en-CA" dirty="0"/>
          </a:p>
          <a:p>
            <a:pPr>
              <a:defRPr/>
            </a:pPr>
            <a:r>
              <a:rPr lang="en-CA" b="1" dirty="0"/>
              <a:t>Problem</a:t>
            </a:r>
            <a:r>
              <a:rPr lang="en-CA" dirty="0"/>
              <a:t>: If </a:t>
            </a:r>
            <a:r>
              <a:rPr lang="en-CA" i="1" dirty="0">
                <a:latin typeface="Times New Roman" pitchFamily="18" charset="0"/>
                <a:cs typeface="Times New Roman" pitchFamily="18" charset="0"/>
              </a:rPr>
              <a:t>k</a:t>
            </a:r>
            <a:r>
              <a:rPr lang="en-CA" dirty="0"/>
              <a:t> is relatively large (e.g., </a:t>
            </a:r>
            <a:r>
              <a:rPr lang="en-CA" i="1" dirty="0">
                <a:latin typeface="Times New Roman" pitchFamily="18" charset="0"/>
                <a:cs typeface="Times New Roman" pitchFamily="18" charset="0"/>
              </a:rPr>
              <a:t>k</a:t>
            </a:r>
            <a:r>
              <a:rPr lang="en-CA" dirty="0"/>
              <a:t> ≥ 3), then for most practical applications where </a:t>
            </a:r>
            <a:r>
              <a:rPr lang="en-CA" dirty="0">
                <a:latin typeface="Times New Roman" pitchFamily="18" charset="0"/>
                <a:cs typeface="Times New Roman" pitchFamily="18" charset="0"/>
              </a:rPr>
              <a:t>n</a:t>
            </a:r>
            <a:r>
              <a:rPr lang="en-CA" dirty="0"/>
              <a:t> ≫ 1, </a:t>
            </a:r>
            <a:r>
              <a:rPr lang="en-CA" dirty="0" err="1">
                <a:latin typeface="Times New Roman" pitchFamily="18" charset="0"/>
                <a:cs typeface="Times New Roman" pitchFamily="18" charset="0"/>
              </a:rPr>
              <a:t>n</a:t>
            </a:r>
            <a:r>
              <a:rPr lang="en-CA" baseline="30000" dirty="0" err="1">
                <a:latin typeface="Times New Roman" pitchFamily="18" charset="0"/>
                <a:cs typeface="Times New Roman" pitchFamily="18" charset="0"/>
              </a:rPr>
              <a:t>k</a:t>
            </a:r>
            <a:r>
              <a:rPr lang="en-CA" dirty="0"/>
              <a:t> implies a huge  symbol table — impractical.</a:t>
            </a:r>
          </a:p>
          <a:p>
            <a:pPr>
              <a:defRPr/>
            </a:pPr>
            <a:endParaRPr lang="en-CA" dirty="0"/>
          </a:p>
        </p:txBody>
      </p:sp>
      <p:graphicFrame>
        <p:nvGraphicFramePr>
          <p:cNvPr id="20486" name="Object 2">
            <a:extLst>
              <a:ext uri="{FF2B5EF4-FFF2-40B4-BE49-F238E27FC236}">
                <a16:creationId xmlns:a16="http://schemas.microsoft.com/office/drawing/2014/main" id="{CD1D20F2-6EFB-7575-08C2-3D6D7D5EE5E9}"/>
              </a:ext>
            </a:extLst>
          </p:cNvPr>
          <p:cNvGraphicFramePr>
            <a:graphicFrameLocks noChangeAspect="1"/>
          </p:cNvGraphicFramePr>
          <p:nvPr/>
        </p:nvGraphicFramePr>
        <p:xfrm>
          <a:off x="4381500" y="2928939"/>
          <a:ext cx="1657350" cy="642937"/>
        </p:xfrm>
        <a:graphic>
          <a:graphicData uri="http://schemas.openxmlformats.org/presentationml/2006/ole">
            <mc:AlternateContent xmlns:mc="http://schemas.openxmlformats.org/markup-compatibility/2006">
              <mc:Choice xmlns:v="urn:schemas-microsoft-com:vml" Requires="v">
                <p:oleObj spid="_x0000_s6147" name="Equation" r:id="rId3" imgW="850531" imgH="330057" progId="Equation.DSMT4">
                  <p:embed/>
                </p:oleObj>
              </mc:Choice>
              <mc:Fallback>
                <p:oleObj name="Equation" r:id="rId3" imgW="850531" imgH="330057" progId="Equation.DSMT4">
                  <p:embed/>
                  <p:pic>
                    <p:nvPicPr>
                      <p:cNvPr id="20486" name="Object 2">
                        <a:extLst>
                          <a:ext uri="{FF2B5EF4-FFF2-40B4-BE49-F238E27FC236}">
                            <a16:creationId xmlns:a16="http://schemas.microsoft.com/office/drawing/2014/main" id="{CD1D20F2-6EFB-7575-08C2-3D6D7D5EE5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1500" y="2928939"/>
                        <a:ext cx="16573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3C70FC52-F7B9-2EA4-165D-A8311A98BA5C}"/>
              </a:ext>
            </a:extLst>
          </p:cNvPr>
          <p:cNvSpPr>
            <a:spLocks noGrp="1"/>
          </p:cNvSpPr>
          <p:nvPr>
            <p:ph type="title"/>
          </p:nvPr>
        </p:nvSpPr>
        <p:spPr>
          <a:xfrm>
            <a:off x="1981200" y="571501"/>
            <a:ext cx="8229600" cy="1000125"/>
          </a:xfrm>
        </p:spPr>
        <p:txBody>
          <a:bodyPr/>
          <a:lstStyle/>
          <a:p>
            <a:pPr eaLnBrk="1" hangingPunct="1"/>
            <a:r>
              <a:rPr lang="en-CA" altLang="en-US"/>
              <a:t>Adaptive Huffman Coding</a:t>
            </a:r>
          </a:p>
        </p:txBody>
      </p:sp>
      <p:sp>
        <p:nvSpPr>
          <p:cNvPr id="3" name="Content Placeholder 2">
            <a:extLst>
              <a:ext uri="{FF2B5EF4-FFF2-40B4-BE49-F238E27FC236}">
                <a16:creationId xmlns:a16="http://schemas.microsoft.com/office/drawing/2014/main" id="{A1046FFF-DCFC-22F5-D0DE-29450CEA6FF8}"/>
              </a:ext>
            </a:extLst>
          </p:cNvPr>
          <p:cNvSpPr>
            <a:spLocks noGrp="1"/>
          </p:cNvSpPr>
          <p:nvPr>
            <p:ph idx="1"/>
          </p:nvPr>
        </p:nvSpPr>
        <p:spPr/>
        <p:txBody>
          <a:bodyPr rtlCol="0">
            <a:normAutofit fontScale="85000" lnSpcReduction="20000"/>
          </a:bodyPr>
          <a:lstStyle/>
          <a:p>
            <a:pPr>
              <a:defRPr/>
            </a:pPr>
            <a:r>
              <a:rPr lang="en-CA" b="1" dirty="0"/>
              <a:t>Adaptive Huffman Coding</a:t>
            </a:r>
            <a:r>
              <a:rPr lang="en-CA" dirty="0"/>
              <a:t>: statistics are gathered and updated dynamically as the data stream arrives.</a:t>
            </a:r>
          </a:p>
          <a:p>
            <a:pPr>
              <a:defRPr/>
            </a:pPr>
            <a:endParaRPr lang="en-CA" dirty="0"/>
          </a:p>
          <a:p>
            <a:pPr>
              <a:defRPr/>
            </a:pPr>
            <a:endParaRPr lang="en-CA" dirty="0"/>
          </a:p>
          <a:p>
            <a:pPr>
              <a:defRPr/>
            </a:pPr>
            <a:endParaRPr lang="en-CA" dirty="0"/>
          </a:p>
          <a:p>
            <a:pPr>
              <a:defRPr/>
            </a:pPr>
            <a:endParaRPr lang="en-CA" dirty="0"/>
          </a:p>
          <a:p>
            <a:pPr>
              <a:defRPr/>
            </a:pPr>
            <a:endParaRPr lang="en-CA" dirty="0"/>
          </a:p>
          <a:p>
            <a:pPr>
              <a:defRPr/>
            </a:pPr>
            <a:endParaRPr lang="en-CA" dirty="0"/>
          </a:p>
          <a:p>
            <a:pPr>
              <a:defRPr/>
            </a:pPr>
            <a:endParaRPr lang="en-CA" dirty="0"/>
          </a:p>
          <a:p>
            <a:pPr>
              <a:defRPr/>
            </a:pPr>
            <a:endParaRPr lang="en-CA" dirty="0"/>
          </a:p>
          <a:p>
            <a:pPr>
              <a:defRPr/>
            </a:pPr>
            <a:endParaRPr lang="en-CA" dirty="0"/>
          </a:p>
          <a:p>
            <a:pPr>
              <a:defRPr/>
            </a:pPr>
            <a:endParaRPr lang="en-CA" dirty="0"/>
          </a:p>
          <a:p>
            <a:pPr>
              <a:defRPr/>
            </a:pPr>
            <a:r>
              <a:rPr lang="en-CA" dirty="0"/>
              <a:t> </a:t>
            </a:r>
          </a:p>
        </p:txBody>
      </p:sp>
      <p:graphicFrame>
        <p:nvGraphicFramePr>
          <p:cNvPr id="6" name="Table 5">
            <a:extLst>
              <a:ext uri="{FF2B5EF4-FFF2-40B4-BE49-F238E27FC236}">
                <a16:creationId xmlns:a16="http://schemas.microsoft.com/office/drawing/2014/main" id="{FF0FF80A-BB8F-17CC-5495-A438FC11B770}"/>
              </a:ext>
            </a:extLst>
          </p:cNvPr>
          <p:cNvGraphicFramePr>
            <a:graphicFrameLocks noGrp="1"/>
          </p:cNvGraphicFramePr>
          <p:nvPr>
            <p:extLst>
              <p:ext uri="{D42A27DB-BD31-4B8C-83A1-F6EECF244321}">
                <p14:modId xmlns:p14="http://schemas.microsoft.com/office/powerpoint/2010/main" val="397930854"/>
              </p:ext>
            </p:extLst>
          </p:nvPr>
        </p:nvGraphicFramePr>
        <p:xfrm>
          <a:off x="1981200" y="2870310"/>
          <a:ext cx="6357938" cy="3000375"/>
        </p:xfrm>
        <a:graphic>
          <a:graphicData uri="http://schemas.openxmlformats.org/drawingml/2006/table">
            <a:tbl>
              <a:tblPr firstRow="1" bandRow="1">
                <a:tableStyleId>{2D5ABB26-0587-4C30-8999-92F81FD0307C}</a:tableStyleId>
              </a:tblPr>
              <a:tblGrid>
                <a:gridCol w="3178969">
                  <a:extLst>
                    <a:ext uri="{9D8B030D-6E8A-4147-A177-3AD203B41FA5}">
                      <a16:colId xmlns:a16="http://schemas.microsoft.com/office/drawing/2014/main" val="20000"/>
                    </a:ext>
                  </a:extLst>
                </a:gridCol>
                <a:gridCol w="3178969">
                  <a:extLst>
                    <a:ext uri="{9D8B030D-6E8A-4147-A177-3AD203B41FA5}">
                      <a16:colId xmlns:a16="http://schemas.microsoft.com/office/drawing/2014/main" val="20001"/>
                    </a:ext>
                  </a:extLst>
                </a:gridCol>
              </a:tblGrid>
              <a:tr h="3000375">
                <a:tc>
                  <a:txBody>
                    <a:bodyPr/>
                    <a:lstStyle/>
                    <a:p>
                      <a:r>
                        <a:rPr lang="en-CA" sz="1800" kern="1200" baseline="0" dirty="0">
                          <a:solidFill>
                            <a:schemeClr val="tx1"/>
                          </a:solidFill>
                          <a:latin typeface="Courier New" pitchFamily="49" charset="0"/>
                          <a:ea typeface="+mn-ea"/>
                          <a:cs typeface="Courier New" pitchFamily="49" charset="0"/>
                        </a:rPr>
                        <a:t>ENCODER</a:t>
                      </a:r>
                    </a:p>
                    <a:p>
                      <a:r>
                        <a:rPr lang="en-CA" sz="1800" kern="1200" baseline="0" dirty="0">
                          <a:solidFill>
                            <a:schemeClr val="tx1"/>
                          </a:solidFill>
                          <a:latin typeface="Courier New" pitchFamily="49" charset="0"/>
                          <a:ea typeface="+mn-ea"/>
                          <a:cs typeface="Courier New" pitchFamily="49" charset="0"/>
                        </a:rPr>
                        <a:t>-------</a:t>
                      </a:r>
                    </a:p>
                    <a:p>
                      <a:r>
                        <a:rPr lang="en-CA" sz="1800" kern="1200" baseline="0" dirty="0" err="1">
                          <a:solidFill>
                            <a:schemeClr val="tx1"/>
                          </a:solidFill>
                          <a:latin typeface="Courier New" pitchFamily="49" charset="0"/>
                          <a:ea typeface="+mn-ea"/>
                          <a:cs typeface="Courier New" pitchFamily="49" charset="0"/>
                        </a:rPr>
                        <a:t>Initial_code</a:t>
                      </a:r>
                      <a:r>
                        <a:rPr lang="en-CA" sz="1800" kern="1200" baseline="0" dirty="0">
                          <a:solidFill>
                            <a:schemeClr val="tx1"/>
                          </a:solidFill>
                          <a:latin typeface="Courier New" pitchFamily="49" charset="0"/>
                          <a:ea typeface="+mn-ea"/>
                          <a:cs typeface="Courier New" pitchFamily="49" charset="0"/>
                        </a:rPr>
                        <a:t>(); </a:t>
                      </a:r>
                    </a:p>
                    <a:p>
                      <a:endParaRPr lang="en-CA" sz="1800" kern="1200" baseline="0" dirty="0">
                        <a:solidFill>
                          <a:schemeClr val="tx1"/>
                        </a:solidFill>
                        <a:latin typeface="Courier New" pitchFamily="49" charset="0"/>
                        <a:ea typeface="+mn-ea"/>
                        <a:cs typeface="Courier New" pitchFamily="49" charset="0"/>
                      </a:endParaRPr>
                    </a:p>
                    <a:p>
                      <a:r>
                        <a:rPr lang="en-CA" sz="1800" kern="1200" baseline="0" dirty="0">
                          <a:solidFill>
                            <a:schemeClr val="tx1"/>
                          </a:solidFill>
                          <a:latin typeface="Courier New" pitchFamily="49" charset="0"/>
                          <a:ea typeface="+mn-ea"/>
                          <a:cs typeface="Courier New" pitchFamily="49" charset="0"/>
                        </a:rPr>
                        <a:t>while not EOF</a:t>
                      </a:r>
                    </a:p>
                    <a:p>
                      <a:r>
                        <a:rPr lang="en-CA" sz="1800" kern="1200" baseline="0" dirty="0">
                          <a:solidFill>
                            <a:schemeClr val="tx1"/>
                          </a:solidFill>
                          <a:latin typeface="Courier New" pitchFamily="49" charset="0"/>
                          <a:ea typeface="+mn-ea"/>
                          <a:cs typeface="Courier New" pitchFamily="49" charset="0"/>
                        </a:rPr>
                        <a:t> {</a:t>
                      </a:r>
                    </a:p>
                    <a:p>
                      <a:r>
                        <a:rPr lang="en-CA" sz="1800" kern="1200" baseline="0" dirty="0">
                          <a:solidFill>
                            <a:schemeClr val="tx1"/>
                          </a:solidFill>
                          <a:latin typeface="Courier New" pitchFamily="49" charset="0"/>
                          <a:ea typeface="+mn-ea"/>
                          <a:cs typeface="Courier New" pitchFamily="49" charset="0"/>
                        </a:rPr>
                        <a:t>	get(c); </a:t>
                      </a:r>
                    </a:p>
                    <a:p>
                      <a:r>
                        <a:rPr lang="en-CA" sz="1800" kern="1200" baseline="0" dirty="0">
                          <a:solidFill>
                            <a:schemeClr val="tx1"/>
                          </a:solidFill>
                          <a:latin typeface="Courier New" pitchFamily="49" charset="0"/>
                          <a:ea typeface="+mn-ea"/>
                          <a:cs typeface="Courier New" pitchFamily="49" charset="0"/>
                        </a:rPr>
                        <a:t>	encode(c); </a:t>
                      </a:r>
                    </a:p>
                    <a:p>
                      <a:r>
                        <a:rPr lang="en-CA" sz="1800" kern="1200" baseline="0" dirty="0">
                          <a:solidFill>
                            <a:schemeClr val="tx1"/>
                          </a:solidFill>
                          <a:latin typeface="Courier New" pitchFamily="49" charset="0"/>
                          <a:ea typeface="+mn-ea"/>
                          <a:cs typeface="Courier New" pitchFamily="49" charset="0"/>
                        </a:rPr>
                        <a:t>	</a:t>
                      </a:r>
                      <a:r>
                        <a:rPr lang="en-CA" sz="1800" kern="1200" baseline="0" dirty="0" err="1">
                          <a:solidFill>
                            <a:schemeClr val="tx1"/>
                          </a:solidFill>
                          <a:latin typeface="Courier New" pitchFamily="49" charset="0"/>
                          <a:ea typeface="+mn-ea"/>
                          <a:cs typeface="Courier New" pitchFamily="49" charset="0"/>
                        </a:rPr>
                        <a:t>update_tree</a:t>
                      </a:r>
                      <a:r>
                        <a:rPr lang="en-CA" sz="1800" kern="1200" baseline="0" dirty="0">
                          <a:solidFill>
                            <a:schemeClr val="tx1"/>
                          </a:solidFill>
                          <a:latin typeface="Courier New" pitchFamily="49" charset="0"/>
                          <a:ea typeface="+mn-ea"/>
                          <a:cs typeface="Courier New" pitchFamily="49" charset="0"/>
                        </a:rPr>
                        <a:t>(c);</a:t>
                      </a:r>
                    </a:p>
                    <a:p>
                      <a:r>
                        <a:rPr lang="en-CA" sz="1800" kern="1200" baseline="0" dirty="0">
                          <a:solidFill>
                            <a:schemeClr val="tx1"/>
                          </a:solidFill>
                          <a:latin typeface="Courier New" pitchFamily="49" charset="0"/>
                          <a:ea typeface="+mn-ea"/>
                          <a:cs typeface="Courier New" pitchFamily="49" charset="0"/>
                        </a:rPr>
                        <a:t> }</a:t>
                      </a:r>
                      <a:endParaRPr lang="en-CA" sz="1800" dirty="0">
                        <a:latin typeface="Courier New" pitchFamily="49" charset="0"/>
                        <a:cs typeface="Courier New" pitchFamily="49" charset="0"/>
                      </a:endParaRPr>
                    </a:p>
                  </a:txBody>
                  <a:tcPr marL="91439" marR="91439"/>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800" kern="1200" baseline="0" dirty="0">
                          <a:solidFill>
                            <a:schemeClr val="tx1"/>
                          </a:solidFill>
                          <a:latin typeface="Courier New" pitchFamily="49" charset="0"/>
                          <a:ea typeface="+mn-ea"/>
                          <a:cs typeface="Courier New" pitchFamily="49" charset="0"/>
                        </a:rPr>
                        <a:t> DECODER</a:t>
                      </a:r>
                    </a:p>
                    <a:p>
                      <a:pPr marL="0" marR="0" indent="0" algn="l" defTabSz="914400" rtl="0" eaLnBrk="1" fontAlgn="auto" latinLnBrk="0" hangingPunct="1">
                        <a:lnSpc>
                          <a:spcPct val="100000"/>
                        </a:lnSpc>
                        <a:spcBef>
                          <a:spcPts val="0"/>
                        </a:spcBef>
                        <a:spcAft>
                          <a:spcPts val="0"/>
                        </a:spcAft>
                        <a:buClrTx/>
                        <a:buSzTx/>
                        <a:buFontTx/>
                        <a:buNone/>
                        <a:tabLst/>
                        <a:defRPr/>
                      </a:pPr>
                      <a:r>
                        <a:rPr lang="en-CA" sz="1800" kern="1200" baseline="0" dirty="0">
                          <a:solidFill>
                            <a:schemeClr val="tx1"/>
                          </a:solidFill>
                          <a:latin typeface="Courier New" pitchFamily="49" charset="0"/>
                          <a:ea typeface="+mn-ea"/>
                          <a:cs typeface="Courier New"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CA" sz="1800" kern="1200" baseline="0" dirty="0" err="1">
                          <a:solidFill>
                            <a:schemeClr val="tx1"/>
                          </a:solidFill>
                          <a:latin typeface="Courier New" pitchFamily="49" charset="0"/>
                          <a:ea typeface="+mn-ea"/>
                          <a:cs typeface="Courier New" pitchFamily="49" charset="0"/>
                        </a:rPr>
                        <a:t>Initial_code</a:t>
                      </a:r>
                      <a:r>
                        <a:rPr lang="en-CA" sz="1800" kern="1200" baseline="0" dirty="0">
                          <a:solidFill>
                            <a:schemeClr val="tx1"/>
                          </a:solidFill>
                          <a:latin typeface="Courier New" pitchFamily="49" charset="0"/>
                          <a:ea typeface="+mn-ea"/>
                          <a:cs typeface="Courier New"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CA" sz="1800" kern="1200" baseline="0" dirty="0">
                        <a:solidFill>
                          <a:schemeClr val="tx1"/>
                        </a:solidFill>
                        <a:latin typeface="Courier New" pitchFamily="49" charset="0"/>
                        <a:ea typeface="+mn-ea"/>
                        <a:cs typeface="Courier New" pitchFamily="49" charset="0"/>
                      </a:endParaRPr>
                    </a:p>
                    <a:p>
                      <a:r>
                        <a:rPr lang="en-CA" sz="1800" kern="1200" baseline="0" dirty="0">
                          <a:solidFill>
                            <a:schemeClr val="tx1"/>
                          </a:solidFill>
                          <a:latin typeface="Courier New" pitchFamily="49" charset="0"/>
                          <a:ea typeface="+mn-ea"/>
                          <a:cs typeface="Courier New" pitchFamily="49" charset="0"/>
                        </a:rPr>
                        <a:t>while not EOF </a:t>
                      </a:r>
                    </a:p>
                    <a:p>
                      <a:r>
                        <a:rPr lang="en-CA" sz="1800" kern="1200" baseline="0" dirty="0">
                          <a:solidFill>
                            <a:schemeClr val="tx1"/>
                          </a:solidFill>
                          <a:latin typeface="Courier New" pitchFamily="49" charset="0"/>
                          <a:ea typeface="+mn-ea"/>
                          <a:cs typeface="Courier New"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CA" sz="1800" kern="1200" baseline="0" dirty="0">
                          <a:solidFill>
                            <a:schemeClr val="tx1"/>
                          </a:solidFill>
                          <a:latin typeface="Courier New" pitchFamily="49" charset="0"/>
                          <a:ea typeface="+mn-ea"/>
                          <a:cs typeface="Courier New" pitchFamily="49" charset="0"/>
                        </a:rPr>
                        <a:t>	decode(c);</a:t>
                      </a:r>
                      <a:endParaRPr lang="en-CA" sz="1800" dirty="0">
                        <a:latin typeface="Courier New" pitchFamily="49" charset="0"/>
                        <a:cs typeface="Courier New" pitchFamily="49" charset="0"/>
                      </a:endParaRPr>
                    </a:p>
                    <a:p>
                      <a:r>
                        <a:rPr lang="en-CA" sz="1800" kern="1200" baseline="0" dirty="0">
                          <a:solidFill>
                            <a:schemeClr val="tx1"/>
                          </a:solidFill>
                          <a:latin typeface="Courier New" pitchFamily="49" charset="0"/>
                          <a:ea typeface="+mn-ea"/>
                          <a:cs typeface="Courier New" pitchFamily="49" charset="0"/>
                        </a:rPr>
                        <a:t>	output(c);</a:t>
                      </a:r>
                    </a:p>
                    <a:p>
                      <a:r>
                        <a:rPr lang="en-CA" sz="1800" kern="1200" baseline="0" dirty="0">
                          <a:solidFill>
                            <a:schemeClr val="tx1"/>
                          </a:solidFill>
                          <a:latin typeface="Courier New" pitchFamily="49" charset="0"/>
                          <a:ea typeface="+mn-ea"/>
                          <a:cs typeface="Courier New" pitchFamily="49" charset="0"/>
                        </a:rPr>
                        <a:t>	</a:t>
                      </a:r>
                      <a:r>
                        <a:rPr lang="en-CA" sz="1800" kern="1200" baseline="0" dirty="0" err="1">
                          <a:solidFill>
                            <a:schemeClr val="tx1"/>
                          </a:solidFill>
                          <a:latin typeface="Courier New" pitchFamily="49" charset="0"/>
                          <a:ea typeface="+mn-ea"/>
                          <a:cs typeface="Courier New" pitchFamily="49" charset="0"/>
                        </a:rPr>
                        <a:t>update_tree</a:t>
                      </a:r>
                      <a:r>
                        <a:rPr lang="en-CA" sz="1800" kern="1200" baseline="0" dirty="0">
                          <a:solidFill>
                            <a:schemeClr val="tx1"/>
                          </a:solidFill>
                          <a:latin typeface="Courier New" pitchFamily="49" charset="0"/>
                          <a:ea typeface="+mn-ea"/>
                          <a:cs typeface="Courier New" pitchFamily="49" charset="0"/>
                        </a:rPr>
                        <a:t>(c); </a:t>
                      </a:r>
                    </a:p>
                    <a:p>
                      <a:r>
                        <a:rPr lang="en-CA" sz="1800" kern="1200" baseline="0" dirty="0">
                          <a:solidFill>
                            <a:schemeClr val="tx1"/>
                          </a:solidFill>
                          <a:latin typeface="Courier New" pitchFamily="49" charset="0"/>
                          <a:ea typeface="+mn-ea"/>
                          <a:cs typeface="Courier New" pitchFamily="49" charset="0"/>
                        </a:rPr>
                        <a:t>}</a:t>
                      </a:r>
                      <a:endParaRPr lang="en-CA" sz="1800" dirty="0">
                        <a:latin typeface="Courier New" pitchFamily="49" charset="0"/>
                        <a:cs typeface="Courier New" pitchFamily="49" charset="0"/>
                      </a:endParaRPr>
                    </a:p>
                  </a:txBody>
                  <a:tcPr marL="91439" marR="91439"/>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876B823-9BC6-4900-FACB-AB75C607CA17}"/>
              </a:ext>
            </a:extLst>
          </p:cNvPr>
          <p:cNvSpPr>
            <a:spLocks noGrp="1"/>
          </p:cNvSpPr>
          <p:nvPr>
            <p:ph type="title"/>
          </p:nvPr>
        </p:nvSpPr>
        <p:spPr>
          <a:xfrm>
            <a:off x="1981200" y="571501"/>
            <a:ext cx="8229600" cy="1000125"/>
          </a:xfrm>
        </p:spPr>
        <p:txBody>
          <a:bodyPr/>
          <a:lstStyle/>
          <a:p>
            <a:pPr eaLnBrk="1" hangingPunct="1"/>
            <a:r>
              <a:rPr lang="en-CA" altLang="en-US"/>
              <a:t>Adaptive Huffman Coding </a:t>
            </a:r>
            <a:r>
              <a:rPr lang="en-CA" altLang="en-US" b="0"/>
              <a:t>(Cont’d)</a:t>
            </a:r>
          </a:p>
        </p:txBody>
      </p:sp>
      <p:sp>
        <p:nvSpPr>
          <p:cNvPr id="3" name="Content Placeholder 2">
            <a:extLst>
              <a:ext uri="{FF2B5EF4-FFF2-40B4-BE49-F238E27FC236}">
                <a16:creationId xmlns:a16="http://schemas.microsoft.com/office/drawing/2014/main" id="{0AD8C190-200E-05F4-237D-3545C0A35C85}"/>
              </a:ext>
            </a:extLst>
          </p:cNvPr>
          <p:cNvSpPr>
            <a:spLocks noGrp="1"/>
          </p:cNvSpPr>
          <p:nvPr>
            <p:ph idx="1"/>
          </p:nvPr>
        </p:nvSpPr>
        <p:spPr/>
        <p:txBody>
          <a:bodyPr rtlCol="0">
            <a:normAutofit/>
          </a:bodyPr>
          <a:lstStyle/>
          <a:p>
            <a:pPr marL="0" indent="0">
              <a:buNone/>
              <a:defRPr/>
            </a:pPr>
            <a:r>
              <a:rPr lang="en-CA" i="1" dirty="0" err="1"/>
              <a:t>Initial_code</a:t>
            </a:r>
            <a:r>
              <a:rPr lang="en-CA" i="1" dirty="0"/>
              <a:t> </a:t>
            </a:r>
            <a:r>
              <a:rPr lang="en-CA" dirty="0"/>
              <a:t>assigns symbols with some initially agreed upon codes, without any prior knowledge of the frequency counts.</a:t>
            </a:r>
          </a:p>
          <a:p>
            <a:pPr marL="0" indent="0">
              <a:buNone/>
              <a:defRPr/>
            </a:pPr>
            <a:r>
              <a:rPr lang="en-CA" i="1" dirty="0" err="1"/>
              <a:t>update_tree</a:t>
            </a:r>
            <a:r>
              <a:rPr lang="en-CA" i="1" dirty="0"/>
              <a:t> </a:t>
            </a:r>
            <a:r>
              <a:rPr lang="en-CA" dirty="0"/>
              <a:t>constructs an Adaptive Huffman tree.</a:t>
            </a:r>
          </a:p>
          <a:p>
            <a:pPr>
              <a:defRPr/>
            </a:pPr>
            <a:endParaRPr lang="en-CA" dirty="0"/>
          </a:p>
          <a:p>
            <a:pPr marL="0" indent="0">
              <a:buNone/>
              <a:defRPr/>
            </a:pPr>
            <a:r>
              <a:rPr lang="en-CA" dirty="0"/>
              <a:t>It basically does two things:</a:t>
            </a:r>
          </a:p>
          <a:p>
            <a:pPr marL="0" indent="0">
              <a:buNone/>
              <a:defRPr/>
            </a:pPr>
            <a:r>
              <a:rPr lang="en-CA" dirty="0"/>
              <a:t>(a) increments the frequency counts for the symbols 	(including any new ones).</a:t>
            </a:r>
          </a:p>
          <a:p>
            <a:pPr marL="0" indent="0">
              <a:buNone/>
              <a:defRPr/>
            </a:pPr>
            <a:r>
              <a:rPr lang="en-CA" dirty="0"/>
              <a:t>(b) updates the configuration of the tree.</a:t>
            </a:r>
          </a:p>
          <a:p>
            <a:pPr marL="0" indent="0">
              <a:buNone/>
              <a:defRPr/>
            </a:pPr>
            <a:r>
              <a:rPr lang="en-CA" dirty="0"/>
              <a:t>The </a:t>
            </a:r>
            <a:r>
              <a:rPr lang="en-CA" i="1" dirty="0"/>
              <a:t>encoder</a:t>
            </a:r>
            <a:r>
              <a:rPr lang="en-CA" dirty="0"/>
              <a:t> and </a:t>
            </a:r>
            <a:r>
              <a:rPr lang="en-CA" i="1" dirty="0"/>
              <a:t>decoder</a:t>
            </a:r>
            <a:r>
              <a:rPr lang="en-CA" dirty="0"/>
              <a:t> must use exactly the same </a:t>
            </a:r>
            <a:r>
              <a:rPr lang="en-CA" i="1" dirty="0" err="1"/>
              <a:t>initial_code</a:t>
            </a:r>
            <a:r>
              <a:rPr lang="en-CA" dirty="0"/>
              <a:t> and </a:t>
            </a:r>
            <a:r>
              <a:rPr lang="en-CA" i="1" dirty="0" err="1"/>
              <a:t>update_tree</a:t>
            </a:r>
            <a:r>
              <a:rPr lang="en-CA" i="1" dirty="0"/>
              <a:t> </a:t>
            </a:r>
            <a:r>
              <a:rPr lang="en-CA" dirty="0"/>
              <a:t>routines.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766C2444-56F9-32EF-3355-1C0B63779462}"/>
              </a:ext>
            </a:extLst>
          </p:cNvPr>
          <p:cNvSpPr>
            <a:spLocks noGrp="1"/>
          </p:cNvSpPr>
          <p:nvPr>
            <p:ph type="title"/>
          </p:nvPr>
        </p:nvSpPr>
        <p:spPr>
          <a:xfrm>
            <a:off x="677334" y="603031"/>
            <a:ext cx="8229600" cy="1000125"/>
          </a:xfrm>
        </p:spPr>
        <p:txBody>
          <a:bodyPr/>
          <a:lstStyle/>
          <a:p>
            <a:pPr eaLnBrk="1" hangingPunct="1"/>
            <a:r>
              <a:rPr lang="en-CA" altLang="en-US" sz="3200" dirty="0"/>
              <a:t>Notes on Adaptive Huffman Tree Updating</a:t>
            </a:r>
          </a:p>
        </p:txBody>
      </p:sp>
      <p:sp>
        <p:nvSpPr>
          <p:cNvPr id="3" name="Content Placeholder 2">
            <a:extLst>
              <a:ext uri="{FF2B5EF4-FFF2-40B4-BE49-F238E27FC236}">
                <a16:creationId xmlns:a16="http://schemas.microsoft.com/office/drawing/2014/main" id="{DE9E5796-8FD3-E405-C0AF-4157BD8C5008}"/>
              </a:ext>
            </a:extLst>
          </p:cNvPr>
          <p:cNvSpPr>
            <a:spLocks noGrp="1"/>
          </p:cNvSpPr>
          <p:nvPr>
            <p:ph idx="1"/>
          </p:nvPr>
        </p:nvSpPr>
        <p:spPr/>
        <p:txBody>
          <a:bodyPr rtlCol="0">
            <a:normAutofit fontScale="92500" lnSpcReduction="10000"/>
          </a:bodyPr>
          <a:lstStyle/>
          <a:p>
            <a:pPr>
              <a:defRPr/>
            </a:pPr>
            <a:r>
              <a:rPr lang="en-CA" dirty="0"/>
              <a:t>Nodes are numbered in order from left to right, bottom to top. The numbers in parentheses indicates the count.</a:t>
            </a:r>
          </a:p>
          <a:p>
            <a:pPr>
              <a:defRPr/>
            </a:pPr>
            <a:endParaRPr lang="en-CA" dirty="0"/>
          </a:p>
          <a:p>
            <a:pPr>
              <a:defRPr/>
            </a:pPr>
            <a:r>
              <a:rPr lang="en-CA" dirty="0"/>
              <a:t>The tree must always maintain its </a:t>
            </a:r>
            <a:r>
              <a:rPr lang="en-CA" i="1" dirty="0"/>
              <a:t>sibling</a:t>
            </a:r>
            <a:r>
              <a:rPr lang="en-CA" dirty="0"/>
              <a:t> property, i.e., all nodes (internal and leaf) are arranged in the order of increasing counts.</a:t>
            </a:r>
          </a:p>
          <a:p>
            <a:pPr>
              <a:defRPr/>
            </a:pPr>
            <a:endParaRPr lang="en-CA" dirty="0"/>
          </a:p>
          <a:p>
            <a:pPr>
              <a:defRPr/>
            </a:pPr>
            <a:r>
              <a:rPr lang="en-CA" dirty="0"/>
              <a:t>If the sibling property is about to be violated, a </a:t>
            </a:r>
            <a:r>
              <a:rPr lang="en-CA" i="1" dirty="0"/>
              <a:t>swap</a:t>
            </a:r>
            <a:r>
              <a:rPr lang="en-CA" dirty="0"/>
              <a:t> procedure is invoked to update the tree by rearranging the nodes.</a:t>
            </a:r>
          </a:p>
          <a:p>
            <a:pPr>
              <a:defRPr/>
            </a:pPr>
            <a:endParaRPr lang="en-CA" dirty="0"/>
          </a:p>
          <a:p>
            <a:pPr>
              <a:defRPr/>
            </a:pPr>
            <a:r>
              <a:rPr lang="en-CA" dirty="0"/>
              <a:t>When a swap is necessary, the farthest node with count </a:t>
            </a:r>
            <a:r>
              <a:rPr lang="en-CA" i="1" dirty="0">
                <a:latin typeface="Times New Roman" pitchFamily="18" charset="0"/>
                <a:cs typeface="Times New Roman" pitchFamily="18" charset="0"/>
              </a:rPr>
              <a:t>N</a:t>
            </a:r>
            <a:r>
              <a:rPr lang="en-CA" dirty="0"/>
              <a:t> is swapped with the node whose count has just been increased to </a:t>
            </a:r>
          </a:p>
          <a:p>
            <a:pPr>
              <a:defRPr/>
            </a:pPr>
            <a:r>
              <a:rPr lang="en-CA" i="1" dirty="0"/>
              <a:t>	</a:t>
            </a:r>
            <a:r>
              <a:rPr lang="en-CA" i="1" dirty="0">
                <a:latin typeface="Times New Roman" pitchFamily="18" charset="0"/>
                <a:cs typeface="Times New Roman" pitchFamily="18" charset="0"/>
              </a:rPr>
              <a:t>N</a:t>
            </a:r>
            <a:r>
              <a:rPr lang="en-CA" dirty="0"/>
              <a:t> +1.</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7F684-A93B-3A0C-A3BD-81F046585C2E}"/>
              </a:ext>
            </a:extLst>
          </p:cNvPr>
          <p:cNvSpPr>
            <a:spLocks noGrp="1"/>
          </p:cNvSpPr>
          <p:nvPr>
            <p:ph idx="1"/>
          </p:nvPr>
        </p:nvSpPr>
        <p:spPr>
          <a:xfrm>
            <a:off x="1044402" y="5466421"/>
            <a:ext cx="8229600" cy="482600"/>
          </a:xfrm>
        </p:spPr>
        <p:txBody>
          <a:bodyPr rtlCol="0">
            <a:normAutofit/>
          </a:bodyPr>
          <a:lstStyle/>
          <a:p>
            <a:pPr algn="ctr">
              <a:defRPr/>
            </a:pPr>
            <a:r>
              <a:rPr lang="en-CA" dirty="0"/>
              <a:t>Fig. 7.6: Node Swapping for Updating an Adaptive Huffman Tree</a:t>
            </a:r>
          </a:p>
        </p:txBody>
      </p:sp>
      <p:pic>
        <p:nvPicPr>
          <p:cNvPr id="24581" name="Picture 2">
            <a:extLst>
              <a:ext uri="{FF2B5EF4-FFF2-40B4-BE49-F238E27FC236}">
                <a16:creationId xmlns:a16="http://schemas.microsoft.com/office/drawing/2014/main" id="{126E75DA-2462-EBC2-2026-FC3BAB095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258" y="762658"/>
            <a:ext cx="7975600" cy="436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44B8BF98-DABE-0782-A254-13EE2BDD8A12}"/>
              </a:ext>
            </a:extLst>
          </p:cNvPr>
          <p:cNvSpPr>
            <a:spLocks noGrp="1"/>
          </p:cNvSpPr>
          <p:nvPr>
            <p:ph type="title"/>
          </p:nvPr>
        </p:nvSpPr>
        <p:spPr>
          <a:xfrm>
            <a:off x="1981200" y="571501"/>
            <a:ext cx="8229600" cy="1000125"/>
          </a:xfrm>
        </p:spPr>
        <p:txBody>
          <a:bodyPr/>
          <a:lstStyle/>
          <a:p>
            <a:pPr eaLnBrk="1" hangingPunct="1"/>
            <a:r>
              <a:rPr lang="en-CA" altLang="en-US"/>
              <a:t>7.5 Dictionary-based Coding</a:t>
            </a:r>
          </a:p>
        </p:txBody>
      </p:sp>
      <p:sp>
        <p:nvSpPr>
          <p:cNvPr id="3" name="Content Placeholder 2">
            <a:extLst>
              <a:ext uri="{FF2B5EF4-FFF2-40B4-BE49-F238E27FC236}">
                <a16:creationId xmlns:a16="http://schemas.microsoft.com/office/drawing/2014/main" id="{E0FB044C-62BC-A301-4F9D-97C5B8F0E827}"/>
              </a:ext>
            </a:extLst>
          </p:cNvPr>
          <p:cNvSpPr>
            <a:spLocks noGrp="1"/>
          </p:cNvSpPr>
          <p:nvPr>
            <p:ph idx="1"/>
          </p:nvPr>
        </p:nvSpPr>
        <p:spPr/>
        <p:txBody>
          <a:bodyPr rtlCol="0">
            <a:normAutofit/>
          </a:bodyPr>
          <a:lstStyle/>
          <a:p>
            <a:pPr>
              <a:defRPr/>
            </a:pPr>
            <a:r>
              <a:rPr lang="en-CA" dirty="0"/>
              <a:t>LZW uses fixed-length codewords to represent variable-length strings of symbols/characters that commonly occur together, e.g., words in English text.</a:t>
            </a:r>
          </a:p>
          <a:p>
            <a:pPr>
              <a:defRPr/>
            </a:pPr>
            <a:endParaRPr lang="en-CA" dirty="0"/>
          </a:p>
          <a:p>
            <a:pPr>
              <a:defRPr/>
            </a:pPr>
            <a:r>
              <a:rPr lang="en-CA" dirty="0"/>
              <a:t>the LZW encoder and decoder build up the same dictionary dynamically while receiving the data.</a:t>
            </a:r>
          </a:p>
          <a:p>
            <a:pPr>
              <a:defRPr/>
            </a:pPr>
            <a:endParaRPr lang="en-CA" dirty="0"/>
          </a:p>
          <a:p>
            <a:pPr>
              <a:defRPr/>
            </a:pPr>
            <a:r>
              <a:rPr lang="en-CA" dirty="0"/>
              <a:t>LZW places longer and longer repeated entries into a dictionary, and then emits the </a:t>
            </a:r>
            <a:r>
              <a:rPr lang="en-CA" i="1" dirty="0"/>
              <a:t>code</a:t>
            </a:r>
            <a:r>
              <a:rPr lang="en-CA" dirty="0"/>
              <a:t> for an element, rather than the string itself, if the element has already been placed in the dictionary.</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3268A-8885-06AE-20AB-9BAEB68A5667}"/>
              </a:ext>
            </a:extLst>
          </p:cNvPr>
          <p:cNvSpPr>
            <a:spLocks noGrp="1"/>
          </p:cNvSpPr>
          <p:nvPr>
            <p:ph type="title"/>
          </p:nvPr>
        </p:nvSpPr>
        <p:spPr/>
        <p:txBody>
          <a:bodyPr/>
          <a:lstStyle/>
          <a:p>
            <a:r>
              <a:rPr lang="en-US" dirty="0"/>
              <a:t>Advantages of LZW over Huffman</a:t>
            </a:r>
          </a:p>
        </p:txBody>
      </p:sp>
      <p:sp>
        <p:nvSpPr>
          <p:cNvPr id="3" name="Content Placeholder 2">
            <a:extLst>
              <a:ext uri="{FF2B5EF4-FFF2-40B4-BE49-F238E27FC236}">
                <a16:creationId xmlns:a16="http://schemas.microsoft.com/office/drawing/2014/main" id="{A0E41CBD-E7F8-21E9-16A8-A9CEB811E165}"/>
              </a:ext>
            </a:extLst>
          </p:cNvPr>
          <p:cNvSpPr>
            <a:spLocks noGrp="1"/>
          </p:cNvSpPr>
          <p:nvPr>
            <p:ph idx="1"/>
          </p:nvPr>
        </p:nvSpPr>
        <p:spPr/>
        <p:txBody>
          <a:bodyPr/>
          <a:lstStyle/>
          <a:p>
            <a:r>
              <a:rPr lang="en-US" b="0" i="0" dirty="0">
                <a:solidFill>
                  <a:srgbClr val="040C28"/>
                </a:solidFill>
                <a:effectLst/>
                <a:latin typeface="Google Sans"/>
              </a:rPr>
              <a:t>LZW does not require any prior knowledge of the input data stream</a:t>
            </a:r>
            <a:r>
              <a:rPr lang="en-US" b="0" i="0" dirty="0">
                <a:solidFill>
                  <a:srgbClr val="474747"/>
                </a:solidFill>
                <a:effectLst/>
                <a:latin typeface="Google Sans"/>
              </a:rPr>
              <a:t>.</a:t>
            </a:r>
          </a:p>
          <a:p>
            <a:r>
              <a:rPr lang="en-US" b="0" i="0" dirty="0">
                <a:solidFill>
                  <a:srgbClr val="474747"/>
                </a:solidFill>
                <a:effectLst/>
                <a:latin typeface="Google Sans"/>
              </a:rPr>
              <a:t> The LZW algorithm has a 60 - 70% compression ratio for some text files. </a:t>
            </a:r>
          </a:p>
          <a:p>
            <a:r>
              <a:rPr lang="en-US" b="0" i="0" dirty="0">
                <a:solidFill>
                  <a:srgbClr val="474747"/>
                </a:solidFill>
                <a:effectLst/>
                <a:latin typeface="Google Sans"/>
              </a:rPr>
              <a:t>The LZW algorithm performs better for files with a lot of repetitive data. </a:t>
            </a:r>
          </a:p>
          <a:p>
            <a:r>
              <a:rPr lang="en-US" b="0" i="0" dirty="0">
                <a:solidFill>
                  <a:srgbClr val="474747"/>
                </a:solidFill>
                <a:effectLst/>
                <a:latin typeface="Google Sans"/>
              </a:rPr>
              <a:t>The LZW algorithm compresses the data in a single pass</a:t>
            </a:r>
            <a:endParaRPr lang="en-US" dirty="0"/>
          </a:p>
        </p:txBody>
      </p:sp>
    </p:spTree>
    <p:extLst>
      <p:ext uri="{BB962C8B-B14F-4D97-AF65-F5344CB8AC3E}">
        <p14:creationId xmlns:p14="http://schemas.microsoft.com/office/powerpoint/2010/main" val="3395893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9E23C-40DF-C712-048C-1E19D47904A1}"/>
              </a:ext>
            </a:extLst>
          </p:cNvPr>
          <p:cNvSpPr>
            <a:spLocks noGrp="1"/>
          </p:cNvSpPr>
          <p:nvPr>
            <p:ph idx="1"/>
          </p:nvPr>
        </p:nvSpPr>
        <p:spPr>
          <a:xfrm>
            <a:off x="1087820" y="201503"/>
            <a:ext cx="8229600" cy="6215062"/>
          </a:xfrm>
        </p:spPr>
        <p:txBody>
          <a:bodyPr rtlCol="0">
            <a:normAutofit fontScale="25000" lnSpcReduction="20000"/>
          </a:bodyPr>
          <a:lstStyle/>
          <a:p>
            <a:pPr>
              <a:defRPr/>
            </a:pPr>
            <a:r>
              <a:rPr lang="en-CA" sz="5100" b="1" dirty="0"/>
              <a:t>ALGORITHM 7.2 - LZW Compression</a:t>
            </a:r>
          </a:p>
          <a:p>
            <a:pPr>
              <a:defRPr/>
            </a:pPr>
            <a:endParaRPr lang="en-CA" b="1" dirty="0"/>
          </a:p>
          <a:p>
            <a:pPr marL="0" indent="0">
              <a:buNone/>
              <a:defRPr/>
            </a:pPr>
            <a:r>
              <a:rPr lang="en-CA" sz="6400" b="1" dirty="0">
                <a:latin typeface="Courier New" pitchFamily="49" charset="0"/>
                <a:cs typeface="Courier New" pitchFamily="49" charset="0"/>
              </a:rPr>
              <a:t>BEGIN</a:t>
            </a:r>
          </a:p>
          <a:p>
            <a:pPr marL="0" indent="0">
              <a:buNone/>
              <a:defRPr/>
            </a:pPr>
            <a:r>
              <a:rPr lang="en-CA" sz="6400" b="1" dirty="0">
                <a:latin typeface="Courier New" pitchFamily="49" charset="0"/>
                <a:cs typeface="Courier New" pitchFamily="49" charset="0"/>
              </a:rPr>
              <a:t>	s = next input character;</a:t>
            </a:r>
          </a:p>
          <a:p>
            <a:pPr marL="0" indent="0">
              <a:buNone/>
              <a:defRPr/>
            </a:pPr>
            <a:r>
              <a:rPr lang="en-CA" sz="6400" b="1" dirty="0">
                <a:latin typeface="Courier New" pitchFamily="49" charset="0"/>
                <a:cs typeface="Courier New" pitchFamily="49" charset="0"/>
              </a:rPr>
              <a:t>	while not EOF</a:t>
            </a:r>
          </a:p>
          <a:p>
            <a:pPr marL="0" indent="0">
              <a:buNone/>
              <a:defRPr/>
            </a:pPr>
            <a:r>
              <a:rPr lang="en-CA" sz="6400" b="1" dirty="0">
                <a:latin typeface="Courier New" pitchFamily="49" charset="0"/>
                <a:cs typeface="Courier New" pitchFamily="49" charset="0"/>
              </a:rPr>
              <a:t>	{ </a:t>
            </a:r>
          </a:p>
          <a:p>
            <a:pPr marL="0" indent="0">
              <a:buNone/>
              <a:defRPr/>
            </a:pPr>
            <a:r>
              <a:rPr lang="en-CA" sz="6400" b="1" dirty="0">
                <a:latin typeface="Courier New" pitchFamily="49" charset="0"/>
                <a:cs typeface="Courier New" pitchFamily="49" charset="0"/>
              </a:rPr>
              <a:t>		c = next input character;</a:t>
            </a:r>
          </a:p>
          <a:p>
            <a:pPr marL="0" indent="0">
              <a:buNone/>
              <a:defRPr/>
            </a:pPr>
            <a:endParaRPr lang="en-CA" sz="6400" b="1" dirty="0">
              <a:latin typeface="Courier New" pitchFamily="49" charset="0"/>
              <a:cs typeface="Courier New" pitchFamily="49" charset="0"/>
            </a:endParaRPr>
          </a:p>
          <a:p>
            <a:pPr marL="0" indent="0">
              <a:buNone/>
              <a:defRPr/>
            </a:pPr>
            <a:r>
              <a:rPr lang="en-CA" sz="6400" b="1" dirty="0">
                <a:latin typeface="Courier New" pitchFamily="49" charset="0"/>
                <a:cs typeface="Courier New" pitchFamily="49" charset="0"/>
              </a:rPr>
              <a:t>		if s + c exists in the dictionary</a:t>
            </a:r>
          </a:p>
          <a:p>
            <a:pPr marL="0" indent="0">
              <a:buNone/>
              <a:tabLst>
                <a:tab pos="1433513" algn="l"/>
              </a:tabLst>
              <a:defRPr/>
            </a:pPr>
            <a:r>
              <a:rPr lang="en-CA" sz="6400" b="1" dirty="0">
                <a:latin typeface="Courier New" pitchFamily="49" charset="0"/>
                <a:cs typeface="Courier New" pitchFamily="49" charset="0"/>
              </a:rPr>
              <a:t>		s = s + c;</a:t>
            </a:r>
          </a:p>
          <a:p>
            <a:pPr marL="0" indent="0">
              <a:buNone/>
              <a:defRPr/>
            </a:pPr>
            <a:r>
              <a:rPr lang="en-CA" sz="6400" b="1" dirty="0">
                <a:latin typeface="Courier New" pitchFamily="49" charset="0"/>
                <a:cs typeface="Courier New" pitchFamily="49" charset="0"/>
              </a:rPr>
              <a:t>		else</a:t>
            </a:r>
          </a:p>
          <a:p>
            <a:pPr marL="0" indent="0">
              <a:buNone/>
              <a:tabLst>
                <a:tab pos="900113" algn="l"/>
                <a:tab pos="1433513" algn="l"/>
              </a:tabLst>
              <a:defRPr/>
            </a:pPr>
            <a:r>
              <a:rPr lang="en-CA" sz="6400" b="1" dirty="0">
                <a:latin typeface="Courier New" pitchFamily="49" charset="0"/>
                <a:cs typeface="Courier New" pitchFamily="49" charset="0"/>
              </a:rPr>
              <a:t>		{ </a:t>
            </a:r>
          </a:p>
          <a:p>
            <a:pPr marL="0" indent="0">
              <a:buNone/>
              <a:tabLst>
                <a:tab pos="1433513" algn="l"/>
              </a:tabLst>
              <a:defRPr/>
            </a:pPr>
            <a:r>
              <a:rPr lang="en-CA" sz="6400" b="1" dirty="0">
                <a:latin typeface="Courier New" pitchFamily="49" charset="0"/>
                <a:cs typeface="Courier New" pitchFamily="49" charset="0"/>
              </a:rPr>
              <a:t>		output the code for s;</a:t>
            </a:r>
          </a:p>
          <a:p>
            <a:pPr marL="0" indent="0">
              <a:buNone/>
              <a:tabLst>
                <a:tab pos="1433513" algn="l"/>
              </a:tabLst>
              <a:defRPr/>
            </a:pPr>
            <a:r>
              <a:rPr lang="en-CA" sz="6400" b="1" dirty="0">
                <a:latin typeface="Courier New" pitchFamily="49" charset="0"/>
                <a:cs typeface="Courier New" pitchFamily="49" charset="0"/>
              </a:rPr>
              <a:t>		add string s + c to the dictionary with a new code;</a:t>
            </a:r>
          </a:p>
          <a:p>
            <a:pPr marL="0" indent="0">
              <a:buNone/>
              <a:tabLst>
                <a:tab pos="1433513" algn="l"/>
              </a:tabLst>
              <a:defRPr/>
            </a:pPr>
            <a:r>
              <a:rPr lang="en-CA" sz="6400" b="1" dirty="0">
                <a:latin typeface="Courier New" pitchFamily="49" charset="0"/>
                <a:cs typeface="Courier New" pitchFamily="49" charset="0"/>
              </a:rPr>
              <a:t>		s = c;</a:t>
            </a:r>
          </a:p>
          <a:p>
            <a:pPr marL="0" indent="0">
              <a:buNone/>
              <a:tabLst>
                <a:tab pos="900113" algn="l"/>
                <a:tab pos="1433513" algn="l"/>
              </a:tabLst>
              <a:defRPr/>
            </a:pPr>
            <a:r>
              <a:rPr lang="en-CA" sz="6400" b="1" dirty="0">
                <a:latin typeface="Courier New" pitchFamily="49" charset="0"/>
                <a:cs typeface="Courier New" pitchFamily="49" charset="0"/>
              </a:rPr>
              <a:t>		}</a:t>
            </a:r>
          </a:p>
          <a:p>
            <a:pPr marL="0" indent="0">
              <a:buNone/>
              <a:defRPr/>
            </a:pPr>
            <a:r>
              <a:rPr lang="en-CA" sz="6400" b="1" dirty="0">
                <a:latin typeface="Courier New" pitchFamily="49" charset="0"/>
                <a:cs typeface="Courier New" pitchFamily="49" charset="0"/>
              </a:rPr>
              <a:t>	}</a:t>
            </a:r>
          </a:p>
          <a:p>
            <a:pPr marL="0" indent="0">
              <a:buNone/>
              <a:defRPr/>
            </a:pPr>
            <a:r>
              <a:rPr lang="en-CA" sz="6400" b="1" dirty="0">
                <a:latin typeface="Courier New" pitchFamily="49" charset="0"/>
                <a:cs typeface="Courier New" pitchFamily="49" charset="0"/>
              </a:rPr>
              <a:t>	output the code for s;</a:t>
            </a:r>
          </a:p>
          <a:p>
            <a:pPr marL="0" indent="0">
              <a:buNone/>
              <a:defRPr/>
            </a:pPr>
            <a:r>
              <a:rPr lang="en-CA" sz="6400" b="1" dirty="0">
                <a:latin typeface="Courier New" pitchFamily="49" charset="0"/>
                <a:cs typeface="Courier New" pitchFamily="49" charset="0"/>
              </a:rPr>
              <a:t>END</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619117-9F1B-9849-3C3C-D3B3372F8831}"/>
              </a:ext>
            </a:extLst>
          </p:cNvPr>
          <p:cNvSpPr>
            <a:spLocks noGrp="1"/>
          </p:cNvSpPr>
          <p:nvPr>
            <p:ph idx="1"/>
          </p:nvPr>
        </p:nvSpPr>
        <p:spPr>
          <a:xfrm>
            <a:off x="1981200" y="642938"/>
            <a:ext cx="8229600" cy="5357812"/>
          </a:xfrm>
        </p:spPr>
        <p:txBody>
          <a:bodyPr rtlCol="0">
            <a:normAutofit/>
          </a:bodyPr>
          <a:lstStyle/>
          <a:p>
            <a:pPr marL="0" indent="0" algn="ctr">
              <a:buNone/>
              <a:defRPr/>
            </a:pPr>
            <a:r>
              <a:rPr lang="en-CA" b="1" dirty="0"/>
              <a:t>Example 7.2 LZW compression for string “ABABBABCABABBA”</a:t>
            </a:r>
          </a:p>
          <a:p>
            <a:pPr>
              <a:defRPr/>
            </a:pPr>
            <a:endParaRPr lang="en-CA" b="1" dirty="0"/>
          </a:p>
          <a:p>
            <a:pPr>
              <a:defRPr/>
            </a:pPr>
            <a:r>
              <a:rPr lang="en-CA" dirty="0"/>
              <a:t>Let’s start with a very simple dictionary (“string table”), initially  containing only 3 characters, with codes as follows:</a:t>
            </a:r>
          </a:p>
          <a:p>
            <a:pPr>
              <a:defRPr/>
            </a:pPr>
            <a:endParaRPr lang="en-CA" b="1" dirty="0"/>
          </a:p>
          <a:p>
            <a:pPr>
              <a:defRPr/>
            </a:pPr>
            <a:endParaRPr lang="en-CA" b="1" dirty="0"/>
          </a:p>
          <a:p>
            <a:pPr>
              <a:defRPr/>
            </a:pPr>
            <a:endParaRPr lang="en-CA" b="1" dirty="0"/>
          </a:p>
          <a:p>
            <a:pPr>
              <a:defRPr/>
            </a:pPr>
            <a:endParaRPr lang="en-CA" b="1" dirty="0"/>
          </a:p>
          <a:p>
            <a:pPr>
              <a:defRPr/>
            </a:pPr>
            <a:endParaRPr lang="en-CA" b="1" dirty="0"/>
          </a:p>
          <a:p>
            <a:pPr>
              <a:defRPr/>
            </a:pPr>
            <a:endParaRPr lang="en-CA" dirty="0"/>
          </a:p>
          <a:p>
            <a:pPr>
              <a:defRPr/>
            </a:pPr>
            <a:endParaRPr lang="en-CA" dirty="0"/>
          </a:p>
          <a:p>
            <a:pPr>
              <a:defRPr/>
            </a:pPr>
            <a:r>
              <a:rPr lang="en-CA" dirty="0"/>
              <a:t>Now if the input string is “ABABBABCABABBA”, the LZW compression algorithm works as follows:</a:t>
            </a:r>
            <a:endParaRPr lang="en-CA" b="1" dirty="0"/>
          </a:p>
        </p:txBody>
      </p:sp>
      <p:graphicFrame>
        <p:nvGraphicFramePr>
          <p:cNvPr id="6" name="Table 5">
            <a:extLst>
              <a:ext uri="{FF2B5EF4-FFF2-40B4-BE49-F238E27FC236}">
                <a16:creationId xmlns:a16="http://schemas.microsoft.com/office/drawing/2014/main" id="{C05C4C22-0650-8D1A-6195-A8DA39F1D453}"/>
              </a:ext>
            </a:extLst>
          </p:cNvPr>
          <p:cNvGraphicFramePr>
            <a:graphicFrameLocks noGrp="1"/>
          </p:cNvGraphicFramePr>
          <p:nvPr/>
        </p:nvGraphicFramePr>
        <p:xfrm>
          <a:off x="4095750" y="3000375"/>
          <a:ext cx="4000500" cy="1482724"/>
        </p:xfrm>
        <a:graphic>
          <a:graphicData uri="http://schemas.openxmlformats.org/drawingml/2006/table">
            <a:tbl>
              <a:tblPr firstRow="1" bandRow="1">
                <a:tableStyleId>{2D5ABB26-0587-4C30-8999-92F81FD0307C}</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tblGrid>
              <a:tr h="370681">
                <a:tc>
                  <a:txBody>
                    <a:bodyPr/>
                    <a:lstStyle/>
                    <a:p>
                      <a:pPr algn="ctr"/>
                      <a:r>
                        <a:rPr lang="en-CA" sz="1800" dirty="0"/>
                        <a:t>Code</a:t>
                      </a:r>
                      <a:endParaRPr lang="en-CA" sz="1800" dirty="0">
                        <a:latin typeface="Courier New" pitchFamily="49" charset="0"/>
                        <a:cs typeface="Courier New" pitchFamily="49" charset="0"/>
                      </a:endParaRPr>
                    </a:p>
                  </a:txBody>
                  <a:tcPr marL="91439" marR="91439" marT="45700" marB="45700">
                    <a:lnB w="12700" cap="flat" cmpd="sng" algn="ctr">
                      <a:solidFill>
                        <a:schemeClr val="tx1"/>
                      </a:solidFill>
                      <a:prstDash val="solid"/>
                      <a:round/>
                      <a:headEnd type="none" w="med" len="med"/>
                      <a:tailEnd type="none" w="med" len="med"/>
                    </a:lnB>
                  </a:tcPr>
                </a:tc>
                <a:tc>
                  <a:txBody>
                    <a:bodyPr/>
                    <a:lstStyle/>
                    <a:p>
                      <a:pPr algn="ctr"/>
                      <a:r>
                        <a:rPr lang="en-CA" sz="1800" dirty="0"/>
                        <a:t>String</a:t>
                      </a:r>
                      <a:endParaRPr lang="en-CA" sz="1800" dirty="0">
                        <a:latin typeface="Courier New" pitchFamily="49" charset="0"/>
                        <a:cs typeface="Courier New" pitchFamily="49" charset="0"/>
                      </a:endParaRPr>
                    </a:p>
                  </a:txBody>
                  <a:tcPr marL="91439" marR="91439" marT="45700" marB="4570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681">
                <a:tc>
                  <a:txBody>
                    <a:bodyPr/>
                    <a:lstStyle/>
                    <a:p>
                      <a:pPr algn="ctr"/>
                      <a:r>
                        <a:rPr lang="en-CA" sz="1800" dirty="0"/>
                        <a:t>1</a:t>
                      </a:r>
                      <a:endParaRPr lang="en-CA" sz="1800" dirty="0">
                        <a:latin typeface="Courier New" pitchFamily="49" charset="0"/>
                        <a:cs typeface="Courier New" pitchFamily="49" charset="0"/>
                      </a:endParaRPr>
                    </a:p>
                  </a:txBody>
                  <a:tcPr marL="91439" marR="91439" marT="45700" marB="45700">
                    <a:lnT w="12700" cap="flat" cmpd="sng" algn="ctr">
                      <a:solidFill>
                        <a:schemeClr val="tx1"/>
                      </a:solidFill>
                      <a:prstDash val="solid"/>
                      <a:round/>
                      <a:headEnd type="none" w="med" len="med"/>
                      <a:tailEnd type="none" w="med" len="med"/>
                    </a:lnT>
                  </a:tcPr>
                </a:tc>
                <a:tc>
                  <a:txBody>
                    <a:bodyPr/>
                    <a:lstStyle/>
                    <a:p>
                      <a:pPr algn="ctr"/>
                      <a:r>
                        <a:rPr lang="en-CA" sz="1800" dirty="0"/>
                        <a:t>A</a:t>
                      </a:r>
                      <a:endParaRPr lang="en-CA" sz="1800" dirty="0">
                        <a:latin typeface="Courier New" pitchFamily="49" charset="0"/>
                        <a:cs typeface="Courier New" pitchFamily="49" charset="0"/>
                      </a:endParaRPr>
                    </a:p>
                  </a:txBody>
                  <a:tcPr marL="91439" marR="91439" marT="45700" marB="4570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681">
                <a:tc>
                  <a:txBody>
                    <a:bodyPr/>
                    <a:lstStyle/>
                    <a:p>
                      <a:pPr algn="ctr"/>
                      <a:r>
                        <a:rPr lang="en-CA" sz="1800" dirty="0"/>
                        <a:t>2</a:t>
                      </a:r>
                      <a:endParaRPr lang="en-CA" sz="1800" dirty="0">
                        <a:latin typeface="Courier New" pitchFamily="49" charset="0"/>
                        <a:cs typeface="Courier New" pitchFamily="49" charset="0"/>
                      </a:endParaRPr>
                    </a:p>
                  </a:txBody>
                  <a:tcPr marL="91439" marR="91439" marT="45700" marB="45700"/>
                </a:tc>
                <a:tc>
                  <a:txBody>
                    <a:bodyPr/>
                    <a:lstStyle/>
                    <a:p>
                      <a:pPr algn="ctr"/>
                      <a:r>
                        <a:rPr lang="en-CA" sz="1800" dirty="0"/>
                        <a:t>B</a:t>
                      </a:r>
                      <a:endParaRPr lang="en-CA" sz="1800" dirty="0">
                        <a:latin typeface="Courier New" pitchFamily="49" charset="0"/>
                        <a:cs typeface="Courier New" pitchFamily="49" charset="0"/>
                      </a:endParaRPr>
                    </a:p>
                  </a:txBody>
                  <a:tcPr marL="91439" marR="91439" marT="45700" marB="45700"/>
                </a:tc>
                <a:extLst>
                  <a:ext uri="{0D108BD9-81ED-4DB2-BD59-A6C34878D82A}">
                    <a16:rowId xmlns:a16="http://schemas.microsoft.com/office/drawing/2014/main" val="10002"/>
                  </a:ext>
                </a:extLst>
              </a:tr>
              <a:tr h="370681">
                <a:tc>
                  <a:txBody>
                    <a:bodyPr/>
                    <a:lstStyle/>
                    <a:p>
                      <a:pPr algn="ctr"/>
                      <a:r>
                        <a:rPr lang="en-CA" sz="1800" dirty="0"/>
                        <a:t>3</a:t>
                      </a:r>
                      <a:endParaRPr lang="en-CA" sz="1800" dirty="0">
                        <a:latin typeface="Courier New" pitchFamily="49" charset="0"/>
                        <a:cs typeface="Courier New" pitchFamily="49" charset="0"/>
                      </a:endParaRPr>
                    </a:p>
                  </a:txBody>
                  <a:tcPr marL="91439" marR="91439" marT="45700" marB="45700"/>
                </a:tc>
                <a:tc>
                  <a:txBody>
                    <a:bodyPr/>
                    <a:lstStyle/>
                    <a:p>
                      <a:pPr algn="ctr"/>
                      <a:r>
                        <a:rPr lang="en-CA" sz="1800" dirty="0"/>
                        <a:t>C</a:t>
                      </a:r>
                      <a:endParaRPr lang="en-CA" sz="1800" dirty="0">
                        <a:latin typeface="Courier New" pitchFamily="49" charset="0"/>
                        <a:cs typeface="Courier New" pitchFamily="49" charset="0"/>
                      </a:endParaRPr>
                    </a:p>
                  </a:txBody>
                  <a:tcPr marL="91439" marR="91439" marT="45700" marB="45700"/>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15F5E4-C9B1-1211-B6B4-C16F8E46C085}"/>
              </a:ext>
            </a:extLst>
          </p:cNvPr>
          <p:cNvSpPr>
            <a:spLocks noGrp="1"/>
          </p:cNvSpPr>
          <p:nvPr>
            <p:ph idx="1"/>
          </p:nvPr>
        </p:nvSpPr>
        <p:spPr>
          <a:xfrm>
            <a:off x="551794" y="5223314"/>
            <a:ext cx="8229600" cy="714375"/>
          </a:xfrm>
        </p:spPr>
        <p:txBody>
          <a:bodyPr rtlCol="0">
            <a:normAutofit/>
          </a:bodyPr>
          <a:lstStyle/>
          <a:p>
            <a:pPr>
              <a:defRPr/>
            </a:pPr>
            <a:r>
              <a:rPr lang="en-CA" dirty="0"/>
              <a:t> The output codes are: 1 2 4 5 2 3 4 6 1. Instead of sending 14 characters, only 9 codes need to be sent (compression ratio = 14/9 = 1.56).</a:t>
            </a:r>
            <a:endParaRPr lang="en-CA" b="1" dirty="0"/>
          </a:p>
        </p:txBody>
      </p:sp>
      <p:graphicFrame>
        <p:nvGraphicFramePr>
          <p:cNvPr id="7" name="Table 6">
            <a:extLst>
              <a:ext uri="{FF2B5EF4-FFF2-40B4-BE49-F238E27FC236}">
                <a16:creationId xmlns:a16="http://schemas.microsoft.com/office/drawing/2014/main" id="{0E81348E-D36D-D16A-A99B-53E2C7CC1216}"/>
              </a:ext>
            </a:extLst>
          </p:cNvPr>
          <p:cNvGraphicFramePr>
            <a:graphicFrameLocks noGrp="1"/>
          </p:cNvGraphicFramePr>
          <p:nvPr>
            <p:extLst>
              <p:ext uri="{D42A27DB-BD31-4B8C-83A1-F6EECF244321}">
                <p14:modId xmlns:p14="http://schemas.microsoft.com/office/powerpoint/2010/main" val="1400697051"/>
              </p:ext>
            </p:extLst>
          </p:nvPr>
        </p:nvGraphicFramePr>
        <p:xfrm>
          <a:off x="1926514" y="693355"/>
          <a:ext cx="4429125" cy="4181475"/>
        </p:xfrm>
        <a:graphic>
          <a:graphicData uri="http://schemas.openxmlformats.org/drawingml/2006/table">
            <a:tbl>
              <a:tblPr firstRow="1" bandRow="1">
                <a:tableStyleId>{2D5ABB26-0587-4C30-8999-92F81FD0307C}</a:tableStyleId>
              </a:tblPr>
              <a:tblGrid>
                <a:gridCol w="885825">
                  <a:extLst>
                    <a:ext uri="{9D8B030D-6E8A-4147-A177-3AD203B41FA5}">
                      <a16:colId xmlns:a16="http://schemas.microsoft.com/office/drawing/2014/main" val="20000"/>
                    </a:ext>
                  </a:extLst>
                </a:gridCol>
                <a:gridCol w="885825">
                  <a:extLst>
                    <a:ext uri="{9D8B030D-6E8A-4147-A177-3AD203B41FA5}">
                      <a16:colId xmlns:a16="http://schemas.microsoft.com/office/drawing/2014/main" val="20001"/>
                    </a:ext>
                  </a:extLst>
                </a:gridCol>
                <a:gridCol w="885825">
                  <a:extLst>
                    <a:ext uri="{9D8B030D-6E8A-4147-A177-3AD203B41FA5}">
                      <a16:colId xmlns:a16="http://schemas.microsoft.com/office/drawing/2014/main" val="20002"/>
                    </a:ext>
                  </a:extLst>
                </a:gridCol>
                <a:gridCol w="885825">
                  <a:extLst>
                    <a:ext uri="{9D8B030D-6E8A-4147-A177-3AD203B41FA5}">
                      <a16:colId xmlns:a16="http://schemas.microsoft.com/office/drawing/2014/main" val="20003"/>
                    </a:ext>
                  </a:extLst>
                </a:gridCol>
                <a:gridCol w="885825">
                  <a:extLst>
                    <a:ext uri="{9D8B030D-6E8A-4147-A177-3AD203B41FA5}">
                      <a16:colId xmlns:a16="http://schemas.microsoft.com/office/drawing/2014/main" val="20004"/>
                    </a:ext>
                  </a:extLst>
                </a:gridCol>
              </a:tblGrid>
              <a:tr h="370896">
                <a:tc>
                  <a:txBody>
                    <a:bodyPr/>
                    <a:lstStyle/>
                    <a:p>
                      <a:r>
                        <a:rPr lang="en-CA" sz="1400" dirty="0"/>
                        <a:t>S</a:t>
                      </a:r>
                    </a:p>
                  </a:txBody>
                  <a:tcPr marL="91439" marR="91439" marT="45727" marB="45727">
                    <a:lnB w="12700" cap="flat" cmpd="sng" algn="ctr">
                      <a:solidFill>
                        <a:schemeClr val="tx1"/>
                      </a:solidFill>
                      <a:prstDash val="solid"/>
                      <a:round/>
                      <a:headEnd type="none" w="med" len="med"/>
                      <a:tailEnd type="none" w="med" len="med"/>
                    </a:lnB>
                  </a:tcPr>
                </a:tc>
                <a:tc>
                  <a:txBody>
                    <a:bodyPr/>
                    <a:lstStyle/>
                    <a:p>
                      <a:r>
                        <a:rPr lang="en-CA" sz="1400" dirty="0"/>
                        <a:t>C</a:t>
                      </a:r>
                    </a:p>
                  </a:txBody>
                  <a:tcPr marL="91439" marR="91439" marT="45727" marB="45727">
                    <a:lnB w="12700" cap="flat" cmpd="sng" algn="ctr">
                      <a:solidFill>
                        <a:schemeClr val="tx1"/>
                      </a:solidFill>
                      <a:prstDash val="solid"/>
                      <a:round/>
                      <a:headEnd type="none" w="med" len="med"/>
                      <a:tailEnd type="none" w="med" len="med"/>
                    </a:lnB>
                  </a:tcPr>
                </a:tc>
                <a:tc>
                  <a:txBody>
                    <a:bodyPr/>
                    <a:lstStyle/>
                    <a:p>
                      <a:r>
                        <a:rPr lang="en-CA" sz="1400" dirty="0"/>
                        <a:t>Output</a:t>
                      </a:r>
                    </a:p>
                  </a:txBody>
                  <a:tcPr marL="91439" marR="91439" marT="45727" marB="45727">
                    <a:lnB w="12700" cap="flat" cmpd="sng" algn="ctr">
                      <a:solidFill>
                        <a:schemeClr val="tx1"/>
                      </a:solidFill>
                      <a:prstDash val="solid"/>
                      <a:round/>
                      <a:headEnd type="none" w="med" len="med"/>
                      <a:tailEnd type="none" w="med" len="med"/>
                    </a:lnB>
                  </a:tcPr>
                </a:tc>
                <a:tc>
                  <a:txBody>
                    <a:bodyPr/>
                    <a:lstStyle/>
                    <a:p>
                      <a:r>
                        <a:rPr lang="en-CA" sz="1400" dirty="0"/>
                        <a:t>Code</a:t>
                      </a:r>
                    </a:p>
                  </a:txBody>
                  <a:tcPr marL="91439" marR="91439" marT="45727" marB="45727">
                    <a:lnB w="12700" cap="flat" cmpd="sng" algn="ctr">
                      <a:solidFill>
                        <a:schemeClr val="tx1"/>
                      </a:solidFill>
                      <a:prstDash val="solid"/>
                      <a:round/>
                      <a:headEnd type="none" w="med" len="med"/>
                      <a:tailEnd type="none" w="med" len="med"/>
                    </a:lnB>
                  </a:tcPr>
                </a:tc>
                <a:tc>
                  <a:txBody>
                    <a:bodyPr/>
                    <a:lstStyle/>
                    <a:p>
                      <a:r>
                        <a:rPr lang="en-CA" sz="1400" dirty="0"/>
                        <a:t>String</a:t>
                      </a:r>
                    </a:p>
                  </a:txBody>
                  <a:tcPr marL="91439" marR="91439" marT="45727" marB="45727">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31631">
                <a:tc>
                  <a:txBody>
                    <a:bodyPr/>
                    <a:lstStyle/>
                    <a:p>
                      <a:endParaRPr lang="en-CA" sz="1400" dirty="0"/>
                    </a:p>
                  </a:txBody>
                  <a:tcPr marL="91439" marR="91439" marT="45727" marB="4572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400" dirty="0"/>
                    </a:p>
                  </a:txBody>
                  <a:tcPr marL="91439" marR="91439" marT="45727" marB="4572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sz="1400" dirty="0"/>
                    </a:p>
                  </a:txBody>
                  <a:tcPr marL="91439" marR="91439" marT="45727" marB="4572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CA" sz="1400" dirty="0"/>
                        <a:t>1</a:t>
                      </a:r>
                    </a:p>
                    <a:p>
                      <a:pPr algn="l"/>
                      <a:r>
                        <a:rPr lang="en-CA" sz="1400" dirty="0"/>
                        <a:t>2</a:t>
                      </a:r>
                    </a:p>
                    <a:p>
                      <a:pPr algn="l"/>
                      <a:r>
                        <a:rPr lang="en-CA" sz="1400" dirty="0"/>
                        <a:t>3</a:t>
                      </a:r>
                    </a:p>
                  </a:txBody>
                  <a:tcPr marL="91439" marR="91439" marT="45727" marB="4572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sz="1400" dirty="0"/>
                        <a:t>A</a:t>
                      </a:r>
                    </a:p>
                    <a:p>
                      <a:r>
                        <a:rPr lang="en-CA" sz="1400" dirty="0"/>
                        <a:t>B</a:t>
                      </a:r>
                    </a:p>
                    <a:p>
                      <a:r>
                        <a:rPr lang="en-CA" sz="1400" dirty="0"/>
                        <a:t>C</a:t>
                      </a:r>
                    </a:p>
                  </a:txBody>
                  <a:tcPr marL="91439" marR="91439" marT="45727" marB="45727">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78948">
                <a:tc>
                  <a:txBody>
                    <a:bodyPr/>
                    <a:lstStyle/>
                    <a:p>
                      <a:r>
                        <a:rPr lang="en-CA" sz="1400" dirty="0"/>
                        <a:t>A</a:t>
                      </a:r>
                    </a:p>
                    <a:p>
                      <a:r>
                        <a:rPr lang="en-CA" sz="1400" dirty="0"/>
                        <a:t>B</a:t>
                      </a:r>
                    </a:p>
                    <a:p>
                      <a:r>
                        <a:rPr lang="en-CA" sz="1400" dirty="0"/>
                        <a:t>A</a:t>
                      </a:r>
                    </a:p>
                    <a:p>
                      <a:r>
                        <a:rPr lang="en-CA" sz="1400" dirty="0"/>
                        <a:t>AB</a:t>
                      </a:r>
                    </a:p>
                    <a:p>
                      <a:r>
                        <a:rPr lang="en-CA" sz="1400" dirty="0"/>
                        <a:t>B</a:t>
                      </a:r>
                    </a:p>
                    <a:p>
                      <a:r>
                        <a:rPr lang="en-CA" sz="1400" dirty="0"/>
                        <a:t>BA</a:t>
                      </a:r>
                    </a:p>
                    <a:p>
                      <a:r>
                        <a:rPr lang="en-CA" sz="1400" dirty="0"/>
                        <a:t>B</a:t>
                      </a:r>
                    </a:p>
                    <a:p>
                      <a:r>
                        <a:rPr lang="en-CA" sz="1400" dirty="0"/>
                        <a:t>C</a:t>
                      </a:r>
                    </a:p>
                    <a:p>
                      <a:r>
                        <a:rPr lang="en-CA" sz="1400" dirty="0"/>
                        <a:t>A</a:t>
                      </a:r>
                    </a:p>
                    <a:p>
                      <a:r>
                        <a:rPr lang="en-CA" sz="1400" dirty="0"/>
                        <a:t>AB</a:t>
                      </a:r>
                    </a:p>
                    <a:p>
                      <a:r>
                        <a:rPr lang="en-CA" sz="1400" dirty="0"/>
                        <a:t>A</a:t>
                      </a:r>
                    </a:p>
                    <a:p>
                      <a:r>
                        <a:rPr lang="en-CA" sz="1400" dirty="0"/>
                        <a:t>AB</a:t>
                      </a:r>
                    </a:p>
                    <a:p>
                      <a:r>
                        <a:rPr lang="en-CA" sz="1400" dirty="0"/>
                        <a:t>ABB</a:t>
                      </a:r>
                    </a:p>
                    <a:p>
                      <a:r>
                        <a:rPr lang="en-CA" sz="1400" dirty="0"/>
                        <a:t>A</a:t>
                      </a:r>
                    </a:p>
                  </a:txBody>
                  <a:tcPr marL="91439" marR="91439" marT="45727" marB="45727">
                    <a:lnT w="12700" cap="flat" cmpd="sng" algn="ctr">
                      <a:solidFill>
                        <a:schemeClr val="tx1"/>
                      </a:solidFill>
                      <a:prstDash val="solid"/>
                      <a:round/>
                      <a:headEnd type="none" w="med" len="med"/>
                      <a:tailEnd type="none" w="med" len="med"/>
                    </a:lnT>
                  </a:tcPr>
                </a:tc>
                <a:tc>
                  <a:txBody>
                    <a:bodyPr/>
                    <a:lstStyle/>
                    <a:p>
                      <a:r>
                        <a:rPr lang="en-CA" sz="1400" dirty="0"/>
                        <a:t>B</a:t>
                      </a:r>
                    </a:p>
                    <a:p>
                      <a:r>
                        <a:rPr lang="en-CA" sz="1400" dirty="0"/>
                        <a:t>A</a:t>
                      </a:r>
                    </a:p>
                    <a:p>
                      <a:r>
                        <a:rPr lang="en-CA" sz="1400" dirty="0"/>
                        <a:t>B</a:t>
                      </a:r>
                    </a:p>
                    <a:p>
                      <a:r>
                        <a:rPr lang="en-CA" sz="1400" dirty="0"/>
                        <a:t>B</a:t>
                      </a:r>
                    </a:p>
                    <a:p>
                      <a:r>
                        <a:rPr lang="en-CA" sz="1400" dirty="0"/>
                        <a:t>A</a:t>
                      </a:r>
                    </a:p>
                    <a:p>
                      <a:r>
                        <a:rPr lang="en-CA" sz="1400" dirty="0"/>
                        <a:t>B</a:t>
                      </a:r>
                    </a:p>
                    <a:p>
                      <a:r>
                        <a:rPr lang="en-CA" sz="1400" dirty="0"/>
                        <a:t>C</a:t>
                      </a:r>
                    </a:p>
                    <a:p>
                      <a:r>
                        <a:rPr lang="en-CA" sz="1400" dirty="0"/>
                        <a:t>A</a:t>
                      </a:r>
                    </a:p>
                    <a:p>
                      <a:r>
                        <a:rPr lang="en-CA" sz="1400" dirty="0"/>
                        <a:t>B</a:t>
                      </a:r>
                    </a:p>
                    <a:p>
                      <a:r>
                        <a:rPr lang="en-CA" sz="1400" dirty="0"/>
                        <a:t>A</a:t>
                      </a:r>
                    </a:p>
                    <a:p>
                      <a:r>
                        <a:rPr lang="en-CA" sz="1400" dirty="0"/>
                        <a:t>B</a:t>
                      </a:r>
                    </a:p>
                    <a:p>
                      <a:r>
                        <a:rPr lang="en-CA" sz="1400" dirty="0"/>
                        <a:t>B</a:t>
                      </a:r>
                    </a:p>
                    <a:p>
                      <a:r>
                        <a:rPr lang="en-CA" sz="1400" dirty="0"/>
                        <a:t>A</a:t>
                      </a:r>
                    </a:p>
                    <a:p>
                      <a:r>
                        <a:rPr lang="en-CA" sz="1400" dirty="0"/>
                        <a:t>EOF</a:t>
                      </a:r>
                    </a:p>
                  </a:txBody>
                  <a:tcPr marL="91439" marR="91439" marT="45727" marB="45727">
                    <a:lnT w="12700" cap="flat" cmpd="sng" algn="ctr">
                      <a:solidFill>
                        <a:schemeClr val="tx1"/>
                      </a:solidFill>
                      <a:prstDash val="solid"/>
                      <a:round/>
                      <a:headEnd type="none" w="med" len="med"/>
                      <a:tailEnd type="none" w="med" len="med"/>
                    </a:lnT>
                  </a:tcPr>
                </a:tc>
                <a:tc>
                  <a:txBody>
                    <a:bodyPr/>
                    <a:lstStyle/>
                    <a:p>
                      <a:r>
                        <a:rPr lang="en-CA" sz="1400" dirty="0"/>
                        <a:t>1</a:t>
                      </a:r>
                    </a:p>
                    <a:p>
                      <a:r>
                        <a:rPr lang="en-CA" sz="1400" dirty="0"/>
                        <a:t>2</a:t>
                      </a:r>
                    </a:p>
                    <a:p>
                      <a:endParaRPr lang="en-CA" sz="1400" dirty="0"/>
                    </a:p>
                    <a:p>
                      <a:r>
                        <a:rPr lang="en-CA" sz="1400" dirty="0"/>
                        <a:t>4</a:t>
                      </a:r>
                    </a:p>
                    <a:p>
                      <a:endParaRPr lang="en-CA" sz="1400" dirty="0"/>
                    </a:p>
                    <a:p>
                      <a:r>
                        <a:rPr lang="en-CA" sz="1400" dirty="0"/>
                        <a:t>5</a:t>
                      </a:r>
                    </a:p>
                    <a:p>
                      <a:r>
                        <a:rPr lang="en-CA" sz="1400" dirty="0"/>
                        <a:t>2</a:t>
                      </a:r>
                    </a:p>
                    <a:p>
                      <a:r>
                        <a:rPr lang="en-CA" sz="1400" dirty="0"/>
                        <a:t>3</a:t>
                      </a:r>
                    </a:p>
                    <a:p>
                      <a:endParaRPr lang="en-CA" sz="1400" dirty="0"/>
                    </a:p>
                    <a:p>
                      <a:r>
                        <a:rPr lang="en-CA" sz="1400" dirty="0"/>
                        <a:t>4</a:t>
                      </a:r>
                    </a:p>
                    <a:p>
                      <a:endParaRPr lang="en-CA" sz="1400" dirty="0"/>
                    </a:p>
                    <a:p>
                      <a:endParaRPr lang="en-CA" sz="1400" dirty="0"/>
                    </a:p>
                    <a:p>
                      <a:r>
                        <a:rPr lang="en-CA" sz="1400" dirty="0"/>
                        <a:t>6</a:t>
                      </a:r>
                    </a:p>
                    <a:p>
                      <a:r>
                        <a:rPr lang="en-CA" sz="1400" dirty="0"/>
                        <a:t>1</a:t>
                      </a:r>
                    </a:p>
                  </a:txBody>
                  <a:tcPr marL="91439" marR="91439" marT="45727" marB="45727">
                    <a:lnT w="12700" cap="flat" cmpd="sng" algn="ctr">
                      <a:solidFill>
                        <a:schemeClr val="tx1"/>
                      </a:solidFill>
                      <a:prstDash val="solid"/>
                      <a:round/>
                      <a:headEnd type="none" w="med" len="med"/>
                      <a:tailEnd type="none" w="med" len="med"/>
                    </a:lnT>
                  </a:tcPr>
                </a:tc>
                <a:tc>
                  <a:txBody>
                    <a:bodyPr/>
                    <a:lstStyle/>
                    <a:p>
                      <a:pPr algn="l"/>
                      <a:r>
                        <a:rPr lang="en-CA" sz="1400" dirty="0"/>
                        <a:t>4</a:t>
                      </a:r>
                    </a:p>
                    <a:p>
                      <a:pPr algn="l"/>
                      <a:r>
                        <a:rPr lang="en-CA" sz="1400" dirty="0"/>
                        <a:t>5</a:t>
                      </a:r>
                    </a:p>
                    <a:p>
                      <a:pPr algn="l"/>
                      <a:endParaRPr lang="en-CA" sz="1400" dirty="0"/>
                    </a:p>
                    <a:p>
                      <a:pPr algn="l"/>
                      <a:r>
                        <a:rPr lang="en-CA" sz="1400" dirty="0"/>
                        <a:t>6</a:t>
                      </a:r>
                    </a:p>
                    <a:p>
                      <a:pPr algn="l"/>
                      <a:endParaRPr lang="en-CA" sz="1400" dirty="0"/>
                    </a:p>
                    <a:p>
                      <a:pPr algn="l"/>
                      <a:r>
                        <a:rPr lang="en-CA" sz="1400" dirty="0"/>
                        <a:t>7</a:t>
                      </a:r>
                    </a:p>
                    <a:p>
                      <a:pPr algn="l"/>
                      <a:r>
                        <a:rPr lang="en-CA" sz="1400" dirty="0"/>
                        <a:t>8</a:t>
                      </a:r>
                    </a:p>
                    <a:p>
                      <a:pPr algn="l"/>
                      <a:r>
                        <a:rPr lang="en-CA" sz="1400" dirty="0"/>
                        <a:t>9</a:t>
                      </a:r>
                    </a:p>
                    <a:p>
                      <a:pPr algn="l"/>
                      <a:endParaRPr lang="en-CA" sz="1400" dirty="0"/>
                    </a:p>
                    <a:p>
                      <a:pPr algn="l"/>
                      <a:r>
                        <a:rPr lang="en-CA" sz="1400" dirty="0"/>
                        <a:t>10</a:t>
                      </a:r>
                    </a:p>
                    <a:p>
                      <a:pPr algn="l"/>
                      <a:endParaRPr lang="en-CA" sz="1400" dirty="0"/>
                    </a:p>
                    <a:p>
                      <a:pPr algn="l"/>
                      <a:endParaRPr lang="en-CA" sz="1400" dirty="0"/>
                    </a:p>
                    <a:p>
                      <a:pPr algn="l"/>
                      <a:r>
                        <a:rPr lang="en-CA" sz="1400" dirty="0"/>
                        <a:t>11</a:t>
                      </a:r>
                    </a:p>
                  </a:txBody>
                  <a:tcPr marL="91439" marR="91439" marT="45727" marB="45727">
                    <a:lnT w="12700" cap="flat" cmpd="sng" algn="ctr">
                      <a:solidFill>
                        <a:schemeClr val="tx1"/>
                      </a:solidFill>
                      <a:prstDash val="solid"/>
                      <a:round/>
                      <a:headEnd type="none" w="med" len="med"/>
                      <a:tailEnd type="none" w="med" len="med"/>
                    </a:lnT>
                  </a:tcPr>
                </a:tc>
                <a:tc>
                  <a:txBody>
                    <a:bodyPr/>
                    <a:lstStyle/>
                    <a:p>
                      <a:r>
                        <a:rPr lang="en-CA" sz="1400" dirty="0"/>
                        <a:t>AB</a:t>
                      </a:r>
                    </a:p>
                    <a:p>
                      <a:r>
                        <a:rPr lang="en-CA" sz="1400" dirty="0"/>
                        <a:t>BA</a:t>
                      </a:r>
                    </a:p>
                    <a:p>
                      <a:endParaRPr lang="en-CA" sz="1400" dirty="0"/>
                    </a:p>
                    <a:p>
                      <a:r>
                        <a:rPr lang="en-CA" sz="1400" dirty="0"/>
                        <a:t>ABB</a:t>
                      </a:r>
                    </a:p>
                    <a:p>
                      <a:endParaRPr lang="en-CA" sz="1400" dirty="0"/>
                    </a:p>
                    <a:p>
                      <a:r>
                        <a:rPr lang="en-CA" sz="1400" dirty="0"/>
                        <a:t>BAB</a:t>
                      </a:r>
                    </a:p>
                    <a:p>
                      <a:r>
                        <a:rPr lang="en-CA" sz="1400" dirty="0"/>
                        <a:t>BC</a:t>
                      </a:r>
                    </a:p>
                    <a:p>
                      <a:r>
                        <a:rPr lang="en-CA" sz="1400" dirty="0"/>
                        <a:t>CA</a:t>
                      </a:r>
                    </a:p>
                    <a:p>
                      <a:endParaRPr lang="en-CA" sz="1400" dirty="0"/>
                    </a:p>
                    <a:p>
                      <a:r>
                        <a:rPr lang="en-CA" sz="1400" dirty="0"/>
                        <a:t>ABA</a:t>
                      </a:r>
                    </a:p>
                    <a:p>
                      <a:endParaRPr lang="en-CA" sz="1400" dirty="0"/>
                    </a:p>
                    <a:p>
                      <a:endParaRPr lang="en-CA" sz="1400" dirty="0"/>
                    </a:p>
                    <a:p>
                      <a:r>
                        <a:rPr lang="en-CA" sz="1400" dirty="0"/>
                        <a:t>ABBA</a:t>
                      </a:r>
                    </a:p>
                  </a:txBody>
                  <a:tcPr marL="91439" marR="91439" marT="45727" marB="45727">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0D0042-46AA-70F5-876C-A4E7DA36EE97}"/>
              </a:ext>
            </a:extLst>
          </p:cNvPr>
          <p:cNvSpPr>
            <a:spLocks noGrp="1"/>
          </p:cNvSpPr>
          <p:nvPr>
            <p:ph idx="1"/>
          </p:nvPr>
        </p:nvSpPr>
        <p:spPr>
          <a:xfrm>
            <a:off x="1981200" y="642938"/>
            <a:ext cx="8229600" cy="5357812"/>
          </a:xfrm>
        </p:spPr>
        <p:txBody>
          <a:bodyPr rtlCol="0">
            <a:normAutofit fontScale="55000" lnSpcReduction="20000"/>
          </a:bodyPr>
          <a:lstStyle/>
          <a:p>
            <a:pPr>
              <a:defRPr/>
            </a:pPr>
            <a:r>
              <a:rPr lang="en-CA" sz="3800" b="1" dirty="0"/>
              <a:t>ALGORITHM 7.3 LZW Decompression (simple version)</a:t>
            </a:r>
          </a:p>
          <a:p>
            <a:pPr>
              <a:defRPr/>
            </a:pPr>
            <a:endParaRPr lang="en-CA" sz="2800" dirty="0"/>
          </a:p>
          <a:p>
            <a:pPr marL="457200" lvl="1" indent="0">
              <a:buNone/>
              <a:defRPr/>
            </a:pPr>
            <a:r>
              <a:rPr lang="en-CA" sz="2400" dirty="0">
                <a:latin typeface="Courier New" pitchFamily="49" charset="0"/>
                <a:cs typeface="Courier New" pitchFamily="49" charset="0"/>
              </a:rPr>
              <a:t>BEGIN</a:t>
            </a:r>
          </a:p>
          <a:p>
            <a:pPr marL="457200" lvl="1" indent="0">
              <a:buNone/>
              <a:defRPr/>
            </a:pPr>
            <a:r>
              <a:rPr lang="en-CA" sz="2400" dirty="0">
                <a:latin typeface="Courier New" pitchFamily="49" charset="0"/>
                <a:cs typeface="Courier New" pitchFamily="49" charset="0"/>
              </a:rPr>
              <a:t>	s = NIL;</a:t>
            </a:r>
          </a:p>
          <a:p>
            <a:pPr marL="457200" lvl="1" indent="0">
              <a:buNone/>
              <a:defRPr/>
            </a:pPr>
            <a:r>
              <a:rPr lang="en-CA" sz="2400" dirty="0">
                <a:latin typeface="Courier New" pitchFamily="49" charset="0"/>
                <a:cs typeface="Courier New" pitchFamily="49" charset="0"/>
              </a:rPr>
              <a:t>	while not EOF</a:t>
            </a:r>
          </a:p>
          <a:p>
            <a:pPr marL="457200" lvl="1" indent="0">
              <a:buNone/>
              <a:defRPr/>
            </a:pPr>
            <a:r>
              <a:rPr lang="en-CA" sz="2400" dirty="0">
                <a:latin typeface="Courier New" pitchFamily="49" charset="0"/>
                <a:cs typeface="Courier New" pitchFamily="49" charset="0"/>
              </a:rPr>
              <a:t>	{</a:t>
            </a:r>
          </a:p>
          <a:p>
            <a:pPr marL="457200" lvl="1" indent="0">
              <a:buNone/>
              <a:defRPr/>
            </a:pPr>
            <a:r>
              <a:rPr lang="en-CA" sz="2400" dirty="0">
                <a:latin typeface="Courier New" pitchFamily="49" charset="0"/>
                <a:cs typeface="Courier New" pitchFamily="49" charset="0"/>
              </a:rPr>
              <a:t>		k = next input code;</a:t>
            </a:r>
          </a:p>
          <a:p>
            <a:pPr marL="457200" lvl="1" indent="0">
              <a:buNone/>
              <a:defRPr/>
            </a:pPr>
            <a:r>
              <a:rPr lang="en-CA" sz="2400" dirty="0">
                <a:latin typeface="Courier New" pitchFamily="49" charset="0"/>
                <a:cs typeface="Courier New" pitchFamily="49" charset="0"/>
              </a:rPr>
              <a:t>		entry = dictionary entry for k;</a:t>
            </a:r>
          </a:p>
          <a:p>
            <a:pPr marL="457200" lvl="1" indent="0">
              <a:buNone/>
              <a:defRPr/>
            </a:pPr>
            <a:r>
              <a:rPr lang="en-CA" sz="2400" dirty="0">
                <a:latin typeface="Courier New" pitchFamily="49" charset="0"/>
                <a:cs typeface="Courier New" pitchFamily="49" charset="0"/>
              </a:rPr>
              <a:t>		output entry;</a:t>
            </a:r>
          </a:p>
          <a:p>
            <a:pPr marL="457200" lvl="1" indent="0">
              <a:buNone/>
              <a:defRPr/>
            </a:pPr>
            <a:r>
              <a:rPr lang="en-CA" sz="2400" dirty="0">
                <a:latin typeface="Courier New" pitchFamily="49" charset="0"/>
                <a:cs typeface="Courier New" pitchFamily="49" charset="0"/>
              </a:rPr>
              <a:t>		if (s != NIL)</a:t>
            </a:r>
          </a:p>
          <a:p>
            <a:pPr marL="457200" lvl="1" indent="0">
              <a:buNone/>
              <a:defRPr/>
            </a:pPr>
            <a:r>
              <a:rPr lang="en-CA" sz="2400" dirty="0">
                <a:latin typeface="Courier New" pitchFamily="49" charset="0"/>
                <a:cs typeface="Courier New" pitchFamily="49" charset="0"/>
              </a:rPr>
              <a:t>			add string s + entry[0] to dictionary with a new code;</a:t>
            </a:r>
          </a:p>
          <a:p>
            <a:pPr marL="457200" lvl="1" indent="0">
              <a:buNone/>
              <a:defRPr/>
            </a:pPr>
            <a:r>
              <a:rPr lang="en-CA" sz="2400" dirty="0">
                <a:latin typeface="Courier New" pitchFamily="49" charset="0"/>
                <a:cs typeface="Courier New" pitchFamily="49" charset="0"/>
              </a:rPr>
              <a:t>		s = entry;</a:t>
            </a:r>
          </a:p>
          <a:p>
            <a:pPr marL="457200" lvl="1" indent="0">
              <a:buNone/>
              <a:defRPr/>
            </a:pPr>
            <a:r>
              <a:rPr lang="en-CA" sz="2400" dirty="0">
                <a:latin typeface="Courier New" pitchFamily="49" charset="0"/>
                <a:cs typeface="Courier New" pitchFamily="49" charset="0"/>
              </a:rPr>
              <a:t>	}</a:t>
            </a:r>
          </a:p>
          <a:p>
            <a:pPr marL="457200" lvl="1" indent="0">
              <a:buNone/>
              <a:defRPr/>
            </a:pPr>
            <a:r>
              <a:rPr lang="en-CA" sz="2400" dirty="0">
                <a:latin typeface="Courier New" pitchFamily="49" charset="0"/>
                <a:cs typeface="Courier New" pitchFamily="49" charset="0"/>
              </a:rPr>
              <a:t>END</a:t>
            </a:r>
          </a:p>
          <a:p>
            <a:pPr>
              <a:defRPr/>
            </a:pPr>
            <a:endParaRPr lang="en-CA" sz="2800" dirty="0"/>
          </a:p>
          <a:p>
            <a:pPr marL="0" indent="0">
              <a:buNone/>
              <a:defRPr/>
            </a:pPr>
            <a:r>
              <a:rPr lang="en-CA" sz="2800" b="1" dirty="0"/>
              <a:t>Example 7.3: </a:t>
            </a:r>
            <a:r>
              <a:rPr lang="en-CA" sz="2800" dirty="0"/>
              <a:t>LZW decompression for string “ABABBABCABABBA”.  </a:t>
            </a:r>
          </a:p>
          <a:p>
            <a:pPr marL="0" indent="0">
              <a:buNone/>
              <a:defRPr/>
            </a:pPr>
            <a:r>
              <a:rPr lang="en-CA" sz="2800" dirty="0"/>
              <a:t>	Input codes to the decoder are 1 2 4 5 2 3 4 6 1.</a:t>
            </a:r>
          </a:p>
          <a:p>
            <a:pPr marL="0" indent="0">
              <a:buNone/>
              <a:defRPr/>
            </a:pPr>
            <a:r>
              <a:rPr lang="en-CA" sz="2800" dirty="0"/>
              <a:t>	The initial string table is identical to what is used by the encoder.</a:t>
            </a:r>
            <a:endParaRPr lang="en-CA" b="1"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E9F06-2DDF-083F-8FE6-D91FFF1F7ED1}"/>
              </a:ext>
            </a:extLst>
          </p:cNvPr>
          <p:cNvSpPr>
            <a:spLocks noGrp="1"/>
          </p:cNvSpPr>
          <p:nvPr>
            <p:ph idx="1"/>
          </p:nvPr>
        </p:nvSpPr>
        <p:spPr>
          <a:xfrm>
            <a:off x="1981200" y="5572126"/>
            <a:ext cx="8229600" cy="428625"/>
          </a:xfrm>
        </p:spPr>
        <p:txBody>
          <a:bodyPr rtlCol="0">
            <a:normAutofit fontScale="92500"/>
          </a:bodyPr>
          <a:lstStyle/>
          <a:p>
            <a:pPr>
              <a:defRPr/>
            </a:pPr>
            <a:r>
              <a:rPr lang="en-CA" dirty="0"/>
              <a:t>Apparently, the output string is “ABABBABCABABBA”, a truly lossless result!</a:t>
            </a:r>
            <a:endParaRPr lang="en-CA" b="1" dirty="0"/>
          </a:p>
        </p:txBody>
      </p:sp>
      <p:graphicFrame>
        <p:nvGraphicFramePr>
          <p:cNvPr id="7" name="Table 6">
            <a:extLst>
              <a:ext uri="{FF2B5EF4-FFF2-40B4-BE49-F238E27FC236}">
                <a16:creationId xmlns:a16="http://schemas.microsoft.com/office/drawing/2014/main" id="{7F35A314-A630-09AE-61FD-CCB4F7235726}"/>
              </a:ext>
            </a:extLst>
          </p:cNvPr>
          <p:cNvGraphicFramePr>
            <a:graphicFrameLocks noGrp="1"/>
          </p:cNvGraphicFramePr>
          <p:nvPr/>
        </p:nvGraphicFramePr>
        <p:xfrm>
          <a:off x="3881439" y="1214439"/>
          <a:ext cx="4429125" cy="3932508"/>
        </p:xfrm>
        <a:graphic>
          <a:graphicData uri="http://schemas.openxmlformats.org/drawingml/2006/table">
            <a:tbl>
              <a:tblPr firstRow="1" bandRow="1">
                <a:tableStyleId>{2D5ABB26-0587-4C30-8999-92F81FD0307C}</a:tableStyleId>
              </a:tblPr>
              <a:tblGrid>
                <a:gridCol w="642938">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1300162">
                  <a:extLst>
                    <a:ext uri="{9D8B030D-6E8A-4147-A177-3AD203B41FA5}">
                      <a16:colId xmlns:a16="http://schemas.microsoft.com/office/drawing/2014/main" val="20002"/>
                    </a:ext>
                  </a:extLst>
                </a:gridCol>
                <a:gridCol w="885825">
                  <a:extLst>
                    <a:ext uri="{9D8B030D-6E8A-4147-A177-3AD203B41FA5}">
                      <a16:colId xmlns:a16="http://schemas.microsoft.com/office/drawing/2014/main" val="20003"/>
                    </a:ext>
                  </a:extLst>
                </a:gridCol>
                <a:gridCol w="885825">
                  <a:extLst>
                    <a:ext uri="{9D8B030D-6E8A-4147-A177-3AD203B41FA5}">
                      <a16:colId xmlns:a16="http://schemas.microsoft.com/office/drawing/2014/main" val="20004"/>
                    </a:ext>
                  </a:extLst>
                </a:gridCol>
              </a:tblGrid>
              <a:tr h="370903">
                <a:tc>
                  <a:txBody>
                    <a:bodyPr/>
                    <a:lstStyle/>
                    <a:p>
                      <a:pPr algn="r"/>
                      <a:r>
                        <a:rPr lang="en-CA" sz="1600" dirty="0"/>
                        <a:t>S</a:t>
                      </a:r>
                    </a:p>
                  </a:txBody>
                  <a:tcPr marL="91439" marR="91439" marT="45728" marB="45728">
                    <a:lnB w="12700" cap="flat" cmpd="sng" algn="ctr">
                      <a:solidFill>
                        <a:schemeClr val="tx1"/>
                      </a:solidFill>
                      <a:prstDash val="solid"/>
                      <a:round/>
                      <a:headEnd type="none" w="med" len="med"/>
                      <a:tailEnd type="none" w="med" len="med"/>
                    </a:lnB>
                  </a:tcPr>
                </a:tc>
                <a:tc>
                  <a:txBody>
                    <a:bodyPr/>
                    <a:lstStyle/>
                    <a:p>
                      <a:pPr algn="r"/>
                      <a:r>
                        <a:rPr lang="en-CA" sz="1600" dirty="0"/>
                        <a:t>K</a:t>
                      </a:r>
                    </a:p>
                  </a:txBody>
                  <a:tcPr marL="91439" marR="91439" marT="45728" marB="45728">
                    <a:lnB w="12700" cap="flat" cmpd="sng" algn="ctr">
                      <a:solidFill>
                        <a:schemeClr val="tx1"/>
                      </a:solidFill>
                      <a:prstDash val="solid"/>
                      <a:round/>
                      <a:headEnd type="none" w="med" len="med"/>
                      <a:tailEnd type="none" w="med" len="med"/>
                    </a:lnB>
                  </a:tcPr>
                </a:tc>
                <a:tc>
                  <a:txBody>
                    <a:bodyPr/>
                    <a:lstStyle/>
                    <a:p>
                      <a:pPr algn="r"/>
                      <a:r>
                        <a:rPr lang="en-CA" sz="1600" dirty="0"/>
                        <a:t>Entry/output</a:t>
                      </a:r>
                    </a:p>
                  </a:txBody>
                  <a:tcPr marL="91439" marR="91439" marT="45728" marB="45728">
                    <a:lnB w="12700" cap="flat" cmpd="sng" algn="ctr">
                      <a:solidFill>
                        <a:schemeClr val="tx1"/>
                      </a:solidFill>
                      <a:prstDash val="solid"/>
                      <a:round/>
                      <a:headEnd type="none" w="med" len="med"/>
                      <a:tailEnd type="none" w="med" len="med"/>
                    </a:lnB>
                  </a:tcPr>
                </a:tc>
                <a:tc>
                  <a:txBody>
                    <a:bodyPr/>
                    <a:lstStyle/>
                    <a:p>
                      <a:pPr algn="r"/>
                      <a:r>
                        <a:rPr lang="en-CA" sz="1600" dirty="0"/>
                        <a:t>Code</a:t>
                      </a:r>
                    </a:p>
                  </a:txBody>
                  <a:tcPr marL="91439" marR="91439" marT="45728" marB="45728">
                    <a:lnB w="12700" cap="flat" cmpd="sng" algn="ctr">
                      <a:solidFill>
                        <a:schemeClr val="tx1"/>
                      </a:solidFill>
                      <a:prstDash val="solid"/>
                      <a:round/>
                      <a:headEnd type="none" w="med" len="med"/>
                      <a:tailEnd type="none" w="med" len="med"/>
                    </a:lnB>
                  </a:tcPr>
                </a:tc>
                <a:tc>
                  <a:txBody>
                    <a:bodyPr/>
                    <a:lstStyle/>
                    <a:p>
                      <a:pPr algn="r"/>
                      <a:r>
                        <a:rPr lang="en-CA" sz="1600" dirty="0"/>
                        <a:t>String</a:t>
                      </a:r>
                    </a:p>
                  </a:txBody>
                  <a:tcPr marL="91439" marR="91439" marT="45728" marB="45728">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23100">
                <a:tc>
                  <a:txBody>
                    <a:bodyPr/>
                    <a:lstStyle/>
                    <a:p>
                      <a:pPr algn="r"/>
                      <a:endParaRPr lang="en-CA" sz="1600" dirty="0"/>
                    </a:p>
                  </a:txBody>
                  <a:tcPr marL="91439" marR="91439" marT="45728" marB="4572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CA" sz="1600" dirty="0"/>
                    </a:p>
                  </a:txBody>
                  <a:tcPr marL="91439" marR="91439" marT="45728" marB="4572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CA" sz="1600" dirty="0"/>
                    </a:p>
                  </a:txBody>
                  <a:tcPr marL="91439" marR="91439" marT="45728" marB="4572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CA" sz="1600" dirty="0"/>
                        <a:t>1</a:t>
                      </a:r>
                    </a:p>
                    <a:p>
                      <a:pPr algn="r"/>
                      <a:r>
                        <a:rPr lang="en-CA" sz="1600" dirty="0"/>
                        <a:t>2</a:t>
                      </a:r>
                    </a:p>
                    <a:p>
                      <a:pPr algn="r"/>
                      <a:r>
                        <a:rPr lang="en-CA" sz="1600" dirty="0"/>
                        <a:t>3</a:t>
                      </a:r>
                    </a:p>
                  </a:txBody>
                  <a:tcPr marL="91439" marR="91439" marT="45728" marB="4572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CA" sz="1600" dirty="0"/>
                        <a:t>A</a:t>
                      </a:r>
                    </a:p>
                    <a:p>
                      <a:pPr algn="r"/>
                      <a:r>
                        <a:rPr lang="en-CA" sz="1600" dirty="0"/>
                        <a:t>B</a:t>
                      </a:r>
                    </a:p>
                    <a:p>
                      <a:pPr algn="r"/>
                      <a:r>
                        <a:rPr lang="en-CA" sz="1600" dirty="0"/>
                        <a:t>C</a:t>
                      </a:r>
                    </a:p>
                  </a:txBody>
                  <a:tcPr marL="91439" marR="91439" marT="45728" marB="45728">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30272">
                <a:tc>
                  <a:txBody>
                    <a:bodyPr/>
                    <a:lstStyle/>
                    <a:p>
                      <a:pPr algn="r"/>
                      <a:r>
                        <a:rPr lang="en-CA" sz="1600" dirty="0"/>
                        <a:t>NIL</a:t>
                      </a:r>
                    </a:p>
                    <a:p>
                      <a:pPr algn="r"/>
                      <a:r>
                        <a:rPr lang="en-CA" sz="1600" dirty="0"/>
                        <a:t>A</a:t>
                      </a:r>
                    </a:p>
                    <a:p>
                      <a:pPr algn="r"/>
                      <a:r>
                        <a:rPr lang="en-CA" sz="1600" dirty="0"/>
                        <a:t>B</a:t>
                      </a:r>
                    </a:p>
                    <a:p>
                      <a:pPr algn="r"/>
                      <a:r>
                        <a:rPr lang="en-CA" sz="1600" dirty="0"/>
                        <a:t>AB</a:t>
                      </a:r>
                    </a:p>
                    <a:p>
                      <a:pPr algn="r"/>
                      <a:r>
                        <a:rPr lang="en-CA" sz="1600" dirty="0"/>
                        <a:t>BA</a:t>
                      </a:r>
                    </a:p>
                    <a:p>
                      <a:pPr algn="r"/>
                      <a:r>
                        <a:rPr lang="en-CA" sz="1600" dirty="0"/>
                        <a:t>B</a:t>
                      </a:r>
                    </a:p>
                    <a:p>
                      <a:pPr algn="r"/>
                      <a:r>
                        <a:rPr lang="en-CA" sz="1600" dirty="0"/>
                        <a:t>C</a:t>
                      </a:r>
                    </a:p>
                    <a:p>
                      <a:pPr algn="r"/>
                      <a:r>
                        <a:rPr lang="en-CA" sz="1600" dirty="0"/>
                        <a:t>AB</a:t>
                      </a:r>
                    </a:p>
                    <a:p>
                      <a:pPr algn="r"/>
                      <a:r>
                        <a:rPr lang="en-CA" sz="1600" dirty="0"/>
                        <a:t>ABB</a:t>
                      </a:r>
                    </a:p>
                    <a:p>
                      <a:pPr algn="r"/>
                      <a:r>
                        <a:rPr lang="en-CA" sz="1600" dirty="0"/>
                        <a:t>A</a:t>
                      </a:r>
                    </a:p>
                  </a:txBody>
                  <a:tcPr marL="91439" marR="91439" marT="45728" marB="45728">
                    <a:lnT w="12700" cap="flat" cmpd="sng" algn="ctr">
                      <a:solidFill>
                        <a:schemeClr val="tx1"/>
                      </a:solidFill>
                      <a:prstDash val="solid"/>
                      <a:round/>
                      <a:headEnd type="none" w="med" len="med"/>
                      <a:tailEnd type="none" w="med" len="med"/>
                    </a:lnT>
                  </a:tcPr>
                </a:tc>
                <a:tc>
                  <a:txBody>
                    <a:bodyPr/>
                    <a:lstStyle/>
                    <a:p>
                      <a:pPr algn="r"/>
                      <a:r>
                        <a:rPr lang="en-CA" sz="1600" dirty="0"/>
                        <a:t>1</a:t>
                      </a:r>
                    </a:p>
                    <a:p>
                      <a:pPr algn="r"/>
                      <a:r>
                        <a:rPr lang="en-CA" sz="1600" dirty="0"/>
                        <a:t>2</a:t>
                      </a:r>
                    </a:p>
                    <a:p>
                      <a:pPr algn="r"/>
                      <a:r>
                        <a:rPr lang="en-CA" sz="1600" dirty="0"/>
                        <a:t>4</a:t>
                      </a:r>
                    </a:p>
                    <a:p>
                      <a:pPr algn="r"/>
                      <a:r>
                        <a:rPr lang="en-CA" sz="1600" dirty="0"/>
                        <a:t>5</a:t>
                      </a:r>
                    </a:p>
                    <a:p>
                      <a:pPr algn="r"/>
                      <a:r>
                        <a:rPr lang="en-CA" sz="1600" dirty="0"/>
                        <a:t>2</a:t>
                      </a:r>
                    </a:p>
                    <a:p>
                      <a:pPr algn="r"/>
                      <a:r>
                        <a:rPr lang="en-CA" sz="1600" dirty="0"/>
                        <a:t>3</a:t>
                      </a:r>
                    </a:p>
                    <a:p>
                      <a:pPr algn="r"/>
                      <a:r>
                        <a:rPr lang="en-CA" sz="1600" dirty="0"/>
                        <a:t>4</a:t>
                      </a:r>
                    </a:p>
                    <a:p>
                      <a:pPr algn="r"/>
                      <a:r>
                        <a:rPr lang="en-CA" sz="1600" dirty="0"/>
                        <a:t>6</a:t>
                      </a:r>
                    </a:p>
                    <a:p>
                      <a:pPr algn="r"/>
                      <a:r>
                        <a:rPr lang="en-CA" sz="1600" dirty="0"/>
                        <a:t>1</a:t>
                      </a:r>
                    </a:p>
                    <a:p>
                      <a:pPr algn="r"/>
                      <a:r>
                        <a:rPr lang="en-CA" sz="1600" dirty="0"/>
                        <a:t>EOF</a:t>
                      </a:r>
                    </a:p>
                  </a:txBody>
                  <a:tcPr marL="91439" marR="91439" marT="45728" marB="45728">
                    <a:lnT w="12700" cap="flat" cmpd="sng" algn="ctr">
                      <a:solidFill>
                        <a:schemeClr val="tx1"/>
                      </a:solidFill>
                      <a:prstDash val="solid"/>
                      <a:round/>
                      <a:headEnd type="none" w="med" len="med"/>
                      <a:tailEnd type="none" w="med" len="med"/>
                    </a:lnT>
                  </a:tcPr>
                </a:tc>
                <a:tc>
                  <a:txBody>
                    <a:bodyPr/>
                    <a:lstStyle/>
                    <a:p>
                      <a:pPr algn="r"/>
                      <a:r>
                        <a:rPr lang="en-CA" sz="1600" dirty="0"/>
                        <a:t>A</a:t>
                      </a:r>
                    </a:p>
                    <a:p>
                      <a:pPr algn="r"/>
                      <a:r>
                        <a:rPr lang="en-CA" sz="1600" dirty="0"/>
                        <a:t>B</a:t>
                      </a:r>
                    </a:p>
                    <a:p>
                      <a:pPr algn="r"/>
                      <a:r>
                        <a:rPr lang="en-CA" sz="1600" dirty="0"/>
                        <a:t>AB</a:t>
                      </a:r>
                    </a:p>
                    <a:p>
                      <a:pPr algn="r"/>
                      <a:r>
                        <a:rPr lang="en-CA" sz="1600" dirty="0"/>
                        <a:t>BA</a:t>
                      </a:r>
                    </a:p>
                    <a:p>
                      <a:pPr algn="r"/>
                      <a:r>
                        <a:rPr lang="en-CA" sz="1600" dirty="0"/>
                        <a:t>B</a:t>
                      </a:r>
                    </a:p>
                    <a:p>
                      <a:pPr algn="r"/>
                      <a:r>
                        <a:rPr lang="en-CA" sz="1600" dirty="0"/>
                        <a:t>C</a:t>
                      </a:r>
                    </a:p>
                    <a:p>
                      <a:pPr algn="r"/>
                      <a:r>
                        <a:rPr lang="en-CA" sz="1600" dirty="0"/>
                        <a:t>AB</a:t>
                      </a:r>
                    </a:p>
                    <a:p>
                      <a:pPr algn="r"/>
                      <a:r>
                        <a:rPr lang="en-CA" sz="1600" dirty="0"/>
                        <a:t>ABB</a:t>
                      </a:r>
                    </a:p>
                    <a:p>
                      <a:pPr algn="r"/>
                      <a:r>
                        <a:rPr lang="en-CA" sz="1600" dirty="0"/>
                        <a:t>A</a:t>
                      </a:r>
                    </a:p>
                  </a:txBody>
                  <a:tcPr marL="91439" marR="91439" marT="45728" marB="45728">
                    <a:lnT w="12700" cap="flat" cmpd="sng" algn="ctr">
                      <a:solidFill>
                        <a:schemeClr val="tx1"/>
                      </a:solidFill>
                      <a:prstDash val="solid"/>
                      <a:round/>
                      <a:headEnd type="none" w="med" len="med"/>
                      <a:tailEnd type="none" w="med" len="med"/>
                    </a:lnT>
                  </a:tcPr>
                </a:tc>
                <a:tc>
                  <a:txBody>
                    <a:bodyPr/>
                    <a:lstStyle/>
                    <a:p>
                      <a:pPr algn="r"/>
                      <a:endParaRPr lang="en-CA" sz="1600" dirty="0"/>
                    </a:p>
                    <a:p>
                      <a:pPr algn="r"/>
                      <a:r>
                        <a:rPr lang="en-CA" sz="1600" dirty="0"/>
                        <a:t>4</a:t>
                      </a:r>
                    </a:p>
                    <a:p>
                      <a:pPr algn="r"/>
                      <a:r>
                        <a:rPr lang="en-CA" sz="1600" dirty="0"/>
                        <a:t>5</a:t>
                      </a:r>
                    </a:p>
                    <a:p>
                      <a:pPr algn="r"/>
                      <a:r>
                        <a:rPr lang="en-CA" sz="1600" dirty="0"/>
                        <a:t>6</a:t>
                      </a:r>
                    </a:p>
                    <a:p>
                      <a:pPr algn="r"/>
                      <a:r>
                        <a:rPr lang="en-CA" sz="1600" dirty="0"/>
                        <a:t>7</a:t>
                      </a:r>
                    </a:p>
                    <a:p>
                      <a:pPr algn="r"/>
                      <a:r>
                        <a:rPr lang="en-CA" sz="1600" dirty="0"/>
                        <a:t>8</a:t>
                      </a:r>
                    </a:p>
                    <a:p>
                      <a:pPr algn="r"/>
                      <a:r>
                        <a:rPr lang="en-CA" sz="1600" dirty="0"/>
                        <a:t>9</a:t>
                      </a:r>
                    </a:p>
                    <a:p>
                      <a:pPr algn="r"/>
                      <a:r>
                        <a:rPr lang="en-CA" sz="1600" dirty="0"/>
                        <a:t>10</a:t>
                      </a:r>
                    </a:p>
                    <a:p>
                      <a:pPr algn="r"/>
                      <a:r>
                        <a:rPr lang="en-CA" sz="1600" dirty="0"/>
                        <a:t>11</a:t>
                      </a:r>
                    </a:p>
                  </a:txBody>
                  <a:tcPr marL="91439" marR="91439" marT="45728" marB="45728">
                    <a:lnT w="12700" cap="flat" cmpd="sng" algn="ctr">
                      <a:solidFill>
                        <a:schemeClr val="tx1"/>
                      </a:solidFill>
                      <a:prstDash val="solid"/>
                      <a:round/>
                      <a:headEnd type="none" w="med" len="med"/>
                      <a:tailEnd type="none" w="med" len="med"/>
                    </a:lnT>
                  </a:tcPr>
                </a:tc>
                <a:tc>
                  <a:txBody>
                    <a:bodyPr/>
                    <a:lstStyle/>
                    <a:p>
                      <a:pPr algn="r"/>
                      <a:endParaRPr lang="en-CA" sz="1600" dirty="0"/>
                    </a:p>
                    <a:p>
                      <a:pPr algn="r"/>
                      <a:r>
                        <a:rPr lang="en-CA" sz="1600" dirty="0"/>
                        <a:t>AB</a:t>
                      </a:r>
                    </a:p>
                    <a:p>
                      <a:pPr algn="r"/>
                      <a:r>
                        <a:rPr lang="en-CA" sz="1600" dirty="0"/>
                        <a:t>BA</a:t>
                      </a:r>
                    </a:p>
                    <a:p>
                      <a:pPr algn="r"/>
                      <a:r>
                        <a:rPr lang="en-CA" sz="1600" dirty="0"/>
                        <a:t>ABB</a:t>
                      </a:r>
                    </a:p>
                    <a:p>
                      <a:pPr algn="r"/>
                      <a:r>
                        <a:rPr lang="en-CA" sz="1600" dirty="0"/>
                        <a:t>BAB</a:t>
                      </a:r>
                    </a:p>
                    <a:p>
                      <a:pPr algn="r"/>
                      <a:r>
                        <a:rPr lang="en-CA" sz="1600" dirty="0"/>
                        <a:t>BC</a:t>
                      </a:r>
                    </a:p>
                    <a:p>
                      <a:pPr algn="r"/>
                      <a:r>
                        <a:rPr lang="en-CA" sz="1600" dirty="0"/>
                        <a:t>CA</a:t>
                      </a:r>
                    </a:p>
                    <a:p>
                      <a:pPr algn="r"/>
                      <a:r>
                        <a:rPr lang="en-CA" sz="1600" dirty="0"/>
                        <a:t>ABA</a:t>
                      </a:r>
                    </a:p>
                    <a:p>
                      <a:pPr algn="r"/>
                      <a:r>
                        <a:rPr lang="en-CA" sz="1600" dirty="0"/>
                        <a:t>ABBA</a:t>
                      </a:r>
                    </a:p>
                  </a:txBody>
                  <a:tcPr marL="91439" marR="91439" marT="45728" marB="45728">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2"/>
                  </a:ext>
                </a:extLst>
              </a:tr>
            </a:tbl>
          </a:graphicData>
        </a:graphic>
      </p:graphicFrame>
      <p:sp>
        <p:nvSpPr>
          <p:cNvPr id="35863" name="Content Placeholder 2">
            <a:extLst>
              <a:ext uri="{FF2B5EF4-FFF2-40B4-BE49-F238E27FC236}">
                <a16:creationId xmlns:a16="http://schemas.microsoft.com/office/drawing/2014/main" id="{AF27BB70-4CCA-0473-4E81-08BA49003D9B}"/>
              </a:ext>
            </a:extLst>
          </p:cNvPr>
          <p:cNvSpPr txBox="1">
            <a:spLocks/>
          </p:cNvSpPr>
          <p:nvPr/>
        </p:nvSpPr>
        <p:spPr bwMode="auto">
          <a:xfrm>
            <a:off x="1952625" y="714376"/>
            <a:ext cx="82296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spcBef>
                <a:spcPct val="20000"/>
              </a:spcBef>
            </a:pPr>
            <a:r>
              <a:rPr lang="en-CA" altLang="en-US">
                <a:latin typeface="Calibri" panose="020F0502020204030204" pitchFamily="34" charset="0"/>
              </a:rPr>
              <a:t>The LZW decompression algorithm then works as follows:</a:t>
            </a:r>
            <a:endParaRPr lang="en-CA" altLang="en-US" sz="3200" b="1">
              <a:latin typeface="Calibri" panose="020F0502020204030204"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54B7A5-EB7B-1813-9D66-213594B0274E}"/>
              </a:ext>
            </a:extLst>
          </p:cNvPr>
          <p:cNvSpPr>
            <a:spLocks noGrp="1"/>
          </p:cNvSpPr>
          <p:nvPr>
            <p:ph idx="1"/>
          </p:nvPr>
        </p:nvSpPr>
        <p:spPr>
          <a:xfrm>
            <a:off x="1981200" y="642938"/>
            <a:ext cx="8229600" cy="5357812"/>
          </a:xfrm>
        </p:spPr>
        <p:txBody>
          <a:bodyPr rtlCol="0">
            <a:normAutofit fontScale="40000" lnSpcReduction="20000"/>
          </a:bodyPr>
          <a:lstStyle/>
          <a:p>
            <a:pPr>
              <a:defRPr/>
            </a:pPr>
            <a:r>
              <a:rPr lang="en-CA" sz="3800" b="1" dirty="0"/>
              <a:t>ALGORITHM 7.4 LZW Decompression (modified)</a:t>
            </a:r>
          </a:p>
          <a:p>
            <a:pPr>
              <a:defRPr/>
            </a:pPr>
            <a:endParaRPr lang="en-CA" sz="2600" b="1" dirty="0"/>
          </a:p>
          <a:p>
            <a:pPr marL="0" indent="0">
              <a:buNone/>
              <a:defRPr/>
            </a:pPr>
            <a:r>
              <a:rPr lang="en-CA" sz="4000" dirty="0">
                <a:latin typeface="Courier New" pitchFamily="49" charset="0"/>
                <a:cs typeface="Courier New" pitchFamily="49" charset="0"/>
              </a:rPr>
              <a:t>BEGIN</a:t>
            </a:r>
          </a:p>
          <a:p>
            <a:pPr marL="457200" lvl="1" indent="0">
              <a:buNone/>
              <a:defRPr/>
            </a:pPr>
            <a:r>
              <a:rPr lang="en-CA" sz="3000" dirty="0">
                <a:latin typeface="Courier New" pitchFamily="49" charset="0"/>
                <a:cs typeface="Courier New" pitchFamily="49" charset="0"/>
              </a:rPr>
              <a:t>s = NIL;</a:t>
            </a:r>
          </a:p>
          <a:p>
            <a:pPr marL="457200" lvl="1" indent="0">
              <a:buNone/>
              <a:defRPr/>
            </a:pPr>
            <a:r>
              <a:rPr lang="en-CA" sz="3000" dirty="0">
                <a:latin typeface="Courier New" pitchFamily="49" charset="0"/>
                <a:cs typeface="Courier New" pitchFamily="49" charset="0"/>
              </a:rPr>
              <a:t>while not EOF</a:t>
            </a:r>
          </a:p>
          <a:p>
            <a:pPr marL="457200" lvl="1" indent="0">
              <a:buNone/>
              <a:defRPr/>
            </a:pPr>
            <a:r>
              <a:rPr lang="en-CA" sz="3000" dirty="0">
                <a:latin typeface="Courier New" pitchFamily="49" charset="0"/>
                <a:cs typeface="Courier New" pitchFamily="49" charset="0"/>
              </a:rPr>
              <a:t>{</a:t>
            </a:r>
          </a:p>
          <a:p>
            <a:pPr marL="457200" lvl="1" indent="0">
              <a:buNone/>
              <a:defRPr/>
            </a:pPr>
            <a:r>
              <a:rPr lang="en-CA" sz="3000" dirty="0">
                <a:latin typeface="Courier New" pitchFamily="49" charset="0"/>
                <a:cs typeface="Courier New" pitchFamily="49" charset="0"/>
              </a:rPr>
              <a:t>	k = next input code;</a:t>
            </a:r>
          </a:p>
          <a:p>
            <a:pPr marL="457200" lvl="1" indent="0">
              <a:buNone/>
              <a:defRPr/>
            </a:pPr>
            <a:r>
              <a:rPr lang="en-CA" sz="3000" dirty="0">
                <a:latin typeface="Courier New" pitchFamily="49" charset="0"/>
                <a:cs typeface="Courier New" pitchFamily="49" charset="0"/>
              </a:rPr>
              <a:t>	entry = dictionary entry for k;</a:t>
            </a:r>
          </a:p>
          <a:p>
            <a:pPr marL="457200" lvl="1" indent="0">
              <a:buNone/>
              <a:defRPr/>
            </a:pPr>
            <a:r>
              <a:rPr lang="en-CA" sz="3000" dirty="0">
                <a:latin typeface="Courier New" pitchFamily="49" charset="0"/>
                <a:cs typeface="Courier New" pitchFamily="49" charset="0"/>
              </a:rPr>
              <a:t>	</a:t>
            </a:r>
          </a:p>
          <a:p>
            <a:pPr marL="457200" lvl="1" indent="0">
              <a:buNone/>
              <a:defRPr/>
            </a:pPr>
            <a:r>
              <a:rPr lang="en-CA" sz="3000" dirty="0">
                <a:latin typeface="Courier New" pitchFamily="49" charset="0"/>
                <a:cs typeface="Courier New" pitchFamily="49" charset="0"/>
              </a:rPr>
              <a:t>	/* exception handler */</a:t>
            </a:r>
          </a:p>
          <a:p>
            <a:pPr marL="457200" lvl="1" indent="0">
              <a:buNone/>
              <a:defRPr/>
            </a:pPr>
            <a:r>
              <a:rPr lang="en-CA" sz="3000" dirty="0">
                <a:latin typeface="Courier New" pitchFamily="49" charset="0"/>
                <a:cs typeface="Courier New" pitchFamily="49" charset="0"/>
              </a:rPr>
              <a:t>	if (entry == NULL)</a:t>
            </a:r>
          </a:p>
          <a:p>
            <a:pPr marL="457200" lvl="1" indent="0">
              <a:buNone/>
              <a:defRPr/>
            </a:pPr>
            <a:r>
              <a:rPr lang="en-CA" sz="3000" dirty="0">
                <a:latin typeface="Courier New" pitchFamily="49" charset="0"/>
                <a:cs typeface="Courier New" pitchFamily="49" charset="0"/>
              </a:rPr>
              <a:t>		entry = s + s[0];</a:t>
            </a:r>
          </a:p>
          <a:p>
            <a:pPr marL="457200" lvl="1" indent="0">
              <a:buNone/>
              <a:defRPr/>
            </a:pPr>
            <a:r>
              <a:rPr lang="en-CA" sz="3000" dirty="0">
                <a:latin typeface="Courier New" pitchFamily="49" charset="0"/>
                <a:cs typeface="Courier New" pitchFamily="49" charset="0"/>
              </a:rPr>
              <a:t>	</a:t>
            </a:r>
          </a:p>
          <a:p>
            <a:pPr marL="457200" lvl="1" indent="0">
              <a:buNone/>
              <a:defRPr/>
            </a:pPr>
            <a:r>
              <a:rPr lang="en-CA" sz="3000" dirty="0">
                <a:latin typeface="Courier New" pitchFamily="49" charset="0"/>
                <a:cs typeface="Courier New" pitchFamily="49" charset="0"/>
              </a:rPr>
              <a:t>	output entry;</a:t>
            </a:r>
          </a:p>
          <a:p>
            <a:pPr marL="457200" lvl="1" indent="0">
              <a:buNone/>
              <a:defRPr/>
            </a:pPr>
            <a:r>
              <a:rPr lang="en-CA" sz="3000" dirty="0">
                <a:latin typeface="Courier New" pitchFamily="49" charset="0"/>
                <a:cs typeface="Courier New" pitchFamily="49" charset="0"/>
              </a:rPr>
              <a:t>	if (s != NIL)</a:t>
            </a:r>
          </a:p>
          <a:p>
            <a:pPr marL="457200" lvl="1" indent="0">
              <a:buNone/>
              <a:defRPr/>
            </a:pPr>
            <a:r>
              <a:rPr lang="en-CA" sz="3000" dirty="0">
                <a:latin typeface="Courier New" pitchFamily="49" charset="0"/>
                <a:cs typeface="Courier New" pitchFamily="49" charset="0"/>
              </a:rPr>
              <a:t>		add string s + entry[0] to dictionary with a new code;</a:t>
            </a:r>
          </a:p>
          <a:p>
            <a:pPr marL="457200" lvl="1" indent="0">
              <a:buNone/>
              <a:defRPr/>
            </a:pPr>
            <a:r>
              <a:rPr lang="en-CA" sz="3000" dirty="0">
                <a:latin typeface="Courier New" pitchFamily="49" charset="0"/>
                <a:cs typeface="Courier New" pitchFamily="49" charset="0"/>
              </a:rPr>
              <a:t>	s = entry;</a:t>
            </a:r>
          </a:p>
          <a:p>
            <a:pPr marL="457200" lvl="1" indent="0">
              <a:buNone/>
              <a:defRPr/>
            </a:pPr>
            <a:r>
              <a:rPr lang="en-CA" sz="3000" dirty="0">
                <a:latin typeface="Courier New" pitchFamily="49" charset="0"/>
                <a:cs typeface="Courier New" pitchFamily="49" charset="0"/>
              </a:rPr>
              <a:t>}</a:t>
            </a:r>
          </a:p>
          <a:p>
            <a:pPr marL="0" indent="0">
              <a:buNone/>
              <a:defRPr/>
            </a:pPr>
            <a:r>
              <a:rPr lang="en-CA" sz="4000" dirty="0">
                <a:latin typeface="Courier New" pitchFamily="49" charset="0"/>
                <a:cs typeface="Courier New" pitchFamily="49" charset="0"/>
              </a:rPr>
              <a:t>END</a:t>
            </a:r>
            <a:endParaRPr lang="en-CA" sz="2600" b="1" dirty="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932DE035-6E44-E92D-B6F3-8A0729789F88}"/>
              </a:ext>
            </a:extLst>
          </p:cNvPr>
          <p:cNvSpPr>
            <a:spLocks noGrp="1"/>
          </p:cNvSpPr>
          <p:nvPr>
            <p:ph type="title"/>
          </p:nvPr>
        </p:nvSpPr>
        <p:spPr>
          <a:xfrm>
            <a:off x="1981200" y="571501"/>
            <a:ext cx="8229600" cy="1000125"/>
          </a:xfrm>
        </p:spPr>
        <p:txBody>
          <a:bodyPr/>
          <a:lstStyle/>
          <a:p>
            <a:pPr eaLnBrk="1" hangingPunct="1"/>
            <a:r>
              <a:rPr lang="en-CA" altLang="en-US"/>
              <a:t>LZW Coding </a:t>
            </a:r>
            <a:r>
              <a:rPr lang="en-CA" altLang="en-US" b="0"/>
              <a:t>(cont’d)</a:t>
            </a:r>
          </a:p>
        </p:txBody>
      </p:sp>
      <p:sp>
        <p:nvSpPr>
          <p:cNvPr id="3" name="Content Placeholder 2">
            <a:extLst>
              <a:ext uri="{FF2B5EF4-FFF2-40B4-BE49-F238E27FC236}">
                <a16:creationId xmlns:a16="http://schemas.microsoft.com/office/drawing/2014/main" id="{2B103D56-C062-0631-47EF-39C74C410B82}"/>
              </a:ext>
            </a:extLst>
          </p:cNvPr>
          <p:cNvSpPr>
            <a:spLocks noGrp="1"/>
          </p:cNvSpPr>
          <p:nvPr>
            <p:ph idx="1"/>
          </p:nvPr>
        </p:nvSpPr>
        <p:spPr/>
        <p:txBody>
          <a:bodyPr rtlCol="0">
            <a:normAutofit/>
          </a:bodyPr>
          <a:lstStyle/>
          <a:p>
            <a:pPr>
              <a:defRPr/>
            </a:pPr>
            <a:r>
              <a:rPr lang="en-CA" dirty="0"/>
              <a:t>In real applications, the code length </a:t>
            </a:r>
            <a:r>
              <a:rPr lang="en-CA" i="1" dirty="0">
                <a:latin typeface="Times New Roman" pitchFamily="18" charset="0"/>
                <a:cs typeface="Times New Roman" pitchFamily="18" charset="0"/>
              </a:rPr>
              <a:t>l</a:t>
            </a:r>
            <a:r>
              <a:rPr lang="en-CA" dirty="0"/>
              <a:t> is kept in the range of [</a:t>
            </a:r>
            <a:r>
              <a:rPr lang="en-CA" i="1" dirty="0">
                <a:latin typeface="Times New Roman" pitchFamily="18" charset="0"/>
                <a:cs typeface="Times New Roman" pitchFamily="18" charset="0"/>
              </a:rPr>
              <a:t>l</a:t>
            </a:r>
            <a:r>
              <a:rPr lang="en-CA" i="1" baseline="-25000" dirty="0">
                <a:latin typeface="Times New Roman" pitchFamily="18" charset="0"/>
                <a:cs typeface="Times New Roman" pitchFamily="18" charset="0"/>
              </a:rPr>
              <a:t>0</a:t>
            </a:r>
            <a:r>
              <a:rPr lang="en-CA" dirty="0"/>
              <a:t>, </a:t>
            </a:r>
            <a:r>
              <a:rPr lang="en-CA" i="1" dirty="0" err="1">
                <a:latin typeface="Times New Roman" pitchFamily="18" charset="0"/>
                <a:cs typeface="Times New Roman" pitchFamily="18" charset="0"/>
              </a:rPr>
              <a:t>l</a:t>
            </a:r>
            <a:r>
              <a:rPr lang="en-CA" i="1" baseline="-25000" dirty="0" err="1">
                <a:latin typeface="Times New Roman" pitchFamily="18" charset="0"/>
                <a:cs typeface="Times New Roman" pitchFamily="18" charset="0"/>
              </a:rPr>
              <a:t>max</a:t>
            </a:r>
            <a:r>
              <a:rPr lang="en-CA" dirty="0"/>
              <a:t>]. The dictionary initially has a size of </a:t>
            </a:r>
            <a:r>
              <a:rPr lang="en-CA" i="1" dirty="0">
                <a:latin typeface="Times New Roman" pitchFamily="18" charset="0"/>
                <a:cs typeface="Times New Roman" pitchFamily="18" charset="0"/>
              </a:rPr>
              <a:t>2</a:t>
            </a:r>
            <a:r>
              <a:rPr lang="en-CA" i="1" baseline="30000" dirty="0">
                <a:latin typeface="Times New Roman" pitchFamily="18" charset="0"/>
                <a:cs typeface="Times New Roman" pitchFamily="18" charset="0"/>
              </a:rPr>
              <a:t>l</a:t>
            </a:r>
            <a:r>
              <a:rPr lang="en-CA" baseline="30000" dirty="0"/>
              <a:t>0</a:t>
            </a:r>
            <a:r>
              <a:rPr lang="en-CA" dirty="0"/>
              <a:t>. When it is filled up, the code length will be increased by 1; this is allowed to repeat until </a:t>
            </a:r>
            <a:r>
              <a:rPr lang="en-CA" i="1" dirty="0">
                <a:latin typeface="Times New Roman" pitchFamily="18" charset="0"/>
                <a:cs typeface="Times New Roman" pitchFamily="18" charset="0"/>
              </a:rPr>
              <a:t>l</a:t>
            </a:r>
            <a:r>
              <a:rPr lang="en-CA" dirty="0"/>
              <a:t> = </a:t>
            </a:r>
            <a:r>
              <a:rPr lang="en-CA" i="1" dirty="0" err="1">
                <a:latin typeface="Times New Roman" pitchFamily="18" charset="0"/>
                <a:cs typeface="Times New Roman" pitchFamily="18" charset="0"/>
              </a:rPr>
              <a:t>l</a:t>
            </a:r>
            <a:r>
              <a:rPr lang="en-CA" i="1" baseline="-25000" dirty="0" err="1">
                <a:latin typeface="Times New Roman" pitchFamily="18" charset="0"/>
                <a:cs typeface="Times New Roman" pitchFamily="18" charset="0"/>
              </a:rPr>
              <a:t>max</a:t>
            </a:r>
            <a:r>
              <a:rPr lang="en-CA" dirty="0"/>
              <a:t>.</a:t>
            </a:r>
          </a:p>
          <a:p>
            <a:pPr>
              <a:defRPr/>
            </a:pPr>
            <a:endParaRPr lang="en-CA" dirty="0"/>
          </a:p>
          <a:p>
            <a:pPr>
              <a:defRPr/>
            </a:pPr>
            <a:r>
              <a:rPr lang="en-CA" dirty="0"/>
              <a:t>When </a:t>
            </a:r>
            <a:r>
              <a:rPr lang="en-CA" i="1" dirty="0" err="1">
                <a:latin typeface="Times New Roman" pitchFamily="18" charset="0"/>
                <a:cs typeface="Times New Roman" pitchFamily="18" charset="0"/>
              </a:rPr>
              <a:t>l</a:t>
            </a:r>
            <a:r>
              <a:rPr lang="en-CA" i="1" baseline="-25000" dirty="0" err="1">
                <a:latin typeface="Times New Roman" pitchFamily="18" charset="0"/>
                <a:cs typeface="Times New Roman" pitchFamily="18" charset="0"/>
              </a:rPr>
              <a:t>max</a:t>
            </a:r>
            <a:r>
              <a:rPr lang="en-CA" baseline="-25000" dirty="0"/>
              <a:t> </a:t>
            </a:r>
            <a:r>
              <a:rPr lang="en-CA" dirty="0"/>
              <a:t>is reached and the dictionary is filled up, it needs to be flushed (as in Unix </a:t>
            </a:r>
            <a:r>
              <a:rPr lang="en-CA" i="1" dirty="0"/>
              <a:t>compress</a:t>
            </a:r>
            <a:r>
              <a:rPr lang="en-CA" dirty="0"/>
              <a:t>, or to have the LRU (least recently used) entries removed.</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pic>
        <p:nvPicPr>
          <p:cNvPr id="5" name="Picture 4">
            <a:extLst>
              <a:ext uri="{FF2B5EF4-FFF2-40B4-BE49-F238E27FC236}">
                <a16:creationId xmlns:a16="http://schemas.microsoft.com/office/drawing/2014/main" id="{ECFA7744-D23A-842C-7785-CA418AD7E10F}"/>
              </a:ext>
            </a:extLst>
          </p:cNvPr>
          <p:cNvPicPr>
            <a:picLocks noChangeAspect="1"/>
          </p:cNvPicPr>
          <p:nvPr/>
        </p:nvPicPr>
        <p:blipFill>
          <a:blip r:embed="rId2"/>
          <a:stretch>
            <a:fillRect/>
          </a:stretch>
        </p:blipFill>
        <p:spPr>
          <a:xfrm>
            <a:off x="954287" y="1670591"/>
            <a:ext cx="3031362" cy="3871480"/>
          </a:xfrm>
          <a:prstGeom prst="rect">
            <a:avLst/>
          </a:prstGeom>
        </p:spPr>
      </p:pic>
      <p:sp>
        <p:nvSpPr>
          <p:cNvPr id="7" name="TextBox 6">
            <a:extLst>
              <a:ext uri="{FF2B5EF4-FFF2-40B4-BE49-F238E27FC236}">
                <a16:creationId xmlns:a16="http://schemas.microsoft.com/office/drawing/2014/main" id="{11D83A39-8077-4141-8FBF-159AF4CDB031}"/>
              </a:ext>
            </a:extLst>
          </p:cNvPr>
          <p:cNvSpPr txBox="1"/>
          <p:nvPr/>
        </p:nvSpPr>
        <p:spPr>
          <a:xfrm>
            <a:off x="954288" y="5878286"/>
            <a:ext cx="1427172" cy="369332"/>
          </a:xfrm>
          <a:prstGeom prst="rect">
            <a:avLst/>
          </a:prstGeom>
          <a:noFill/>
        </p:spPr>
        <p:txBody>
          <a:bodyPr wrap="square" rtlCol="0">
            <a:spAutoFit/>
          </a:bodyPr>
          <a:lstStyle/>
          <a:p>
            <a:r>
              <a:rPr lang="en-US" dirty="0"/>
              <a:t>Chapter 7</a:t>
            </a:r>
          </a:p>
        </p:txBody>
      </p:sp>
    </p:spTree>
    <p:extLst>
      <p:ext uri="{BB962C8B-B14F-4D97-AF65-F5344CB8AC3E}">
        <p14:creationId xmlns:p14="http://schemas.microsoft.com/office/powerpoint/2010/main" val="270691607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222410469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33015112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9029</TotalTime>
  <Words>2480</Words>
  <Application>Microsoft Office PowerPoint</Application>
  <PresentationFormat>Widescreen</PresentationFormat>
  <Paragraphs>521</Paragraphs>
  <Slides>48</Slides>
  <Notes>6</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60" baseType="lpstr">
      <vt:lpstr>Arial</vt:lpstr>
      <vt:lpstr>Calibri</vt:lpstr>
      <vt:lpstr>Courier New</vt:lpstr>
      <vt:lpstr>Google Sans</vt:lpstr>
      <vt:lpstr>Times New Roman</vt:lpstr>
      <vt:lpstr>Times-Italic</vt:lpstr>
      <vt:lpstr>Times-Roman</vt:lpstr>
      <vt:lpstr>Trebuchet MS</vt:lpstr>
      <vt:lpstr>Wingdings</vt:lpstr>
      <vt:lpstr>Wingdings 3</vt:lpstr>
      <vt:lpstr>Facet</vt:lpstr>
      <vt:lpstr>Equation</vt:lpstr>
      <vt:lpstr>Multimedia Computing</vt:lpstr>
      <vt:lpstr>Content</vt:lpstr>
      <vt:lpstr>Modulation</vt:lpstr>
      <vt:lpstr>Modulation</vt:lpstr>
      <vt:lpstr>PCM in general </vt:lpstr>
      <vt:lpstr>PCM in general </vt:lpstr>
      <vt:lpstr>Shows an an audio waveform, v(t) is sampled, quantized and encoded into 3-bit PCM system</vt:lpstr>
      <vt:lpstr>PCM in general </vt:lpstr>
      <vt:lpstr>PCM in general </vt:lpstr>
      <vt:lpstr>Compression technique</vt:lpstr>
      <vt:lpstr>Lossless compression technique</vt:lpstr>
      <vt:lpstr>7.2 Basics of Information Theory</vt:lpstr>
      <vt:lpstr>Distribution of Gray-Level Intensities</vt:lpstr>
      <vt:lpstr>7.3 Run-Length Coding</vt:lpstr>
      <vt:lpstr>LOSSLESS COMPRESSION</vt:lpstr>
      <vt:lpstr>Repetition Suppression</vt:lpstr>
      <vt:lpstr>Pattern Substitution</vt:lpstr>
      <vt:lpstr>Pattern Substitution</vt:lpstr>
      <vt:lpstr>7.4 Variable-Length Coding (VLC)</vt:lpstr>
      <vt:lpstr>PowerPoint Presentation</vt:lpstr>
      <vt:lpstr>PowerPoint Presentation</vt:lpstr>
      <vt:lpstr>PowerPoint Presentation</vt:lpstr>
      <vt:lpstr>PowerPoint Presentation</vt:lpstr>
      <vt:lpstr>* Huffman Coding</vt:lpstr>
      <vt:lpstr>** Huffman Coding outline</vt:lpstr>
      <vt:lpstr>Huffman Coding outline</vt:lpstr>
      <vt:lpstr>Huffman Coding</vt:lpstr>
      <vt:lpstr>PowerPoint Presentation</vt:lpstr>
      <vt:lpstr>Huffman Coding (cont’d)</vt:lpstr>
      <vt:lpstr>Properties of Huffman Coding</vt:lpstr>
      <vt:lpstr>Extended Huffman Coding</vt:lpstr>
      <vt:lpstr>Extended Huffman Coding (cont’d)</vt:lpstr>
      <vt:lpstr>Adaptive Huffman Coding</vt:lpstr>
      <vt:lpstr>Adaptive Huffman Coding (Cont’d)</vt:lpstr>
      <vt:lpstr>Notes on Adaptive Huffman Tree Updating</vt:lpstr>
      <vt:lpstr>PowerPoint Presentation</vt:lpstr>
      <vt:lpstr>7.5 Dictionary-based Coding</vt:lpstr>
      <vt:lpstr>Advantages of LZW over Huffman</vt:lpstr>
      <vt:lpstr>PowerPoint Presentation</vt:lpstr>
      <vt:lpstr>PowerPoint Presentation</vt:lpstr>
      <vt:lpstr>PowerPoint Presentation</vt:lpstr>
      <vt:lpstr>PowerPoint Presentation</vt:lpstr>
      <vt:lpstr>PowerPoint Presentation</vt:lpstr>
      <vt:lpstr>PowerPoint Presentation</vt:lpstr>
      <vt:lpstr>LZW Coding (cont’d)</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67</cp:revision>
  <dcterms:created xsi:type="dcterms:W3CDTF">2020-01-27T14:45:02Z</dcterms:created>
  <dcterms:modified xsi:type="dcterms:W3CDTF">2025-09-17T07:19:17Z</dcterms:modified>
</cp:coreProperties>
</file>