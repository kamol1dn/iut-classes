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8" r:id="rId1"/>
  </p:sldMasterIdLst>
  <p:sldIdLst>
    <p:sldId id="256" r:id="rId2"/>
    <p:sldId id="301" r:id="rId3"/>
    <p:sldId id="302" r:id="rId4"/>
    <p:sldId id="303" r:id="rId5"/>
    <p:sldId id="304" r:id="rId6"/>
    <p:sldId id="305" r:id="rId7"/>
    <p:sldId id="306" r:id="rId8"/>
    <p:sldId id="307" r:id="rId9"/>
    <p:sldId id="308" r:id="rId10"/>
    <p:sldId id="309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F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C668590-ED39-46CC-8DB7-807C12E36B71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5723179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2095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668590-ED39-46CC-8DB7-807C12E36B71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883349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2356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7403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9350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3029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668590-ED39-46CC-8DB7-807C12E36B71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50240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668590-ED39-46CC-8DB7-807C12E36B71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22622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8933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68590-ED39-46CC-8DB7-807C12E36B71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9905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4C668590-ED39-46CC-8DB7-807C12E36B71}" type="datetimeFigureOut">
              <a:rPr lang="ru-RU" smtClean="0"/>
              <a:t>18.09.2026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59B1F161-CE23-4B9C-96D8-8BD59AEEF2B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76755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michaelbach.de/ot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39654" y="1999437"/>
            <a:ext cx="8512175" cy="2194494"/>
          </a:xfrm>
        </p:spPr>
        <p:txBody>
          <a:bodyPr>
            <a:normAutofit fontScale="90000"/>
          </a:bodyPr>
          <a:lstStyle/>
          <a:p>
            <a:r>
              <a:rPr lang="en-US" sz="6000" dirty="0" smtClean="0"/>
              <a:t>Knowledge, evidence, and errors in thinking</a:t>
            </a:r>
            <a:r>
              <a:rPr lang="en-US" sz="6000" b="1" dirty="0" smtClean="0"/>
              <a:t/>
            </a:r>
            <a:br>
              <a:rPr lang="en-US" sz="6000" b="1" dirty="0" smtClean="0"/>
            </a:br>
            <a:r>
              <a:rPr lang="en-US" sz="2400" dirty="0"/>
              <a:t>(Chapter </a:t>
            </a:r>
            <a:r>
              <a:rPr lang="en-US" sz="2400" dirty="0" smtClean="0"/>
              <a:t>4)</a:t>
            </a:r>
            <a:endParaRPr lang="ru-RU" sz="27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679904" y="4325555"/>
            <a:ext cx="6831673" cy="1086237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Bobir Muratov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3341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case of Peter Reilly </a:t>
            </a:r>
            <a:endParaRPr lang="en-US" dirty="0"/>
          </a:p>
        </p:txBody>
      </p:sp>
      <p:pic>
        <p:nvPicPr>
          <p:cNvPr id="1026" name="Picture 2" descr="On our 174th episode we cover Peter Reilly. On the evening of September  28th, 1973, 51-year-old Barbara Gibbons was found murdered in the bedroom  of her home in Falls Village, Canaan, Connecticut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2171700"/>
            <a:ext cx="4257675" cy="425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012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to 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Human Knowledge and Its Limitations</a:t>
            </a:r>
          </a:p>
          <a:p>
            <a:r>
              <a:rPr lang="en-US" dirty="0" smtClean="0"/>
              <a:t>Evaluating Evidence</a:t>
            </a:r>
          </a:p>
          <a:p>
            <a:r>
              <a:rPr lang="en-US" dirty="0" smtClean="0"/>
              <a:t>Cognitive and Perceptual Errors in Thinking</a:t>
            </a:r>
          </a:p>
          <a:p>
            <a:r>
              <a:rPr lang="en-US" dirty="0" smtClean="0"/>
              <a:t>Social Errors and Biases</a:t>
            </a:r>
          </a:p>
        </p:txBody>
      </p:sp>
    </p:spTree>
    <p:extLst>
      <p:ext uri="{BB962C8B-B14F-4D97-AF65-F5344CB8AC3E}">
        <p14:creationId xmlns:p14="http://schemas.microsoft.com/office/powerpoint/2010/main" val="2012447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Knowledge and Its </a:t>
            </a:r>
            <a:r>
              <a:rPr lang="en-US" dirty="0" smtClean="0"/>
              <a:t>Limitations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Knowledge – information or experience that we believe to be true and for which we have justification or evidence</a:t>
            </a:r>
          </a:p>
          <a:p>
            <a:endParaRPr lang="en-US" dirty="0"/>
          </a:p>
          <a:p>
            <a:r>
              <a:rPr lang="en-US" dirty="0" smtClean="0"/>
              <a:t>Rationalists claim that most human knowledge comes through reason</a:t>
            </a:r>
          </a:p>
          <a:p>
            <a:endParaRPr lang="en-US" dirty="0"/>
          </a:p>
          <a:p>
            <a:r>
              <a:rPr lang="en-US" dirty="0" smtClean="0"/>
              <a:t>Empiricists claim that we discover truth mainly through our physical senses (a.k.a. empirical evidence)</a:t>
            </a:r>
          </a:p>
          <a:p>
            <a:endParaRPr lang="en-US" dirty="0"/>
          </a:p>
          <a:p>
            <a:r>
              <a:rPr lang="en-US" dirty="0" smtClean="0"/>
              <a:t>Kant and current psychologists – our mind provides structure and rules for processing incoming information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716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</a:t>
            </a:r>
            <a:r>
              <a:rPr lang="en-US" dirty="0" smtClean="0"/>
              <a:t>Evidence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Evidence – </a:t>
            </a:r>
            <a:r>
              <a:rPr lang="en-US" dirty="0" err="1" smtClean="0"/>
              <a:t>smth</a:t>
            </a:r>
            <a:r>
              <a:rPr lang="en-US" dirty="0" smtClean="0"/>
              <a:t>. that tends to prove or disprove a claim</a:t>
            </a:r>
          </a:p>
          <a:p>
            <a:endParaRPr lang="en-US" dirty="0"/>
          </a:p>
          <a:p>
            <a:r>
              <a:rPr lang="en-US" dirty="0" smtClean="0"/>
              <a:t>Direct experience</a:t>
            </a:r>
          </a:p>
          <a:p>
            <a:r>
              <a:rPr lang="en-US" dirty="0" smtClean="0"/>
              <a:t>False memory syndrome – the recalling of events that never happened</a:t>
            </a:r>
          </a:p>
          <a:p>
            <a:r>
              <a:rPr lang="en-US" dirty="0" smtClean="0"/>
              <a:t>Hearsay – evidence that is heard by one person and then repeated to another</a:t>
            </a:r>
          </a:p>
          <a:p>
            <a:r>
              <a:rPr lang="en-US" dirty="0" smtClean="0"/>
              <a:t>Anecdotal evidence – evidence based on personal testimonies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230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</a:t>
            </a:r>
            <a:r>
              <a:rPr lang="en-US" dirty="0" smtClean="0"/>
              <a:t>Evidence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Experts and credibility</a:t>
            </a:r>
          </a:p>
          <a:p>
            <a:endParaRPr lang="en-US" dirty="0"/>
          </a:p>
          <a:p>
            <a:r>
              <a:rPr lang="en-US" dirty="0" smtClean="0"/>
              <a:t>Expert credentials we should look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Education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Experience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Reputation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Accomplishments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 smtClean="0"/>
          </a:p>
          <a:p>
            <a:r>
              <a:rPr lang="en-US" dirty="0" smtClean="0"/>
              <a:t>Is expert testimony foolproof?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697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</a:t>
            </a:r>
            <a:r>
              <a:rPr lang="en-US" dirty="0" smtClean="0"/>
              <a:t>Evidence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Evaluating evidence for a claim</a:t>
            </a:r>
          </a:p>
          <a:p>
            <a:endParaRPr lang="en-US" dirty="0"/>
          </a:p>
          <a:p>
            <a:r>
              <a:rPr lang="en-US" dirty="0" smtClean="0"/>
              <a:t>Confirmation bias – the tendency to look only for evidence that supports our assumptions</a:t>
            </a:r>
          </a:p>
          <a:p>
            <a:endParaRPr lang="en-US" dirty="0"/>
          </a:p>
          <a:p>
            <a:r>
              <a:rPr lang="en-US" dirty="0" smtClean="0"/>
              <a:t>Research resources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364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Cognitive and Perceptual Errors in </a:t>
            </a:r>
            <a:r>
              <a:rPr lang="en-US" dirty="0" smtClean="0"/>
              <a:t>Thinking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Perceptual errors</a:t>
            </a:r>
          </a:p>
          <a:p>
            <a:r>
              <a:rPr lang="en-US" dirty="0"/>
              <a:t>Check </a:t>
            </a:r>
            <a:r>
              <a:rPr lang="en-US" dirty="0">
                <a:hlinkClick r:id="rId2"/>
              </a:rPr>
              <a:t>https://michaelbach.de/ot</a:t>
            </a:r>
            <a:r>
              <a:rPr lang="en-US" dirty="0" smtClean="0">
                <a:hlinkClick r:id="rId2"/>
              </a:rPr>
              <a:t>/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Misperception of random data</a:t>
            </a:r>
          </a:p>
          <a:p>
            <a:r>
              <a:rPr lang="en-US" dirty="0" smtClean="0"/>
              <a:t>Memorable-events error – involves our ability to vividly remember outstanding events</a:t>
            </a:r>
          </a:p>
          <a:p>
            <a:r>
              <a:rPr lang="en-US" dirty="0" smtClean="0"/>
              <a:t>Probability error – misunderstanding the probability or chances of an event by a huge margin 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390889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Cognitive and Perceptual Errors in </a:t>
            </a:r>
            <a:r>
              <a:rPr lang="en-US" dirty="0" smtClean="0"/>
              <a:t>Thinking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Self-serving biases: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Misperception that we are in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Tendency to overestimate ourselves in comparison to others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Tendency to exaggerate our strengths and minimize our weaknesses </a:t>
            </a:r>
          </a:p>
          <a:p>
            <a:endParaRPr lang="en-US" dirty="0" smtClean="0"/>
          </a:p>
          <a:p>
            <a:r>
              <a:rPr lang="en-US" dirty="0" smtClean="0"/>
              <a:t>Self-fulfilling prophecy – when our exaggerated or distorted expectations reinforce actions that actually bring about the expected event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022013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Errors and </a:t>
            </a:r>
            <a:r>
              <a:rPr lang="en-US" dirty="0" smtClean="0"/>
              <a:t>Biases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“One of us/one of them” error – classifying people </a:t>
            </a:r>
          </a:p>
          <a:p>
            <a:endParaRPr lang="en-US" dirty="0" smtClean="0"/>
          </a:p>
          <a:p>
            <a:r>
              <a:rPr lang="en-US" dirty="0" smtClean="0"/>
              <a:t>Societal expectations, ex., stereotyping </a:t>
            </a:r>
          </a:p>
          <a:p>
            <a:endParaRPr lang="en-US" dirty="0" smtClean="0"/>
          </a:p>
          <a:p>
            <a:r>
              <a:rPr lang="en-US" dirty="0" smtClean="0"/>
              <a:t>Group pressure and conformity, ex., groupthink </a:t>
            </a:r>
          </a:p>
          <a:p>
            <a:endParaRPr lang="en-US" dirty="0" smtClean="0"/>
          </a:p>
          <a:p>
            <a:r>
              <a:rPr lang="en-US" dirty="0" smtClean="0"/>
              <a:t>Diffusion of responsibility – when in a large group, we may regard a problem belonging to someone else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168131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Красный и оранжевый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1532</TotalTime>
  <Words>335</Words>
  <Application>Microsoft Office PowerPoint</Application>
  <PresentationFormat>Widescreen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Franklin Gothic Book</vt:lpstr>
      <vt:lpstr>Crop</vt:lpstr>
      <vt:lpstr>Knowledge, evidence, and errors in thinking (Chapter 4)</vt:lpstr>
      <vt:lpstr>Introduction</vt:lpstr>
      <vt:lpstr>What’s to Come</vt:lpstr>
      <vt:lpstr>Human Knowledge and Its Limitations</vt:lpstr>
      <vt:lpstr>Evaluating Evidence</vt:lpstr>
      <vt:lpstr>Evaluating Evidence</vt:lpstr>
      <vt:lpstr>Evaluating Evidence</vt:lpstr>
      <vt:lpstr>Cognitive and Perceptual Errors in Thinking</vt:lpstr>
      <vt:lpstr>Cognitive and Perceptual Errors in Thinking</vt:lpstr>
      <vt:lpstr>Social Errors and Biases</vt:lpstr>
    </vt:vector>
  </TitlesOfParts>
  <Company>User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Distinguished Lecture in Social Science and Art Introduction</dc:title>
  <dc:creator>Bobir Muratov</dc:creator>
  <cp:lastModifiedBy>Bobir Muratov</cp:lastModifiedBy>
  <cp:revision>135</cp:revision>
  <dcterms:created xsi:type="dcterms:W3CDTF">2025-09-11T14:38:37Z</dcterms:created>
  <dcterms:modified xsi:type="dcterms:W3CDTF">2026-09-18T11:26:26Z</dcterms:modified>
</cp:coreProperties>
</file>