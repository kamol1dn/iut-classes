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mRH80lj9U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326118"/>
          </a:xfrm>
        </p:spPr>
        <p:txBody>
          <a:bodyPr>
            <a:noAutofit/>
          </a:bodyPr>
          <a:lstStyle/>
          <a:p>
            <a:r>
              <a:rPr lang="en-US" sz="5400" dirty="0" smtClean="0"/>
              <a:t> </a:t>
            </a:r>
            <a:r>
              <a:rPr lang="en-US" dirty="0" smtClean="0"/>
              <a:t>Science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1800" dirty="0"/>
              <a:t>(</a:t>
            </a:r>
            <a:r>
              <a:rPr lang="en-US" sz="1800" dirty="0" smtClean="0"/>
              <a:t>Chapter </a:t>
            </a:r>
            <a:r>
              <a:rPr lang="en-US" sz="1800" dirty="0" smtClean="0"/>
              <a:t>12)</a:t>
            </a: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Global warming</a:t>
            </a:r>
          </a:p>
          <a:p>
            <a:r>
              <a:rPr lang="en-US" dirty="0" err="1" smtClean="0"/>
              <a:t>Covid</a:t>
            </a:r>
            <a:endParaRPr lang="en-US" dirty="0" smtClean="0"/>
          </a:p>
          <a:p>
            <a:r>
              <a:rPr lang="en-US" dirty="0" smtClean="0"/>
              <a:t>Nuclear energy</a:t>
            </a:r>
          </a:p>
          <a:p>
            <a:r>
              <a:rPr lang="en-US" dirty="0" smtClean="0"/>
              <a:t>AI</a:t>
            </a:r>
          </a:p>
          <a:p>
            <a:r>
              <a:rPr lang="en-US" dirty="0" smtClean="0"/>
              <a:t>Vaccines </a:t>
            </a:r>
            <a:endParaRPr lang="en-US" dirty="0"/>
          </a:p>
        </p:txBody>
      </p:sp>
      <p:pic>
        <p:nvPicPr>
          <p:cNvPr id="2050" name="Picture 2" descr="Super El Niño breaks sea temperature record weeks ahead of expected peak -  BBC Weath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544" y="1548636"/>
            <a:ext cx="4785965" cy="431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Science</a:t>
            </a:r>
            <a:endParaRPr lang="en-US" dirty="0" smtClean="0"/>
          </a:p>
          <a:p>
            <a:r>
              <a:rPr lang="en-US" dirty="0"/>
              <a:t>The Scientific </a:t>
            </a:r>
            <a:r>
              <a:rPr lang="en-US" dirty="0" smtClean="0"/>
              <a:t>Method</a:t>
            </a:r>
          </a:p>
          <a:p>
            <a:r>
              <a:rPr lang="en-US" dirty="0"/>
              <a:t>Evaluating Scientific </a:t>
            </a:r>
            <a:r>
              <a:rPr lang="en-US" dirty="0" smtClean="0"/>
              <a:t>Hypotheses</a:t>
            </a:r>
          </a:p>
          <a:p>
            <a:r>
              <a:rPr lang="en-US" dirty="0"/>
              <a:t>Research Methodology</a:t>
            </a:r>
            <a:endParaRPr lang="en-US" dirty="0" smtClean="0"/>
          </a:p>
          <a:p>
            <a:r>
              <a:rPr lang="en-US" dirty="0"/>
              <a:t>Ethical Concerns in </a:t>
            </a:r>
            <a:r>
              <a:rPr lang="en-US" dirty="0" smtClean="0"/>
              <a:t>Science</a:t>
            </a:r>
          </a:p>
          <a:p>
            <a:r>
              <a:rPr lang="en-US" dirty="0"/>
              <a:t>Thomas Kuhn and Scientific Paradigms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Science</a:t>
            </a:r>
            <a:r>
              <a:rPr lang="en-US" dirty="0" smtClean="0"/>
              <a:t> – the use of reason to move from observable, measurable facts to hypotheses to testable explanations for those facts</a:t>
            </a:r>
          </a:p>
          <a:p>
            <a:r>
              <a:rPr lang="en-US" dirty="0" smtClean="0"/>
              <a:t>Assumptions underlying science: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Empiricism</a:t>
            </a:r>
            <a:r>
              <a:rPr lang="en-US" dirty="0" smtClean="0"/>
              <a:t> – our physical senses are the primary source of 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Objectivity</a:t>
            </a:r>
            <a:r>
              <a:rPr lang="en-US" dirty="0" smtClean="0"/>
              <a:t> – we can observe and study the physical world without observer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Materialism</a:t>
            </a:r>
            <a:r>
              <a:rPr lang="en-US" dirty="0" smtClean="0"/>
              <a:t> – everything in the universe is composed of physical matter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Predictability</a:t>
            </a:r>
            <a:r>
              <a:rPr lang="en-US" dirty="0" smtClean="0"/>
              <a:t> – the universe is made up of interconnected causal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Unity</a:t>
            </a:r>
            <a:r>
              <a:rPr lang="en-US" dirty="0" smtClean="0"/>
              <a:t> – the universe has an underlying unified dynamic structure</a:t>
            </a:r>
          </a:p>
        </p:txBody>
      </p:sp>
    </p:spTree>
    <p:extLst>
      <p:ext uri="{BB962C8B-B14F-4D97-AF65-F5344CB8AC3E}">
        <p14:creationId xmlns:p14="http://schemas.microsoft.com/office/powerpoint/2010/main" val="263679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Limitations of science</a:t>
            </a:r>
          </a:p>
          <a:p>
            <a:r>
              <a:rPr lang="en-US" dirty="0" smtClean="0"/>
              <a:t>Rene Descartes – we only have an idea in our mind of a world outside of us, not direct evidence that world out there actually exists</a:t>
            </a:r>
          </a:p>
          <a:p>
            <a:r>
              <a:rPr lang="en-US" dirty="0" smtClean="0"/>
              <a:t>Empiricism limits science to observable </a:t>
            </a:r>
          </a:p>
          <a:p>
            <a:r>
              <a:rPr lang="en-US" dirty="0" smtClean="0"/>
              <a:t>Observation alone cannot logically establish a necessary causal connected between the two events</a:t>
            </a:r>
          </a:p>
          <a:p>
            <a:r>
              <a:rPr lang="en-US" dirty="0" smtClean="0"/>
              <a:t>Experience of reality is dependent on our brains </a:t>
            </a:r>
          </a:p>
          <a:p>
            <a:r>
              <a:rPr lang="en-US" dirty="0" smtClean="0"/>
              <a:t>Quantum mechanics</a:t>
            </a:r>
          </a:p>
        </p:txBody>
      </p:sp>
    </p:spTree>
    <p:extLst>
      <p:ext uri="{BB962C8B-B14F-4D97-AF65-F5344CB8AC3E}">
        <p14:creationId xmlns:p14="http://schemas.microsoft.com/office/powerpoint/2010/main" val="400140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smtClean="0"/>
              <a:t>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Science and religion</a:t>
            </a:r>
          </a:p>
          <a:p>
            <a:r>
              <a:rPr lang="en-US" dirty="0" smtClean="0"/>
              <a:t>Positions regarding the relationship between science and religion: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Science always trumps religion when there is a conflict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Religion </a:t>
            </a:r>
            <a:r>
              <a:rPr lang="en-US" dirty="0"/>
              <a:t>always trumps </a:t>
            </a:r>
            <a:r>
              <a:rPr lang="en-US" dirty="0" smtClean="0"/>
              <a:t>science </a:t>
            </a:r>
            <a:r>
              <a:rPr lang="en-US" dirty="0"/>
              <a:t>when there is a </a:t>
            </a:r>
            <a:r>
              <a:rPr lang="en-US" dirty="0" smtClean="0"/>
              <a:t>conflict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Science and religion operate in two separate and mutually exclusive realities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Science and religion </a:t>
            </a:r>
            <a:r>
              <a:rPr lang="en-US" dirty="0" smtClean="0"/>
              <a:t>are concerned with the same reality and are compatible and complementary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www.youtube.com/watch?v=rmRH80lj9UM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6605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Scientific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Scientific method </a:t>
            </a:r>
            <a:r>
              <a:rPr lang="en-US" dirty="0" smtClean="0"/>
              <a:t>– a process involving the rigorous, systematic application of observation and experimentation</a:t>
            </a:r>
          </a:p>
          <a:p>
            <a:r>
              <a:rPr lang="en-US" dirty="0" smtClean="0"/>
              <a:t>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Identify the problem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Develop an initial hypothesis (explanation) (scientific theory)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Gather additional information and refine the hypothesis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Test the hypothesis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Evaluate the hypothesis on the basis of results of testing or experimentation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921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Scientific 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Criteria for evaluating hypotheses: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Is it </a:t>
            </a:r>
            <a:r>
              <a:rPr lang="en-US" b="1" dirty="0" smtClean="0"/>
              <a:t>relevant</a:t>
            </a:r>
            <a:r>
              <a:rPr lang="en-US" dirty="0" smtClean="0"/>
              <a:t> to the problem under investigation?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Is it </a:t>
            </a:r>
            <a:r>
              <a:rPr lang="en-US" b="1" dirty="0" smtClean="0"/>
              <a:t>consistent</a:t>
            </a:r>
            <a:r>
              <a:rPr lang="en-US" dirty="0" smtClean="0"/>
              <a:t> with well-established theories?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Is it the </a:t>
            </a:r>
            <a:r>
              <a:rPr lang="en-US" b="1" dirty="0" smtClean="0"/>
              <a:t>simplest</a:t>
            </a:r>
            <a:r>
              <a:rPr lang="en-US" dirty="0" smtClean="0"/>
              <a:t> explanation for the problem?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Does it provide a </a:t>
            </a:r>
            <a:r>
              <a:rPr lang="en-US" b="1" dirty="0" smtClean="0"/>
              <a:t>testable</a:t>
            </a:r>
            <a:r>
              <a:rPr lang="en-US" dirty="0" smtClean="0"/>
              <a:t> and </a:t>
            </a:r>
            <a:r>
              <a:rPr lang="en-US" b="1" dirty="0" smtClean="0"/>
              <a:t>falsifiable</a:t>
            </a:r>
            <a:r>
              <a:rPr lang="en-US" dirty="0" smtClean="0"/>
              <a:t> explanation of the problem?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Can it be used to </a:t>
            </a:r>
            <a:r>
              <a:rPr lang="en-US" b="1" dirty="0" smtClean="0"/>
              <a:t>predict</a:t>
            </a:r>
            <a:r>
              <a:rPr lang="en-US" dirty="0" smtClean="0"/>
              <a:t> the outcome of similar events?</a:t>
            </a:r>
          </a:p>
          <a:p>
            <a:endParaRPr lang="en-US" dirty="0" smtClean="0"/>
          </a:p>
          <a:p>
            <a:r>
              <a:rPr lang="en-US" b="1" dirty="0" smtClean="0"/>
              <a:t>Pseudoscience</a:t>
            </a:r>
            <a:r>
              <a:rPr lang="en-US" dirty="0" smtClean="0"/>
              <a:t> – a body of explanations or hypotheses that masquerades as science, is based on emotional appeals, superstition, rhetoric</a:t>
            </a:r>
          </a:p>
          <a:p>
            <a:r>
              <a:rPr lang="en-US" dirty="0" smtClean="0"/>
              <a:t>Ex., astrology, psychic healing, numerology, mind reading, </a:t>
            </a:r>
            <a:r>
              <a:rPr lang="en-US" dirty="0" err="1" smtClean="0"/>
              <a:t>etc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518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8481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Research </a:t>
            </a:r>
            <a:r>
              <a:rPr lang="en-US" b="1" dirty="0" smtClean="0"/>
              <a:t>methodology </a:t>
            </a:r>
            <a:r>
              <a:rPr lang="en-US" dirty="0" smtClean="0"/>
              <a:t>– a systematic approach in science to gathering and analyzing information</a:t>
            </a:r>
          </a:p>
          <a:p>
            <a:r>
              <a:rPr lang="en-US" dirty="0" smtClean="0"/>
              <a:t>Research methods/designs: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Experimental Research (intervention, simulation, lab)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Correlational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Survey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Ethnographic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Grounded Theory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Narrative Research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Action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Mixed Method Research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Concerns in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in </a:t>
            </a:r>
            <a:r>
              <a:rPr lang="en-US" dirty="0" smtClean="0"/>
              <a:t>data collection (informed consent, respect </a:t>
            </a:r>
            <a:r>
              <a:rPr lang="en-US" dirty="0"/>
              <a:t>the </a:t>
            </a:r>
            <a:r>
              <a:rPr lang="en-US" dirty="0" smtClean="0"/>
              <a:t>site/participants/norms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Issues in </a:t>
            </a:r>
            <a:r>
              <a:rPr lang="en-US" dirty="0" smtClean="0"/>
              <a:t>data reporting </a:t>
            </a:r>
            <a:r>
              <a:rPr lang="en-US" dirty="0"/>
              <a:t>(honest reporting, proper citation, publishing on time)</a:t>
            </a:r>
          </a:p>
          <a:p>
            <a:r>
              <a:rPr lang="en-US" dirty="0" smtClean="0"/>
              <a:t>“Publish or perish” pressure</a:t>
            </a:r>
          </a:p>
          <a:p>
            <a:endParaRPr lang="en-US" dirty="0"/>
          </a:p>
          <a:p>
            <a:r>
              <a:rPr lang="en-US" dirty="0"/>
              <a:t>Concerns on neutrality of science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71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Thomas Kuhn and Scientific Paradigms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7058025" cy="3581400"/>
          </a:xfrm>
        </p:spPr>
        <p:txBody>
          <a:bodyPr/>
          <a:lstStyle/>
          <a:p>
            <a:r>
              <a:rPr lang="en-US" dirty="0" smtClean="0"/>
              <a:t>Kuhn challenged the idea that the scientific method is objective and that science is progressive</a:t>
            </a:r>
          </a:p>
          <a:p>
            <a:r>
              <a:rPr lang="en-US" b="1" dirty="0" smtClean="0"/>
              <a:t>Normal science </a:t>
            </a:r>
            <a:r>
              <a:rPr lang="en-US" dirty="0" smtClean="0"/>
              <a:t>– scientific research that is based on past achievements and is recognized by most scientists </a:t>
            </a:r>
          </a:p>
          <a:p>
            <a:r>
              <a:rPr lang="en-US" b="1" dirty="0" smtClean="0"/>
              <a:t>Paradigm</a:t>
            </a:r>
            <a:r>
              <a:rPr lang="en-US" dirty="0" smtClean="0"/>
              <a:t> – the accepted view of what the world is like and how should go about studying it</a:t>
            </a:r>
          </a:p>
          <a:p>
            <a:r>
              <a:rPr lang="en-US" b="1" dirty="0" smtClean="0"/>
              <a:t>Scientific revolution </a:t>
            </a:r>
            <a:r>
              <a:rPr lang="en-US" dirty="0" smtClean="0"/>
              <a:t>– a paradigm shift in which a new scientific theory replaces a problematic paradigm</a:t>
            </a:r>
            <a:endParaRPr lang="en-US" dirty="0"/>
          </a:p>
        </p:txBody>
      </p:sp>
      <p:pic>
        <p:nvPicPr>
          <p:cNvPr id="1028" name="Picture 4" descr="The Structure of Scientific Revolutions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5" y="1613092"/>
            <a:ext cx="3476625" cy="524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77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2333</TotalTime>
  <Words>545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Franklin Gothic Book</vt:lpstr>
      <vt:lpstr>Crop</vt:lpstr>
      <vt:lpstr> Science  (Chapter 12)</vt:lpstr>
      <vt:lpstr>Introduction</vt:lpstr>
      <vt:lpstr>What’s to Come</vt:lpstr>
      <vt:lpstr>What is Science</vt:lpstr>
      <vt:lpstr>What is Science</vt:lpstr>
      <vt:lpstr>What is Science</vt:lpstr>
      <vt:lpstr>The Scientific Method</vt:lpstr>
      <vt:lpstr>Evaluating Scientific Hypotheses</vt:lpstr>
      <vt:lpstr>Research Methodology</vt:lpstr>
      <vt:lpstr>Ethical Concerns in Science</vt:lpstr>
      <vt:lpstr>Thomas Kuhn and Scientific Paradigms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220</cp:revision>
  <dcterms:created xsi:type="dcterms:W3CDTF">2025-09-11T14:38:37Z</dcterms:created>
  <dcterms:modified xsi:type="dcterms:W3CDTF">2026-10-16T10:13:48Z</dcterms:modified>
</cp:coreProperties>
</file>