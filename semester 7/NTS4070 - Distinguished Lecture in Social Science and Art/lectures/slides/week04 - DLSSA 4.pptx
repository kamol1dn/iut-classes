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301" r:id="rId3"/>
    <p:sldId id="302" r:id="rId4"/>
    <p:sldId id="303" r:id="rId5"/>
    <p:sldId id="314" r:id="rId6"/>
    <p:sldId id="304" r:id="rId7"/>
    <p:sldId id="305" r:id="rId8"/>
    <p:sldId id="315" r:id="rId9"/>
    <p:sldId id="306" r:id="rId10"/>
    <p:sldId id="307" r:id="rId11"/>
    <p:sldId id="316" r:id="rId12"/>
    <p:sldId id="312" r:id="rId13"/>
    <p:sldId id="317" r:id="rId14"/>
    <p:sldId id="308" r:id="rId15"/>
    <p:sldId id="309" r:id="rId16"/>
    <p:sldId id="318" r:id="rId17"/>
    <p:sldId id="313" r:id="rId18"/>
    <p:sldId id="310" r:id="rId19"/>
    <p:sldId id="311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72317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095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83349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356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403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35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02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5024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26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93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90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675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mmondreams.org/views/2008/02/28/fallacies-and-war-misleading-nervous-america-wrong-conclusion" TargetMode="External"/><Relationship Id="rId2" Type="http://schemas.openxmlformats.org/officeDocument/2006/relationships/hyperlink" Target="http://nsarchive.gwu.edu/NSAEBB/NSAEBB80/new/doc%2012/President%20Bush%20Outlines%20Iraqi%20Threat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9654" y="1999437"/>
            <a:ext cx="8512175" cy="2036232"/>
          </a:xfrm>
        </p:spPr>
        <p:txBody>
          <a:bodyPr>
            <a:normAutofit fontScale="90000"/>
          </a:bodyPr>
          <a:lstStyle/>
          <a:p>
            <a:r>
              <a:rPr lang="en-US" dirty="0"/>
              <a:t>Informal Fallacies</a:t>
            </a: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2400" dirty="0"/>
              <a:t>(Chapter </a:t>
            </a:r>
            <a:r>
              <a:rPr lang="en-US" sz="2400" dirty="0" smtClean="0"/>
              <a:t>5)</a:t>
            </a:r>
            <a:endParaRPr lang="ru-RU" sz="27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79904" y="4325555"/>
            <a:ext cx="6831673" cy="1086237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Bobir Muratov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334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case of </a:t>
            </a:r>
            <a:r>
              <a:rPr lang="en-US" dirty="0"/>
              <a:t>Shannon Townsend</a:t>
            </a:r>
          </a:p>
        </p:txBody>
      </p:sp>
    </p:spTree>
    <p:extLst>
      <p:ext uri="{BB962C8B-B14F-4D97-AF65-F5344CB8AC3E}">
        <p14:creationId xmlns:p14="http://schemas.microsoft.com/office/powerpoint/2010/main" val="38801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to 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a Fallacy?</a:t>
            </a:r>
          </a:p>
          <a:p>
            <a:r>
              <a:rPr lang="en-US" dirty="0" smtClean="0"/>
              <a:t>Fallacies of Ambiguity</a:t>
            </a:r>
          </a:p>
          <a:p>
            <a:r>
              <a:rPr lang="en-US" dirty="0" smtClean="0"/>
              <a:t>Fallacies of Relevance</a:t>
            </a:r>
          </a:p>
          <a:p>
            <a:r>
              <a:rPr lang="en-US" dirty="0" smtClean="0"/>
              <a:t>Fallacies Involving Unwarranted Assumptions</a:t>
            </a:r>
          </a:p>
          <a:p>
            <a:r>
              <a:rPr lang="en-US" dirty="0" smtClean="0"/>
              <a:t>Strategies for Avoiding Fallacies</a:t>
            </a:r>
          </a:p>
          <a:p>
            <a:r>
              <a:rPr lang="en-US" dirty="0" smtClean="0"/>
              <a:t>Critical Thinking Issue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244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Fallacy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Fallacy – a faulty argument that at first appears to be correct</a:t>
            </a:r>
          </a:p>
          <a:p>
            <a:r>
              <a:rPr lang="en-US" sz="2400" dirty="0" smtClean="0"/>
              <a:t>Formal fallacy – a type of mistaken reasoning in which the form of an argument itself is </a:t>
            </a:r>
            <a:r>
              <a:rPr lang="en-US" sz="2400" dirty="0" smtClean="0"/>
              <a:t>invalid</a:t>
            </a:r>
          </a:p>
          <a:p>
            <a:r>
              <a:rPr lang="en-US" sz="2400" dirty="0" smtClean="0"/>
              <a:t>“Some high school dropouts are men. No doctors are high school dropouts. Therefore, no doctors are men.”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07165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Fallacy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Informal </a:t>
            </a:r>
            <a:r>
              <a:rPr lang="en-US" sz="2400" dirty="0" smtClean="0"/>
              <a:t>fallacy – a type of mistaken reasoning that occurs when an argument is psychologically or emotionally persuasive but logically incorrect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Fallacies of Ambiguity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Fallacies of Relevance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Fallacies Involving Unwarranted </a:t>
            </a:r>
            <a:r>
              <a:rPr lang="en-US" sz="2400" dirty="0" smtClean="0"/>
              <a:t>Assumptions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914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Fallacies of </a:t>
            </a:r>
            <a:r>
              <a:rPr lang="en-US" dirty="0" smtClean="0"/>
              <a:t>Ambiguity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Fallacy </a:t>
            </a:r>
            <a:r>
              <a:rPr lang="en-US" dirty="0"/>
              <a:t>of </a:t>
            </a:r>
            <a:r>
              <a:rPr lang="en-US" dirty="0" smtClean="0"/>
              <a:t>ambiguity – arguments that have ambiguous phrases or sloppy grammatical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Equivocation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Amphiboly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Fallacies of accent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Fallacies of division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34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Fallacies of </a:t>
            </a:r>
            <a:r>
              <a:rPr lang="en-US" dirty="0" smtClean="0"/>
              <a:t>Ambiguity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71700"/>
            <a:ext cx="9601200" cy="3695700"/>
          </a:xfrm>
        </p:spPr>
        <p:txBody>
          <a:bodyPr>
            <a:noAutofit/>
          </a:bodyPr>
          <a:lstStyle/>
          <a:p>
            <a:r>
              <a:rPr lang="en-US" dirty="0" smtClean="0"/>
              <a:t>Equivocation – a key term in an argument changes meaning during the course of the </a:t>
            </a:r>
            <a:r>
              <a:rPr lang="en-US" dirty="0" smtClean="0"/>
              <a:t>argument</a:t>
            </a:r>
          </a:p>
          <a:p>
            <a:r>
              <a:rPr lang="en-US" dirty="0" smtClean="0"/>
              <a:t>“The sign on the door says “No Animals Allowed”. We’ll find another place for lunch, since humans are also animals.”</a:t>
            </a:r>
          </a:p>
          <a:p>
            <a:endParaRPr lang="en-US" dirty="0" smtClean="0"/>
          </a:p>
          <a:p>
            <a:r>
              <a:rPr lang="en-US" dirty="0" smtClean="0"/>
              <a:t>Amphiboly </a:t>
            </a:r>
            <a:r>
              <a:rPr lang="en-US" dirty="0" smtClean="0"/>
              <a:t>– an argument contains a grammatical mistake which allows more than one conclusion to be </a:t>
            </a:r>
            <a:r>
              <a:rPr lang="en-US" dirty="0" smtClean="0"/>
              <a:t>drawn</a:t>
            </a:r>
          </a:p>
          <a:p>
            <a:r>
              <a:rPr lang="en-US" dirty="0" smtClean="0"/>
              <a:t>“Mary’s mother and her husband have opposing views.”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85436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Fallacies of </a:t>
            </a:r>
            <a:r>
              <a:rPr lang="en-US" dirty="0" smtClean="0"/>
              <a:t>Ambiguity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71700"/>
            <a:ext cx="9601200" cy="3695700"/>
          </a:xfrm>
        </p:spPr>
        <p:txBody>
          <a:bodyPr>
            <a:noAutofit/>
          </a:bodyPr>
          <a:lstStyle/>
          <a:p>
            <a:r>
              <a:rPr lang="en-US" dirty="0" smtClean="0"/>
              <a:t>Fallacies </a:t>
            </a:r>
            <a:r>
              <a:rPr lang="en-US" dirty="0" smtClean="0"/>
              <a:t>of accent – the meaning of an argument changes depending on which word or phrase in it is emphasized </a:t>
            </a:r>
            <a:endParaRPr lang="en-US" dirty="0" smtClean="0"/>
          </a:p>
          <a:p>
            <a:r>
              <a:rPr lang="en-US" dirty="0" smtClean="0"/>
              <a:t>“The university is going to crack down on off-campus drinking. Glad to hear that they’re ok with on-campus drinking.”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Fallacies of division – a characteristic of an entire group is </a:t>
            </a:r>
            <a:r>
              <a:rPr lang="en-US" dirty="0" smtClean="0"/>
              <a:t>falsely </a:t>
            </a:r>
            <a:r>
              <a:rPr lang="en-US" dirty="0" smtClean="0"/>
              <a:t>assumed to be a characteristic of each member of </a:t>
            </a:r>
            <a:r>
              <a:rPr lang="en-US" dirty="0" smtClean="0"/>
              <a:t>that group</a:t>
            </a:r>
          </a:p>
          <a:p>
            <a:r>
              <a:rPr lang="en-US" dirty="0" smtClean="0"/>
              <a:t>“Canadians are really nice people. Therefore, Derek, who is from Vancouver, must be really nice.”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51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Fallacies of </a:t>
            </a:r>
            <a:r>
              <a:rPr lang="en-US" dirty="0" smtClean="0"/>
              <a:t>Relevance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3745523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 smtClean="0"/>
              <a:t>Fallacy </a:t>
            </a:r>
            <a:r>
              <a:rPr lang="en-US" sz="2200" dirty="0"/>
              <a:t>of </a:t>
            </a:r>
            <a:r>
              <a:rPr lang="en-US" sz="2200" dirty="0" smtClean="0"/>
              <a:t>relevance – the premise is logically irrelevant, or unrelated, to the 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smtClean="0"/>
              <a:t>Personal attacks (ad hominem fallacies)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smtClean="0"/>
              <a:t>Appeals to force (scare tactics)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smtClean="0"/>
              <a:t>Appeals to pity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smtClean="0"/>
              <a:t>Popular appeals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smtClean="0"/>
              <a:t>Appeals to ignorance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smtClean="0"/>
              <a:t>Hasty generalizations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smtClean="0"/>
              <a:t>Straw man fallacies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smtClean="0"/>
              <a:t>Red herrings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46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Fallacies of </a:t>
            </a:r>
            <a:r>
              <a:rPr lang="en-US" dirty="0" smtClean="0"/>
              <a:t>Relevance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Personal attacks (ad hominem fallacies</a:t>
            </a:r>
            <a:r>
              <a:rPr lang="en-US" dirty="0" smtClean="0"/>
              <a:t>) – instead of presenting a counterargument, we attack the character of the person who made the argument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Appeals to force (scare tactics</a:t>
            </a:r>
            <a:r>
              <a:rPr lang="en-US" dirty="0" smtClean="0"/>
              <a:t>) – the use or threat of force in an attempt to get another person to accept a conclusion as correct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1332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Fallacies of </a:t>
            </a:r>
            <a:r>
              <a:rPr lang="en-US" dirty="0" smtClean="0"/>
              <a:t>Relevance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Appeals </a:t>
            </a:r>
            <a:r>
              <a:rPr lang="en-US" dirty="0" smtClean="0"/>
              <a:t>to </a:t>
            </a:r>
            <a:r>
              <a:rPr lang="en-US" dirty="0" smtClean="0"/>
              <a:t>pity – pity is evoked in an argument when pity is irrelevant to the conclusion</a:t>
            </a:r>
          </a:p>
          <a:p>
            <a:endParaRPr lang="en-US" dirty="0" smtClean="0"/>
          </a:p>
          <a:p>
            <a:r>
              <a:rPr lang="en-US" dirty="0" smtClean="0"/>
              <a:t>Popular </a:t>
            </a:r>
            <a:r>
              <a:rPr lang="en-US" dirty="0" smtClean="0"/>
              <a:t>appeal – an appeal to popular opinion to gain support for our conclusion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9214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Fallacies of </a:t>
            </a:r>
            <a:r>
              <a:rPr lang="en-US" dirty="0" smtClean="0"/>
              <a:t>Relevance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Appeal </a:t>
            </a:r>
            <a:r>
              <a:rPr lang="en-US" sz="2200" dirty="0" smtClean="0"/>
              <a:t>to ignorance </a:t>
            </a:r>
            <a:r>
              <a:rPr lang="en-US" sz="2200" dirty="0" smtClean="0"/>
              <a:t>– the claim that something is true simply because no one has proven it false, or that something is false simply because no one has proven it true</a:t>
            </a:r>
            <a:endParaRPr lang="en-US" sz="2200" dirty="0" smtClean="0"/>
          </a:p>
          <a:p>
            <a:r>
              <a:rPr lang="en-US" sz="2200" dirty="0" smtClean="0"/>
              <a:t>“UFOs don’t exist, as no one has been able to prove that they do.”</a:t>
            </a:r>
          </a:p>
          <a:p>
            <a:endParaRPr lang="en-US" sz="2200" dirty="0" smtClean="0"/>
          </a:p>
          <a:p>
            <a:r>
              <a:rPr lang="en-US" sz="2200" dirty="0" smtClean="0"/>
              <a:t>Hasty generalization – a generalization is made from a sample that is too small or biased</a:t>
            </a:r>
            <a:endParaRPr lang="en-US" sz="2200" dirty="0" smtClean="0"/>
          </a:p>
          <a:p>
            <a:endParaRPr lang="en-US" sz="22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92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Fallacies of </a:t>
            </a:r>
            <a:r>
              <a:rPr lang="en-US" dirty="0" smtClean="0"/>
              <a:t>Relevance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200" dirty="0" smtClean="0"/>
              <a:t>Straw </a:t>
            </a:r>
            <a:r>
              <a:rPr lang="en-US" sz="2200" dirty="0" smtClean="0"/>
              <a:t>man </a:t>
            </a:r>
            <a:r>
              <a:rPr lang="en-US" sz="2200" dirty="0" smtClean="0"/>
              <a:t>fallacy – an opponent’s argument is distorted or misrepresented in order to make it easier to refute </a:t>
            </a:r>
            <a:endParaRPr lang="en-US" sz="2200" dirty="0" smtClean="0"/>
          </a:p>
          <a:p>
            <a:r>
              <a:rPr lang="en-US" sz="2200" dirty="0" smtClean="0"/>
              <a:t>“</a:t>
            </a:r>
            <a:r>
              <a:rPr lang="en-US" sz="2200" dirty="0" err="1" smtClean="0"/>
              <a:t>Mamdani</a:t>
            </a:r>
            <a:r>
              <a:rPr lang="en-US" sz="2200" dirty="0" smtClean="0"/>
              <a:t> wants free public transport and tax the rich. He supports socialism. </a:t>
            </a:r>
            <a:r>
              <a:rPr lang="en-US" sz="2200" dirty="0" smtClean="0"/>
              <a:t>But socialism was already tried and failed in the Soviet Union. Therefore, his argument is invalid.</a:t>
            </a:r>
          </a:p>
          <a:p>
            <a:endParaRPr lang="en-US" sz="2200" dirty="0" smtClean="0"/>
          </a:p>
          <a:p>
            <a:r>
              <a:rPr lang="en-US" sz="2200" dirty="0" smtClean="0"/>
              <a:t>Red herrings – a response is directed toward a conclusion that is different from that proposed by the original argument</a:t>
            </a:r>
            <a:endParaRPr lang="en-US" sz="2200" dirty="0" smtClean="0"/>
          </a:p>
          <a:p>
            <a:r>
              <a:rPr lang="en-US" dirty="0" smtClean="0"/>
              <a:t>“Why are you upset about my driving after a few drinks? It’s not a big deal. Look at the accidents that caused by people talking on their phones.”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20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Fallacies Involving Unwarranted </a:t>
            </a:r>
            <a:r>
              <a:rPr lang="en-US" dirty="0" smtClean="0"/>
              <a:t>Assumptions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Unwarranted </a:t>
            </a:r>
            <a:r>
              <a:rPr lang="en-US" dirty="0" smtClean="0"/>
              <a:t>assumption – a fallacious argument that contains an assumption that is not supported by evidence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Begging the question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Inappropriate appeal to authority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Loaded question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False dilemma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Questionable cause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Slippery slope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Naturalistic fallacy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57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Fallacies Involving Unwarranted </a:t>
            </a:r>
            <a:r>
              <a:rPr lang="en-US" dirty="0" smtClean="0"/>
              <a:t>Assumptions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Begging the question – the conclusion of an argument is simply a rewarding of a premise</a:t>
            </a:r>
          </a:p>
          <a:p>
            <a:r>
              <a:rPr lang="en-US" dirty="0" smtClean="0"/>
              <a:t>“Capital punishment is wrong because it is immoral to inflict death as a punishment for a crime.”</a:t>
            </a:r>
          </a:p>
          <a:p>
            <a:endParaRPr lang="en-US" dirty="0" smtClean="0"/>
          </a:p>
          <a:p>
            <a:r>
              <a:rPr lang="en-US" dirty="0" smtClean="0"/>
              <a:t>Inappropriate appeal to authority – we look to an authority in a field other than that under investigation</a:t>
            </a:r>
          </a:p>
        </p:txBody>
      </p:sp>
    </p:spTree>
    <p:extLst>
      <p:ext uri="{BB962C8B-B14F-4D97-AF65-F5344CB8AC3E}">
        <p14:creationId xmlns:p14="http://schemas.microsoft.com/office/powerpoint/2010/main" val="2428647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Fallacies Involving Unwarranted </a:t>
            </a:r>
            <a:r>
              <a:rPr lang="en-US" dirty="0" smtClean="0"/>
              <a:t>Assumptions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Loaded question – a particular answer is presumed to an unasked question</a:t>
            </a:r>
          </a:p>
          <a:p>
            <a:r>
              <a:rPr lang="en-US" dirty="0" smtClean="0"/>
              <a:t>“Have you stopped beating ...”</a:t>
            </a:r>
          </a:p>
          <a:p>
            <a:endParaRPr lang="en-US" dirty="0" smtClean="0"/>
          </a:p>
          <a:p>
            <a:r>
              <a:rPr lang="en-US" dirty="0" smtClean="0"/>
              <a:t>False dilemma – responses to complex issues are reduced to an either/or choice</a:t>
            </a:r>
          </a:p>
          <a:p>
            <a:r>
              <a:rPr lang="en-US" dirty="0" smtClean="0"/>
              <a:t>“Why do you complain about our politics? If you don’t like our policies, you can leave the country.” </a:t>
            </a:r>
          </a:p>
        </p:txBody>
      </p:sp>
    </p:spTree>
    <p:extLst>
      <p:ext uri="{BB962C8B-B14F-4D97-AF65-F5344CB8AC3E}">
        <p14:creationId xmlns:p14="http://schemas.microsoft.com/office/powerpoint/2010/main" val="286334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Fallacies Involving Unwarranted </a:t>
            </a:r>
            <a:r>
              <a:rPr lang="en-US" dirty="0" smtClean="0"/>
              <a:t>Assumptions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Questionable cause (post hoc) – a person assumes, without sufficient evidence, that one thing is the cause of another. Ex., superstitions</a:t>
            </a:r>
          </a:p>
          <a:p>
            <a:endParaRPr lang="en-US" dirty="0" smtClean="0"/>
          </a:p>
          <a:p>
            <a:r>
              <a:rPr lang="en-US" dirty="0" smtClean="0"/>
              <a:t>Slippery slope – the faulty assumption that if certain actions are permitted, then all actions of this type will soon be permissible</a:t>
            </a:r>
          </a:p>
          <a:p>
            <a:endParaRPr lang="en-US" dirty="0" smtClean="0"/>
          </a:p>
          <a:p>
            <a:r>
              <a:rPr lang="en-US" dirty="0" smtClean="0"/>
              <a:t>Naturalistic fallacy – a fallacy based on the assumption that what is natural is good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4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 for Avoiding </a:t>
            </a:r>
            <a:r>
              <a:rPr lang="en-US" dirty="0" smtClean="0"/>
              <a:t>Fallacies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Know yourself</a:t>
            </a:r>
          </a:p>
          <a:p>
            <a:r>
              <a:rPr lang="en-US" dirty="0" smtClean="0"/>
              <a:t>Build your self-confidence and self-esteem</a:t>
            </a:r>
          </a:p>
          <a:p>
            <a:r>
              <a:rPr lang="en-US" dirty="0" smtClean="0"/>
              <a:t>Cultivate good listening skills</a:t>
            </a:r>
          </a:p>
          <a:p>
            <a:r>
              <a:rPr lang="en-US" dirty="0" smtClean="0"/>
              <a:t>Avoid ambiguous and vague terms and faulty grammar</a:t>
            </a:r>
          </a:p>
          <a:p>
            <a:r>
              <a:rPr lang="en-US" dirty="0" smtClean="0"/>
              <a:t>Do not confuse the soundness of an argument with the character or circumstances of the person making the argument</a:t>
            </a:r>
          </a:p>
          <a:p>
            <a:r>
              <a:rPr lang="en-US" dirty="0" smtClean="0"/>
              <a:t>Know your topic</a:t>
            </a:r>
          </a:p>
          <a:p>
            <a:r>
              <a:rPr lang="en-US" dirty="0" smtClean="0"/>
              <a:t>Adopt a position of skepticism</a:t>
            </a:r>
          </a:p>
          <a:p>
            <a:r>
              <a:rPr lang="en-US" dirty="0" smtClean="0"/>
              <a:t>Watch your body language</a:t>
            </a:r>
          </a:p>
          <a:p>
            <a:r>
              <a:rPr lang="en-US" dirty="0" smtClean="0"/>
              <a:t>Don’t be set on “winning”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3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Thinking </a:t>
            </a:r>
            <a:r>
              <a:rPr lang="en-US" dirty="0" smtClean="0"/>
              <a:t>Issue: Perspectives on Going to War in Iraq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President </a:t>
            </a:r>
            <a:r>
              <a:rPr lang="en-US" dirty="0" smtClean="0"/>
              <a:t>Bush: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nsarchive.gwu.edu/NSAEBB/NSAEBB80/new/doc%2012/President%20Bush%20Outlines%20Iraqi%20Threat.htm</a:t>
            </a:r>
            <a:endParaRPr lang="en-US" dirty="0" smtClean="0"/>
          </a:p>
          <a:p>
            <a:r>
              <a:rPr lang="en-US" dirty="0" smtClean="0"/>
              <a:t>David Koehler: </a:t>
            </a:r>
          </a:p>
          <a:p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www.commondreams.org/views/2008/02/28/fallacies-and-war-misleading-nervous-america-wrong-conclusion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/>
              <a:t>Compare and contrast former President Bush's claim that Iraq was a threat to world peace with David Koehler's position on the issue. </a:t>
            </a:r>
            <a:endParaRPr lang="en-US" dirty="0" smtClean="0"/>
          </a:p>
          <a:p>
            <a:r>
              <a:rPr lang="en-US" dirty="0" smtClean="0"/>
              <a:t>Which </a:t>
            </a:r>
            <a:r>
              <a:rPr lang="en-US" dirty="0"/>
              <a:t>claims are valid? Which are based on fallacious reasoning (note instances)? Who has the stronger argument? Why?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68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Красный и оранжевый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1782</TotalTime>
  <Words>947</Words>
  <Application>Microsoft Office PowerPoint</Application>
  <PresentationFormat>Widescreen</PresentationFormat>
  <Paragraphs>112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Franklin Gothic Book</vt:lpstr>
      <vt:lpstr>Crop</vt:lpstr>
      <vt:lpstr>Informal Fallacies (Chapter 5)</vt:lpstr>
      <vt:lpstr>Introduction</vt:lpstr>
      <vt:lpstr>What’s to Come</vt:lpstr>
      <vt:lpstr>What is a Fallacy?</vt:lpstr>
      <vt:lpstr>What is a Fallacy?</vt:lpstr>
      <vt:lpstr>Fallacies of Ambiguity</vt:lpstr>
      <vt:lpstr>Fallacies of Ambiguity</vt:lpstr>
      <vt:lpstr>Fallacies of Ambiguity</vt:lpstr>
      <vt:lpstr>Fallacies of Relevance</vt:lpstr>
      <vt:lpstr>Fallacies of Relevance</vt:lpstr>
      <vt:lpstr>Fallacies of Relevance</vt:lpstr>
      <vt:lpstr>Fallacies of Relevance</vt:lpstr>
      <vt:lpstr>Fallacies of Relevance</vt:lpstr>
      <vt:lpstr>Fallacies Involving Unwarranted Assumptions</vt:lpstr>
      <vt:lpstr>Fallacies Involving Unwarranted Assumptions</vt:lpstr>
      <vt:lpstr>Fallacies Involving Unwarranted Assumptions</vt:lpstr>
      <vt:lpstr>Fallacies Involving Unwarranted Assumptions</vt:lpstr>
      <vt:lpstr>Strategies for Avoiding Fallacies</vt:lpstr>
      <vt:lpstr>Critical Thinking Issue: Perspectives on Going to War in Iraq</vt:lpstr>
    </vt:vector>
  </TitlesOfParts>
  <Company>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Distinguished Lecture in Social Science and Art Introduction</dc:title>
  <dc:creator>Bobir Muratov</dc:creator>
  <cp:lastModifiedBy>Bobir Muratov</cp:lastModifiedBy>
  <cp:revision>161</cp:revision>
  <dcterms:created xsi:type="dcterms:W3CDTF">2025-09-11T14:38:37Z</dcterms:created>
  <dcterms:modified xsi:type="dcterms:W3CDTF">2026-09-26T09:03:11Z</dcterms:modified>
</cp:coreProperties>
</file>