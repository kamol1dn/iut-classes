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sldIdLst>
    <p:sldId id="256" r:id="rId2"/>
    <p:sldId id="301" r:id="rId3"/>
    <p:sldId id="302" r:id="rId4"/>
    <p:sldId id="303" r:id="rId5"/>
    <p:sldId id="304" r:id="rId6"/>
    <p:sldId id="305" r:id="rId7"/>
    <p:sldId id="306" r:id="rId8"/>
    <p:sldId id="307" r:id="rId9"/>
    <p:sldId id="271" r:id="rId10"/>
    <p:sldId id="288" r:id="rId11"/>
    <p:sldId id="287" r:id="rId12"/>
    <p:sldId id="289" r:id="rId13"/>
    <p:sldId id="291" r:id="rId14"/>
    <p:sldId id="290" r:id="rId15"/>
    <p:sldId id="292" r:id="rId16"/>
    <p:sldId id="293" r:id="rId17"/>
    <p:sldId id="294" r:id="rId18"/>
    <p:sldId id="295" r:id="rId19"/>
    <p:sldId id="297" r:id="rId20"/>
    <p:sldId id="298" r:id="rId21"/>
    <p:sldId id="299" r:id="rId22"/>
    <p:sldId id="300" r:id="rId23"/>
    <p:sldId id="308" r:id="rId2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F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9DE05A-61F5-49DF-BE18-798359339539}" type="doc">
      <dgm:prSet loTypeId="urn:microsoft.com/office/officeart/2005/8/layout/hProcess9" loCatId="process" qsTypeId="urn:microsoft.com/office/officeart/2005/8/quickstyle/simple1" qsCatId="simple" csTypeId="urn:microsoft.com/office/officeart/2005/8/colors/accent0_3" csCatId="mainScheme" phldr="1"/>
      <dgm:spPr/>
    </dgm:pt>
    <dgm:pt modelId="{E3327318-B520-4892-B6F6-CC3C05A9BA50}">
      <dgm:prSet phldrT="[Text]"/>
      <dgm:spPr/>
      <dgm:t>
        <a:bodyPr/>
        <a:lstStyle/>
        <a:p>
          <a:r>
            <a:rPr lang="en-US" dirty="0" smtClean="0"/>
            <a:t>Experience</a:t>
          </a:r>
          <a:endParaRPr lang="en-US" dirty="0"/>
        </a:p>
      </dgm:t>
    </dgm:pt>
    <dgm:pt modelId="{AC1921A7-DAD9-44EC-AD2B-B654E0679AA1}" type="parTrans" cxnId="{3CC5353E-47FA-4D17-AEEB-020F2E7A11B0}">
      <dgm:prSet/>
      <dgm:spPr/>
      <dgm:t>
        <a:bodyPr/>
        <a:lstStyle/>
        <a:p>
          <a:endParaRPr lang="en-US"/>
        </a:p>
      </dgm:t>
    </dgm:pt>
    <dgm:pt modelId="{87E785AC-9474-4260-AB3C-47C3DDDC66A8}" type="sibTrans" cxnId="{3CC5353E-47FA-4D17-AEEB-020F2E7A11B0}">
      <dgm:prSet/>
      <dgm:spPr/>
      <dgm:t>
        <a:bodyPr/>
        <a:lstStyle/>
        <a:p>
          <a:endParaRPr lang="en-US"/>
        </a:p>
      </dgm:t>
    </dgm:pt>
    <dgm:pt modelId="{32DD7560-9F4C-4A7D-9B4E-F1060815A0B9}">
      <dgm:prSet phldrT="[Text]"/>
      <dgm:spPr/>
      <dgm:t>
        <a:bodyPr/>
        <a:lstStyle/>
        <a:p>
          <a:r>
            <a:rPr lang="en-US" dirty="0" smtClean="0"/>
            <a:t>Interpretation</a:t>
          </a:r>
          <a:endParaRPr lang="en-US" dirty="0"/>
        </a:p>
      </dgm:t>
    </dgm:pt>
    <dgm:pt modelId="{16F5A7BE-8CF9-4F48-B383-30E73BD83376}" type="parTrans" cxnId="{0FD523EF-0B8E-4A1E-B6BE-0C39E4A46BB1}">
      <dgm:prSet/>
      <dgm:spPr/>
      <dgm:t>
        <a:bodyPr/>
        <a:lstStyle/>
        <a:p>
          <a:endParaRPr lang="en-US"/>
        </a:p>
      </dgm:t>
    </dgm:pt>
    <dgm:pt modelId="{EECC2EE7-010F-4F04-9DCA-C7C0C36B68AB}" type="sibTrans" cxnId="{0FD523EF-0B8E-4A1E-B6BE-0C39E4A46BB1}">
      <dgm:prSet/>
      <dgm:spPr/>
      <dgm:t>
        <a:bodyPr/>
        <a:lstStyle/>
        <a:p>
          <a:endParaRPr lang="en-US"/>
        </a:p>
      </dgm:t>
    </dgm:pt>
    <dgm:pt modelId="{46EC2A54-A4AE-4F81-B3F5-34B1331B1F5F}">
      <dgm:prSet phldrT="[Text]"/>
      <dgm:spPr/>
      <dgm:t>
        <a:bodyPr/>
        <a:lstStyle/>
        <a:p>
          <a:r>
            <a:rPr lang="en-US" dirty="0" smtClean="0"/>
            <a:t>Analysis</a:t>
          </a:r>
          <a:endParaRPr lang="en-US" dirty="0"/>
        </a:p>
      </dgm:t>
    </dgm:pt>
    <dgm:pt modelId="{D53A7FB4-D120-4728-8B32-55CE5B127B9E}" type="parTrans" cxnId="{A6C4323A-20DD-439A-B82B-FA1E879A9F29}">
      <dgm:prSet/>
      <dgm:spPr/>
      <dgm:t>
        <a:bodyPr/>
        <a:lstStyle/>
        <a:p>
          <a:endParaRPr lang="en-US"/>
        </a:p>
      </dgm:t>
    </dgm:pt>
    <dgm:pt modelId="{91F62CEF-F370-4F6C-B7F0-91F6DA527051}" type="sibTrans" cxnId="{A6C4323A-20DD-439A-B82B-FA1E879A9F29}">
      <dgm:prSet/>
      <dgm:spPr/>
      <dgm:t>
        <a:bodyPr/>
        <a:lstStyle/>
        <a:p>
          <a:endParaRPr lang="en-US"/>
        </a:p>
      </dgm:t>
    </dgm:pt>
    <dgm:pt modelId="{3A7FC325-5A56-4A57-B4E9-3F2A70BF5480}" type="pres">
      <dgm:prSet presAssocID="{A89DE05A-61F5-49DF-BE18-798359339539}" presName="CompostProcess" presStyleCnt="0">
        <dgm:presLayoutVars>
          <dgm:dir/>
          <dgm:resizeHandles val="exact"/>
        </dgm:presLayoutVars>
      </dgm:prSet>
      <dgm:spPr/>
    </dgm:pt>
    <dgm:pt modelId="{050173AB-E8CE-4AE5-A119-2CA030DD229C}" type="pres">
      <dgm:prSet presAssocID="{A89DE05A-61F5-49DF-BE18-798359339539}" presName="arrow" presStyleLbl="bgShp" presStyleIdx="0" presStyleCnt="1"/>
      <dgm:spPr/>
    </dgm:pt>
    <dgm:pt modelId="{61F780A8-3E9E-4C61-A2BF-E5E5B58B568F}" type="pres">
      <dgm:prSet presAssocID="{A89DE05A-61F5-49DF-BE18-798359339539}" presName="linearProcess" presStyleCnt="0"/>
      <dgm:spPr/>
    </dgm:pt>
    <dgm:pt modelId="{E82D5090-B12D-4462-8331-EDCAD391DDF8}" type="pres">
      <dgm:prSet presAssocID="{E3327318-B520-4892-B6F6-CC3C05A9BA50}" presName="textNode" presStyleLbl="node1" presStyleIdx="0" presStyleCnt="3">
        <dgm:presLayoutVars>
          <dgm:bulletEnabled val="1"/>
        </dgm:presLayoutVars>
      </dgm:prSet>
      <dgm:spPr/>
      <dgm:t>
        <a:bodyPr/>
        <a:lstStyle/>
        <a:p>
          <a:endParaRPr lang="en-US"/>
        </a:p>
      </dgm:t>
    </dgm:pt>
    <dgm:pt modelId="{D2A87DC1-F23C-4C7A-AF0B-57B3DB03D28A}" type="pres">
      <dgm:prSet presAssocID="{87E785AC-9474-4260-AB3C-47C3DDDC66A8}" presName="sibTrans" presStyleCnt="0"/>
      <dgm:spPr/>
    </dgm:pt>
    <dgm:pt modelId="{23B0E5DF-1C62-443F-A646-1673BDB0BB12}" type="pres">
      <dgm:prSet presAssocID="{32DD7560-9F4C-4A7D-9B4E-F1060815A0B9}" presName="textNode" presStyleLbl="node1" presStyleIdx="1" presStyleCnt="3">
        <dgm:presLayoutVars>
          <dgm:bulletEnabled val="1"/>
        </dgm:presLayoutVars>
      </dgm:prSet>
      <dgm:spPr/>
      <dgm:t>
        <a:bodyPr/>
        <a:lstStyle/>
        <a:p>
          <a:endParaRPr lang="en-US"/>
        </a:p>
      </dgm:t>
    </dgm:pt>
    <dgm:pt modelId="{53C8EB24-EADA-40C0-ADAA-6B6EB8F4C990}" type="pres">
      <dgm:prSet presAssocID="{EECC2EE7-010F-4F04-9DCA-C7C0C36B68AB}" presName="sibTrans" presStyleCnt="0"/>
      <dgm:spPr/>
    </dgm:pt>
    <dgm:pt modelId="{F71BEF2F-1E1D-49C2-804D-F32719393326}" type="pres">
      <dgm:prSet presAssocID="{46EC2A54-A4AE-4F81-B3F5-34B1331B1F5F}" presName="textNode" presStyleLbl="node1" presStyleIdx="2" presStyleCnt="3">
        <dgm:presLayoutVars>
          <dgm:bulletEnabled val="1"/>
        </dgm:presLayoutVars>
      </dgm:prSet>
      <dgm:spPr/>
      <dgm:t>
        <a:bodyPr/>
        <a:lstStyle/>
        <a:p>
          <a:endParaRPr lang="en-US"/>
        </a:p>
      </dgm:t>
    </dgm:pt>
  </dgm:ptLst>
  <dgm:cxnLst>
    <dgm:cxn modelId="{0FD523EF-0B8E-4A1E-B6BE-0C39E4A46BB1}" srcId="{A89DE05A-61F5-49DF-BE18-798359339539}" destId="{32DD7560-9F4C-4A7D-9B4E-F1060815A0B9}" srcOrd="1" destOrd="0" parTransId="{16F5A7BE-8CF9-4F48-B383-30E73BD83376}" sibTransId="{EECC2EE7-010F-4F04-9DCA-C7C0C36B68AB}"/>
    <dgm:cxn modelId="{09265692-6C2E-4CE8-8EBC-613CB3E67C8A}" type="presOf" srcId="{32DD7560-9F4C-4A7D-9B4E-F1060815A0B9}" destId="{23B0E5DF-1C62-443F-A646-1673BDB0BB12}" srcOrd="0" destOrd="0" presId="urn:microsoft.com/office/officeart/2005/8/layout/hProcess9"/>
    <dgm:cxn modelId="{3CC5353E-47FA-4D17-AEEB-020F2E7A11B0}" srcId="{A89DE05A-61F5-49DF-BE18-798359339539}" destId="{E3327318-B520-4892-B6F6-CC3C05A9BA50}" srcOrd="0" destOrd="0" parTransId="{AC1921A7-DAD9-44EC-AD2B-B654E0679AA1}" sibTransId="{87E785AC-9474-4260-AB3C-47C3DDDC66A8}"/>
    <dgm:cxn modelId="{25349DCE-AF20-4157-A72F-F6D51CC19AEE}" type="presOf" srcId="{A89DE05A-61F5-49DF-BE18-798359339539}" destId="{3A7FC325-5A56-4A57-B4E9-3F2A70BF5480}" srcOrd="0" destOrd="0" presId="urn:microsoft.com/office/officeart/2005/8/layout/hProcess9"/>
    <dgm:cxn modelId="{1774A60E-6058-40F2-880B-5C036825B2B1}" type="presOf" srcId="{46EC2A54-A4AE-4F81-B3F5-34B1331B1F5F}" destId="{F71BEF2F-1E1D-49C2-804D-F32719393326}" srcOrd="0" destOrd="0" presId="urn:microsoft.com/office/officeart/2005/8/layout/hProcess9"/>
    <dgm:cxn modelId="{A6C4323A-20DD-439A-B82B-FA1E879A9F29}" srcId="{A89DE05A-61F5-49DF-BE18-798359339539}" destId="{46EC2A54-A4AE-4F81-B3F5-34B1331B1F5F}" srcOrd="2" destOrd="0" parTransId="{D53A7FB4-D120-4728-8B32-55CE5B127B9E}" sibTransId="{91F62CEF-F370-4F6C-B7F0-91F6DA527051}"/>
    <dgm:cxn modelId="{5155F780-C83D-4BBD-8F8D-C51155331781}" type="presOf" srcId="{E3327318-B520-4892-B6F6-CC3C05A9BA50}" destId="{E82D5090-B12D-4462-8331-EDCAD391DDF8}" srcOrd="0" destOrd="0" presId="urn:microsoft.com/office/officeart/2005/8/layout/hProcess9"/>
    <dgm:cxn modelId="{E2A54B53-CD92-4200-99C3-E202BC6E7DF6}" type="presParOf" srcId="{3A7FC325-5A56-4A57-B4E9-3F2A70BF5480}" destId="{050173AB-E8CE-4AE5-A119-2CA030DD229C}" srcOrd="0" destOrd="0" presId="urn:microsoft.com/office/officeart/2005/8/layout/hProcess9"/>
    <dgm:cxn modelId="{E53F5078-25A1-4F50-B2E0-EEEBDA43D4F8}" type="presParOf" srcId="{3A7FC325-5A56-4A57-B4E9-3F2A70BF5480}" destId="{61F780A8-3E9E-4C61-A2BF-E5E5B58B568F}" srcOrd="1" destOrd="0" presId="urn:microsoft.com/office/officeart/2005/8/layout/hProcess9"/>
    <dgm:cxn modelId="{CE755400-1282-4035-B403-5F122ECB759D}" type="presParOf" srcId="{61F780A8-3E9E-4C61-A2BF-E5E5B58B568F}" destId="{E82D5090-B12D-4462-8331-EDCAD391DDF8}" srcOrd="0" destOrd="0" presId="urn:microsoft.com/office/officeart/2005/8/layout/hProcess9"/>
    <dgm:cxn modelId="{DF1DC40E-A78C-48D0-A6DC-EE8B803388CC}" type="presParOf" srcId="{61F780A8-3E9E-4C61-A2BF-E5E5B58B568F}" destId="{D2A87DC1-F23C-4C7A-AF0B-57B3DB03D28A}" srcOrd="1" destOrd="0" presId="urn:microsoft.com/office/officeart/2005/8/layout/hProcess9"/>
    <dgm:cxn modelId="{45E0EE10-4EDE-4163-96B2-FDF7B1ADAA38}" type="presParOf" srcId="{61F780A8-3E9E-4C61-A2BF-E5E5B58B568F}" destId="{23B0E5DF-1C62-443F-A646-1673BDB0BB12}" srcOrd="2" destOrd="0" presId="urn:microsoft.com/office/officeart/2005/8/layout/hProcess9"/>
    <dgm:cxn modelId="{ACF2F7FE-E3FE-492B-80C5-B7004BFC828D}" type="presParOf" srcId="{61F780A8-3E9E-4C61-A2BF-E5E5B58B568F}" destId="{53C8EB24-EADA-40C0-ADAA-6B6EB8F4C990}" srcOrd="3" destOrd="0" presId="urn:microsoft.com/office/officeart/2005/8/layout/hProcess9"/>
    <dgm:cxn modelId="{9CD29AA2-8570-4151-BACB-010B244BFA7D}" type="presParOf" srcId="{61F780A8-3E9E-4C61-A2BF-E5E5B58B568F}" destId="{F71BEF2F-1E1D-49C2-804D-F32719393326}"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0173AB-E8CE-4AE5-A119-2CA030DD229C}">
      <dsp:nvSpPr>
        <dsp:cNvPr id="0" name=""/>
        <dsp:cNvSpPr/>
      </dsp:nvSpPr>
      <dsp:spPr>
        <a:xfrm>
          <a:off x="646894" y="0"/>
          <a:ext cx="7331465" cy="2992315"/>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2D5090-B12D-4462-8331-EDCAD391DDF8}">
      <dsp:nvSpPr>
        <dsp:cNvPr id="0" name=""/>
        <dsp:cNvSpPr/>
      </dsp:nvSpPr>
      <dsp:spPr>
        <a:xfrm>
          <a:off x="1842" y="897694"/>
          <a:ext cx="2700340" cy="1196926"/>
        </a:xfrm>
        <a:prstGeom prst="roundRect">
          <a:avLst/>
        </a:prstGeom>
        <a:solidFill>
          <a:schemeClr val="dk2">
            <a:hueOff val="0"/>
            <a:satOff val="0"/>
            <a:lumOff val="0"/>
            <a:alphaOff val="0"/>
          </a:schemeClr>
        </a:solidFill>
        <a:ln w="34925" cap="flat" cmpd="sng" algn="in">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Experience</a:t>
          </a:r>
          <a:endParaRPr lang="en-US" sz="3200" kern="1200" dirty="0"/>
        </a:p>
      </dsp:txBody>
      <dsp:txXfrm>
        <a:off x="60271" y="956123"/>
        <a:ext cx="2583482" cy="1080068"/>
      </dsp:txXfrm>
    </dsp:sp>
    <dsp:sp modelId="{23B0E5DF-1C62-443F-A646-1673BDB0BB12}">
      <dsp:nvSpPr>
        <dsp:cNvPr id="0" name=""/>
        <dsp:cNvSpPr/>
      </dsp:nvSpPr>
      <dsp:spPr>
        <a:xfrm>
          <a:off x="2962456" y="897694"/>
          <a:ext cx="2700340" cy="1196926"/>
        </a:xfrm>
        <a:prstGeom prst="roundRect">
          <a:avLst/>
        </a:prstGeom>
        <a:solidFill>
          <a:schemeClr val="dk2">
            <a:hueOff val="0"/>
            <a:satOff val="0"/>
            <a:lumOff val="0"/>
            <a:alphaOff val="0"/>
          </a:schemeClr>
        </a:solidFill>
        <a:ln w="34925" cap="flat" cmpd="sng" algn="in">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Interpretation</a:t>
          </a:r>
          <a:endParaRPr lang="en-US" sz="3200" kern="1200" dirty="0"/>
        </a:p>
      </dsp:txBody>
      <dsp:txXfrm>
        <a:off x="3020885" y="956123"/>
        <a:ext cx="2583482" cy="1080068"/>
      </dsp:txXfrm>
    </dsp:sp>
    <dsp:sp modelId="{F71BEF2F-1E1D-49C2-804D-F32719393326}">
      <dsp:nvSpPr>
        <dsp:cNvPr id="0" name=""/>
        <dsp:cNvSpPr/>
      </dsp:nvSpPr>
      <dsp:spPr>
        <a:xfrm>
          <a:off x="5923071" y="897694"/>
          <a:ext cx="2700340" cy="1196926"/>
        </a:xfrm>
        <a:prstGeom prst="roundRect">
          <a:avLst/>
        </a:prstGeom>
        <a:solidFill>
          <a:schemeClr val="dk2">
            <a:hueOff val="0"/>
            <a:satOff val="0"/>
            <a:lumOff val="0"/>
            <a:alphaOff val="0"/>
          </a:schemeClr>
        </a:solidFill>
        <a:ln w="34925" cap="flat" cmpd="sng" algn="in">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Analysis</a:t>
          </a:r>
          <a:endParaRPr lang="en-US" sz="3200" kern="1200" dirty="0"/>
        </a:p>
      </dsp:txBody>
      <dsp:txXfrm>
        <a:off x="5981500" y="956123"/>
        <a:ext cx="2583482" cy="108006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C668590-ED39-46CC-8DB7-807C12E36B71}" type="datetimeFigureOut">
              <a:rPr lang="ru-RU" smtClean="0"/>
              <a:t>03.09.2026</a:t>
            </a:fld>
            <a:endParaRPr lang="ru-RU"/>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9B1F161-CE23-4B9C-96D8-8BD59AEEF2B0}" type="slidenum">
              <a:rPr lang="ru-RU" smtClean="0"/>
              <a:t>‹#›</a:t>
            </a:fld>
            <a:endParaRPr lang="ru-RU"/>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5723179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4C668590-ED39-46CC-8DB7-807C12E36B71}" type="datetimeFigureOut">
              <a:rPr lang="ru-RU" smtClean="0"/>
              <a:t>03.09.2026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9B1F161-CE23-4B9C-96D8-8BD59AEEF2B0}" type="slidenum">
              <a:rPr lang="ru-RU" smtClean="0"/>
              <a:t>‹#›</a:t>
            </a:fld>
            <a:endParaRPr lang="ru-RU"/>
          </a:p>
        </p:txBody>
      </p:sp>
    </p:spTree>
    <p:extLst>
      <p:ext uri="{BB962C8B-B14F-4D97-AF65-F5344CB8AC3E}">
        <p14:creationId xmlns:p14="http://schemas.microsoft.com/office/powerpoint/2010/main" val="3122095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4C668590-ED39-46CC-8DB7-807C12E36B71}" type="datetimeFigureOut">
              <a:rPr lang="ru-RU" smtClean="0"/>
              <a:t>03.09.2026</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9B1F161-CE23-4B9C-96D8-8BD59AEEF2B0}"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8833495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smtClean="0"/>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4C668590-ED39-46CC-8DB7-807C12E36B71}" type="datetimeFigureOut">
              <a:rPr lang="ru-RU" smtClean="0"/>
              <a:t>03.09.2026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59B1F161-CE23-4B9C-96D8-8BD59AEEF2B0}" type="slidenum">
              <a:rPr lang="ru-RU" smtClean="0"/>
              <a:t>‹#›</a:t>
            </a:fld>
            <a:endParaRPr lang="ru-RU"/>
          </a:p>
        </p:txBody>
      </p:sp>
    </p:spTree>
    <p:extLst>
      <p:ext uri="{BB962C8B-B14F-4D97-AF65-F5344CB8AC3E}">
        <p14:creationId xmlns:p14="http://schemas.microsoft.com/office/powerpoint/2010/main" val="3302356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4C668590-ED39-46CC-8DB7-807C12E36B71}" type="datetimeFigureOut">
              <a:rPr lang="ru-RU" smtClean="0"/>
              <a:t>03.09.2026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59B1F161-CE23-4B9C-96D8-8BD59AEEF2B0}" type="slidenum">
              <a:rPr lang="ru-RU" smtClean="0"/>
              <a:t>‹#›</a:t>
            </a:fld>
            <a:endParaRPr lang="ru-RU"/>
          </a:p>
        </p:txBody>
      </p:sp>
    </p:spTree>
    <p:extLst>
      <p:ext uri="{BB962C8B-B14F-4D97-AF65-F5344CB8AC3E}">
        <p14:creationId xmlns:p14="http://schemas.microsoft.com/office/powerpoint/2010/main" val="4147403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4C668590-ED39-46CC-8DB7-807C12E36B71}" type="datetimeFigureOut">
              <a:rPr lang="ru-RU" smtClean="0"/>
              <a:t>03.09.2026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59B1F161-CE23-4B9C-96D8-8BD59AEEF2B0}" type="slidenum">
              <a:rPr lang="ru-RU" smtClean="0"/>
              <a:t>‹#›</a:t>
            </a:fld>
            <a:endParaRPr lang="ru-RU"/>
          </a:p>
        </p:txBody>
      </p:sp>
    </p:spTree>
    <p:extLst>
      <p:ext uri="{BB962C8B-B14F-4D97-AF65-F5344CB8AC3E}">
        <p14:creationId xmlns:p14="http://schemas.microsoft.com/office/powerpoint/2010/main" val="899350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668590-ED39-46CC-8DB7-807C12E36B71}" type="datetimeFigureOut">
              <a:rPr lang="ru-RU" smtClean="0"/>
              <a:t>03.09.2026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59B1F161-CE23-4B9C-96D8-8BD59AEEF2B0}" type="slidenum">
              <a:rPr lang="ru-RU" smtClean="0"/>
              <a:t>‹#›</a:t>
            </a:fld>
            <a:endParaRPr lang="ru-RU"/>
          </a:p>
        </p:txBody>
      </p:sp>
    </p:spTree>
    <p:extLst>
      <p:ext uri="{BB962C8B-B14F-4D97-AF65-F5344CB8AC3E}">
        <p14:creationId xmlns:p14="http://schemas.microsoft.com/office/powerpoint/2010/main" val="3963029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C668590-ED39-46CC-8DB7-807C12E36B71}" type="datetimeFigureOut">
              <a:rPr lang="ru-RU" smtClean="0"/>
              <a:t>03.09.2026</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9B1F161-CE23-4B9C-96D8-8BD59AEEF2B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50240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C668590-ED39-46CC-8DB7-807C12E36B71}" type="datetimeFigureOut">
              <a:rPr lang="ru-RU" smtClean="0"/>
              <a:t>03.09.2026</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9B1F161-CE23-4B9C-96D8-8BD59AEEF2B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22622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4C668590-ED39-46CC-8DB7-807C12E36B71}" type="datetimeFigureOut">
              <a:rPr lang="ru-RU" smtClean="0"/>
              <a:t>03.09.2026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9B1F161-CE23-4B9C-96D8-8BD59AEEF2B0}" type="slidenum">
              <a:rPr lang="ru-RU" smtClean="0"/>
              <a:t>‹#›</a:t>
            </a:fld>
            <a:endParaRPr lang="ru-RU"/>
          </a:p>
        </p:txBody>
      </p:sp>
    </p:spTree>
    <p:extLst>
      <p:ext uri="{BB962C8B-B14F-4D97-AF65-F5344CB8AC3E}">
        <p14:creationId xmlns:p14="http://schemas.microsoft.com/office/powerpoint/2010/main" val="3838933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4C668590-ED39-46CC-8DB7-807C12E36B71}" type="datetimeFigureOut">
              <a:rPr lang="ru-RU" smtClean="0"/>
              <a:t>03.09.2026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59B1F161-CE23-4B9C-96D8-8BD59AEEF2B0}" type="slidenum">
              <a:rPr lang="ru-RU" smtClean="0"/>
              <a:t>‹#›</a:t>
            </a:fld>
            <a:endParaRPr lang="ru-RU"/>
          </a:p>
        </p:txBody>
      </p:sp>
    </p:spTree>
    <p:extLst>
      <p:ext uri="{BB962C8B-B14F-4D97-AF65-F5344CB8AC3E}">
        <p14:creationId xmlns:p14="http://schemas.microsoft.com/office/powerpoint/2010/main" val="1899905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C668590-ED39-46CC-8DB7-807C12E36B71}" type="datetimeFigureOut">
              <a:rPr lang="ru-RU" smtClean="0"/>
              <a:t>03.09.2026</a:t>
            </a:fld>
            <a:endParaRPr lang="ru-RU"/>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ru-RU"/>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9B1F161-CE23-4B9C-96D8-8BD59AEEF2B0}" type="slidenum">
              <a:rPr lang="ru-RU" smtClean="0"/>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76755702"/>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vuMt8b4UrcI"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iXv91xFipLM&amp;t=144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839654" y="1999437"/>
            <a:ext cx="8512175" cy="2421464"/>
          </a:xfrm>
        </p:spPr>
        <p:txBody>
          <a:bodyPr>
            <a:normAutofit fontScale="90000"/>
          </a:bodyPr>
          <a:lstStyle/>
          <a:p>
            <a:r>
              <a:rPr lang="en-US" sz="6000" b="1" dirty="0"/>
              <a:t>Distinguished Lecture in Social Science and Art</a:t>
            </a:r>
            <a:r>
              <a:rPr lang="en-US" sz="5400" dirty="0"/>
              <a:t/>
            </a:r>
            <a:br>
              <a:rPr lang="en-US" sz="5400" dirty="0"/>
            </a:br>
            <a:r>
              <a:rPr lang="en-US" sz="4900" dirty="0"/>
              <a:t>Introduction</a:t>
            </a:r>
            <a:r>
              <a:rPr lang="en-US" sz="6000" b="1" dirty="0" smtClean="0"/>
              <a:t/>
            </a:r>
            <a:br>
              <a:rPr lang="en-US" sz="6000" b="1" dirty="0" smtClean="0"/>
            </a:br>
            <a:r>
              <a:rPr lang="en-US" sz="2400" dirty="0"/>
              <a:t>(Chapter 1 &amp; Syllabus)</a:t>
            </a:r>
            <a:endParaRPr lang="ru-RU" sz="2700" dirty="0"/>
          </a:p>
        </p:txBody>
      </p:sp>
      <p:sp>
        <p:nvSpPr>
          <p:cNvPr id="3" name="Подзаголовок 2"/>
          <p:cNvSpPr>
            <a:spLocks noGrp="1"/>
          </p:cNvSpPr>
          <p:nvPr>
            <p:ph type="subTitle" idx="1"/>
          </p:nvPr>
        </p:nvSpPr>
        <p:spPr>
          <a:xfrm>
            <a:off x="2679904" y="4325555"/>
            <a:ext cx="6831673" cy="1086237"/>
          </a:xfrm>
        </p:spPr>
        <p:txBody>
          <a:bodyPr/>
          <a:lstStyle/>
          <a:p>
            <a:endParaRPr lang="en-US" dirty="0" smtClean="0"/>
          </a:p>
          <a:p>
            <a:r>
              <a:rPr lang="en-US" dirty="0" smtClean="0"/>
              <a:t>Bobir Muratov</a:t>
            </a:r>
            <a:endParaRPr lang="ru-RU" dirty="0"/>
          </a:p>
        </p:txBody>
      </p:sp>
    </p:spTree>
    <p:extLst>
      <p:ext uri="{BB962C8B-B14F-4D97-AF65-F5344CB8AC3E}">
        <p14:creationId xmlns:p14="http://schemas.microsoft.com/office/powerpoint/2010/main" val="35233410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Social Science, Humanities, and Arts? </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880123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Science, Humanities, and Arts</a:t>
            </a:r>
            <a:endParaRPr lang="en-US" dirty="0"/>
          </a:p>
        </p:txBody>
      </p:sp>
      <p:sp>
        <p:nvSpPr>
          <p:cNvPr id="3" name="Content Placeholder 2"/>
          <p:cNvSpPr>
            <a:spLocks noGrp="1"/>
          </p:cNvSpPr>
          <p:nvPr>
            <p:ph idx="1"/>
          </p:nvPr>
        </p:nvSpPr>
        <p:spPr>
          <a:xfrm>
            <a:off x="1371600" y="2171701"/>
            <a:ext cx="9601200" cy="4079630"/>
          </a:xfrm>
        </p:spPr>
        <p:txBody>
          <a:bodyPr>
            <a:normAutofit fontScale="92500"/>
          </a:bodyPr>
          <a:lstStyle/>
          <a:p>
            <a:r>
              <a:rPr lang="en-US" b="1" dirty="0" smtClean="0"/>
              <a:t>Social </a:t>
            </a:r>
            <a:r>
              <a:rPr lang="en-US" b="1" dirty="0"/>
              <a:t>science </a:t>
            </a:r>
            <a:r>
              <a:rPr lang="en-US" dirty="0"/>
              <a:t>is the study of people: as individuals, communities and societies; their behaviors and interactions with each other and with their built, technological and natural environments. Social science seeks to understand the evolving human systems across our increasingly complex world and how our planet can be more sustainably managed</a:t>
            </a:r>
            <a:r>
              <a:rPr lang="en-US" dirty="0" smtClean="0"/>
              <a:t>.</a:t>
            </a:r>
          </a:p>
          <a:p>
            <a:r>
              <a:rPr lang="en-US" dirty="0" smtClean="0"/>
              <a:t>Anthropology, Economics, Political Science, Sociology, Social Psychology</a:t>
            </a:r>
          </a:p>
          <a:p>
            <a:r>
              <a:rPr lang="en-US" b="1" dirty="0" smtClean="0"/>
              <a:t>Humanities</a:t>
            </a:r>
            <a:r>
              <a:rPr lang="en-US" dirty="0" smtClean="0"/>
              <a:t> </a:t>
            </a:r>
            <a:r>
              <a:rPr lang="en-US" dirty="0"/>
              <a:t>help us understand human history, culture, communities, and beliefs. In the humanities, we explore how people have created their world and how they in turn have been formed by the world around them.  The humanities are critical, speculative, and reflective. They help us to understand our lives and the lives of others. </a:t>
            </a:r>
            <a:endParaRPr lang="en-US" dirty="0" smtClean="0"/>
          </a:p>
          <a:p>
            <a:r>
              <a:rPr lang="en-US" dirty="0" smtClean="0"/>
              <a:t>History, Literature, Philosophy, Religion, Language, The Arts</a:t>
            </a:r>
          </a:p>
          <a:p>
            <a:r>
              <a:rPr lang="en-US" b="1" dirty="0"/>
              <a:t>The arts </a:t>
            </a:r>
            <a:r>
              <a:rPr lang="en-US" dirty="0"/>
              <a:t>is modes of expression that use skill or imagination in the creation of aesthetic objects, environments, or experiences that can be shared with others</a:t>
            </a:r>
            <a:r>
              <a:rPr lang="en-US" dirty="0" smtClean="0"/>
              <a:t>.</a:t>
            </a:r>
            <a:endParaRPr lang="en-US" dirty="0"/>
          </a:p>
        </p:txBody>
      </p:sp>
    </p:spTree>
    <p:extLst>
      <p:ext uri="{BB962C8B-B14F-4D97-AF65-F5344CB8AC3E}">
        <p14:creationId xmlns:p14="http://schemas.microsoft.com/office/powerpoint/2010/main" val="7921784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need them? </a:t>
            </a:r>
            <a:br>
              <a:rPr lang="en-US" dirty="0" smtClean="0"/>
            </a:br>
            <a:r>
              <a:rPr lang="en-US" dirty="0" smtClean="0"/>
              <a:t>Why do you need this subject?</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4006613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a:t>
            </a:r>
            <a:r>
              <a:rPr lang="en-US" dirty="0" smtClean="0"/>
              <a:t>Description</a:t>
            </a:r>
            <a:endParaRPr lang="en-US" dirty="0"/>
          </a:p>
        </p:txBody>
      </p:sp>
      <p:sp>
        <p:nvSpPr>
          <p:cNvPr id="3" name="Content Placeholder 2"/>
          <p:cNvSpPr>
            <a:spLocks noGrp="1"/>
          </p:cNvSpPr>
          <p:nvPr>
            <p:ph idx="1"/>
          </p:nvPr>
        </p:nvSpPr>
        <p:spPr/>
        <p:txBody>
          <a:bodyPr>
            <a:normAutofit/>
          </a:bodyPr>
          <a:lstStyle/>
          <a:p>
            <a:r>
              <a:rPr lang="en-US" sz="2400" dirty="0"/>
              <a:t>The aim of this course is to introduce computer science and engineering students to critical thinking skills and contemporary issues and debates in social sciences, humanities, arts, and technology. By engaging in these discussions, students will be able broaden their horizons beyond their major fields, build critical reflection skills, and foster creativity and ethical awareness.</a:t>
            </a:r>
          </a:p>
        </p:txBody>
      </p:sp>
    </p:spTree>
    <p:extLst>
      <p:ext uri="{BB962C8B-B14F-4D97-AF65-F5344CB8AC3E}">
        <p14:creationId xmlns:p14="http://schemas.microsoft.com/office/powerpoint/2010/main" val="5157155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a:t>
            </a:r>
            <a:endParaRPr lang="en-US" dirty="0"/>
          </a:p>
        </p:txBody>
      </p:sp>
      <p:graphicFrame>
        <p:nvGraphicFramePr>
          <p:cNvPr id="5" name="Content Placeholder 4"/>
          <p:cNvGraphicFramePr>
            <a:graphicFrameLocks noGrp="1"/>
          </p:cNvGraphicFramePr>
          <p:nvPr>
            <p:ph idx="1"/>
          </p:nvPr>
        </p:nvGraphicFramePr>
        <p:xfrm>
          <a:off x="1951893" y="1670531"/>
          <a:ext cx="8097714" cy="4989449"/>
        </p:xfrm>
        <a:graphic>
          <a:graphicData uri="http://schemas.openxmlformats.org/drawingml/2006/table">
            <a:tbl>
              <a:tblPr firstRow="1" firstCol="1" bandRow="1">
                <a:tableStyleId>{7E9639D4-E3E2-4D34-9284-5A2195B3D0D7}</a:tableStyleId>
              </a:tblPr>
              <a:tblGrid>
                <a:gridCol w="782514">
                  <a:extLst>
                    <a:ext uri="{9D8B030D-6E8A-4147-A177-3AD203B41FA5}">
                      <a16:colId xmlns:a16="http://schemas.microsoft.com/office/drawing/2014/main" val="2723648886"/>
                    </a:ext>
                  </a:extLst>
                </a:gridCol>
                <a:gridCol w="7315200">
                  <a:extLst>
                    <a:ext uri="{9D8B030D-6E8A-4147-A177-3AD203B41FA5}">
                      <a16:colId xmlns:a16="http://schemas.microsoft.com/office/drawing/2014/main" val="3321840702"/>
                    </a:ext>
                  </a:extLst>
                </a:gridCol>
              </a:tblGrid>
              <a:tr h="262218">
                <a:tc gridSpan="2">
                  <a:txBody>
                    <a:bodyPr/>
                    <a:lstStyle/>
                    <a:p>
                      <a:pPr marL="0" marR="0" algn="ctr">
                        <a:lnSpc>
                          <a:spcPct val="107000"/>
                        </a:lnSpc>
                        <a:spcBef>
                          <a:spcPts val="0"/>
                        </a:spcBef>
                        <a:spcAft>
                          <a:spcPts val="0"/>
                        </a:spcAft>
                      </a:pPr>
                      <a:r>
                        <a:rPr lang="en-US" sz="1800" dirty="0" smtClean="0">
                          <a:effectLst/>
                        </a:rPr>
                        <a:t>Weekly schedule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594306108"/>
                  </a:ext>
                </a:extLst>
              </a:tr>
              <a:tr h="262218">
                <a:tc>
                  <a:txBody>
                    <a:bodyPr/>
                    <a:lstStyle/>
                    <a:p>
                      <a:pPr marL="0" marR="0" algn="ctr">
                        <a:lnSpc>
                          <a:spcPct val="107000"/>
                        </a:lnSpc>
                        <a:spcBef>
                          <a:spcPts val="0"/>
                        </a:spcBef>
                        <a:spcAft>
                          <a:spcPts val="0"/>
                        </a:spcAft>
                      </a:pPr>
                      <a:r>
                        <a:rPr lang="en-US" sz="1800" b="1" dirty="0">
                          <a:effectLst/>
                        </a:rPr>
                        <a:t>Week</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effectLst/>
                        </a:rPr>
                        <a:t>Class Details</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5286049"/>
                  </a:ext>
                </a:extLst>
              </a:tr>
              <a:tr h="262218">
                <a:tc>
                  <a:txBody>
                    <a:bodyPr/>
                    <a:lstStyle/>
                    <a:p>
                      <a:pPr marL="0" marR="0" algn="ctr">
                        <a:lnSpc>
                          <a:spcPct val="107000"/>
                        </a:lnSpc>
                        <a:spcBef>
                          <a:spcPts val="0"/>
                        </a:spcBef>
                        <a:spcAft>
                          <a:spcPts val="0"/>
                        </a:spcAft>
                      </a:pPr>
                      <a:r>
                        <a:rPr lang="en-US" sz="1800" b="0" dirty="0">
                          <a:effectLst/>
                        </a:rPr>
                        <a:t>1</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Introduction, Chapter 1. Critical Thinking: Why it’s Important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77433126"/>
                  </a:ext>
                </a:extLst>
              </a:tr>
              <a:tr h="262218">
                <a:tc>
                  <a:txBody>
                    <a:bodyPr/>
                    <a:lstStyle/>
                    <a:p>
                      <a:pPr marL="0" marR="0" algn="ctr">
                        <a:lnSpc>
                          <a:spcPct val="107000"/>
                        </a:lnSpc>
                        <a:spcBef>
                          <a:spcPts val="0"/>
                        </a:spcBef>
                        <a:spcAft>
                          <a:spcPts val="0"/>
                        </a:spcAft>
                      </a:pPr>
                      <a:r>
                        <a:rPr lang="en-US" sz="1800" b="0" dirty="0">
                          <a:effectLst/>
                        </a:rPr>
                        <a:t>2</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Chapter 2. Reason &amp; Emotion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46972356"/>
                  </a:ext>
                </a:extLst>
              </a:tr>
              <a:tr h="262218">
                <a:tc>
                  <a:txBody>
                    <a:bodyPr/>
                    <a:lstStyle/>
                    <a:p>
                      <a:pPr marL="0" marR="0" algn="ctr">
                        <a:lnSpc>
                          <a:spcPct val="107000"/>
                        </a:lnSpc>
                        <a:spcBef>
                          <a:spcPts val="0"/>
                        </a:spcBef>
                        <a:spcAft>
                          <a:spcPts val="0"/>
                        </a:spcAft>
                      </a:pPr>
                      <a:r>
                        <a:rPr lang="en-US" sz="1800" b="0" dirty="0">
                          <a:effectLst/>
                        </a:rPr>
                        <a:t>3</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Chapter 4. Knowledge, Evidence &amp; Errors in Thinking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23587704"/>
                  </a:ext>
                </a:extLst>
              </a:tr>
              <a:tr h="262218">
                <a:tc>
                  <a:txBody>
                    <a:bodyPr/>
                    <a:lstStyle/>
                    <a:p>
                      <a:pPr marL="0" marR="0" algn="ctr">
                        <a:lnSpc>
                          <a:spcPct val="107000"/>
                        </a:lnSpc>
                        <a:spcBef>
                          <a:spcPts val="0"/>
                        </a:spcBef>
                        <a:spcAft>
                          <a:spcPts val="0"/>
                        </a:spcAft>
                      </a:pPr>
                      <a:r>
                        <a:rPr lang="en-US" sz="1800" b="0" dirty="0">
                          <a:effectLst/>
                        </a:rPr>
                        <a:t>4</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Chapter 5. Informal Fallacies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2924117"/>
                  </a:ext>
                </a:extLst>
              </a:tr>
              <a:tr h="262218">
                <a:tc>
                  <a:txBody>
                    <a:bodyPr/>
                    <a:lstStyle/>
                    <a:p>
                      <a:pPr marL="0" marR="0" algn="ctr">
                        <a:lnSpc>
                          <a:spcPct val="107000"/>
                        </a:lnSpc>
                        <a:spcBef>
                          <a:spcPts val="0"/>
                        </a:spcBef>
                        <a:spcAft>
                          <a:spcPts val="0"/>
                        </a:spcAft>
                      </a:pPr>
                      <a:r>
                        <a:rPr lang="en-US" sz="1800" b="0" dirty="0">
                          <a:effectLst/>
                        </a:rPr>
                        <a:t>5</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Chapter 6. Recognizing, Analyzing &amp; Constructing Arguments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4926424"/>
                  </a:ext>
                </a:extLst>
              </a:tr>
              <a:tr h="262218">
                <a:tc>
                  <a:txBody>
                    <a:bodyPr/>
                    <a:lstStyle/>
                    <a:p>
                      <a:pPr marL="0" marR="0" algn="ctr">
                        <a:lnSpc>
                          <a:spcPct val="107000"/>
                        </a:lnSpc>
                        <a:spcBef>
                          <a:spcPts val="0"/>
                        </a:spcBef>
                        <a:spcAft>
                          <a:spcPts val="0"/>
                        </a:spcAft>
                      </a:pPr>
                      <a:r>
                        <a:rPr lang="en-US" sz="1800" b="0" dirty="0">
                          <a:effectLst/>
                        </a:rPr>
                        <a:t>6</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Chapter 11. Marketing, Mass Media, Politics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37041207"/>
                  </a:ext>
                </a:extLst>
              </a:tr>
              <a:tr h="262218">
                <a:tc>
                  <a:txBody>
                    <a:bodyPr/>
                    <a:lstStyle/>
                    <a:p>
                      <a:pPr marL="0" marR="0" algn="ctr">
                        <a:lnSpc>
                          <a:spcPct val="107000"/>
                        </a:lnSpc>
                        <a:spcBef>
                          <a:spcPts val="0"/>
                        </a:spcBef>
                        <a:spcAft>
                          <a:spcPts val="0"/>
                        </a:spcAft>
                      </a:pPr>
                      <a:r>
                        <a:rPr lang="en-US" sz="1800" b="0" dirty="0">
                          <a:effectLst/>
                        </a:rPr>
                        <a:t>7</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Chapter 12. Science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40677067"/>
                  </a:ext>
                </a:extLst>
              </a:tr>
              <a:tr h="262218">
                <a:tc>
                  <a:txBody>
                    <a:bodyPr/>
                    <a:lstStyle/>
                    <a:p>
                      <a:pPr marL="0" marR="0" algn="ctr">
                        <a:lnSpc>
                          <a:spcPct val="107000"/>
                        </a:lnSpc>
                        <a:spcBef>
                          <a:spcPts val="0"/>
                        </a:spcBef>
                        <a:spcAft>
                          <a:spcPts val="0"/>
                        </a:spcAft>
                      </a:pPr>
                      <a:r>
                        <a:rPr lang="en-US" sz="1800" b="0" dirty="0">
                          <a:effectLst/>
                        </a:rPr>
                        <a:t>8</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b="1" dirty="0">
                          <a:effectLst/>
                        </a:rPr>
                        <a:t>Midterm - offline</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111864196"/>
                  </a:ext>
                </a:extLst>
              </a:tr>
              <a:tr h="262218">
                <a:tc>
                  <a:txBody>
                    <a:bodyPr/>
                    <a:lstStyle/>
                    <a:p>
                      <a:pPr marL="0" marR="0" algn="ctr">
                        <a:lnSpc>
                          <a:spcPct val="107000"/>
                        </a:lnSpc>
                        <a:spcBef>
                          <a:spcPts val="0"/>
                        </a:spcBef>
                        <a:spcAft>
                          <a:spcPts val="0"/>
                        </a:spcAft>
                      </a:pPr>
                      <a:r>
                        <a:rPr lang="en-US" sz="1800" b="0" dirty="0">
                          <a:effectLst/>
                        </a:rPr>
                        <a:t>9</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dirty="0">
                          <a:effectLst/>
                        </a:rPr>
                        <a:t>Social Science Lecture 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52080305"/>
                  </a:ext>
                </a:extLst>
              </a:tr>
              <a:tr h="262218">
                <a:tc>
                  <a:txBody>
                    <a:bodyPr/>
                    <a:lstStyle/>
                    <a:p>
                      <a:pPr marL="0" marR="0" algn="ctr">
                        <a:lnSpc>
                          <a:spcPct val="107000"/>
                        </a:lnSpc>
                        <a:spcBef>
                          <a:spcPts val="0"/>
                        </a:spcBef>
                        <a:spcAft>
                          <a:spcPts val="0"/>
                        </a:spcAft>
                      </a:pPr>
                      <a:r>
                        <a:rPr lang="en-US" sz="1800" b="0" dirty="0">
                          <a:effectLst/>
                        </a:rPr>
                        <a:t>10</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Social Science Lecture 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89159171"/>
                  </a:ext>
                </a:extLst>
              </a:tr>
              <a:tr h="262218">
                <a:tc>
                  <a:txBody>
                    <a:bodyPr/>
                    <a:lstStyle/>
                    <a:p>
                      <a:pPr marL="0" marR="0" algn="ctr">
                        <a:lnSpc>
                          <a:spcPct val="107000"/>
                        </a:lnSpc>
                        <a:spcBef>
                          <a:spcPts val="0"/>
                        </a:spcBef>
                        <a:spcAft>
                          <a:spcPts val="0"/>
                        </a:spcAft>
                      </a:pPr>
                      <a:r>
                        <a:rPr lang="en-US" sz="1800" b="0" dirty="0">
                          <a:effectLst/>
                        </a:rPr>
                        <a:t>11</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a:effectLst/>
                        </a:rPr>
                        <a:t>Social Science Lecture 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806040219"/>
                  </a:ext>
                </a:extLst>
              </a:tr>
              <a:tr h="262218">
                <a:tc>
                  <a:txBody>
                    <a:bodyPr/>
                    <a:lstStyle/>
                    <a:p>
                      <a:pPr marL="0" marR="0" algn="ctr">
                        <a:lnSpc>
                          <a:spcPct val="107000"/>
                        </a:lnSpc>
                        <a:spcBef>
                          <a:spcPts val="0"/>
                        </a:spcBef>
                        <a:spcAft>
                          <a:spcPts val="0"/>
                        </a:spcAft>
                      </a:pPr>
                      <a:r>
                        <a:rPr lang="en-US" sz="1800" b="0" dirty="0">
                          <a:effectLst/>
                        </a:rPr>
                        <a:t>12</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b="1" dirty="0">
                          <a:effectLst/>
                        </a:rPr>
                        <a:t>Debates - offline on Saturday</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90535843"/>
                  </a:ext>
                </a:extLst>
              </a:tr>
              <a:tr h="262218">
                <a:tc>
                  <a:txBody>
                    <a:bodyPr/>
                    <a:lstStyle/>
                    <a:p>
                      <a:pPr marL="0" marR="0" algn="ctr">
                        <a:lnSpc>
                          <a:spcPct val="107000"/>
                        </a:lnSpc>
                        <a:spcBef>
                          <a:spcPts val="0"/>
                        </a:spcBef>
                        <a:spcAft>
                          <a:spcPts val="0"/>
                        </a:spcAft>
                      </a:pPr>
                      <a:r>
                        <a:rPr lang="en-US" sz="1800" b="0" dirty="0">
                          <a:effectLst/>
                        </a:rPr>
                        <a:t>13</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b="1" dirty="0">
                          <a:effectLst/>
                        </a:rPr>
                        <a:t>Debates - offline on Saturday</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307169557"/>
                  </a:ext>
                </a:extLst>
              </a:tr>
              <a:tr h="262218">
                <a:tc>
                  <a:txBody>
                    <a:bodyPr/>
                    <a:lstStyle/>
                    <a:p>
                      <a:pPr marL="0" marR="0" algn="ctr">
                        <a:lnSpc>
                          <a:spcPct val="107000"/>
                        </a:lnSpc>
                        <a:spcBef>
                          <a:spcPts val="0"/>
                        </a:spcBef>
                        <a:spcAft>
                          <a:spcPts val="0"/>
                        </a:spcAft>
                      </a:pPr>
                      <a:r>
                        <a:rPr lang="en-US" sz="1800" b="0" dirty="0">
                          <a:effectLst/>
                        </a:rPr>
                        <a:t>14</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b="1" dirty="0">
                          <a:effectLst/>
                        </a:rPr>
                        <a:t>Debates - offline on Saturday</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21975322"/>
                  </a:ext>
                </a:extLst>
              </a:tr>
              <a:tr h="262218">
                <a:tc>
                  <a:txBody>
                    <a:bodyPr/>
                    <a:lstStyle/>
                    <a:p>
                      <a:pPr marL="0" marR="0" algn="ctr">
                        <a:lnSpc>
                          <a:spcPct val="107000"/>
                        </a:lnSpc>
                        <a:spcBef>
                          <a:spcPts val="0"/>
                        </a:spcBef>
                        <a:spcAft>
                          <a:spcPts val="0"/>
                        </a:spcAft>
                      </a:pPr>
                      <a:r>
                        <a:rPr lang="en-US" sz="1800" b="0" dirty="0">
                          <a:effectLst/>
                        </a:rPr>
                        <a:t>15</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800" dirty="0">
                          <a:effectLst/>
                        </a:rPr>
                        <a:t>Final week - no exam</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22462400"/>
                  </a:ext>
                </a:extLst>
              </a:tr>
            </a:tbl>
          </a:graphicData>
        </a:graphic>
      </p:graphicFrame>
    </p:spTree>
    <p:extLst>
      <p:ext uri="{BB962C8B-B14F-4D97-AF65-F5344CB8AC3E}">
        <p14:creationId xmlns:p14="http://schemas.microsoft.com/office/powerpoint/2010/main" val="12989581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Grading</a:t>
            </a:r>
            <a:endParaRPr lang="en-US" dirty="0"/>
          </a:p>
        </p:txBody>
      </p:sp>
      <p:sp>
        <p:nvSpPr>
          <p:cNvPr id="3" name="Content Placeholder 2"/>
          <p:cNvSpPr>
            <a:spLocks noGrp="1"/>
          </p:cNvSpPr>
          <p:nvPr>
            <p:ph idx="1"/>
          </p:nvPr>
        </p:nvSpPr>
        <p:spPr/>
        <p:txBody>
          <a:bodyPr>
            <a:normAutofit lnSpcReduction="10000"/>
          </a:bodyPr>
          <a:lstStyle/>
          <a:p>
            <a:r>
              <a:rPr lang="en-US" b="1" dirty="0"/>
              <a:t>Attendance</a:t>
            </a:r>
            <a:r>
              <a:rPr lang="en-US" dirty="0"/>
              <a:t> (20%) – watching weekly lectures and videos</a:t>
            </a:r>
          </a:p>
          <a:p>
            <a:r>
              <a:rPr lang="en-US" b="1" dirty="0"/>
              <a:t>Quiz (20%) – </a:t>
            </a:r>
            <a:r>
              <a:rPr lang="en-US" dirty="0"/>
              <a:t>related to lecture materials</a:t>
            </a:r>
          </a:p>
          <a:p>
            <a:r>
              <a:rPr lang="en-US" b="1" dirty="0"/>
              <a:t>Midterm</a:t>
            </a:r>
            <a:r>
              <a:rPr lang="en-US" dirty="0"/>
              <a:t> (30%) – based on Critical Thinking chapters (weeks 1-7) </a:t>
            </a:r>
          </a:p>
          <a:p>
            <a:r>
              <a:rPr lang="en-US" b="1" dirty="0"/>
              <a:t>Debate</a:t>
            </a:r>
            <a:r>
              <a:rPr lang="en-US" dirty="0"/>
              <a:t> (30%) – group project, will be conducted in the last month of semester. Details will follow</a:t>
            </a:r>
            <a:r>
              <a:rPr lang="en-US" dirty="0" smtClean="0"/>
              <a:t>.</a:t>
            </a:r>
          </a:p>
          <a:p>
            <a:endParaRPr lang="en-US" dirty="0"/>
          </a:p>
          <a:p>
            <a:r>
              <a:rPr lang="en-US" dirty="0" smtClean="0"/>
              <a:t>Pass mark – 40%</a:t>
            </a:r>
          </a:p>
          <a:p>
            <a:r>
              <a:rPr lang="en-US" dirty="0" smtClean="0"/>
              <a:t>F for missing more than 25% of online lectures (4th miss – F)</a:t>
            </a:r>
          </a:p>
          <a:p>
            <a:r>
              <a:rPr lang="en-US" dirty="0" smtClean="0"/>
              <a:t>No excuses as this is an online class</a:t>
            </a:r>
            <a:endParaRPr lang="en-US" dirty="0"/>
          </a:p>
        </p:txBody>
      </p:sp>
    </p:spTree>
    <p:extLst>
      <p:ext uri="{BB962C8B-B14F-4D97-AF65-F5344CB8AC3E}">
        <p14:creationId xmlns:p14="http://schemas.microsoft.com/office/powerpoint/2010/main" val="378244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Communication</a:t>
            </a:r>
            <a:endParaRPr lang="ru-RU" dirty="0"/>
          </a:p>
        </p:txBody>
      </p:sp>
      <p:sp>
        <p:nvSpPr>
          <p:cNvPr id="3" name="Объект 2"/>
          <p:cNvSpPr>
            <a:spLocks noGrp="1"/>
          </p:cNvSpPr>
          <p:nvPr>
            <p:ph idx="1"/>
          </p:nvPr>
        </p:nvSpPr>
        <p:spPr>
          <a:xfrm>
            <a:off x="1371600" y="2171700"/>
            <a:ext cx="9601200" cy="3912578"/>
          </a:xfrm>
        </p:spPr>
        <p:txBody>
          <a:bodyPr>
            <a:normAutofit fontScale="92500" lnSpcReduction="10000"/>
          </a:bodyPr>
          <a:lstStyle/>
          <a:p>
            <a:r>
              <a:rPr lang="en-US" dirty="0" smtClean="0"/>
              <a:t>Office: B410</a:t>
            </a:r>
          </a:p>
          <a:p>
            <a:r>
              <a:rPr lang="en-US" dirty="0" smtClean="0"/>
              <a:t>Office hours: TBA after the timetable fix</a:t>
            </a:r>
          </a:p>
          <a:p>
            <a:endParaRPr lang="en-US" dirty="0" smtClean="0"/>
          </a:p>
          <a:p>
            <a:r>
              <a:rPr lang="en-US" dirty="0" smtClean="0"/>
              <a:t>E-class: message</a:t>
            </a:r>
          </a:p>
          <a:p>
            <a:r>
              <a:rPr lang="en-US" dirty="0" smtClean="0"/>
              <a:t>Email: b.muratov@inha.uz</a:t>
            </a:r>
            <a:endParaRPr lang="en-US" dirty="0"/>
          </a:p>
          <a:p>
            <a:r>
              <a:rPr lang="en-US" dirty="0" smtClean="0"/>
              <a:t>Curator </a:t>
            </a:r>
          </a:p>
          <a:p>
            <a:r>
              <a:rPr lang="en-US" dirty="0" smtClean="0"/>
              <a:t>Teaching Assistant: </a:t>
            </a:r>
            <a:r>
              <a:rPr lang="en-US" dirty="0" err="1" smtClean="0"/>
              <a:t>Firdavs</a:t>
            </a:r>
            <a:r>
              <a:rPr lang="en-US" dirty="0" smtClean="0"/>
              <a:t> </a:t>
            </a:r>
            <a:r>
              <a:rPr lang="en-US" dirty="0" err="1" smtClean="0"/>
              <a:t>Sobirov</a:t>
            </a:r>
            <a:r>
              <a:rPr lang="en-US" dirty="0"/>
              <a:t>,</a:t>
            </a:r>
            <a:r>
              <a:rPr lang="en-US" dirty="0" smtClean="0"/>
              <a:t> f.sobirov@inha.uz</a:t>
            </a:r>
          </a:p>
          <a:p>
            <a:endParaRPr lang="en-US" dirty="0" smtClean="0"/>
          </a:p>
          <a:p>
            <a:r>
              <a:rPr lang="en-US" dirty="0" smtClean="0"/>
              <a:t>Telegram?</a:t>
            </a:r>
          </a:p>
          <a:p>
            <a:r>
              <a:rPr lang="en-US" dirty="0" smtClean="0"/>
              <a:t>LinkedIn?</a:t>
            </a:r>
          </a:p>
        </p:txBody>
      </p:sp>
    </p:spTree>
    <p:extLst>
      <p:ext uri="{BB962C8B-B14F-4D97-AF65-F5344CB8AC3E}">
        <p14:creationId xmlns:p14="http://schemas.microsoft.com/office/powerpoint/2010/main" val="18237592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a:bodyPr>
          <a:lstStyle/>
          <a:p>
            <a:pPr marL="0" indent="0" algn="ctr">
              <a:buNone/>
            </a:pPr>
            <a:r>
              <a:rPr lang="en-US" sz="4800" dirty="0" smtClean="0"/>
              <a:t>Break </a:t>
            </a:r>
            <a:endParaRPr lang="ru-RU" sz="4800" dirty="0"/>
          </a:p>
        </p:txBody>
      </p:sp>
    </p:spTree>
    <p:extLst>
      <p:ext uri="{BB962C8B-B14F-4D97-AF65-F5344CB8AC3E}">
        <p14:creationId xmlns:p14="http://schemas.microsoft.com/office/powerpoint/2010/main" val="689953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Nazi Criminal – Adolf Eichmann Trial</a:t>
            </a:r>
          </a:p>
        </p:txBody>
      </p:sp>
      <p:sp>
        <p:nvSpPr>
          <p:cNvPr id="3" name="Content Placeholder 2"/>
          <p:cNvSpPr>
            <a:spLocks noGrp="1"/>
          </p:cNvSpPr>
          <p:nvPr>
            <p:ph idx="1"/>
          </p:nvPr>
        </p:nvSpPr>
        <p:spPr>
          <a:xfrm>
            <a:off x="1371600" y="2092569"/>
            <a:ext cx="9601200" cy="3581400"/>
          </a:xfrm>
        </p:spPr>
        <p:txBody>
          <a:bodyPr/>
          <a:lstStyle/>
          <a:p>
            <a:r>
              <a:rPr lang="en-US" sz="2400" dirty="0"/>
              <a:t>Was he an inhuman monster or just following the orders?</a:t>
            </a:r>
          </a:p>
          <a:p>
            <a:endParaRPr lang="en-US" dirty="0"/>
          </a:p>
        </p:txBody>
      </p:sp>
      <p:pic>
        <p:nvPicPr>
          <p:cNvPr id="4" name="Picture 2" descr="Adolf Eichmann | Holocaust Encyclo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8301" y="2672860"/>
            <a:ext cx="5547798" cy="4117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93431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Milgram Experiment</a:t>
            </a:r>
          </a:p>
        </p:txBody>
      </p:sp>
      <p:sp>
        <p:nvSpPr>
          <p:cNvPr id="5" name="Content Placeholder 4"/>
          <p:cNvSpPr>
            <a:spLocks noGrp="1"/>
          </p:cNvSpPr>
          <p:nvPr>
            <p:ph idx="1"/>
          </p:nvPr>
        </p:nvSpPr>
        <p:spPr/>
        <p:txBody>
          <a:bodyPr>
            <a:normAutofit/>
          </a:bodyPr>
          <a:lstStyle/>
          <a:p>
            <a:r>
              <a:rPr lang="en-US" sz="2400" dirty="0">
                <a:hlinkClick r:id="rId2"/>
              </a:rPr>
              <a:t>https://</a:t>
            </a:r>
            <a:r>
              <a:rPr lang="en-US" sz="2400" dirty="0" smtClean="0">
                <a:hlinkClick r:id="rId2"/>
              </a:rPr>
              <a:t>www.youtube.com/watch?v=vuMt8b4UrcI</a:t>
            </a:r>
            <a:endParaRPr lang="en-US" sz="2400" dirty="0" smtClean="0"/>
          </a:p>
          <a:p>
            <a:endParaRPr lang="en-US" sz="2400" dirty="0"/>
          </a:p>
          <a:p>
            <a:r>
              <a:rPr lang="en-US" sz="2400" dirty="0" smtClean="0"/>
              <a:t>How could this happen?</a:t>
            </a:r>
          </a:p>
          <a:p>
            <a:r>
              <a:rPr lang="en-US" sz="2400" dirty="0" smtClean="0"/>
              <a:t>Were the results some sort of deviation?</a:t>
            </a:r>
            <a:endParaRPr lang="en-US" sz="2400" dirty="0"/>
          </a:p>
        </p:txBody>
      </p:sp>
    </p:spTree>
    <p:extLst>
      <p:ext uri="{BB962C8B-B14F-4D97-AF65-F5344CB8AC3E}">
        <p14:creationId xmlns:p14="http://schemas.microsoft.com/office/powerpoint/2010/main" val="12047480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Stanford Prison </a:t>
            </a:r>
            <a:r>
              <a:rPr lang="en-US" dirty="0" smtClean="0"/>
              <a:t>Experiment</a:t>
            </a:r>
            <a:endParaRPr lang="en-US" dirty="0"/>
          </a:p>
        </p:txBody>
      </p:sp>
      <p:sp>
        <p:nvSpPr>
          <p:cNvPr id="3" name="Content Placeholder 2"/>
          <p:cNvSpPr>
            <a:spLocks noGrp="1"/>
          </p:cNvSpPr>
          <p:nvPr>
            <p:ph idx="1"/>
          </p:nvPr>
        </p:nvSpPr>
        <p:spPr/>
        <p:txBody>
          <a:bodyPr>
            <a:normAutofit/>
          </a:bodyPr>
          <a:lstStyle/>
          <a:p>
            <a:r>
              <a:rPr lang="en-US" sz="2400" dirty="0">
                <a:hlinkClick r:id="rId2"/>
              </a:rPr>
              <a:t>https://</a:t>
            </a:r>
            <a:r>
              <a:rPr lang="en-US" sz="2400" dirty="0" smtClean="0">
                <a:hlinkClick r:id="rId2"/>
              </a:rPr>
              <a:t>www.youtube.com/watch?v=iXv91xFipLM&amp;t=144s</a:t>
            </a:r>
            <a:endParaRPr lang="en-US" sz="2400" dirty="0" smtClean="0"/>
          </a:p>
          <a:p>
            <a:endParaRPr lang="en-US" sz="2400" dirty="0" smtClean="0"/>
          </a:p>
          <a:p>
            <a:r>
              <a:rPr lang="en-US" sz="2400" dirty="0" smtClean="0"/>
              <a:t>Many people will uncritically follow the commands of those in authority</a:t>
            </a:r>
          </a:p>
          <a:p>
            <a:endParaRPr lang="en-US" sz="2400" dirty="0"/>
          </a:p>
        </p:txBody>
      </p:sp>
    </p:spTree>
    <p:extLst>
      <p:ext uri="{BB962C8B-B14F-4D97-AF65-F5344CB8AC3E}">
        <p14:creationId xmlns:p14="http://schemas.microsoft.com/office/powerpoint/2010/main" val="2930169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Critical Thinking?</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445204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Critical Thinking?</a:t>
            </a:r>
            <a:endParaRPr lang="en-US" dirty="0"/>
          </a:p>
        </p:txBody>
      </p:sp>
      <p:sp>
        <p:nvSpPr>
          <p:cNvPr id="3" name="Content Placeholder 2"/>
          <p:cNvSpPr>
            <a:spLocks noGrp="1"/>
          </p:cNvSpPr>
          <p:nvPr>
            <p:ph idx="1"/>
          </p:nvPr>
        </p:nvSpPr>
        <p:spPr/>
        <p:txBody>
          <a:bodyPr>
            <a:normAutofit fontScale="92500" lnSpcReduction="10000"/>
          </a:bodyPr>
          <a:lstStyle/>
          <a:p>
            <a:r>
              <a:rPr lang="en-US" sz="2400" b="1" dirty="0"/>
              <a:t>Critical </a:t>
            </a:r>
            <a:r>
              <a:rPr lang="en-US" sz="2400" b="1" dirty="0" smtClean="0"/>
              <a:t>thinking </a:t>
            </a:r>
            <a:r>
              <a:rPr lang="en-US" sz="2400" dirty="0" smtClean="0"/>
              <a:t>– a collection of skills we use every day that are necessary for our full intellectual and personal development</a:t>
            </a:r>
          </a:p>
          <a:p>
            <a:r>
              <a:rPr lang="en-US" sz="2400" dirty="0" smtClean="0"/>
              <a:t>It requires learning </a:t>
            </a:r>
            <a:r>
              <a:rPr lang="en-US" sz="2400" i="1" dirty="0" smtClean="0"/>
              <a:t>how</a:t>
            </a:r>
            <a:r>
              <a:rPr lang="en-US" sz="2400" dirty="0" smtClean="0"/>
              <a:t> to think rather than </a:t>
            </a:r>
            <a:r>
              <a:rPr lang="en-US" sz="2400" i="1" dirty="0" smtClean="0"/>
              <a:t>what</a:t>
            </a:r>
            <a:r>
              <a:rPr lang="en-US" sz="2400" dirty="0" smtClean="0"/>
              <a:t> to think</a:t>
            </a:r>
          </a:p>
          <a:p>
            <a:endParaRPr lang="en-US" sz="2400" dirty="0" smtClean="0"/>
          </a:p>
          <a:p>
            <a:r>
              <a:rPr lang="en-US" sz="2400" b="1" dirty="0" smtClean="0"/>
              <a:t>Logic</a:t>
            </a:r>
            <a:r>
              <a:rPr lang="en-US" sz="2400" dirty="0" smtClean="0"/>
              <a:t> – the study of the methods and principles used to distinguish correct or good arguments from poor arguments</a:t>
            </a:r>
          </a:p>
          <a:p>
            <a:endParaRPr lang="en-US" sz="2400" dirty="0" smtClean="0"/>
          </a:p>
          <a:p>
            <a:r>
              <a:rPr lang="en-US" sz="2400" b="1" dirty="0" smtClean="0"/>
              <a:t>Opinion</a:t>
            </a:r>
            <a:r>
              <a:rPr lang="en-US" sz="2400" dirty="0" smtClean="0"/>
              <a:t> – a belief based solely on personal feelings rather than on reason or facts</a:t>
            </a:r>
            <a:endParaRPr lang="en-US" sz="2400" dirty="0"/>
          </a:p>
        </p:txBody>
      </p:sp>
    </p:spTree>
    <p:extLst>
      <p:ext uri="{BB962C8B-B14F-4D97-AF65-F5344CB8AC3E}">
        <p14:creationId xmlns:p14="http://schemas.microsoft.com/office/powerpoint/2010/main" val="1346925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Cognitive Development in University Students</a:t>
            </a:r>
            <a:endParaRPr lang="en-US" dirty="0"/>
          </a:p>
        </p:txBody>
      </p:sp>
      <p:sp>
        <p:nvSpPr>
          <p:cNvPr id="3" name="Content Placeholder 2"/>
          <p:cNvSpPr>
            <a:spLocks noGrp="1"/>
          </p:cNvSpPr>
          <p:nvPr>
            <p:ph idx="1"/>
          </p:nvPr>
        </p:nvSpPr>
        <p:spPr/>
        <p:txBody>
          <a:bodyPr>
            <a:normAutofit lnSpcReduction="10000"/>
          </a:bodyPr>
          <a:lstStyle/>
          <a:p>
            <a:r>
              <a:rPr lang="en-US" sz="2400" b="1" dirty="0" smtClean="0"/>
              <a:t>Stage 1: Dualism </a:t>
            </a:r>
            <a:r>
              <a:rPr lang="en-US" sz="2400" dirty="0" smtClean="0"/>
              <a:t>– there are right and wrong answers. Authorities know the right answers</a:t>
            </a:r>
          </a:p>
          <a:p>
            <a:endParaRPr lang="en-US" sz="2400" dirty="0" smtClean="0"/>
          </a:p>
          <a:p>
            <a:r>
              <a:rPr lang="en-US" sz="2400" b="1" dirty="0" smtClean="0"/>
              <a:t>Stage 2: Relativism </a:t>
            </a:r>
            <a:r>
              <a:rPr lang="en-US" sz="2400" dirty="0" smtClean="0"/>
              <a:t>– when the authorities don’t have the right answers, everyone has a right to his/her opinion; there are no right and wrong answers</a:t>
            </a:r>
          </a:p>
          <a:p>
            <a:endParaRPr lang="en-US" sz="2400" b="1" dirty="0" smtClean="0"/>
          </a:p>
          <a:p>
            <a:r>
              <a:rPr lang="en-US" sz="2400" b="1" dirty="0" smtClean="0"/>
              <a:t>Stage 3: Commitment </a:t>
            </a:r>
            <a:r>
              <a:rPr lang="en-US" sz="2400" dirty="0" smtClean="0"/>
              <a:t>– I should no just blindly follow or oppose authority</a:t>
            </a:r>
            <a:endParaRPr lang="en-US" sz="2400" dirty="0"/>
          </a:p>
        </p:txBody>
      </p:sp>
    </p:spTree>
    <p:extLst>
      <p:ext uri="{BB962C8B-B14F-4D97-AF65-F5344CB8AC3E}">
        <p14:creationId xmlns:p14="http://schemas.microsoft.com/office/powerpoint/2010/main" val="3847233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a Good Critical Thinker?</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95511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a Good Critical Thinker</a:t>
            </a:r>
            <a:endParaRPr lang="en-US" dirty="0"/>
          </a:p>
        </p:txBody>
      </p:sp>
      <p:sp>
        <p:nvSpPr>
          <p:cNvPr id="3" name="Content Placeholder 2"/>
          <p:cNvSpPr>
            <a:spLocks noGrp="1"/>
          </p:cNvSpPr>
          <p:nvPr>
            <p:ph idx="1"/>
          </p:nvPr>
        </p:nvSpPr>
        <p:spPr/>
        <p:txBody>
          <a:bodyPr/>
          <a:lstStyle/>
          <a:p>
            <a:r>
              <a:rPr lang="en-US" dirty="0" smtClean="0"/>
              <a:t>Analytical skills</a:t>
            </a:r>
          </a:p>
          <a:p>
            <a:r>
              <a:rPr lang="en-US" dirty="0" smtClean="0"/>
              <a:t>Effective communication</a:t>
            </a:r>
          </a:p>
          <a:p>
            <a:r>
              <a:rPr lang="en-US" dirty="0" smtClean="0"/>
              <a:t>Research and inquiry skills</a:t>
            </a:r>
          </a:p>
          <a:p>
            <a:r>
              <a:rPr lang="en-US" dirty="0" smtClean="0"/>
              <a:t>Flexibility and tolerance to ambiguity</a:t>
            </a:r>
          </a:p>
          <a:p>
            <a:r>
              <a:rPr lang="en-US" dirty="0" smtClean="0"/>
              <a:t>Open-minded skepticism (method of doubt – Descartes)</a:t>
            </a:r>
          </a:p>
          <a:p>
            <a:r>
              <a:rPr lang="en-US" dirty="0" smtClean="0"/>
              <a:t>Creative problem solving</a:t>
            </a:r>
          </a:p>
          <a:p>
            <a:r>
              <a:rPr lang="en-US" dirty="0" smtClean="0"/>
              <a:t>Attentive, mindful, and curious</a:t>
            </a:r>
          </a:p>
          <a:p>
            <a:r>
              <a:rPr lang="en-US" dirty="0" smtClean="0"/>
              <a:t>Collaborative learning</a:t>
            </a:r>
            <a:endParaRPr lang="en-US" dirty="0"/>
          </a:p>
        </p:txBody>
      </p:sp>
    </p:spTree>
    <p:extLst>
      <p:ext uri="{BB962C8B-B14F-4D97-AF65-F5344CB8AC3E}">
        <p14:creationId xmlns:p14="http://schemas.microsoft.com/office/powerpoint/2010/main" val="3833909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Barriers to Critical Thinking?</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12955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Barriers to Critical Thinking</a:t>
            </a:r>
            <a:endParaRPr lang="en-US" dirty="0"/>
          </a:p>
        </p:txBody>
      </p:sp>
      <p:sp>
        <p:nvSpPr>
          <p:cNvPr id="3" name="Content Placeholder 2"/>
          <p:cNvSpPr>
            <a:spLocks noGrp="1"/>
          </p:cNvSpPr>
          <p:nvPr>
            <p:ph idx="1"/>
          </p:nvPr>
        </p:nvSpPr>
        <p:spPr/>
        <p:txBody>
          <a:bodyPr/>
          <a:lstStyle/>
          <a:p>
            <a:r>
              <a:rPr lang="en-US" sz="2400" b="1" dirty="0" smtClean="0"/>
              <a:t>Three-Tier Model </a:t>
            </a:r>
            <a:r>
              <a:rPr lang="en-US" sz="2400" b="1" dirty="0" smtClean="0"/>
              <a:t>of </a:t>
            </a:r>
            <a:r>
              <a:rPr lang="en-US" sz="2400" b="1" dirty="0" smtClean="0"/>
              <a:t>Thinking</a:t>
            </a:r>
            <a:endParaRPr lang="en-US" sz="2400" b="1" dirty="0" smtClean="0"/>
          </a:p>
          <a:p>
            <a:endParaRPr lang="en-US" dirty="0"/>
          </a:p>
        </p:txBody>
      </p:sp>
      <p:graphicFrame>
        <p:nvGraphicFramePr>
          <p:cNvPr id="4" name="Content Placeholder 7"/>
          <p:cNvGraphicFramePr>
            <a:graphicFrameLocks/>
          </p:cNvGraphicFramePr>
          <p:nvPr>
            <p:extLst>
              <p:ext uri="{D42A27DB-BD31-4B8C-83A1-F6EECF244321}">
                <p14:modId xmlns:p14="http://schemas.microsoft.com/office/powerpoint/2010/main" val="3531502103"/>
              </p:ext>
            </p:extLst>
          </p:nvPr>
        </p:nvGraphicFramePr>
        <p:xfrm>
          <a:off x="1371600" y="2875084"/>
          <a:ext cx="8625254" cy="2992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3199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Barriers to Critical Thinking</a:t>
            </a:r>
            <a:endParaRPr lang="en-US" dirty="0"/>
          </a:p>
        </p:txBody>
      </p:sp>
      <p:sp>
        <p:nvSpPr>
          <p:cNvPr id="3" name="Content Placeholder 2"/>
          <p:cNvSpPr>
            <a:spLocks noGrp="1"/>
          </p:cNvSpPr>
          <p:nvPr>
            <p:ph idx="1"/>
          </p:nvPr>
        </p:nvSpPr>
        <p:spPr>
          <a:xfrm>
            <a:off x="1371600" y="2285999"/>
            <a:ext cx="9601200" cy="3683977"/>
          </a:xfrm>
        </p:spPr>
        <p:txBody>
          <a:bodyPr>
            <a:normAutofit fontScale="70000" lnSpcReduction="20000"/>
          </a:bodyPr>
          <a:lstStyle/>
          <a:p>
            <a:r>
              <a:rPr lang="en-US" sz="2800" b="1" dirty="0" smtClean="0"/>
              <a:t>Resistance </a:t>
            </a:r>
            <a:r>
              <a:rPr lang="en-US" sz="2800" dirty="0" smtClean="0"/>
              <a:t>– the habitual use of immature defense mechanisms when our worldviews are challenged </a:t>
            </a:r>
          </a:p>
          <a:p>
            <a:r>
              <a:rPr lang="en-US" sz="2800" dirty="0" smtClean="0"/>
              <a:t>Avoidance</a:t>
            </a:r>
          </a:p>
          <a:p>
            <a:r>
              <a:rPr lang="en-US" sz="2800" dirty="0" smtClean="0"/>
              <a:t>Anger</a:t>
            </a:r>
          </a:p>
          <a:p>
            <a:r>
              <a:rPr lang="en-US" sz="2800" dirty="0" smtClean="0"/>
              <a:t>Clichés</a:t>
            </a:r>
          </a:p>
          <a:p>
            <a:r>
              <a:rPr lang="en-US" sz="2800" dirty="0" smtClean="0"/>
              <a:t>Denial</a:t>
            </a:r>
          </a:p>
          <a:p>
            <a:r>
              <a:rPr lang="en-US" sz="2800" dirty="0" smtClean="0"/>
              <a:t>Ignorance</a:t>
            </a:r>
          </a:p>
          <a:p>
            <a:r>
              <a:rPr lang="en-US" sz="2800" dirty="0" smtClean="0"/>
              <a:t>Conformity</a:t>
            </a:r>
          </a:p>
          <a:p>
            <a:r>
              <a:rPr lang="en-US" sz="2800" dirty="0" smtClean="0"/>
              <a:t>Struggling</a:t>
            </a:r>
          </a:p>
          <a:p>
            <a:r>
              <a:rPr lang="en-US" sz="2800" dirty="0" smtClean="0"/>
              <a:t>Distractions</a:t>
            </a:r>
          </a:p>
          <a:p>
            <a:endParaRPr lang="en-US" dirty="0"/>
          </a:p>
        </p:txBody>
      </p:sp>
    </p:spTree>
    <p:extLst>
      <p:ext uri="{BB962C8B-B14F-4D97-AF65-F5344CB8AC3E}">
        <p14:creationId xmlns:p14="http://schemas.microsoft.com/office/powerpoint/2010/main" val="1432882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Barriers to Critical Thinking</a:t>
            </a:r>
            <a:endParaRPr lang="en-US" dirty="0"/>
          </a:p>
        </p:txBody>
      </p:sp>
      <p:sp>
        <p:nvSpPr>
          <p:cNvPr id="3" name="Content Placeholder 2"/>
          <p:cNvSpPr>
            <a:spLocks noGrp="1"/>
          </p:cNvSpPr>
          <p:nvPr>
            <p:ph idx="1"/>
          </p:nvPr>
        </p:nvSpPr>
        <p:spPr/>
        <p:txBody>
          <a:bodyPr>
            <a:normAutofit/>
          </a:bodyPr>
          <a:lstStyle/>
          <a:p>
            <a:r>
              <a:rPr lang="en-US" sz="2400" b="1" dirty="0" smtClean="0"/>
              <a:t>Narrow-mindedness </a:t>
            </a:r>
            <a:r>
              <a:rPr lang="en-US" sz="2400" dirty="0" smtClean="0"/>
              <a:t>– rigid beliefs that interfere with critical analysis of our worldviews</a:t>
            </a:r>
          </a:p>
          <a:p>
            <a:r>
              <a:rPr lang="en-US" sz="2400" dirty="0" smtClean="0"/>
              <a:t>Absolutism</a:t>
            </a:r>
          </a:p>
          <a:p>
            <a:r>
              <a:rPr lang="en-US" sz="2400" dirty="0" smtClean="0"/>
              <a:t>Fear of challenge</a:t>
            </a:r>
          </a:p>
          <a:p>
            <a:r>
              <a:rPr lang="en-US" sz="2400" dirty="0" smtClean="0"/>
              <a:t>Egocentrism</a:t>
            </a:r>
          </a:p>
          <a:p>
            <a:r>
              <a:rPr lang="en-US" sz="2400" dirty="0" smtClean="0"/>
              <a:t>Ethnocentrism</a:t>
            </a:r>
          </a:p>
          <a:p>
            <a:r>
              <a:rPr lang="en-US" sz="2400" dirty="0" smtClean="0"/>
              <a:t>Anthropocentrism</a:t>
            </a:r>
          </a:p>
          <a:p>
            <a:endParaRPr lang="en-US" dirty="0"/>
          </a:p>
        </p:txBody>
      </p:sp>
    </p:spTree>
    <p:extLst>
      <p:ext uri="{BB962C8B-B14F-4D97-AF65-F5344CB8AC3E}">
        <p14:creationId xmlns:p14="http://schemas.microsoft.com/office/powerpoint/2010/main" val="562130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Barriers to Critical Thinking</a:t>
            </a:r>
            <a:endParaRPr lang="en-US" dirty="0"/>
          </a:p>
        </p:txBody>
      </p:sp>
      <p:sp>
        <p:nvSpPr>
          <p:cNvPr id="3" name="Content Placeholder 2"/>
          <p:cNvSpPr>
            <a:spLocks noGrp="1"/>
          </p:cNvSpPr>
          <p:nvPr>
            <p:ph idx="1"/>
          </p:nvPr>
        </p:nvSpPr>
        <p:spPr/>
        <p:txBody>
          <a:bodyPr>
            <a:normAutofit/>
          </a:bodyPr>
          <a:lstStyle/>
          <a:p>
            <a:r>
              <a:rPr lang="en-US" sz="2400" dirty="0" smtClean="0"/>
              <a:t>Rationalization and doublethink</a:t>
            </a:r>
          </a:p>
          <a:p>
            <a:r>
              <a:rPr lang="en-US" sz="2400" dirty="0" smtClean="0"/>
              <a:t>Cognitive and social dissonance</a:t>
            </a:r>
          </a:p>
          <a:p>
            <a:r>
              <a:rPr lang="en-US" sz="2400" dirty="0" smtClean="0"/>
              <a:t>Stress </a:t>
            </a:r>
          </a:p>
          <a:p>
            <a:endParaRPr lang="en-US" dirty="0"/>
          </a:p>
        </p:txBody>
      </p:sp>
    </p:spTree>
    <p:extLst>
      <p:ext uri="{BB962C8B-B14F-4D97-AF65-F5344CB8AC3E}">
        <p14:creationId xmlns:p14="http://schemas.microsoft.com/office/powerpoint/2010/main" val="2579659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Thanks</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775959370"/>
      </p:ext>
    </p:extLst>
  </p:cSld>
  <p:clrMapOvr>
    <a:masterClrMapping/>
  </p:clrMapOvr>
</p:sld>
</file>

<file path=ppt/theme/theme1.xml><?xml version="1.0" encoding="utf-8"?>
<a:theme xmlns:a="http://schemas.openxmlformats.org/drawingml/2006/main" name="Crop">
  <a:themeElements>
    <a:clrScheme name="Красный и оранжевый">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TM10001105[[fn=Уголки]]</Template>
  <TotalTime>1179</TotalTime>
  <Words>741</Words>
  <Application>Microsoft Office PowerPoint</Application>
  <PresentationFormat>Widescreen</PresentationFormat>
  <Paragraphs>131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Calibri</vt:lpstr>
      <vt:lpstr>Franklin Gothic Book</vt:lpstr>
      <vt:lpstr>Times New Roman</vt:lpstr>
      <vt:lpstr>Crop</vt:lpstr>
      <vt:lpstr>Distinguished Lecture in Social Science and Art Introduction (Chapter 1 &amp; Syllabus)</vt:lpstr>
      <vt:lpstr>What are Social Science, Humanities, and Arts? </vt:lpstr>
      <vt:lpstr>Social Science, Humanities, and Arts</vt:lpstr>
      <vt:lpstr>Why do we need them?  Why do you need this subject?</vt:lpstr>
      <vt:lpstr>Course Description</vt:lpstr>
      <vt:lpstr>Topics</vt:lpstr>
      <vt:lpstr>Grading</vt:lpstr>
      <vt:lpstr>Communication</vt:lpstr>
      <vt:lpstr>PowerPoint Presentation</vt:lpstr>
      <vt:lpstr>Nazi Criminal – Adolf Eichmann Trial</vt:lpstr>
      <vt:lpstr>The Milgram Experiment</vt:lpstr>
      <vt:lpstr>The Stanford Prison Experiment</vt:lpstr>
      <vt:lpstr>What is Critical Thinking?</vt:lpstr>
      <vt:lpstr>What is Critical Thinking?</vt:lpstr>
      <vt:lpstr>Cognitive Development in University Students</vt:lpstr>
      <vt:lpstr>Characteristics of a Good Critical Thinker?</vt:lpstr>
      <vt:lpstr>Characteristics of a Good Critical Thinker</vt:lpstr>
      <vt:lpstr>Barriers to Critical Thinking?</vt:lpstr>
      <vt:lpstr>Barriers to Critical Thinking</vt:lpstr>
      <vt:lpstr>Barriers to Critical Thinking</vt:lpstr>
      <vt:lpstr>Barriers to Critical Thinking</vt:lpstr>
      <vt:lpstr>Barriers to Critical Thinking</vt:lpstr>
      <vt:lpstr>Thanks</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Distinguished Lecture in Social Science and Art Introduction</dc:title>
  <dc:creator>Bobir Muratov</dc:creator>
  <cp:lastModifiedBy>Bobir Muratov</cp:lastModifiedBy>
  <cp:revision>92</cp:revision>
  <dcterms:created xsi:type="dcterms:W3CDTF">2025-09-11T14:38:37Z</dcterms:created>
  <dcterms:modified xsi:type="dcterms:W3CDTF">2026-09-03T04:28:57Z</dcterms:modified>
</cp:coreProperties>
</file>