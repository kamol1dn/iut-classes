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1"/>
  </p:sldMasterIdLst>
  <p:sldIdLst>
    <p:sldId id="256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F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572317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095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883349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356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403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350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02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50240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2262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933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905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76755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39654" y="1999437"/>
            <a:ext cx="8512175" cy="2326118"/>
          </a:xfrm>
        </p:spPr>
        <p:txBody>
          <a:bodyPr>
            <a:noAutofit/>
          </a:bodyPr>
          <a:lstStyle/>
          <a:p>
            <a:r>
              <a:rPr lang="en-US" sz="5400" dirty="0"/>
              <a:t>Recognizing, Analyzing &amp; Constructing Arguments</a:t>
            </a:r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1800" dirty="0"/>
              <a:t>(Chapter 6</a:t>
            </a:r>
            <a:r>
              <a:rPr lang="en-US" sz="1800" dirty="0" smtClean="0"/>
              <a:t>)</a:t>
            </a:r>
            <a:endParaRPr lang="ru-RU" sz="18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79904" y="4325555"/>
            <a:ext cx="6831673" cy="1086237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Bobir Muratov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334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Lincoln-Douglas Debates</a:t>
            </a:r>
          </a:p>
        </p:txBody>
      </p:sp>
    </p:spTree>
    <p:extLst>
      <p:ext uri="{BB962C8B-B14F-4D97-AF65-F5344CB8AC3E}">
        <p14:creationId xmlns:p14="http://schemas.microsoft.com/office/powerpoint/2010/main" val="38801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to 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an Issue?</a:t>
            </a:r>
          </a:p>
          <a:p>
            <a:r>
              <a:rPr lang="en-US" dirty="0" smtClean="0"/>
              <a:t>Argumentation versus Rhetoric</a:t>
            </a:r>
          </a:p>
          <a:p>
            <a:r>
              <a:rPr lang="en-US" dirty="0" smtClean="0"/>
              <a:t>Recognizing an Argument</a:t>
            </a:r>
          </a:p>
          <a:p>
            <a:r>
              <a:rPr lang="en-US" dirty="0" smtClean="0"/>
              <a:t>Breaking down </a:t>
            </a:r>
            <a:r>
              <a:rPr lang="en-US" dirty="0" smtClean="0"/>
              <a:t>Arguments</a:t>
            </a:r>
            <a:endParaRPr lang="en-US" dirty="0" smtClean="0"/>
          </a:p>
          <a:p>
            <a:r>
              <a:rPr lang="en-US" dirty="0" smtClean="0"/>
              <a:t>Evaluating Arguments</a:t>
            </a:r>
          </a:p>
          <a:p>
            <a:r>
              <a:rPr lang="en-US" dirty="0" smtClean="0"/>
              <a:t>Constructing an Argument</a:t>
            </a:r>
          </a:p>
        </p:txBody>
      </p:sp>
    </p:spTree>
    <p:extLst>
      <p:ext uri="{BB962C8B-B14F-4D97-AF65-F5344CB8AC3E}">
        <p14:creationId xmlns:p14="http://schemas.microsoft.com/office/powerpoint/2010/main" val="201244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Issue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Issue</a:t>
            </a:r>
            <a:r>
              <a:rPr lang="en-US" dirty="0" smtClean="0"/>
              <a:t> – an ill-defined complex of problems involving controversy or uncertainty</a:t>
            </a:r>
          </a:p>
          <a:p>
            <a:endParaRPr lang="en-US" dirty="0" smtClean="0"/>
          </a:p>
          <a:p>
            <a:r>
              <a:rPr lang="en-US" dirty="0" smtClean="0"/>
              <a:t>Issue should be defined clearly</a:t>
            </a:r>
          </a:p>
          <a:p>
            <a:endParaRPr lang="en-US" dirty="0"/>
          </a:p>
          <a:p>
            <a:r>
              <a:rPr lang="en-US" dirty="0" smtClean="0"/>
              <a:t>Identifying an issue requires clear thinking and good communication skills</a:t>
            </a:r>
          </a:p>
          <a:p>
            <a:endParaRPr lang="en-US" dirty="0"/>
          </a:p>
          <a:p>
            <a:r>
              <a:rPr lang="en-US" dirty="0" smtClean="0"/>
              <a:t>Asking the right questions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103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Argumentation versus </a:t>
            </a:r>
            <a:r>
              <a:rPr lang="en-US" dirty="0" smtClean="0"/>
              <a:t>Rhetoric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Rhetoric</a:t>
            </a:r>
            <a:r>
              <a:rPr lang="en-US" dirty="0" smtClean="0"/>
              <a:t> – the defense of a particular position usually without adequate consideration of opposing evidence in order to win people over to one’s position</a:t>
            </a:r>
          </a:p>
          <a:p>
            <a:endParaRPr lang="en-US" dirty="0" smtClean="0"/>
          </a:p>
          <a:p>
            <a:r>
              <a:rPr lang="en-US" dirty="0" smtClean="0"/>
              <a:t>Rhetoric -&gt; persuade, argumentation -&gt; discover the truth</a:t>
            </a:r>
          </a:p>
          <a:p>
            <a:endParaRPr lang="en-US" dirty="0"/>
          </a:p>
          <a:p>
            <a:r>
              <a:rPr lang="en-US" dirty="0" smtClean="0"/>
              <a:t>Resist to polarize an issue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633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Recognizing an </a:t>
            </a:r>
            <a:r>
              <a:rPr lang="en-US" dirty="0" smtClean="0"/>
              <a:t>Argument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Argument</a:t>
            </a:r>
            <a:r>
              <a:rPr lang="en-US" dirty="0" smtClean="0"/>
              <a:t> – reasoning that is made up of two or more propositions, one of which is supported by others</a:t>
            </a:r>
          </a:p>
          <a:p>
            <a:r>
              <a:rPr lang="en-US" b="1" dirty="0" smtClean="0"/>
              <a:t>Proposition</a:t>
            </a:r>
            <a:r>
              <a:rPr lang="en-US" dirty="0" smtClean="0"/>
              <a:t> – a statement that expresses a complete thought and can be either true or false</a:t>
            </a:r>
          </a:p>
          <a:p>
            <a:r>
              <a:rPr lang="en-US" dirty="0" smtClean="0"/>
              <a:t>Ex., The earth revolves around the sun, Toronto is the capital of Canada</a:t>
            </a:r>
          </a:p>
          <a:p>
            <a:r>
              <a:rPr lang="en-US" b="1" dirty="0" smtClean="0"/>
              <a:t>Conclusion</a:t>
            </a:r>
            <a:r>
              <a:rPr lang="en-US" dirty="0" smtClean="0"/>
              <a:t> – the proposition in an argument that is supported on the basis of other propositions</a:t>
            </a:r>
          </a:p>
          <a:p>
            <a:r>
              <a:rPr lang="en-US" b="1" dirty="0" smtClean="0"/>
              <a:t>Premise</a:t>
            </a:r>
            <a:r>
              <a:rPr lang="en-US" dirty="0" smtClean="0"/>
              <a:t> – a proposition </a:t>
            </a:r>
            <a:r>
              <a:rPr lang="en-US" dirty="0"/>
              <a:t>in an argument </a:t>
            </a:r>
            <a:r>
              <a:rPr lang="en-US" dirty="0" smtClean="0"/>
              <a:t>that supports the conclusion</a:t>
            </a:r>
          </a:p>
          <a:p>
            <a:r>
              <a:rPr lang="en-US" dirty="0" smtClean="0"/>
              <a:t>Ex., Ottawa is the capital of Canada. Therefore, Toronto isn’t the capital of Canada</a:t>
            </a:r>
          </a:p>
        </p:txBody>
      </p:sp>
    </p:spTree>
    <p:extLst>
      <p:ext uri="{BB962C8B-B14F-4D97-AF65-F5344CB8AC3E}">
        <p14:creationId xmlns:p14="http://schemas.microsoft.com/office/powerpoint/2010/main" val="3317027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Recognizing an </a:t>
            </a:r>
            <a:r>
              <a:rPr lang="en-US" dirty="0" smtClean="0"/>
              <a:t>Argument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2286000"/>
            <a:ext cx="9733086" cy="3581400"/>
          </a:xfrm>
        </p:spPr>
        <p:txBody>
          <a:bodyPr/>
          <a:lstStyle/>
          <a:p>
            <a:r>
              <a:rPr lang="en-US" b="1" dirty="0" smtClean="0"/>
              <a:t>Descriptive premises </a:t>
            </a:r>
            <a:r>
              <a:rPr lang="en-US" dirty="0" smtClean="0"/>
              <a:t>are based on empirical facts</a:t>
            </a:r>
          </a:p>
          <a:p>
            <a:r>
              <a:rPr lang="en-US" b="1" dirty="0" smtClean="0"/>
              <a:t>Prescriptive premises </a:t>
            </a:r>
            <a:r>
              <a:rPr lang="en-US" dirty="0" smtClean="0"/>
              <a:t>contain value statements </a:t>
            </a:r>
          </a:p>
          <a:p>
            <a:r>
              <a:rPr lang="en-US" b="1" dirty="0" smtClean="0"/>
              <a:t>Analogical premises </a:t>
            </a:r>
            <a:r>
              <a:rPr lang="en-US" dirty="0" smtClean="0"/>
              <a:t>contain an analogy or comparison between similar events/things</a:t>
            </a:r>
          </a:p>
          <a:p>
            <a:r>
              <a:rPr lang="en-US" b="1" dirty="0" smtClean="0"/>
              <a:t>Definitional premises</a:t>
            </a:r>
            <a:r>
              <a:rPr lang="en-US" dirty="0" smtClean="0"/>
              <a:t> contain a definition of a key term</a:t>
            </a:r>
          </a:p>
          <a:p>
            <a:r>
              <a:rPr lang="en-US" b="1" dirty="0" smtClean="0"/>
              <a:t>Explanation</a:t>
            </a:r>
            <a:r>
              <a:rPr lang="en-US" dirty="0" smtClean="0"/>
              <a:t> – a statement about why or how </a:t>
            </a:r>
            <a:r>
              <a:rPr lang="en-US" dirty="0" err="1" smtClean="0"/>
              <a:t>smth</a:t>
            </a:r>
            <a:r>
              <a:rPr lang="en-US" dirty="0" smtClean="0"/>
              <a:t>. is the case</a:t>
            </a:r>
          </a:p>
          <a:p>
            <a:r>
              <a:rPr lang="en-US" dirty="0" smtClean="0"/>
              <a:t>Ex., The baby cried because mother left</a:t>
            </a:r>
          </a:p>
          <a:p>
            <a:r>
              <a:rPr lang="en-US" b="1" dirty="0" smtClean="0"/>
              <a:t>Conditional statement </a:t>
            </a:r>
            <a:r>
              <a:rPr lang="en-US" dirty="0" smtClean="0"/>
              <a:t>– “if … then …” statement</a:t>
            </a:r>
          </a:p>
          <a:p>
            <a:r>
              <a:rPr lang="en-US" dirty="0" smtClean="0"/>
              <a:t>Ex., If you are coming from Russia, then you speak Russian</a:t>
            </a:r>
          </a:p>
        </p:txBody>
      </p:sp>
    </p:spTree>
    <p:extLst>
      <p:ext uri="{BB962C8B-B14F-4D97-AF65-F5344CB8AC3E}">
        <p14:creationId xmlns:p14="http://schemas.microsoft.com/office/powerpoint/2010/main" val="2722875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Breaking down </a:t>
            </a:r>
            <a:r>
              <a:rPr lang="en-US" dirty="0" smtClean="0"/>
              <a:t>Arguments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entire argument may appear in one sentence or in several sentences </a:t>
            </a:r>
          </a:p>
          <a:p>
            <a:r>
              <a:rPr lang="en-US" b="1" dirty="0" smtClean="0"/>
              <a:t>Identify propositions </a:t>
            </a:r>
            <a:r>
              <a:rPr lang="en-US" dirty="0" smtClean="0"/>
              <a:t>in the argument</a:t>
            </a:r>
          </a:p>
          <a:p>
            <a:r>
              <a:rPr lang="en-US" b="1" dirty="0" smtClean="0"/>
              <a:t>Identify the conclusion </a:t>
            </a:r>
            <a:r>
              <a:rPr lang="en-US" dirty="0" smtClean="0"/>
              <a:t>– what is the person trying to prove?</a:t>
            </a:r>
          </a:p>
          <a:p>
            <a:r>
              <a:rPr lang="en-US" dirty="0" smtClean="0"/>
              <a:t>Conclusion indicators – therefore, thus, so, which shows that, for these reasons…</a:t>
            </a:r>
          </a:p>
          <a:p>
            <a:r>
              <a:rPr lang="en-US" b="1" dirty="0" smtClean="0"/>
              <a:t>Identify the premises</a:t>
            </a:r>
          </a:p>
          <a:p>
            <a:r>
              <a:rPr lang="en-US" dirty="0" smtClean="0"/>
              <a:t>Premise indicators – because, since, for, the reason that, as shown by…</a:t>
            </a:r>
          </a:p>
          <a:p>
            <a:endParaRPr lang="en-US" dirty="0" smtClean="0"/>
          </a:p>
          <a:p>
            <a:r>
              <a:rPr lang="en-US" dirty="0" smtClean="0"/>
              <a:t>Ex., [I think], therefore [</a:t>
            </a:r>
            <a:r>
              <a:rPr lang="en-US" u="sng" dirty="0" smtClean="0"/>
              <a:t>I am</a:t>
            </a:r>
            <a:r>
              <a:rPr lang="en-US" dirty="0" smtClean="0"/>
              <a:t>].</a:t>
            </a:r>
          </a:p>
          <a:p>
            <a:r>
              <a:rPr lang="en-US" dirty="0" smtClean="0"/>
              <a:t>Students who sit in the front of a class generally earn higher grades. Therefore you should move up to the front of the class, since I know you want to improve your GPA.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518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</a:t>
            </a:r>
            <a:r>
              <a:rPr lang="en-US" dirty="0" smtClean="0"/>
              <a:t>Arguments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200" b="1" dirty="0" smtClean="0"/>
              <a:t>Clarity:</a:t>
            </a:r>
            <a:r>
              <a:rPr lang="en-US" sz="2200" dirty="0" smtClean="0"/>
              <a:t> is the argument clear and unambiguous?</a:t>
            </a:r>
          </a:p>
          <a:p>
            <a:endParaRPr lang="en-US" sz="2200" dirty="0" smtClean="0"/>
          </a:p>
          <a:p>
            <a:r>
              <a:rPr lang="en-US" sz="2200" b="1" dirty="0" smtClean="0"/>
              <a:t>Credibility:</a:t>
            </a:r>
            <a:r>
              <a:rPr lang="en-US" sz="2200" dirty="0" smtClean="0"/>
              <a:t> are the premises supported by evidence?</a:t>
            </a:r>
          </a:p>
          <a:p>
            <a:endParaRPr lang="en-US" sz="2200" dirty="0" smtClean="0"/>
          </a:p>
          <a:p>
            <a:r>
              <a:rPr lang="en-US" sz="2200" b="1" dirty="0" smtClean="0"/>
              <a:t>Relevance:</a:t>
            </a:r>
            <a:r>
              <a:rPr lang="en-US" sz="2200" dirty="0" smtClean="0"/>
              <a:t> are the premises relevant to the conclusion</a:t>
            </a:r>
          </a:p>
          <a:p>
            <a:endParaRPr lang="en-US" sz="2200" dirty="0" smtClean="0"/>
          </a:p>
          <a:p>
            <a:r>
              <a:rPr lang="en-US" sz="2200" b="1" dirty="0" smtClean="0"/>
              <a:t>Completeness: </a:t>
            </a:r>
            <a:r>
              <a:rPr lang="en-US" sz="2200" dirty="0" smtClean="0"/>
              <a:t>are there any unstated premises and conclusions?</a:t>
            </a:r>
          </a:p>
          <a:p>
            <a:endParaRPr lang="en-US" sz="2200" dirty="0" smtClean="0"/>
          </a:p>
          <a:p>
            <a:r>
              <a:rPr lang="en-US" sz="2200" b="1" dirty="0" smtClean="0"/>
              <a:t>Soundness:</a:t>
            </a:r>
            <a:r>
              <a:rPr lang="en-US" sz="2200" dirty="0" smtClean="0"/>
              <a:t> are the premises true, and do they support the conclusion?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70672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Constructing an </a:t>
            </a:r>
            <a:r>
              <a:rPr lang="en-US" dirty="0" smtClean="0"/>
              <a:t>Argument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Steps for constructing an argument: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Clearly state the issue (in the form of a question)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Develop a list of premises that address the issue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Eliminate weak or irrelevant premises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Establish a conclusion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Organize your argument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Try out your argument on others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Revise your argument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Put your solution or conclusion into action (if necessary)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53513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Красный и оранжевый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1932</TotalTime>
  <Words>515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Franklin Gothic Book</vt:lpstr>
      <vt:lpstr>Crop</vt:lpstr>
      <vt:lpstr>Recognizing, Analyzing &amp; Constructing Arguments (Chapter 6)</vt:lpstr>
      <vt:lpstr>Introduction</vt:lpstr>
      <vt:lpstr>What’s to Come</vt:lpstr>
      <vt:lpstr>What is an Issue?</vt:lpstr>
      <vt:lpstr>Argumentation versus Rhetoric</vt:lpstr>
      <vt:lpstr>Recognizing an Argument</vt:lpstr>
      <vt:lpstr>Recognizing an Argument</vt:lpstr>
      <vt:lpstr>Breaking down Arguments</vt:lpstr>
      <vt:lpstr>Evaluating Arguments</vt:lpstr>
      <vt:lpstr>Constructing an Argument</vt:lpstr>
    </vt:vector>
  </TitlesOfParts>
  <Company>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Distinguished Lecture in Social Science and Art Introduction</dc:title>
  <dc:creator>Bobir Muratov</dc:creator>
  <cp:lastModifiedBy>Bobir Muratov</cp:lastModifiedBy>
  <cp:revision>187</cp:revision>
  <dcterms:created xsi:type="dcterms:W3CDTF">2025-09-11T14:38:37Z</dcterms:created>
  <dcterms:modified xsi:type="dcterms:W3CDTF">2026-10-03T10:52:25Z</dcterms:modified>
</cp:coreProperties>
</file>