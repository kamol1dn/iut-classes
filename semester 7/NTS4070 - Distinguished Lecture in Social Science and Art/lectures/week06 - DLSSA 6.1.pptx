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8" r:id="rId1"/>
  </p:sldMasterIdLst>
  <p:sldIdLst>
    <p:sldId id="256" r:id="rId2"/>
    <p:sldId id="302" r:id="rId3"/>
    <p:sldId id="303" r:id="rId4"/>
    <p:sldId id="304" r:id="rId5"/>
    <p:sldId id="305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F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C668590-ED39-46CC-8DB7-807C12E36B71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5723179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8590-ED39-46CC-8DB7-807C12E36B71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2095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C668590-ED39-46CC-8DB7-807C12E36B71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883349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8590-ED39-46CC-8DB7-807C12E36B71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2356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8590-ED39-46CC-8DB7-807C12E36B71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7403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8590-ED39-46CC-8DB7-807C12E36B71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9350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8590-ED39-46CC-8DB7-807C12E36B71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3029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C668590-ED39-46CC-8DB7-807C12E36B71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50240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C668590-ED39-46CC-8DB7-807C12E36B71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22622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8590-ED39-46CC-8DB7-807C12E36B71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8933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8590-ED39-46CC-8DB7-807C12E36B71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9905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4C668590-ED39-46CC-8DB7-807C12E36B71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76755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839654" y="2092569"/>
            <a:ext cx="8512175" cy="2338754"/>
          </a:xfrm>
        </p:spPr>
        <p:txBody>
          <a:bodyPr>
            <a:noAutofit/>
          </a:bodyPr>
          <a:lstStyle/>
          <a:p>
            <a:r>
              <a:rPr lang="en-US" sz="6000" dirty="0" smtClean="0"/>
              <a:t>Marketing </a:t>
            </a:r>
            <a:br>
              <a:rPr lang="en-US" sz="6000" dirty="0" smtClean="0"/>
            </a:br>
            <a:r>
              <a:rPr lang="en-US" sz="6000" dirty="0" smtClean="0"/>
              <a:t>&amp; </a:t>
            </a:r>
            <a:br>
              <a:rPr lang="en-US" sz="6000" dirty="0" smtClean="0"/>
            </a:br>
            <a:r>
              <a:rPr lang="en-US" sz="6000" dirty="0" smtClean="0"/>
              <a:t>Advertising</a:t>
            </a:r>
            <a:r>
              <a:rPr lang="en-US" sz="4400" b="1" dirty="0" smtClean="0"/>
              <a:t/>
            </a:r>
            <a:br>
              <a:rPr lang="en-US" sz="4400" b="1" dirty="0" smtClean="0"/>
            </a:br>
            <a:r>
              <a:rPr lang="en-US" sz="1800" dirty="0"/>
              <a:t>(</a:t>
            </a:r>
            <a:r>
              <a:rPr lang="en-US" sz="1800" dirty="0" smtClean="0"/>
              <a:t>Chapter 10)</a:t>
            </a:r>
            <a:endParaRPr lang="ru-RU" sz="18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679904" y="4325555"/>
            <a:ext cx="6831673" cy="1086237"/>
          </a:xfrm>
        </p:spPr>
        <p:txBody>
          <a:bodyPr/>
          <a:lstStyle/>
          <a:p>
            <a:endParaRPr lang="en-US" dirty="0" smtClean="0"/>
          </a:p>
          <a:p>
            <a:r>
              <a:rPr lang="en-US" dirty="0" smtClean="0"/>
              <a:t>Bobir Muratov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3341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to 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Role of Marketing in </a:t>
            </a:r>
            <a:r>
              <a:rPr lang="en-US" dirty="0" smtClean="0"/>
              <a:t>Business</a:t>
            </a:r>
          </a:p>
          <a:p>
            <a:r>
              <a:rPr lang="en-US" dirty="0" smtClean="0"/>
              <a:t>Advertising</a:t>
            </a:r>
          </a:p>
          <a:p>
            <a:r>
              <a:rPr lang="en-US" dirty="0"/>
              <a:t>Evaluating Advertisements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12447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Role of Marketing in Business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724292" cy="35814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Marketing is an essential component of doing business in a consumer culture</a:t>
            </a:r>
          </a:p>
          <a:p>
            <a:r>
              <a:rPr lang="en-US" dirty="0" smtClean="0"/>
              <a:t>Marketing research – identifying a target market and finding out if it matches customer desires: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Surveys – collecting 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Observation – monitoring customers’ buying patters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Experimentation – measuring cause-effect relationship</a:t>
            </a:r>
          </a:p>
          <a:p>
            <a:endParaRPr lang="en-US" dirty="0"/>
          </a:p>
          <a:p>
            <a:r>
              <a:rPr lang="en-US" dirty="0" smtClean="0"/>
              <a:t>Strategic plan – a method by which an organization deploys its resources to realize a goal</a:t>
            </a:r>
          </a:p>
          <a:p>
            <a:r>
              <a:rPr lang="en-US" dirty="0" smtClean="0"/>
              <a:t>Brand recognition, motivating impulse buying, lengthening the purchase experience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8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Advertising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Advertising purposes: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To create product awareness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To inform about product or service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To motivate customer </a:t>
            </a:r>
            <a:r>
              <a:rPr lang="en-US" dirty="0" smtClean="0"/>
              <a:t>demand</a:t>
            </a:r>
          </a:p>
          <a:p>
            <a:endParaRPr lang="en-US" dirty="0" smtClean="0"/>
          </a:p>
          <a:p>
            <a:r>
              <a:rPr lang="en-US" dirty="0" smtClean="0"/>
              <a:t>Product placement – a real commercial product is used in fictional and other media, sports. Usually gets unnoticed.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831013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Evaluating Advertisements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en-US" sz="2200" dirty="0" smtClean="0"/>
              <a:t>Scare tactics</a:t>
            </a:r>
          </a:p>
          <a:p>
            <a:r>
              <a:rPr lang="en-US" sz="2200" dirty="0" smtClean="0"/>
              <a:t>Questionable cause</a:t>
            </a:r>
          </a:p>
          <a:p>
            <a:r>
              <a:rPr lang="en-US" sz="2200" dirty="0" smtClean="0"/>
              <a:t>Popular appeal/</a:t>
            </a:r>
            <a:r>
              <a:rPr lang="en-US" sz="2200" dirty="0"/>
              <a:t>Group pressure</a:t>
            </a:r>
          </a:p>
          <a:p>
            <a:r>
              <a:rPr lang="en-US" sz="2200" dirty="0" smtClean="0"/>
              <a:t>Snob appeal</a:t>
            </a:r>
          </a:p>
          <a:p>
            <a:r>
              <a:rPr lang="en-US" sz="2200" dirty="0" smtClean="0"/>
              <a:t>Appeal to inappropriate authority</a:t>
            </a:r>
          </a:p>
          <a:p>
            <a:r>
              <a:rPr lang="en-US" sz="2200" dirty="0" smtClean="0"/>
              <a:t>Hasty generalization </a:t>
            </a:r>
          </a:p>
          <a:p>
            <a:endParaRPr lang="en-US" sz="2200" dirty="0" smtClean="0"/>
          </a:p>
          <a:p>
            <a:r>
              <a:rPr lang="en-US" sz="2200" dirty="0" smtClean="0"/>
              <a:t>Amphiboly – uncertain grammar </a:t>
            </a:r>
          </a:p>
          <a:p>
            <a:r>
              <a:rPr lang="en-US" sz="2200" dirty="0" smtClean="0"/>
              <a:t>Naturalistic fallacy</a:t>
            </a:r>
          </a:p>
          <a:p>
            <a:r>
              <a:rPr lang="en-US" sz="2200" dirty="0" smtClean="0"/>
              <a:t>Euphemism – substitution of words</a:t>
            </a:r>
          </a:p>
          <a:p>
            <a:r>
              <a:rPr lang="en-US" sz="2200" dirty="0" smtClean="0"/>
              <a:t>Hyperbole - exaggeration </a:t>
            </a:r>
          </a:p>
          <a:p>
            <a:r>
              <a:rPr lang="en-US" sz="2200" dirty="0" smtClean="0"/>
              <a:t>Analogy</a:t>
            </a:r>
          </a:p>
          <a:p>
            <a:r>
              <a:rPr lang="en-US" sz="2200" dirty="0" smtClean="0"/>
              <a:t>Logic &amp; Statistics</a:t>
            </a:r>
            <a:endParaRPr lang="en-US" sz="22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9842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rop">
  <a:themeElements>
    <a:clrScheme name="Красный и оранжевый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2068</TotalTime>
  <Words>166</Words>
  <Application>Microsoft Office PowerPoint</Application>
  <PresentationFormat>Widescreen</PresentationFormat>
  <Paragraphs>37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Franklin Gothic Book</vt:lpstr>
      <vt:lpstr>Crop</vt:lpstr>
      <vt:lpstr>Marketing  &amp;  Advertising (Chapter 10)</vt:lpstr>
      <vt:lpstr>What’s to Come</vt:lpstr>
      <vt:lpstr>The Role of Marketing in Business</vt:lpstr>
      <vt:lpstr>Advertising</vt:lpstr>
      <vt:lpstr>Evaluating Advertisements</vt:lpstr>
    </vt:vector>
  </TitlesOfParts>
  <Company>User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Distinguished Lecture in Social Science and Art Introduction</dc:title>
  <dc:creator>Bobir Muratov</dc:creator>
  <cp:lastModifiedBy>Bobir Muratov</cp:lastModifiedBy>
  <cp:revision>199</cp:revision>
  <dcterms:created xsi:type="dcterms:W3CDTF">2025-09-11T14:38:37Z</dcterms:created>
  <dcterms:modified xsi:type="dcterms:W3CDTF">2026-10-10T11:52:01Z</dcterms:modified>
</cp:coreProperties>
</file>