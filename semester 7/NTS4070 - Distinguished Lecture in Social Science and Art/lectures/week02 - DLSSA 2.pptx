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301" r:id="rId3"/>
    <p:sldId id="302" r:id="rId4"/>
    <p:sldId id="303" r:id="rId5"/>
    <p:sldId id="304" r:id="rId6"/>
    <p:sldId id="305" r:id="rId7"/>
    <p:sldId id="306" r:id="rId8"/>
    <p:sldId id="308" r:id="rId9"/>
    <p:sldId id="307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72317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095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83349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356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403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35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02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5024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26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93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90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675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lIEVG6GV4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ARJ8cAGm6JE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ygonjournal.org/article/13063/galley/26503/view/" TargetMode="External"/><Relationship Id="rId2" Type="http://schemas.openxmlformats.org/officeDocument/2006/relationships/hyperlink" Target="https://archive.nytimes.com/www.nytimes.com/books/first/k/kurzweil-machine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9654" y="1999437"/>
            <a:ext cx="8512175" cy="2194494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Reason and emotion</a:t>
            </a: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2400" dirty="0"/>
              <a:t>(Chapter </a:t>
            </a:r>
            <a:r>
              <a:rPr lang="en-US" sz="2400" dirty="0" smtClean="0"/>
              <a:t>2)</a:t>
            </a:r>
            <a:endParaRPr lang="ru-RU" sz="27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79904" y="4325555"/>
            <a:ext cx="6831673" cy="1086237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Bobir Muratov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334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protagonist in Crime </a:t>
            </a:r>
            <a:r>
              <a:rPr lang="en-US" dirty="0"/>
              <a:t>and Punishment by Fyodor </a:t>
            </a:r>
            <a:r>
              <a:rPr lang="en-US" dirty="0" smtClean="0"/>
              <a:t>Dostoevsky, </a:t>
            </a:r>
            <a:r>
              <a:rPr lang="en-US" dirty="0" err="1" smtClean="0"/>
              <a:t>Raskolnikov</a:t>
            </a:r>
            <a:r>
              <a:rPr lang="en-US" dirty="0" smtClean="0"/>
              <a:t>, after the following conversation, </a:t>
            </a:r>
            <a:r>
              <a:rPr lang="en-US" dirty="0"/>
              <a:t>decides to kill an old woman so that he could redistribute her money with those who would better benefit from </a:t>
            </a:r>
            <a:r>
              <a:rPr lang="en-US" dirty="0" smtClean="0"/>
              <a:t>it</a:t>
            </a:r>
            <a:r>
              <a:rPr lang="en-US" dirty="0"/>
              <a:t>:</a:t>
            </a:r>
            <a:endParaRPr lang="en-US" dirty="0" smtClean="0">
              <a:hlinkClick r:id="rId2"/>
            </a:endParaRPr>
          </a:p>
          <a:p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www.youtube.com/watch?v=LlIEVG6GV4A</a:t>
            </a:r>
            <a:endParaRPr lang="en-US" dirty="0" smtClean="0"/>
          </a:p>
          <a:p>
            <a:r>
              <a:rPr lang="en-US" dirty="0" smtClean="0"/>
              <a:t>Decision based on rational calculation – the greatest good to the greatest number of people</a:t>
            </a:r>
          </a:p>
          <a:p>
            <a:r>
              <a:rPr lang="en-US" dirty="0" smtClean="0"/>
              <a:t>No emotion</a:t>
            </a:r>
            <a:endParaRPr lang="en-US" dirty="0" smtClean="0"/>
          </a:p>
          <a:p>
            <a:r>
              <a:rPr lang="en-US" dirty="0" smtClean="0"/>
              <a:t>Is it a good decision from the point of view of a critical thinker?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1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to Come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Reason?</a:t>
            </a:r>
          </a:p>
          <a:p>
            <a:r>
              <a:rPr lang="en-US" dirty="0" smtClean="0"/>
              <a:t>The Role of Emotion in Critical Thinking</a:t>
            </a:r>
          </a:p>
          <a:p>
            <a:r>
              <a:rPr lang="en-US" dirty="0" smtClean="0"/>
              <a:t>AI, Reason, and Emotion</a:t>
            </a:r>
          </a:p>
          <a:p>
            <a:r>
              <a:rPr lang="en-US" dirty="0" smtClean="0"/>
              <a:t>Faith and Reason</a:t>
            </a:r>
          </a:p>
          <a:p>
            <a:r>
              <a:rPr lang="en-US" dirty="0" smtClean="0"/>
              <a:t>Critical Thinking Issue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986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Reason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Reason – the process of supporting a claim or conclusion on the basis of evidence</a:t>
            </a:r>
          </a:p>
          <a:p>
            <a:r>
              <a:rPr lang="en-US" dirty="0" smtClean="0"/>
              <a:t>In addition to abstract thinking and logical argumentation, reason has a behavioral component</a:t>
            </a:r>
          </a:p>
          <a:p>
            <a:r>
              <a:rPr lang="en-US" dirty="0" smtClean="0"/>
              <a:t>Reason embraces different strategies – deduction, generalization, imagination</a:t>
            </a:r>
          </a:p>
          <a:p>
            <a:r>
              <a:rPr lang="en-US" dirty="0" smtClean="0"/>
              <a:t>Reason in also important in spatial-temporal problem solving</a:t>
            </a:r>
          </a:p>
          <a:p>
            <a:endParaRPr lang="en-US" dirty="0"/>
          </a:p>
          <a:p>
            <a:r>
              <a:rPr lang="en-US" dirty="0" smtClean="0"/>
              <a:t>Temple Grandin, Structural Designer, person with autism</a:t>
            </a:r>
            <a:endParaRPr lang="en-US" dirty="0"/>
          </a:p>
        </p:txBody>
      </p:sp>
      <p:pic>
        <p:nvPicPr>
          <p:cNvPr id="1028" name="Picture 4" descr="EXECUTIVE PROFILE: Dr. Temple Grand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5995" y="4492869"/>
            <a:ext cx="2852301" cy="190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830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Reason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Traditional views:</a:t>
            </a:r>
          </a:p>
          <a:p>
            <a:r>
              <a:rPr lang="en-US" dirty="0"/>
              <a:t>Plato – human soul has one rational and two </a:t>
            </a:r>
            <a:r>
              <a:rPr lang="en-US" dirty="0" err="1"/>
              <a:t>nonrational</a:t>
            </a:r>
            <a:r>
              <a:rPr lang="en-US" dirty="0"/>
              <a:t> parts – emotions and physical cravings </a:t>
            </a:r>
          </a:p>
          <a:p>
            <a:r>
              <a:rPr lang="en-US" dirty="0"/>
              <a:t>Religion (Christianity) – God is the perfectly rational being, rationality is the divine spark in humans</a:t>
            </a:r>
          </a:p>
          <a:p>
            <a:r>
              <a:rPr lang="en-US" dirty="0" err="1"/>
              <a:t>Darvin</a:t>
            </a:r>
            <a:r>
              <a:rPr lang="en-US" dirty="0"/>
              <a:t> – reason evolved as part of the adaption of our and other animals behavior in the struggle for survival</a:t>
            </a:r>
          </a:p>
          <a:p>
            <a:r>
              <a:rPr lang="en-US" dirty="0" smtClean="0"/>
              <a:t>20</a:t>
            </a:r>
            <a:r>
              <a:rPr lang="en-US" baseline="30000" dirty="0" smtClean="0"/>
              <a:t>th</a:t>
            </a:r>
            <a:r>
              <a:rPr lang="en-US" dirty="0" smtClean="0"/>
              <a:t> century: reason = science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931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Reason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Gender, Race, Age, and Reason:</a:t>
            </a:r>
          </a:p>
          <a:p>
            <a:r>
              <a:rPr lang="en-US" dirty="0" smtClean="0"/>
              <a:t>Traditionally men = mind and reason, women = emotion</a:t>
            </a:r>
          </a:p>
          <a:p>
            <a:r>
              <a:rPr lang="en-US" dirty="0" smtClean="0"/>
              <a:t>Feminists argue that men and women have the same rational nature </a:t>
            </a:r>
          </a:p>
          <a:p>
            <a:r>
              <a:rPr lang="en-US" dirty="0" smtClean="0"/>
              <a:t>If women are more emotional, it does not mean that they are as capable as men in reasoning</a:t>
            </a:r>
          </a:p>
          <a:p>
            <a:endParaRPr lang="en-US" dirty="0" smtClean="0"/>
          </a:p>
          <a:p>
            <a:r>
              <a:rPr lang="en-US" dirty="0" smtClean="0"/>
              <a:t>Lifelong learning is important in reasoning skills</a:t>
            </a:r>
          </a:p>
          <a:p>
            <a:endParaRPr lang="en-US" dirty="0" smtClean="0"/>
          </a:p>
          <a:p>
            <a:r>
              <a:rPr lang="en-US" dirty="0" smtClean="0"/>
              <a:t>Critical thinkers examine their assumptions about race, gender, and 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888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Reason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Dreams and problem solving:</a:t>
            </a:r>
          </a:p>
          <a:p>
            <a:r>
              <a:rPr lang="en-US" dirty="0" smtClean="0"/>
              <a:t>Reasoning can be unconscious and automatic</a:t>
            </a:r>
          </a:p>
          <a:p>
            <a:r>
              <a:rPr lang="en-US" dirty="0" smtClean="0"/>
              <a:t>Dreams may help solve elusive visual problems</a:t>
            </a:r>
          </a:p>
          <a:p>
            <a:r>
              <a:rPr lang="en-US" dirty="0" smtClean="0"/>
              <a:t>Only occurs after a person has already done extensive work when awake</a:t>
            </a:r>
          </a:p>
          <a:p>
            <a:endParaRPr lang="en-US" dirty="0"/>
          </a:p>
          <a:p>
            <a:r>
              <a:rPr lang="en-US" dirty="0" smtClean="0"/>
              <a:t>Did you find the answer in your dream?</a:t>
            </a:r>
          </a:p>
          <a:p>
            <a:r>
              <a:rPr lang="en-US" dirty="0" smtClean="0"/>
              <a:t>Before going to sleep, pose a problem, think about it, write it down, and record your dreams in the morning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691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Emotion in Critical </a:t>
            </a:r>
            <a:r>
              <a:rPr lang="en-US" dirty="0" smtClean="0"/>
              <a:t>Thinking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critical thinking consider emotions?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01098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Emotion in Critical </a:t>
            </a:r>
            <a:r>
              <a:rPr lang="en-US" dirty="0" smtClean="0"/>
              <a:t>Thinking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Cultural attitudes towards emotion:</a:t>
            </a:r>
          </a:p>
          <a:p>
            <a:r>
              <a:rPr lang="en-US" dirty="0" smtClean="0"/>
              <a:t>Emotion has been set in opposition to reason in Western culture</a:t>
            </a:r>
          </a:p>
          <a:p>
            <a:r>
              <a:rPr lang="en-US" dirty="0" smtClean="0"/>
              <a:t>But other cultures emphasize certain emotional traits</a:t>
            </a:r>
          </a:p>
          <a:p>
            <a:endParaRPr lang="en-US" dirty="0" smtClean="0"/>
          </a:p>
          <a:p>
            <a:r>
              <a:rPr lang="en-US" dirty="0" smtClean="0"/>
              <a:t>Emotion can enhance critical thinking by motivating us to make better decisions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250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Emotion in Critical </a:t>
            </a:r>
            <a:r>
              <a:rPr lang="en-US" dirty="0" smtClean="0"/>
              <a:t>Thinking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Emotional intelligence and the positive effects of emotion:</a:t>
            </a:r>
          </a:p>
          <a:p>
            <a:r>
              <a:rPr lang="en-US" dirty="0"/>
              <a:t>Emotional </a:t>
            </a:r>
            <a:r>
              <a:rPr lang="en-US" dirty="0" smtClean="0"/>
              <a:t>intelligence – the ability to perceive accurately, appraise and express emotion</a:t>
            </a:r>
          </a:p>
          <a:p>
            <a:r>
              <a:rPr lang="en-US" dirty="0" smtClean="0"/>
              <a:t>Many have difficulty identifying and expressing feelings – can negatively affect behavior and decisions</a:t>
            </a:r>
          </a:p>
          <a:p>
            <a:r>
              <a:rPr lang="en-US" dirty="0" smtClean="0"/>
              <a:t>Empathy (sympathy) – the capacity to enter into and understand the emotions of others</a:t>
            </a:r>
          </a:p>
          <a:p>
            <a:r>
              <a:rPr lang="en-US" dirty="0" smtClean="0"/>
              <a:t>Empathetic person is more flexible and open to other perspectives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055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Emotion in Critical </a:t>
            </a:r>
            <a:r>
              <a:rPr lang="en-US" dirty="0" smtClean="0"/>
              <a:t>Thinking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Negative effects of emotion</a:t>
            </a:r>
          </a:p>
          <a:p>
            <a:endParaRPr lang="en-US" dirty="0" smtClean="0"/>
          </a:p>
          <a:p>
            <a:r>
              <a:rPr lang="en-US" dirty="0" smtClean="0"/>
              <a:t>Integrating reason and emotion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522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AI, Reason, and </a:t>
            </a:r>
            <a:r>
              <a:rPr lang="en-US" dirty="0" smtClean="0"/>
              <a:t>Emotion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www.youtube.com/watch?v=ARJ8cAGm6JE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Is the creation of AI, such as HAL, which is capable of reason, even possible?</a:t>
            </a:r>
          </a:p>
          <a:p>
            <a:endParaRPr lang="en-US" dirty="0" smtClean="0"/>
          </a:p>
          <a:p>
            <a:r>
              <a:rPr lang="en-US" dirty="0" smtClean="0"/>
              <a:t>If so, what are the implications of this for us?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0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AI, Reason, and </a:t>
            </a:r>
            <a:r>
              <a:rPr lang="en-US" dirty="0" smtClean="0"/>
              <a:t>Emotion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6286500" cy="3581400"/>
          </a:xfrm>
        </p:spPr>
        <p:txBody>
          <a:bodyPr/>
          <a:lstStyle/>
          <a:p>
            <a:r>
              <a:rPr lang="en-US" dirty="0" smtClean="0"/>
              <a:t>Think about the things that only humans can do now?</a:t>
            </a:r>
          </a:p>
          <a:p>
            <a:endParaRPr lang="en-US" dirty="0" smtClean="0"/>
          </a:p>
          <a:p>
            <a:r>
              <a:rPr lang="en-US" dirty="0" smtClean="0"/>
              <a:t>Will AI be able to do some or all of these tasks in the future?</a:t>
            </a:r>
          </a:p>
          <a:p>
            <a:endParaRPr lang="en-US" dirty="0" smtClean="0"/>
          </a:p>
          <a:p>
            <a:r>
              <a:rPr lang="en-US" dirty="0" smtClean="0"/>
              <a:t>How does the thought that AI may be able to do more human tasks make you feel?</a:t>
            </a:r>
          </a:p>
          <a:p>
            <a:endParaRPr lang="en-US" dirty="0"/>
          </a:p>
        </p:txBody>
      </p:sp>
      <p:pic>
        <p:nvPicPr>
          <p:cNvPr id="2050" name="Picture 2" descr="Why The Future Of Technology Is All Too Hum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238" y="1222863"/>
            <a:ext cx="3810000" cy="539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834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AI, Reason, and </a:t>
            </a:r>
            <a:r>
              <a:rPr lang="en-US" dirty="0" smtClean="0"/>
              <a:t>Emotion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computers think?</a:t>
            </a:r>
          </a:p>
          <a:p>
            <a:r>
              <a:rPr lang="en-US" dirty="0" smtClean="0"/>
              <a:t>Turing test</a:t>
            </a:r>
          </a:p>
          <a:p>
            <a:endParaRPr lang="en-US" dirty="0"/>
          </a:p>
          <a:p>
            <a:r>
              <a:rPr lang="en-US" dirty="0" smtClean="0"/>
              <a:t>Can computers feel emotions?</a:t>
            </a:r>
          </a:p>
          <a:p>
            <a:endParaRPr lang="en-US" dirty="0"/>
          </a:p>
          <a:p>
            <a:r>
              <a:rPr lang="en-US" dirty="0" smtClean="0"/>
              <a:t>Think about the ways AI is being used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to enhance our critical thinking abilities and decision making,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and also negatively affect on our critical thinking skills?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895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Faith and </a:t>
            </a:r>
            <a:r>
              <a:rPr lang="en-US" dirty="0" smtClean="0"/>
              <a:t>Reason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faith be achieved through reason?</a:t>
            </a:r>
          </a:p>
          <a:p>
            <a:endParaRPr lang="en-US" dirty="0" smtClean="0"/>
          </a:p>
          <a:p>
            <a:r>
              <a:rPr lang="en-US" dirty="0" smtClean="0"/>
              <a:t>Is faith without reason desirable?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534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Faith and </a:t>
            </a:r>
            <a:r>
              <a:rPr lang="en-US" dirty="0" smtClean="0"/>
              <a:t>Reason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Faith ≠ reason</a:t>
            </a:r>
          </a:p>
          <a:p>
            <a:endParaRPr lang="en-US" dirty="0" smtClean="0"/>
          </a:p>
          <a:p>
            <a:r>
              <a:rPr lang="en-US" dirty="0" smtClean="0"/>
              <a:t>Faith – belief, trust, and obedience to a religious deity</a:t>
            </a:r>
          </a:p>
          <a:p>
            <a:endParaRPr lang="en-US" dirty="0" smtClean="0"/>
          </a:p>
          <a:p>
            <a:r>
              <a:rPr lang="en-US" dirty="0" smtClean="0"/>
              <a:t>Fideism – the belief that the divine is revealed through faith and does not require reason</a:t>
            </a:r>
          </a:p>
          <a:p>
            <a:r>
              <a:rPr lang="en-US" dirty="0" smtClean="0"/>
              <a:t>Weaknesses?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44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Faith and </a:t>
            </a:r>
            <a:r>
              <a:rPr lang="en-US" dirty="0" smtClean="0"/>
              <a:t>Reason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Rationalism – the belief that religion should be consistent with reason and evidence </a:t>
            </a:r>
          </a:p>
          <a:p>
            <a:r>
              <a:rPr lang="en-US" dirty="0" smtClean="0"/>
              <a:t>Atheist – a person who does not believe in the existence of a personal God</a:t>
            </a:r>
          </a:p>
          <a:p>
            <a:r>
              <a:rPr lang="en-US" dirty="0" smtClean="0"/>
              <a:t>Agnostic – a person who believes that the existence of God is ultimately unknowable</a:t>
            </a:r>
          </a:p>
          <a:p>
            <a:r>
              <a:rPr lang="en-US" dirty="0" smtClean="0"/>
              <a:t>Critical rationalism – the belief that faith is based on direct revelation of God and that there should be no logical inconsistencies between revelation and reason</a:t>
            </a:r>
          </a:p>
          <a:p>
            <a:endParaRPr lang="en-US" dirty="0"/>
          </a:p>
          <a:p>
            <a:r>
              <a:rPr lang="en-US" dirty="0" smtClean="0"/>
              <a:t>Does faith have a role in critical thinking?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552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Thinking </a:t>
            </a:r>
            <a:r>
              <a:rPr lang="en-US" dirty="0" smtClean="0"/>
              <a:t>Issue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>
              <a:hlinkClick r:id="rId2"/>
            </a:endParaRPr>
          </a:p>
          <a:p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archive.nytimes.com/www.nytimes.com/books/first/k/kurzweil-machines.html</a:t>
            </a:r>
            <a:endParaRPr lang="en-US" dirty="0" smtClean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https://www.zygonjournal.org/article/13063/galley/26503/view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Read the following contrasting views on AI capabilities, being human, and faith</a:t>
            </a:r>
          </a:p>
          <a:p>
            <a:r>
              <a:rPr lang="en-US" dirty="0" smtClean="0"/>
              <a:t>Think about the differences in views and the strength of arguments</a:t>
            </a:r>
          </a:p>
          <a:p>
            <a:r>
              <a:rPr lang="en-US" dirty="0" smtClean="0"/>
              <a:t>Relate them to your understanding of God and faith. If you believe in God, is faith in God incompatible with a belief that AI may someday equal or surpass human intelligence and consciousness?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35988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Красный и оранжевый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1452</TotalTime>
  <Words>851</Words>
  <Application>Microsoft Office PowerPoint</Application>
  <PresentationFormat>Widescreen</PresentationFormat>
  <Paragraphs>111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Franklin Gothic Book</vt:lpstr>
      <vt:lpstr>Crop</vt:lpstr>
      <vt:lpstr>Reason and emotion (Chapter 2)</vt:lpstr>
      <vt:lpstr>Introduction</vt:lpstr>
      <vt:lpstr>What’s to Come</vt:lpstr>
      <vt:lpstr>What is Reason?</vt:lpstr>
      <vt:lpstr>What is Reason?</vt:lpstr>
      <vt:lpstr>What is Reason?</vt:lpstr>
      <vt:lpstr>What is Reason?</vt:lpstr>
      <vt:lpstr>The Role of Emotion in Critical Thinking</vt:lpstr>
      <vt:lpstr>The Role of Emotion in Critical Thinking</vt:lpstr>
      <vt:lpstr>The Role of Emotion in Critical Thinking</vt:lpstr>
      <vt:lpstr>The Role of Emotion in Critical Thinking</vt:lpstr>
      <vt:lpstr>AI, Reason, and Emotion</vt:lpstr>
      <vt:lpstr>AI, Reason, and Emotion</vt:lpstr>
      <vt:lpstr>AI, Reason, and Emotion</vt:lpstr>
      <vt:lpstr>Faith and Reason</vt:lpstr>
      <vt:lpstr>Faith and Reason</vt:lpstr>
      <vt:lpstr>Faith and Reason</vt:lpstr>
      <vt:lpstr>Critical Thinking Issue</vt:lpstr>
    </vt:vector>
  </TitlesOfParts>
  <Company>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Distinguished Lecture in Social Science and Art Introduction</dc:title>
  <dc:creator>Bobir Muratov</dc:creator>
  <cp:lastModifiedBy>Bobir Muratov</cp:lastModifiedBy>
  <cp:revision>124</cp:revision>
  <dcterms:created xsi:type="dcterms:W3CDTF">2025-09-11T14:38:37Z</dcterms:created>
  <dcterms:modified xsi:type="dcterms:W3CDTF">2026-09-12T10:43:36Z</dcterms:modified>
</cp:coreProperties>
</file>